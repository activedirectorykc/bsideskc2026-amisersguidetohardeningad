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notesSlide+xml" PartName="/ppt/notesSlides/notesSlide43.xml"/>
  <Override ContentType="application/vnd.openxmlformats-officedocument.presentationml.notesSlide+xml" PartName="/ppt/notesSlides/notesSlide4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47.xml"/>
  <Override ContentType="application/vnd.openxmlformats-officedocument.presentationml.notesSlide+xml" PartName="/ppt/notesSlides/notesSlide48.xml"/>
  <Override ContentType="application/vnd.openxmlformats-officedocument.presentationml.notesSlide+xml" PartName="/ppt/notesSlides/notesSlide49.xml"/>
  <Override ContentType="application/vnd.openxmlformats-officedocument.presentationml.notesSlide+xml" PartName="/ppt/notesSlides/notesSlide50.xml"/>
  <Override ContentType="application/vnd.openxmlformats-officedocument.presentationml.notesSlide+xml" PartName="/ppt/notesSlides/notesSlide51.xml"/>
  <Override ContentType="application/vnd.openxmlformats-officedocument.presentationml.notesSlide+xml" PartName="/ppt/notesSlides/notesSlide52.xml"/>
  <Override ContentType="application/vnd.openxmlformats-officedocument.presentationml.notesSlide+xml" PartName="/ppt/notesSlides/notesSlide53.xml"/>
  <Override ContentType="application/vnd.openxmlformats-officedocument.presentationml.notesSlide+xml" PartName="/ppt/notesSlides/notesSlide54.xml"/>
  <Override ContentType="application/vnd.openxmlformats-officedocument.presentationml.notesSlide+xml" PartName="/ppt/notesSlides/notesSlide55.xml"/>
  <Override ContentType="application/vnd.openxmlformats-officedocument.presentationml.notesSlide+xml" PartName="/ppt/notesSlides/notesSlide56.xml"/>
  <Override ContentType="application/vnd.openxmlformats-officedocument.presentationml.notesSlide+xml" PartName="/ppt/notesSlides/notesSlide57.xml"/>
  <Override ContentType="application/vnd.openxmlformats-officedocument.presentationml.notesSlide+xml" PartName="/ppt/notesSlides/notesSlide58.xml"/>
  <Override ContentType="application/vnd.openxmlformats-officedocument.presentationml.notesSlide+xml" PartName="/ppt/notesSlides/notesSlide59.xml"/>
  <Override ContentType="application/vnd.openxmlformats-officedocument.presentationml.notesSlide+xml" PartName="/ppt/notesSlides/notesSlide60.xml"/>
  <Override ContentType="application/vnd.openxmlformats-officedocument.presentationml.notesSlide+xml" PartName="/ppt/notesSlides/notesSlide61.xml"/>
  <Override ContentType="application/vnd.openxmlformats-officedocument.presentationml.notesSlide+xml" PartName="/ppt/notesSlides/notesSlide62.xml"/>
  <Override ContentType="application/vnd.openxmlformats-officedocument.presentationml.notesSlide+xml" PartName="/ppt/notesSlides/notesSlide63.xml"/>
  <Override ContentType="application/vnd.openxmlformats-officedocument.presentationml.notesSlide+xml" PartName="/ppt/notesSlides/notesSlide64.xml"/>
  <Override ContentType="application/vnd.openxmlformats-officedocument.presentationml.notesSlide+xml" PartName="/ppt/notesSlides/notesSlide65.xml"/>
  <Override ContentType="application/vnd.openxmlformats-officedocument.presentationml.notesSlide+xml" PartName="/ppt/notesSlides/notesSlide66.xml"/>
  <Override ContentType="application/vnd.openxmlformats-officedocument.presentationml.notesSlide+xml" PartName="/ppt/notesSlides/notesSlide6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Lst>
  <p:sldSz cx="18288000" cy="10287000"/>
  <p:notesSz cx="6858000" cy="9144000"/>
  <p:embeddedFontLst>
    <p:embeddedFont>
      <p:font typeface="DM Sans Bold" charset="1" panose="00000000000000000000"/>
      <p:regular r:id="rId76"/>
    </p:embeddedFont>
    <p:embeddedFont>
      <p:font typeface="DM Sans" charset="1" panose="00000000000000000000"/>
      <p:regular r:id="rId77"/>
    </p:embeddedFont>
    <p:embeddedFont>
      <p:font typeface="Anton" charset="1" panose="00000500000000000000"/>
      <p:regular r:id="rId78"/>
    </p:embeddedFont>
    <p:embeddedFont>
      <p:font typeface="DM Sans Italics" charset="1" panose="00000000000000000000"/>
      <p:regular r:id="rId88"/>
    </p:embeddedFont>
    <p:embeddedFont>
      <p:font typeface="Canva Student Font" charset="1" panose="00000000000000000000"/>
      <p:regular r:id="rId10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22.xml" Type="http://schemas.openxmlformats.org/officeDocument/2006/relationships/notesSlide"/><Relationship Id="rId101" Target="notesSlides/notesSlide23.xml" Type="http://schemas.openxmlformats.org/officeDocument/2006/relationships/notesSlide"/><Relationship Id="rId102" Target="notesSlides/notesSlide24.xml" Type="http://schemas.openxmlformats.org/officeDocument/2006/relationships/notesSlide"/><Relationship Id="rId103" Target="notesSlides/notesSlide25.xml" Type="http://schemas.openxmlformats.org/officeDocument/2006/relationships/notesSlide"/><Relationship Id="rId104" Target="notesSlides/notesSlide26.xml" Type="http://schemas.openxmlformats.org/officeDocument/2006/relationships/notesSlide"/><Relationship Id="rId105" Target="notesSlides/notesSlide27.xml" Type="http://schemas.openxmlformats.org/officeDocument/2006/relationships/notesSlide"/><Relationship Id="rId106" Target="notesSlides/notesSlide28.xml" Type="http://schemas.openxmlformats.org/officeDocument/2006/relationships/notesSlide"/><Relationship Id="rId107" Target="notesSlides/notesSlide29.xml" Type="http://schemas.openxmlformats.org/officeDocument/2006/relationships/notesSlide"/><Relationship Id="rId108" Target="fonts/font108.fntdata" Type="http://schemas.openxmlformats.org/officeDocument/2006/relationships/font"/><Relationship Id="rId109" Target="notesSlides/notesSlide30.xml" Type="http://schemas.openxmlformats.org/officeDocument/2006/relationships/notesSlide"/><Relationship Id="rId11" Target="slides/slide6.xml" Type="http://schemas.openxmlformats.org/officeDocument/2006/relationships/slide"/><Relationship Id="rId110" Target="notesSlides/notesSlide31.xml" Type="http://schemas.openxmlformats.org/officeDocument/2006/relationships/notesSlide"/><Relationship Id="rId111" Target="notesSlides/notesSlide32.xml" Type="http://schemas.openxmlformats.org/officeDocument/2006/relationships/notesSlide"/><Relationship Id="rId112" Target="notesSlides/notesSlide33.xml" Type="http://schemas.openxmlformats.org/officeDocument/2006/relationships/notesSlide"/><Relationship Id="rId113" Target="notesSlides/notesSlide34.xml" Type="http://schemas.openxmlformats.org/officeDocument/2006/relationships/notesSlide"/><Relationship Id="rId114" Target="notesSlides/notesSlide35.xml" Type="http://schemas.openxmlformats.org/officeDocument/2006/relationships/notesSlide"/><Relationship Id="rId115" Target="notesSlides/notesSlide36.xml" Type="http://schemas.openxmlformats.org/officeDocument/2006/relationships/notesSlide"/><Relationship Id="rId116" Target="notesSlides/notesSlide37.xml" Type="http://schemas.openxmlformats.org/officeDocument/2006/relationships/notesSlide"/><Relationship Id="rId117" Target="notesSlides/notesSlide38.xml" Type="http://schemas.openxmlformats.org/officeDocument/2006/relationships/notesSlide"/><Relationship Id="rId118" Target="notesSlides/notesSlide39.xml" Type="http://schemas.openxmlformats.org/officeDocument/2006/relationships/notesSlide"/><Relationship Id="rId119" Target="notesSlides/notesSlide40.xml" Type="http://schemas.openxmlformats.org/officeDocument/2006/relationships/notesSlide"/><Relationship Id="rId12" Target="slides/slide7.xml" Type="http://schemas.openxmlformats.org/officeDocument/2006/relationships/slide"/><Relationship Id="rId120" Target="notesSlides/notesSlide41.xml" Type="http://schemas.openxmlformats.org/officeDocument/2006/relationships/notesSlide"/><Relationship Id="rId121" Target="notesSlides/notesSlide42.xml" Type="http://schemas.openxmlformats.org/officeDocument/2006/relationships/notesSlide"/><Relationship Id="rId122" Target="notesSlides/notesSlide43.xml" Type="http://schemas.openxmlformats.org/officeDocument/2006/relationships/notesSlide"/><Relationship Id="rId123" Target="notesSlides/notesSlide44.xml" Type="http://schemas.openxmlformats.org/officeDocument/2006/relationships/notesSlide"/><Relationship Id="rId124" Target="notesSlides/notesSlide45.xml" Type="http://schemas.openxmlformats.org/officeDocument/2006/relationships/notesSlide"/><Relationship Id="rId125" Target="notesSlides/notesSlide46.xml" Type="http://schemas.openxmlformats.org/officeDocument/2006/relationships/notesSlide"/><Relationship Id="rId126" Target="notesSlides/notesSlide47.xml" Type="http://schemas.openxmlformats.org/officeDocument/2006/relationships/notesSlide"/><Relationship Id="rId127" Target="notesSlides/notesSlide48.xml" Type="http://schemas.openxmlformats.org/officeDocument/2006/relationships/notesSlide"/><Relationship Id="rId128" Target="notesSlides/notesSlide49.xml" Type="http://schemas.openxmlformats.org/officeDocument/2006/relationships/notesSlide"/><Relationship Id="rId129" Target="notesSlides/notesSlide50.xml" Type="http://schemas.openxmlformats.org/officeDocument/2006/relationships/notesSlide"/><Relationship Id="rId13" Target="slides/slide8.xml" Type="http://schemas.openxmlformats.org/officeDocument/2006/relationships/slide"/><Relationship Id="rId130" Target="notesSlides/notesSlide51.xml" Type="http://schemas.openxmlformats.org/officeDocument/2006/relationships/notesSlide"/><Relationship Id="rId131" Target="notesSlides/notesSlide52.xml" Type="http://schemas.openxmlformats.org/officeDocument/2006/relationships/notesSlide"/><Relationship Id="rId132" Target="notesSlides/notesSlide53.xml" Type="http://schemas.openxmlformats.org/officeDocument/2006/relationships/notesSlide"/><Relationship Id="rId133" Target="notesSlides/notesSlide54.xml" Type="http://schemas.openxmlformats.org/officeDocument/2006/relationships/notesSlide"/><Relationship Id="rId134" Target="notesSlides/notesSlide55.xml" Type="http://schemas.openxmlformats.org/officeDocument/2006/relationships/notesSlide"/><Relationship Id="rId135" Target="notesSlides/notesSlide56.xml" Type="http://schemas.openxmlformats.org/officeDocument/2006/relationships/notesSlide"/><Relationship Id="rId136" Target="notesSlides/notesSlide57.xml" Type="http://schemas.openxmlformats.org/officeDocument/2006/relationships/notesSlide"/><Relationship Id="rId137" Target="notesSlides/notesSlide58.xml" Type="http://schemas.openxmlformats.org/officeDocument/2006/relationships/notesSlide"/><Relationship Id="rId138" Target="notesSlides/notesSlide59.xml" Type="http://schemas.openxmlformats.org/officeDocument/2006/relationships/notesSlide"/><Relationship Id="rId139" Target="notesSlides/notesSlide60.xml" Type="http://schemas.openxmlformats.org/officeDocument/2006/relationships/notesSlide"/><Relationship Id="rId14" Target="slides/slide9.xml" Type="http://schemas.openxmlformats.org/officeDocument/2006/relationships/slide"/><Relationship Id="rId140" Target="notesSlides/notesSlide61.xml" Type="http://schemas.openxmlformats.org/officeDocument/2006/relationships/notesSlide"/><Relationship Id="rId141" Target="notesSlides/notesSlide62.xml" Type="http://schemas.openxmlformats.org/officeDocument/2006/relationships/notesSlide"/><Relationship Id="rId142" Target="notesSlides/notesSlide63.xml" Type="http://schemas.openxmlformats.org/officeDocument/2006/relationships/notesSlide"/><Relationship Id="rId143" Target="notesSlides/notesSlide64.xml" Type="http://schemas.openxmlformats.org/officeDocument/2006/relationships/notesSlide"/><Relationship Id="rId144" Target="notesSlides/notesSlide65.xml" Type="http://schemas.openxmlformats.org/officeDocument/2006/relationships/notesSlide"/><Relationship Id="rId145" Target="notesSlides/notesSlide66.xml" Type="http://schemas.openxmlformats.org/officeDocument/2006/relationships/notesSlide"/><Relationship Id="rId146" Target="notesSlides/notesSlide67.xml" Type="http://schemas.openxmlformats.org/officeDocument/2006/relationships/note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slides/slide62.xml" Type="http://schemas.openxmlformats.org/officeDocument/2006/relationships/slide"/><Relationship Id="rId68" Target="slides/slide63.xml" Type="http://schemas.openxmlformats.org/officeDocument/2006/relationships/slide"/><Relationship Id="rId69" Target="slides/slide64.xml" Type="http://schemas.openxmlformats.org/officeDocument/2006/relationships/slide"/><Relationship Id="rId7" Target="slides/slide2.xml" Type="http://schemas.openxmlformats.org/officeDocument/2006/relationships/slide"/><Relationship Id="rId70" Target="slides/slide65.xml" Type="http://schemas.openxmlformats.org/officeDocument/2006/relationships/slide"/><Relationship Id="rId71" Target="slides/slide66.xml" Type="http://schemas.openxmlformats.org/officeDocument/2006/relationships/slide"/><Relationship Id="rId72" Target="slides/slide67.xml" Type="http://schemas.openxmlformats.org/officeDocument/2006/relationships/slide"/><Relationship Id="rId73" Target="notesMasters/notesMaster1.xml" Type="http://schemas.openxmlformats.org/officeDocument/2006/relationships/notesMaster"/><Relationship Id="rId74" Target="theme/theme2.xml" Type="http://schemas.openxmlformats.org/officeDocument/2006/relationships/theme"/><Relationship Id="rId75" Target="notesSlides/notesSlide1.xml" Type="http://schemas.openxmlformats.org/officeDocument/2006/relationships/notesSlide"/><Relationship Id="rId76" Target="fonts/font76.fntdata" Type="http://schemas.openxmlformats.org/officeDocument/2006/relationships/font"/><Relationship Id="rId77" Target="fonts/font77.fntdata" Type="http://schemas.openxmlformats.org/officeDocument/2006/relationships/font"/><Relationship Id="rId78" Target="fonts/font78.fntdata" Type="http://schemas.openxmlformats.org/officeDocument/2006/relationships/font"/><Relationship Id="rId79" Target="notesSlides/notesSlide2.xml" Type="http://schemas.openxmlformats.org/officeDocument/2006/relationships/notesSlide"/><Relationship Id="rId8" Target="slides/slide3.xml" Type="http://schemas.openxmlformats.org/officeDocument/2006/relationships/slide"/><Relationship Id="rId80" Target="notesSlides/notesSlide3.xml" Type="http://schemas.openxmlformats.org/officeDocument/2006/relationships/notesSlide"/><Relationship Id="rId81" Target="notesSlides/notesSlide4.xml" Type="http://schemas.openxmlformats.org/officeDocument/2006/relationships/notesSlide"/><Relationship Id="rId82" Target="notesSlides/notesSlide5.xml" Type="http://schemas.openxmlformats.org/officeDocument/2006/relationships/notesSlide"/><Relationship Id="rId83" Target="notesSlides/notesSlide6.xml" Type="http://schemas.openxmlformats.org/officeDocument/2006/relationships/notesSlide"/><Relationship Id="rId84" Target="notesSlides/notesSlide7.xml" Type="http://schemas.openxmlformats.org/officeDocument/2006/relationships/notesSlide"/><Relationship Id="rId85" Target="notesSlides/notesSlide8.xml" Type="http://schemas.openxmlformats.org/officeDocument/2006/relationships/notesSlide"/><Relationship Id="rId86" Target="notesSlides/notesSlide9.xml" Type="http://schemas.openxmlformats.org/officeDocument/2006/relationships/notesSlide"/><Relationship Id="rId87" Target="notesSlides/notesSlide10.xml" Type="http://schemas.openxmlformats.org/officeDocument/2006/relationships/notesSlide"/><Relationship Id="rId88" Target="fonts/font88.fntdata" Type="http://schemas.openxmlformats.org/officeDocument/2006/relationships/font"/><Relationship Id="rId89" Target="notesSlides/notesSlide11.xml" Type="http://schemas.openxmlformats.org/officeDocument/2006/relationships/notesSlide"/><Relationship Id="rId9" Target="slides/slide4.xml" Type="http://schemas.openxmlformats.org/officeDocument/2006/relationships/slide"/><Relationship Id="rId90" Target="notesSlides/notesSlide12.xml" Type="http://schemas.openxmlformats.org/officeDocument/2006/relationships/notesSlide"/><Relationship Id="rId91" Target="notesSlides/notesSlide13.xml" Type="http://schemas.openxmlformats.org/officeDocument/2006/relationships/notesSlide"/><Relationship Id="rId92" Target="notesSlides/notesSlide14.xml" Type="http://schemas.openxmlformats.org/officeDocument/2006/relationships/notesSlide"/><Relationship Id="rId93" Target="notesSlides/notesSlide15.xml" Type="http://schemas.openxmlformats.org/officeDocument/2006/relationships/notesSlide"/><Relationship Id="rId94" Target="notesSlides/notesSlide16.xml" Type="http://schemas.openxmlformats.org/officeDocument/2006/relationships/notesSlide"/><Relationship Id="rId95" Target="notesSlides/notesSlide17.xml" Type="http://schemas.openxmlformats.org/officeDocument/2006/relationships/notesSlide"/><Relationship Id="rId96" Target="notesSlides/notesSlide18.xml" Type="http://schemas.openxmlformats.org/officeDocument/2006/relationships/notesSlide"/><Relationship Id="rId97" Target="notesSlides/notesSlide19.xml" Type="http://schemas.openxmlformats.org/officeDocument/2006/relationships/notesSlide"/><Relationship Id="rId98" Target="notesSlides/notesSlide20.xml" Type="http://schemas.openxmlformats.org/officeDocument/2006/relationships/notesSlide"/><Relationship Id="rId99" Target="notesSlides/notesSlide2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_rels/notesSlide4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3.xml" Type="http://schemas.openxmlformats.org/officeDocument/2006/relationships/slide"/></Relationships>
</file>

<file path=ppt/notesSlides/_rels/notesSlide4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4.xml" Type="http://schemas.openxmlformats.org/officeDocument/2006/relationships/slide"/></Relationships>
</file>

<file path=ppt/notesSlides/_rels/notesSlide4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5.xml" Type="http://schemas.openxmlformats.org/officeDocument/2006/relationships/slide"/></Relationships>
</file>

<file path=ppt/notesSlides/_rels/notesSlide4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6.xml" Type="http://schemas.openxmlformats.org/officeDocument/2006/relationships/slide"/></Relationships>
</file>

<file path=ppt/notesSlides/_rels/notesSlide4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7.xml" Type="http://schemas.openxmlformats.org/officeDocument/2006/relationships/slide"/></Relationships>
</file>

<file path=ppt/notesSlides/_rels/notesSlide4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8.xml" Type="http://schemas.openxmlformats.org/officeDocument/2006/relationships/slide"/></Relationships>
</file>

<file path=ppt/notesSlides/_rels/notesSlide4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9.xml" Type="http://schemas.openxmlformats.org/officeDocument/2006/relationships/slide"/></Relationships>
</file>

<file path=ppt/notesSlides/_rels/notesSlide5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0.xml" Type="http://schemas.openxmlformats.org/officeDocument/2006/relationships/slide"/></Relationships>
</file>

<file path=ppt/notesSlides/_rels/notesSlide5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1.xml" Type="http://schemas.openxmlformats.org/officeDocument/2006/relationships/slide"/></Relationships>
</file>

<file path=ppt/notesSlides/_rels/notesSlide5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2.xml" Type="http://schemas.openxmlformats.org/officeDocument/2006/relationships/slide"/></Relationships>
</file>

<file path=ppt/notesSlides/_rels/notesSlide5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3.xml" Type="http://schemas.openxmlformats.org/officeDocument/2006/relationships/slide"/></Relationships>
</file>

<file path=ppt/notesSlides/_rels/notesSlide5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4.xml" Type="http://schemas.openxmlformats.org/officeDocument/2006/relationships/slide"/></Relationships>
</file>

<file path=ppt/notesSlides/_rels/notesSlide5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5.xml" Type="http://schemas.openxmlformats.org/officeDocument/2006/relationships/slide"/></Relationships>
</file>

<file path=ppt/notesSlides/_rels/notesSlide5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6.xml" Type="http://schemas.openxmlformats.org/officeDocument/2006/relationships/slide"/></Relationships>
</file>

<file path=ppt/notesSlides/_rels/notesSlide5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7.xml" Type="http://schemas.openxmlformats.org/officeDocument/2006/relationships/slide"/></Relationships>
</file>

<file path=ppt/notesSlides/_rels/notesSlide5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8.xml" Type="http://schemas.openxmlformats.org/officeDocument/2006/relationships/slide"/></Relationships>
</file>

<file path=ppt/notesSlides/_rels/notesSlide5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9.xml" Type="http://schemas.openxmlformats.org/officeDocument/2006/relationships/slide"/></Relationships>
</file>

<file path=ppt/notesSlides/_rels/notesSlide6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0.xml" Type="http://schemas.openxmlformats.org/officeDocument/2006/relationships/slide"/></Relationships>
</file>

<file path=ppt/notesSlides/_rels/notesSlide6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1.xml" Type="http://schemas.openxmlformats.org/officeDocument/2006/relationships/slide"/></Relationships>
</file>

<file path=ppt/notesSlides/_rels/notesSlide6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2.xml" Type="http://schemas.openxmlformats.org/officeDocument/2006/relationships/slide"/></Relationships>
</file>

<file path=ppt/notesSlides/_rels/notesSlide6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3.xml" Type="http://schemas.openxmlformats.org/officeDocument/2006/relationships/slide"/></Relationships>
</file>

<file path=ppt/notesSlides/_rels/notesSlide6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4.xml" Type="http://schemas.openxmlformats.org/officeDocument/2006/relationships/slide"/></Relationships>
</file>

<file path=ppt/notesSlides/_rels/notesSlide6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5.xml" Type="http://schemas.openxmlformats.org/officeDocument/2006/relationships/slide"/></Relationships>
</file>

<file path=ppt/notesSlides/_rels/notesSlide6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6.xml" Type="http://schemas.openxmlformats.org/officeDocument/2006/relationships/slide"/></Relationships>
</file>

<file path=ppt/notesSlides/_rels/notesSlide6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 Section - 4 min</a:t>
            </a:r>
          </a:p>
          <a:p>
            <a:r>
              <a:rPr lang="en-US"/>
              <a:t>This slide: &lt;1 min</a:t>
            </a:r>
          </a:p>
          <a:p>
            <a:r>
              <a:rPr lang="en-US"/>
              <a:t/>
            </a:r>
          </a:p>
          <a:p>
            <a:r>
              <a:rPr lang="en-US"/>
              <a:t>Hello and thanks for coming to this talk. I'll be giving a Miser's Guide to Hardening Active Directory. If you're here for something else you're in the wrong room.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2 min</a:t>
            </a:r>
          </a:p>
          <a:p>
            <a:r>
              <a:rPr lang="en-US"/>
              <a:t/>
            </a:r>
          </a:p>
          <a:p>
            <a:r>
              <a:rPr lang="en-US"/>
              <a:t>Who am I? </a:t>
            </a:r>
          </a:p>
          <a:p>
            <a:r>
              <a:rPr lang="en-US"/>
              <a:t/>
            </a:r>
          </a:p>
          <a:p>
            <a:r>
              <a:rPr lang="en-US"/>
              <a:t>I'm Tyler. Otherwise known as Poolmanjim in most of my online circles. I am from the KCK area so this is my hometown con!</a:t>
            </a:r>
          </a:p>
          <a:p>
            <a:r>
              <a:rPr lang="en-US"/>
              <a:t/>
            </a:r>
          </a:p>
          <a:p>
            <a:r>
              <a:rPr lang="en-US"/>
              <a:t>I have been doing IT since I got the chance and been focused on identity for a good chunk of that now. </a:t>
            </a:r>
          </a:p>
          <a:p>
            <a:r>
              <a:rPr lang="en-US"/>
              <a:t/>
            </a:r>
          </a:p>
          <a:p>
            <a:r>
              <a:rPr lang="en-US"/>
              <a:t>I work for a large healthcare organization as effectively the Principal Engineer for Identity.  I'm not naming them here because I don't want to be openly linked to them, but it isn't a secret. </a:t>
            </a:r>
          </a:p>
          <a:p>
            <a:r>
              <a:rPr lang="en-US"/>
              <a:t/>
            </a:r>
          </a:p>
          <a:p>
            <a:r>
              <a:rPr lang="en-US"/>
              <a:t>I'm very much an on-prem guy still who embraces the cloud but wants to use it sensibly. I'm also super sketchy of AI. (slide)</a:t>
            </a:r>
          </a:p>
          <a:p>
            <a:r>
              <a:rPr lang="en-US"/>
              <a:t/>
            </a:r>
          </a:p>
          <a:p>
            <a:r>
              <a:rPr lang="en-US"/>
              <a:t>I'm one of the mods for r/ActiveDirectory and enjoy participating there when time allows. I encourage you to check it out, but especially check out the wiki there because we have tons of links and resources around identity and AD. </a:t>
            </a:r>
          </a:p>
          <a:p>
            <a:r>
              <a:rPr lang="en-US"/>
              <a:t/>
            </a:r>
          </a:p>
          <a:p>
            <a:r>
              <a:rPr lang="en-US"/>
              <a:t>My contact details on are screen, but they'll be at the end too. </a:t>
            </a:r>
          </a:p>
          <a:p>
            <a:r>
              <a:rPr lang="en-US"/>
              <a:t/>
            </a:r>
          </a:p>
          <a:p>
            <a:r>
              <a:rPr lang="en-US"/>
              <a:t>I have a family, a wife and two young boys. That's fun and for fun I like tinkering with my lab, playing games, especially D&amp;D, but I'm not picky about the game. No I probably haven't played the game your thinking of. :)</a:t>
            </a:r>
          </a:p>
          <a:p>
            <a:r>
              <a:rPr lang="en-US"/>
              <a:t/>
            </a:r>
          </a:p>
          <a:p>
            <a:r>
              <a:rPr lang="en-US"/>
              <a:t>This is my first conference talk and I got a C+ in Public Speaking so you're all in for a treat! And I have ADHD so you're in for a ride!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
            </a:r>
          </a:p>
          <a:p>
            <a:r>
              <a:rPr lang="en-US"/>
              <a:t>Show of hands: Who in here expects AD to not be a thing anymore in 10 years? </a:t>
            </a:r>
          </a:p>
          <a:p>
            <a:r>
              <a:rPr lang="en-US"/>
              <a:t/>
            </a:r>
          </a:p>
          <a:p>
            <a:r>
              <a:rPr lang="en-US"/>
              <a:t>[RESPOND]</a:t>
            </a:r>
          </a:p>
          <a:p>
            <a:r>
              <a:rPr lang="en-US"/>
              <a:t>[slide]</a:t>
            </a:r>
          </a:p>
          <a:p>
            <a:r>
              <a:rPr lang="en-US"/>
              <a:t/>
            </a:r>
          </a:p>
          <a:p>
            <a:r>
              <a:rPr lang="en-US"/>
              <a:t>Most organizations that have Active Directory aren't expecting to get rid of it any time soon, so we have to support it. [slide]</a:t>
            </a:r>
          </a:p>
          <a:p>
            <a:r>
              <a:rPr lang="en-US"/>
              <a:t/>
            </a:r>
          </a:p>
          <a:p>
            <a:r>
              <a:rPr lang="en-US"/>
              <a:t>A challenge we experience is that maintaining and securing a system both have costs and they may be competing. [slide]</a:t>
            </a:r>
          </a:p>
          <a:p>
            <a:r>
              <a:rPr lang="en-US"/>
              <a:t/>
            </a:r>
          </a:p>
          <a:p>
            <a:r>
              <a:rPr lang="en-US"/>
              <a:t>It exists and we have to secure it, but security isn't free. So what do we do. [slide]</a:t>
            </a:r>
          </a:p>
          <a:p>
            <a:r>
              <a:rPr lang="en-US"/>
              <a:t/>
            </a:r>
          </a:p>
          <a:p>
            <a:r>
              <a:rPr lang="en-US"/>
              <a:t>The whole motto of this talk is simple: "The hardest part of any important task is getting started on it in the first place. ." </a:t>
            </a:r>
          </a:p>
          <a:p>
            <a:r>
              <a:rPr lang="en-US"/>
              <a:t/>
            </a:r>
          </a:p>
          <a:p>
            <a:r>
              <a:rPr lang="en-US"/>
              <a:t>The plan is to give some rough steps, not the details, but places to start and actions to take that will get you started making your AD better. </a:t>
            </a:r>
          </a:p>
          <a:p>
            <a:r>
              <a:rPr lang="en-US"/>
              <a:t/>
            </a:r>
          </a:p>
          <a:p>
            <a:r>
              <a:rPr lang="en-US"/>
              <a:t>The goal is to give you mostly affordable, or outright free options, that will keep the gold in Scrooge's vault. [slide]</a:t>
            </a:r>
          </a:p>
          <a:p>
            <a:r>
              <a:rPr lang="en-US"/>
              <a:t/>
            </a:r>
          </a:p>
          <a:p>
            <a:r>
              <a:rPr lang="en-US"/>
              <a:t>Action matters. Rather than focusing on projects that will languish for years, the elements I'll cover are pointed and actionable to get real gains in the real world.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Slide: 1 min</a:t>
            </a:r>
          </a:p>
          <a:p>
            <a:r>
              <a:rPr lang="en-US"/>
              <a:t/>
            </a:r>
          </a:p>
          <a:p>
            <a:r>
              <a:rPr lang="en-US"/>
              <a:t>Disclaimers first.</a:t>
            </a:r>
          </a:p>
          <a:p>
            <a:r>
              <a:rPr lang="en-US"/>
              <a:t/>
            </a:r>
          </a:p>
          <a:p>
            <a:r>
              <a:rPr lang="en-US"/>
              <a:t>[slide]</a:t>
            </a:r>
          </a:p>
          <a:p>
            <a:r>
              <a:rPr lang="en-US"/>
              <a:t/>
            </a:r>
          </a:p>
          <a:p>
            <a:r>
              <a:rPr lang="en-US"/>
              <a:t>The tools, scripts, and applications I mention are tools that tend to overlap with redteamers/bad guys. There is a chance they'll trip EDR and monitoring. Make sure you coordinate with your SOC </a:t>
            </a:r>
          </a:p>
          <a:p>
            <a:r>
              <a:rPr lang="en-US"/>
              <a:t/>
            </a:r>
          </a:p>
          <a:p>
            <a:r>
              <a:rPr lang="en-US"/>
              <a:t>[slide]</a:t>
            </a:r>
          </a:p>
          <a:p>
            <a:r>
              <a:rPr lang="en-US"/>
              <a:t/>
            </a:r>
          </a:p>
          <a:p>
            <a:r>
              <a:rPr lang="en-US"/>
              <a:t>I don't work for any of these tools or vendors. Most of the tools are free, some aren't as free. Point is. They're not my work just things that have stood out to me over the years. </a:t>
            </a:r>
          </a:p>
          <a:p>
            <a:r>
              <a:rPr lang="en-US"/>
              <a:t/>
            </a:r>
          </a:p>
          <a:p>
            <a:r>
              <a:rPr lang="en-US"/>
              <a:t>[slide] </a:t>
            </a:r>
          </a:p>
          <a:p>
            <a:r>
              <a:rPr lang="en-US"/>
              <a:t/>
            </a:r>
          </a:p>
          <a:p>
            <a:r>
              <a:rPr lang="en-US"/>
              <a:t>Tools may ask for emails. You can get around that using the temp email tools. It's up to you. If i can I provide email-free links. </a:t>
            </a:r>
          </a:p>
          <a:p>
            <a:r>
              <a:rPr lang="en-US"/>
              <a:t/>
            </a:r>
          </a:p>
          <a:p>
            <a:r>
              <a:rPr lang="en-US"/>
              <a:t>[slide] </a:t>
            </a:r>
          </a:p>
          <a:p>
            <a:r>
              <a:rPr lang="en-US"/>
              <a:t/>
            </a:r>
          </a:p>
          <a:p>
            <a:r>
              <a:rPr lang="en-US"/>
              <a:t>Any opinions here are mine. My employer had nothing to do with this so blame me not them. </a:t>
            </a:r>
          </a:p>
          <a:p>
            <a:r>
              <a:rPr lang="en-US"/>
              <a:t/>
            </a:r>
          </a:p>
          <a:p>
            <a:r>
              <a:rPr lang="en-US"/>
              <a:t>[slide]</a:t>
            </a:r>
          </a:p>
          <a:p>
            <a:r>
              <a:rPr lang="en-US"/>
              <a:t/>
            </a:r>
          </a:p>
          <a:p>
            <a:r>
              <a:rPr lang="en-US"/>
              <a:t>This is not an exhaustive list. I could spend weeks talking about AD Hardening. I have 50 minutes. I have lots of notes and bonus slides in the deck to help more.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Section Time: 8 minutes</a:t>
            </a:r>
          </a:p>
          <a:p>
            <a:r>
              <a:rPr lang="en-US"/>
              <a:t>This slide: &lt; 1 minute</a:t>
            </a:r>
          </a:p>
          <a:p>
            <a:r>
              <a:rPr lang="en-US"/>
              <a:t/>
            </a:r>
          </a:p>
          <a:p>
            <a:r>
              <a:rPr lang="en-US"/>
              <a:t>Let's see hands: Who here has backups? </a:t>
            </a:r>
          </a:p>
          <a:p>
            <a:r>
              <a:rPr lang="en-US"/>
              <a:t/>
            </a:r>
          </a:p>
          <a:p>
            <a:r>
              <a:rPr lang="en-US"/>
              <a:t>Okay, who here has tested and validated a full forest recovery in the last year? </a:t>
            </a:r>
          </a:p>
          <a:p>
            <a:r>
              <a:rPr lang="en-US"/>
              <a:t/>
            </a:r>
          </a:p>
          <a:p>
            <a:r>
              <a:rPr lang="en-US"/>
              <a:t>Yeah get on that. </a:t>
            </a:r>
          </a:p>
          <a:p>
            <a:r>
              <a:rPr lang="en-US"/>
              <a:t/>
            </a:r>
          </a:p>
          <a:p>
            <a:r>
              <a:rPr lang="en-US"/>
              <a:t>BCDR is kind of boring. That's probably the reason it doesn't get a lot of love at talks. </a:t>
            </a:r>
          </a:p>
          <a:p>
            <a:r>
              <a:rPr lang="en-US"/>
              <a:t/>
            </a:r>
          </a:p>
          <a:p>
            <a:r>
              <a:rPr lang="en-US"/>
              <a:t>You get backups. If you're smart you test backups. You forget you have backups. Maybe your org does yearly tabletops. </a:t>
            </a:r>
          </a:p>
          <a:p>
            <a:r>
              <a:rPr lang="en-US"/>
              <a:t/>
            </a:r>
          </a:p>
          <a:p>
            <a:r>
              <a:rPr lang="en-US"/>
              <a:t>They're not shiny or cool. But they are essential. This section may be my most important for that reason alone!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&lt;1 min</a:t>
            </a:r>
          </a:p>
          <a:p>
            <a:r>
              <a:rPr lang="en-US"/>
              <a:t/>
            </a:r>
          </a:p>
          <a:p>
            <a:r>
              <a:rPr lang="en-US"/>
              <a:t>Why are backups important?</a:t>
            </a:r>
          </a:p>
          <a:p>
            <a:r>
              <a:rPr lang="en-US"/>
              <a:t/>
            </a:r>
          </a:p>
          <a:p>
            <a:r>
              <a:rPr lang="en-US"/>
              <a:t>[slide]</a:t>
            </a:r>
          </a:p>
          <a:p>
            <a:r>
              <a:rPr lang="en-US"/>
              <a:t/>
            </a:r>
          </a:p>
          <a:p>
            <a:r>
              <a:rPr lang="en-US"/>
              <a:t>They get you from "Oh crap!" to "Okay".  </a:t>
            </a:r>
          </a:p>
          <a:p>
            <a:r>
              <a:rPr lang="en-US"/>
              <a:t/>
            </a:r>
          </a:p>
          <a:p>
            <a:r>
              <a:rPr lang="en-US"/>
              <a:t>[slide]</a:t>
            </a:r>
          </a:p>
          <a:p>
            <a:r>
              <a:rPr lang="en-US"/>
              <a:t/>
            </a:r>
          </a:p>
          <a:p>
            <a:r>
              <a:rPr lang="en-US"/>
              <a:t>We often think of BCDR like this. A building burns down, a comet hits the building, etc. In fact most organizations are fairly well prepared for those contingencies. Insurance companies are prepared for those. </a:t>
            </a:r>
          </a:p>
          <a:p>
            <a:r>
              <a:rPr lang="en-US"/>
              <a:t/>
            </a:r>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a:t>
            </a:r>
          </a:p>
          <a:p>
            <a:r>
              <a:rPr lang="en-US"/>
              <a:t/>
            </a:r>
          </a:p>
          <a:p>
            <a:r>
              <a:rPr lang="en-US"/>
              <a:t>What happens if you log in and see this screen on your systems? Worse what if you see it on your domain controllers?</a:t>
            </a:r>
          </a:p>
          <a:p>
            <a:r>
              <a:rPr lang="en-US"/>
              <a:t/>
            </a:r>
          </a:p>
          <a:p>
            <a:r>
              <a:rPr lang="en-US"/>
              <a:t>Where do you go from there? </a:t>
            </a:r>
          </a:p>
          <a:p>
            <a:r>
              <a:rPr lang="en-US"/>
              <a:t/>
            </a:r>
          </a:p>
          <a:p>
            <a:r>
              <a:rPr lang="en-US"/>
              <a:t>I can tell you that your EDR may not stop this from happening.</a:t>
            </a:r>
          </a:p>
          <a:p>
            <a:r>
              <a:rPr lang="en-US"/>
              <a:t/>
            </a:r>
          </a:p>
          <a:p>
            <a:r>
              <a:rPr lang="en-US"/>
              <a:t>There are not any guarantees on this red screen. It's not like the malware guys sign up for the BBB.</a:t>
            </a:r>
          </a:p>
          <a:p>
            <a:r>
              <a:rPr lang="en-US"/>
              <a:t/>
            </a:r>
          </a:p>
          <a:p>
            <a:r>
              <a:rPr lang="en-US"/>
              <a:t>Think about this: If the entire identity system is down, what can you do? No email. No teams. Phones may not work. What do you do? </a:t>
            </a:r>
          </a:p>
          <a:p>
            <a:r>
              <a:rPr lang="en-US"/>
              <a:t/>
            </a:r>
          </a:p>
          <a:p>
            <a:r>
              <a:rPr lang="en-US"/>
              <a:t>You have to have options.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
            </a:r>
          </a:p>
          <a:p>
            <a:r>
              <a:rPr lang="en-US"/>
              <a:t>When talking about options, there is some bad news. Good backups cost. Backups have to be good and they have to be fast, which means they're going to cost. </a:t>
            </a:r>
          </a:p>
          <a:p>
            <a:r>
              <a:rPr lang="en-US"/>
              <a:t/>
            </a:r>
          </a:p>
          <a:p>
            <a:r>
              <a:rPr lang="en-US"/>
              <a:t>[slide]</a:t>
            </a:r>
          </a:p>
          <a:p>
            <a:r>
              <a:rPr lang="en-US"/>
              <a:t/>
            </a:r>
          </a:p>
          <a:p>
            <a:r>
              <a:rPr lang="en-US"/>
              <a:t>Is the cost of your entire IT budget for that year worth it?</a:t>
            </a:r>
          </a:p>
          <a:p>
            <a:r>
              <a:rPr lang="en-US"/>
              <a:t/>
            </a:r>
          </a:p>
          <a:p>
            <a:r>
              <a:rPr lang="en-US"/>
              <a:t>[slide]</a:t>
            </a:r>
          </a:p>
          <a:p>
            <a:r>
              <a:rPr lang="en-US"/>
              <a:t/>
            </a:r>
          </a:p>
          <a:p>
            <a:r>
              <a:rPr lang="en-US"/>
              <a:t>100%. Yes. Absolutely!</a:t>
            </a:r>
          </a:p>
          <a:p>
            <a:r>
              <a:rPr lang="en-US"/>
              <a:t/>
            </a:r>
          </a:p>
          <a:p>
            <a:r>
              <a:rPr lang="en-US"/>
              <a:t/>
            </a:r>
          </a:p>
          <a:p>
            <a:r>
              <a:rPr lang="en-US"/>
              <a:t>The main reason for this is the first bullet. </a:t>
            </a:r>
          </a:p>
          <a:p>
            <a:r>
              <a:rPr lang="en-US"/>
              <a:t/>
            </a:r>
          </a:p>
          <a:p>
            <a:r>
              <a:rPr lang="en-US"/>
              <a:t>SUPPORT! </a:t>
            </a:r>
          </a:p>
          <a:p>
            <a:r>
              <a:rPr lang="en-US"/>
              <a:t/>
            </a:r>
          </a:p>
          <a:p>
            <a:r>
              <a:rPr lang="en-US"/>
              <a:t>When you're down, your job is on the line, everyone's yelling, etc. it is crucial to be able to offload some of that stress. Having a vendor to call to help you will make the whole process go faster! </a:t>
            </a:r>
          </a:p>
          <a:p>
            <a:r>
              <a:rPr lang="en-US"/>
              <a:t/>
            </a:r>
          </a:p>
          <a:p>
            <a:r>
              <a:rPr lang="en-US"/>
              <a:t>There are other benefits, you have the insurance that someone else did some of the work and you get features which most free tools don't have, but support is your win with BCDR. </a:t>
            </a:r>
          </a:p>
          <a:p>
            <a:r>
              <a:rPr lang="en-US"/>
              <a:t/>
            </a:r>
          </a:p>
          <a:p>
            <a:r>
              <a:rPr lang="en-US"/>
              <a:t>The tool is important. You want your BCDR tool to be usable, but that is actually not the most important reason to buy a solution. </a:t>
            </a:r>
          </a:p>
          <a:p>
            <a:r>
              <a:rPr lang="en-US"/>
              <a:t/>
            </a:r>
          </a:p>
          <a:p>
            <a:r>
              <a:rPr lang="en-US"/>
              <a:t>Don't get me wrong, there are workable cheaper/free options. I argue this is the hill worth dying 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minute</a:t>
            </a:r>
          </a:p>
          <a:p>
            <a:r>
              <a:rPr lang="en-US"/>
              <a:t/>
            </a:r>
          </a:p>
          <a:p>
            <a:r>
              <a:rPr lang="en-US"/>
              <a:t>When thinking about solutions remember that VM snapshots are not backups. They're just not! </a:t>
            </a:r>
          </a:p>
          <a:p>
            <a:r>
              <a:rPr lang="en-US"/>
              <a:t/>
            </a:r>
          </a:p>
          <a:p>
            <a:r>
              <a:rPr lang="en-US"/>
              <a:t>There are too many little gotcha's buried in with VM snapshots being *the* backup. That doesn't mean they can't augment the backup which some tools do. </a:t>
            </a:r>
          </a:p>
          <a:p>
            <a:r>
              <a:rPr lang="en-US"/>
              <a:t/>
            </a:r>
          </a:p>
          <a:p>
            <a:r>
              <a:rPr lang="en-US"/>
              <a:t>Personally, I'm dubious of any solution that claims snapshots are their core component so keep that in mind. </a:t>
            </a:r>
          </a:p>
          <a:p>
            <a:r>
              <a:rPr lang="en-US"/>
              <a:t/>
            </a:r>
          </a:p>
          <a:p>
            <a:r>
              <a:rPr lang="en-US"/>
              <a:t>References....</a:t>
            </a:r>
          </a:p>
          <a:p>
            <a:r>
              <a:rPr lang="en-US"/>
              <a:t>Veeam on snapshots not being backups: https://www.veeam.com/blog/why-snapshots-alone-are-not-backups.html</a:t>
            </a:r>
          </a:p>
          <a:p>
            <a:r>
              <a:rPr lang="en-US"/>
              <a:t/>
            </a:r>
          </a:p>
          <a:p>
            <a:r>
              <a:rPr lang="en-US"/>
              <a:t>Veeam on AD backup best practices: https://www.veeam.com/blog/backing-up-domain-controller-best-practices-for-ad-protection.html</a:t>
            </a:r>
          </a:p>
          <a:p>
            <a:r>
              <a:rPr lang="en-US"/>
              <a:t/>
            </a:r>
          </a:p>
          <a:p>
            <a:r>
              <a:rPr lang="en-US"/>
              <a:t>Semperis ADFR product page: https://www.semperis.com/active-directory-forest-recovery/</a:t>
            </a:r>
          </a:p>
          <a:p>
            <a:r>
              <a:rPr lang="en-US"/>
              <a:t/>
            </a:r>
          </a:p>
          <a:p>
            <a:r>
              <a:rPr lang="en-US"/>
              <a:t>Semperis on ransomware dormancy and reinfection risk: https://www.semperis.com/semperis-faq/</a:t>
            </a:r>
          </a:p>
          <a:p>
            <a:r>
              <a:rPr lang="en-US"/>
              <a:t/>
            </a:r>
          </a:p>
          <a:p>
            <a:r>
              <a:rPr lang="en-US"/>
              <a:t/>
            </a:r>
          </a:p>
          <a:p>
            <a:r>
              <a:rPr lang="en-US"/>
              <a:t>- Most backup solutions are either strictly file/block-based backup solutions or they are snapshot-based.</a:t>
            </a:r>
          </a:p>
          <a:p>
            <a:r>
              <a:rPr lang="en-US"/>
              <a:t>-- File/block-based copy files/blocks</a:t>
            </a:r>
          </a:p>
          <a:p>
            <a:r>
              <a:rPr lang="en-US"/>
              <a:t>-- Snapshot based tend to work at the Hypervisor layer. </a:t>
            </a:r>
          </a:p>
          <a:p>
            <a:r>
              <a:rPr lang="en-US"/>
              <a:t/>
            </a:r>
          </a:p>
          <a:p>
            <a:r>
              <a:rPr lang="en-US"/>
              <a:t>- File-only backups aren't normally AD-aware and can cause issues if they aren't. Same for block</a:t>
            </a:r>
          </a:p>
          <a:p>
            <a:r>
              <a:rPr lang="en-US"/>
              <a:t/>
            </a:r>
          </a:p>
          <a:p>
            <a:r>
              <a:rPr lang="en-US"/>
              <a:t>- Snapshot-based are capturing the underlying OS. </a:t>
            </a:r>
          </a:p>
          <a:p>
            <a:r>
              <a:rPr lang="en-US"/>
              <a:t/>
            </a:r>
          </a:p>
          <a:p>
            <a:r>
              <a:rPr lang="en-US"/>
              <a:t>- Bare Metal Recovery and System State can restore AD, but are effectively copies of the OS.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a:t>
            </a:r>
          </a:p>
          <a:p>
            <a:r>
              <a:rPr lang="en-US"/>
              <a:t/>
            </a:r>
          </a:p>
          <a:p>
            <a:r>
              <a:rPr lang="en-US"/>
              <a:t>We need a target; some goals.</a:t>
            </a:r>
          </a:p>
          <a:p>
            <a:r>
              <a:rPr lang="en-US"/>
              <a:t/>
            </a:r>
          </a:p>
          <a:p>
            <a:r>
              <a:rPr lang="en-US"/>
              <a:t>What is the business need? Too many orgs go into BCDR forgetting that they need to know how far back to keep backups or what a reasonable amount of downtime looks like.</a:t>
            </a:r>
          </a:p>
          <a:p>
            <a:r>
              <a:rPr lang="en-US"/>
              <a:t/>
            </a:r>
          </a:p>
          <a:p>
            <a:r>
              <a:rPr lang="en-US"/>
              <a:t>Execs love to say "Zero downtime" which is a great thing to say in the mirror. It's not realistic when thinking of BCDR. </a:t>
            </a:r>
          </a:p>
          <a:p>
            <a:r>
              <a:rPr lang="en-US"/>
              <a:t/>
            </a:r>
          </a:p>
          <a:p>
            <a:r>
              <a:rPr lang="en-US"/>
              <a:t>[slide]</a:t>
            </a:r>
          </a:p>
          <a:p>
            <a:r>
              <a:rPr lang="en-US"/>
              <a:t>What are we protecting against?  This focuses on what events and impacts are being considered. </a:t>
            </a:r>
          </a:p>
          <a:p>
            <a:r>
              <a:rPr lang="en-US"/>
              <a:t/>
            </a:r>
          </a:p>
          <a:p>
            <a:r>
              <a:rPr lang="en-US"/>
              <a:t>Flooding? Fire? Malware? </a:t>
            </a:r>
          </a:p>
          <a:p>
            <a:r>
              <a:rPr lang="en-US"/>
              <a:t/>
            </a:r>
          </a:p>
          <a:p>
            <a:r>
              <a:rPr lang="en-US"/>
              <a:t>But don't forget the human and technical elements. People make mistakes. Hard drives go bad. Ransomware gives you the red screen of "eff". </a:t>
            </a:r>
          </a:p>
          <a:p>
            <a:r>
              <a:rPr lang="en-US"/>
              <a:t/>
            </a:r>
          </a:p>
          <a:p>
            <a:r>
              <a:rPr lang="en-US"/>
              <a:t>[slide]</a:t>
            </a:r>
          </a:p>
          <a:p>
            <a:r>
              <a:rPr lang="en-US"/>
              <a:t>Thinking of technical. </a:t>
            </a:r>
          </a:p>
          <a:p>
            <a:r>
              <a:rPr lang="en-US"/>
              <a:t/>
            </a:r>
          </a:p>
          <a:p>
            <a:r>
              <a:rPr lang="en-US"/>
              <a:t>The solution has to be able to restore, specifically in this case it has to be able to restore AD safely and reliably.</a:t>
            </a:r>
          </a:p>
          <a:p>
            <a:r>
              <a:rPr lang="en-US"/>
              <a:t/>
            </a:r>
          </a:p>
          <a:p>
            <a:r>
              <a:rPr lang="en-US"/>
              <a:t>AD is kind of a snowflake in how it likes to be restored, so the products need to actually be able to handle those quirks. Were not just file servers over here! </a:t>
            </a:r>
          </a:p>
          <a:p>
            <a:r>
              <a:rPr lang="en-US"/>
              <a:t/>
            </a:r>
          </a:p>
          <a:p>
            <a:r>
              <a:rPr lang="en-US"/>
              <a:t>If you can't restore your target, what's the point?</a:t>
            </a:r>
          </a:p>
          <a:p>
            <a:r>
              <a:rPr lang="en-US"/>
              <a:t/>
            </a:r>
          </a:p>
          <a:p>
            <a:r>
              <a:rPr lang="en-US"/>
              <a:t>[slide]</a:t>
            </a:r>
          </a:p>
          <a:p>
            <a:r>
              <a:rPr lang="en-US"/>
              <a:t/>
            </a:r>
          </a:p>
          <a:p>
            <a:r>
              <a:rPr lang="en-US"/>
              <a:t>What does the security model of the solution look like? Is it encrypted at rest? If backups are replicated are they encrypted in transit? Do they have an RBAC model? </a:t>
            </a:r>
          </a:p>
          <a:p>
            <a:r>
              <a:rPr lang="en-US"/>
              <a:t/>
            </a:r>
          </a:p>
          <a:p>
            <a:r>
              <a:rPr lang="en-US"/>
              <a:t>[slide]</a:t>
            </a:r>
          </a:p>
          <a:p>
            <a:r>
              <a:rPr lang="en-US"/>
              <a:t>Support. I've mentioned that before. It has to be supportable by the vendor. </a:t>
            </a:r>
          </a:p>
          <a:p>
            <a:r>
              <a:rPr lang="en-US"/>
              <a:t/>
            </a:r>
          </a:p>
          <a:p>
            <a:r>
              <a:rPr lang="en-US"/>
              <a:t>[slide] </a:t>
            </a:r>
          </a:p>
          <a:p>
            <a:r>
              <a:rPr lang="en-US"/>
              <a:t>Resilence is a big part of BCDR. What if the malware goes after my backups? Does my solution, not just the product but my solution, have planned resiliency? </a:t>
            </a:r>
          </a:p>
          <a:p>
            <a:r>
              <a:rPr lang="en-US"/>
              <a:t/>
            </a:r>
          </a:p>
          <a:p>
            <a:r>
              <a:rPr lang="en-US"/>
              <a:t>Does my BCDR depend on AD to restore AD, because that aint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a:t>
            </a:r>
          </a:p>
          <a:p>
            <a:r>
              <a:rPr lang="en-US"/>
              <a:t/>
            </a:r>
          </a:p>
          <a:p>
            <a:r>
              <a:rPr lang="en-US"/>
              <a:t>We need a target; some goals.</a:t>
            </a:r>
          </a:p>
          <a:p>
            <a:r>
              <a:rPr lang="en-US"/>
              <a:t/>
            </a:r>
          </a:p>
          <a:p>
            <a:r>
              <a:rPr lang="en-US"/>
              <a:t>What is the business need? Too many orgs go into BCDR forgetting that they need to know how far back to keep backups or what a reasonable amount of downtime looks like.</a:t>
            </a:r>
          </a:p>
          <a:p>
            <a:r>
              <a:rPr lang="en-US"/>
              <a:t/>
            </a:r>
          </a:p>
          <a:p>
            <a:r>
              <a:rPr lang="en-US"/>
              <a:t>Execs love to say "Zero downtime" which is a great thing to say in the mirror. It's not realistic when thinking of BCDR. </a:t>
            </a:r>
          </a:p>
          <a:p>
            <a:r>
              <a:rPr lang="en-US"/>
              <a:t/>
            </a:r>
          </a:p>
          <a:p>
            <a:r>
              <a:rPr lang="en-US"/>
              <a:t>[slide]</a:t>
            </a:r>
          </a:p>
          <a:p>
            <a:r>
              <a:rPr lang="en-US"/>
              <a:t>What are we protecting against?  This focuses on what events and impacts are being considered. </a:t>
            </a:r>
          </a:p>
          <a:p>
            <a:r>
              <a:rPr lang="en-US"/>
              <a:t/>
            </a:r>
          </a:p>
          <a:p>
            <a:r>
              <a:rPr lang="en-US"/>
              <a:t>Flooding? Fire? Malware? </a:t>
            </a:r>
          </a:p>
          <a:p>
            <a:r>
              <a:rPr lang="en-US"/>
              <a:t/>
            </a:r>
          </a:p>
          <a:p>
            <a:r>
              <a:rPr lang="en-US"/>
              <a:t>But don't forget the human and technical elements. People make mistakes. Hard drives go bad. Ransomware gives you the red screen of "eff". </a:t>
            </a:r>
          </a:p>
          <a:p>
            <a:r>
              <a:rPr lang="en-US"/>
              <a:t/>
            </a:r>
          </a:p>
          <a:p>
            <a:r>
              <a:rPr lang="en-US"/>
              <a:t>[slide]</a:t>
            </a:r>
          </a:p>
          <a:p>
            <a:r>
              <a:rPr lang="en-US"/>
              <a:t>Thinking of technical. </a:t>
            </a:r>
          </a:p>
          <a:p>
            <a:r>
              <a:rPr lang="en-US"/>
              <a:t/>
            </a:r>
          </a:p>
          <a:p>
            <a:r>
              <a:rPr lang="en-US"/>
              <a:t>The solution has to be able to restore, specifically in this case it has to be able to restore AD safely and reliably.</a:t>
            </a:r>
          </a:p>
          <a:p>
            <a:r>
              <a:rPr lang="en-US"/>
              <a:t/>
            </a:r>
          </a:p>
          <a:p>
            <a:r>
              <a:rPr lang="en-US"/>
              <a:t>AD is kind of a snowflake in how it likes to be restored, so the products need to actually be able to handle those quirks. Were not just file servers over here! </a:t>
            </a:r>
          </a:p>
          <a:p>
            <a:r>
              <a:rPr lang="en-US"/>
              <a:t/>
            </a:r>
          </a:p>
          <a:p>
            <a:r>
              <a:rPr lang="en-US"/>
              <a:t>If you can't restore your target, what's the point?</a:t>
            </a:r>
          </a:p>
          <a:p>
            <a:r>
              <a:rPr lang="en-US"/>
              <a:t/>
            </a:r>
          </a:p>
          <a:p>
            <a:r>
              <a:rPr lang="en-US"/>
              <a:t>[slide]</a:t>
            </a:r>
          </a:p>
          <a:p>
            <a:r>
              <a:rPr lang="en-US"/>
              <a:t/>
            </a:r>
          </a:p>
          <a:p>
            <a:r>
              <a:rPr lang="en-US"/>
              <a:t>What does the security model of the solution look like? Is it encrypted at rest? If backups are replicated are they encrypted in transit? Do they have an RBAC model? </a:t>
            </a:r>
          </a:p>
          <a:p>
            <a:r>
              <a:rPr lang="en-US"/>
              <a:t/>
            </a:r>
          </a:p>
          <a:p>
            <a:r>
              <a:rPr lang="en-US"/>
              <a:t>[slide]</a:t>
            </a:r>
          </a:p>
          <a:p>
            <a:r>
              <a:rPr lang="en-US"/>
              <a:t>Support. I've mentioned that before. It has to be supportable by the vendor. </a:t>
            </a:r>
          </a:p>
          <a:p>
            <a:r>
              <a:rPr lang="en-US"/>
              <a:t/>
            </a:r>
          </a:p>
          <a:p>
            <a:r>
              <a:rPr lang="en-US"/>
              <a:t>[slide] </a:t>
            </a:r>
          </a:p>
          <a:p>
            <a:r>
              <a:rPr lang="en-US"/>
              <a:t>Resilence is a big part of BCDR. What if the malware goes after my backups? Does my solution, not just the product but my solution, have planned resiliency? </a:t>
            </a:r>
          </a:p>
          <a:p>
            <a:r>
              <a:rPr lang="en-US"/>
              <a:t/>
            </a:r>
          </a:p>
          <a:p>
            <a:r>
              <a:rPr lang="en-US"/>
              <a:t>Does my BCDR depend on AD to restore AD, because that aint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a:t>
            </a:r>
          </a:p>
          <a:p>
            <a:r>
              <a:rPr lang="en-US"/>
              <a:t/>
            </a:r>
          </a:p>
          <a:p>
            <a:r>
              <a:rPr lang="en-US"/>
              <a:t>We need a target; some goals.</a:t>
            </a:r>
          </a:p>
          <a:p>
            <a:r>
              <a:rPr lang="en-US"/>
              <a:t/>
            </a:r>
          </a:p>
          <a:p>
            <a:r>
              <a:rPr lang="en-US"/>
              <a:t>What is the business need? Too many orgs go into BCDR forgetting that they need to know how far back to keep backups or what a reasonable amount of downtime looks like.</a:t>
            </a:r>
          </a:p>
          <a:p>
            <a:r>
              <a:rPr lang="en-US"/>
              <a:t/>
            </a:r>
          </a:p>
          <a:p>
            <a:r>
              <a:rPr lang="en-US"/>
              <a:t>Execs love to say "Zero downtime" which is a great thing to say in the mirror. It's not realistic when thinking of BCDR. </a:t>
            </a:r>
          </a:p>
          <a:p>
            <a:r>
              <a:rPr lang="en-US"/>
              <a:t/>
            </a:r>
          </a:p>
          <a:p>
            <a:r>
              <a:rPr lang="en-US"/>
              <a:t>[slide]</a:t>
            </a:r>
          </a:p>
          <a:p>
            <a:r>
              <a:rPr lang="en-US"/>
              <a:t>What are we protecting against?  This focuses on what events and impacts are being considered. </a:t>
            </a:r>
          </a:p>
          <a:p>
            <a:r>
              <a:rPr lang="en-US"/>
              <a:t/>
            </a:r>
          </a:p>
          <a:p>
            <a:r>
              <a:rPr lang="en-US"/>
              <a:t>Flooding? Fire? Malware? </a:t>
            </a:r>
          </a:p>
          <a:p>
            <a:r>
              <a:rPr lang="en-US"/>
              <a:t/>
            </a:r>
          </a:p>
          <a:p>
            <a:r>
              <a:rPr lang="en-US"/>
              <a:t>But don't forget the human and technical elements. People make mistakes. Hard drives go bad. Ransomware gives you the red screen of "eff". </a:t>
            </a:r>
          </a:p>
          <a:p>
            <a:r>
              <a:rPr lang="en-US"/>
              <a:t/>
            </a:r>
          </a:p>
          <a:p>
            <a:r>
              <a:rPr lang="en-US"/>
              <a:t>[slide]</a:t>
            </a:r>
          </a:p>
          <a:p>
            <a:r>
              <a:rPr lang="en-US"/>
              <a:t>Thinking of technical. </a:t>
            </a:r>
          </a:p>
          <a:p>
            <a:r>
              <a:rPr lang="en-US"/>
              <a:t/>
            </a:r>
          </a:p>
          <a:p>
            <a:r>
              <a:rPr lang="en-US"/>
              <a:t>The solution has to be able to restore, specifically in this case it has to be able to restore AD safely and reliably.</a:t>
            </a:r>
          </a:p>
          <a:p>
            <a:r>
              <a:rPr lang="en-US"/>
              <a:t/>
            </a:r>
          </a:p>
          <a:p>
            <a:r>
              <a:rPr lang="en-US"/>
              <a:t>AD is kind of a snowflake in how it likes to be restored, so the products need to actually be able to handle those quirks. Were not just file servers over here! </a:t>
            </a:r>
          </a:p>
          <a:p>
            <a:r>
              <a:rPr lang="en-US"/>
              <a:t/>
            </a:r>
          </a:p>
          <a:p>
            <a:r>
              <a:rPr lang="en-US"/>
              <a:t>If you can't restore your target, what's the point?</a:t>
            </a:r>
          </a:p>
          <a:p>
            <a:r>
              <a:rPr lang="en-US"/>
              <a:t/>
            </a:r>
          </a:p>
          <a:p>
            <a:r>
              <a:rPr lang="en-US"/>
              <a:t>[slide]</a:t>
            </a:r>
          </a:p>
          <a:p>
            <a:r>
              <a:rPr lang="en-US"/>
              <a:t/>
            </a:r>
          </a:p>
          <a:p>
            <a:r>
              <a:rPr lang="en-US"/>
              <a:t>What does the security model of the solution look like? Is it encrypted at rest? If backups are replicated are they encrypted in transit? Do they have an RBAC model? </a:t>
            </a:r>
          </a:p>
          <a:p>
            <a:r>
              <a:rPr lang="en-US"/>
              <a:t/>
            </a:r>
          </a:p>
          <a:p>
            <a:r>
              <a:rPr lang="en-US"/>
              <a:t>[slide]</a:t>
            </a:r>
          </a:p>
          <a:p>
            <a:r>
              <a:rPr lang="en-US"/>
              <a:t>Support. I've mentioned that before. It has to be supportable by the vendor. </a:t>
            </a:r>
          </a:p>
          <a:p>
            <a:r>
              <a:rPr lang="en-US"/>
              <a:t/>
            </a:r>
          </a:p>
          <a:p>
            <a:r>
              <a:rPr lang="en-US"/>
              <a:t>[slide] </a:t>
            </a:r>
          </a:p>
          <a:p>
            <a:r>
              <a:rPr lang="en-US"/>
              <a:t>Resilence is a big part of BCDR. What if the malware goes after my backups? Does my solution, not just the product but my solution, have planned resiliency? </a:t>
            </a:r>
          </a:p>
          <a:p>
            <a:r>
              <a:rPr lang="en-US"/>
              <a:t/>
            </a:r>
          </a:p>
          <a:p>
            <a:r>
              <a:rPr lang="en-US"/>
              <a:t>Does my BCDR depend on AD to restore AD, because that aint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a:t>
            </a:r>
          </a:p>
          <a:p>
            <a:r>
              <a:rPr lang="en-US"/>
              <a:t/>
            </a:r>
          </a:p>
          <a:p>
            <a:r>
              <a:rPr lang="en-US"/>
              <a:t>We need a target; some goals.</a:t>
            </a:r>
          </a:p>
          <a:p>
            <a:r>
              <a:rPr lang="en-US"/>
              <a:t/>
            </a:r>
          </a:p>
          <a:p>
            <a:r>
              <a:rPr lang="en-US"/>
              <a:t>What is the business need? Too many orgs go into BCDR forgetting that they need to know how far back to keep backups or what a reasonable amount of downtime looks like.</a:t>
            </a:r>
          </a:p>
          <a:p>
            <a:r>
              <a:rPr lang="en-US"/>
              <a:t/>
            </a:r>
          </a:p>
          <a:p>
            <a:r>
              <a:rPr lang="en-US"/>
              <a:t>Execs love to say "Zero downtime" which is a great thing to say in the mirror. It's not realistic when thinking of BCDR. </a:t>
            </a:r>
          </a:p>
          <a:p>
            <a:r>
              <a:rPr lang="en-US"/>
              <a:t/>
            </a:r>
          </a:p>
          <a:p>
            <a:r>
              <a:rPr lang="en-US"/>
              <a:t>[slide]</a:t>
            </a:r>
          </a:p>
          <a:p>
            <a:r>
              <a:rPr lang="en-US"/>
              <a:t>What are we protecting against?  This focuses on what events and impacts are being considered. </a:t>
            </a:r>
          </a:p>
          <a:p>
            <a:r>
              <a:rPr lang="en-US"/>
              <a:t/>
            </a:r>
          </a:p>
          <a:p>
            <a:r>
              <a:rPr lang="en-US"/>
              <a:t>Flooding? Fire? Malware? </a:t>
            </a:r>
          </a:p>
          <a:p>
            <a:r>
              <a:rPr lang="en-US"/>
              <a:t/>
            </a:r>
          </a:p>
          <a:p>
            <a:r>
              <a:rPr lang="en-US"/>
              <a:t>But don't forget the human and technical elements. People make mistakes. Hard drives go bad. Ransomware gives you the red screen of "eff". </a:t>
            </a:r>
          </a:p>
          <a:p>
            <a:r>
              <a:rPr lang="en-US"/>
              <a:t/>
            </a:r>
          </a:p>
          <a:p>
            <a:r>
              <a:rPr lang="en-US"/>
              <a:t>[slide]</a:t>
            </a:r>
          </a:p>
          <a:p>
            <a:r>
              <a:rPr lang="en-US"/>
              <a:t>Thinking of technical. </a:t>
            </a:r>
          </a:p>
          <a:p>
            <a:r>
              <a:rPr lang="en-US"/>
              <a:t/>
            </a:r>
          </a:p>
          <a:p>
            <a:r>
              <a:rPr lang="en-US"/>
              <a:t>The solution has to be able to restore, specifically in this case it has to be able to restore AD safely and reliably.</a:t>
            </a:r>
          </a:p>
          <a:p>
            <a:r>
              <a:rPr lang="en-US"/>
              <a:t/>
            </a:r>
          </a:p>
          <a:p>
            <a:r>
              <a:rPr lang="en-US"/>
              <a:t>AD is kind of a snowflake in how it likes to be restored, so the products need to actually be able to handle those quirks. Were not just file servers over here! </a:t>
            </a:r>
          </a:p>
          <a:p>
            <a:r>
              <a:rPr lang="en-US"/>
              <a:t/>
            </a:r>
          </a:p>
          <a:p>
            <a:r>
              <a:rPr lang="en-US"/>
              <a:t>If you can't restore your target, what's the point?</a:t>
            </a:r>
          </a:p>
          <a:p>
            <a:r>
              <a:rPr lang="en-US"/>
              <a:t/>
            </a:r>
          </a:p>
          <a:p>
            <a:r>
              <a:rPr lang="en-US"/>
              <a:t>[slide]</a:t>
            </a:r>
          </a:p>
          <a:p>
            <a:r>
              <a:rPr lang="en-US"/>
              <a:t/>
            </a:r>
          </a:p>
          <a:p>
            <a:r>
              <a:rPr lang="en-US"/>
              <a:t>What does the security model of the solution look like? Is it encrypted at rest? If backups are replicated are they encrypted in transit? Do they have an RBAC model? </a:t>
            </a:r>
          </a:p>
          <a:p>
            <a:r>
              <a:rPr lang="en-US"/>
              <a:t/>
            </a:r>
          </a:p>
          <a:p>
            <a:r>
              <a:rPr lang="en-US"/>
              <a:t>[slide]</a:t>
            </a:r>
          </a:p>
          <a:p>
            <a:r>
              <a:rPr lang="en-US"/>
              <a:t>Support. I've mentioned that before. It has to be supportable by the vendor. </a:t>
            </a:r>
          </a:p>
          <a:p>
            <a:r>
              <a:rPr lang="en-US"/>
              <a:t/>
            </a:r>
          </a:p>
          <a:p>
            <a:r>
              <a:rPr lang="en-US"/>
              <a:t>[slide] </a:t>
            </a:r>
          </a:p>
          <a:p>
            <a:r>
              <a:rPr lang="en-US"/>
              <a:t>Resilence is a big part of BCDR. What if the malware goes after my backups? Does my solution, not just the product but my solution, have planned resiliency? </a:t>
            </a:r>
          </a:p>
          <a:p>
            <a:r>
              <a:rPr lang="en-US"/>
              <a:t/>
            </a:r>
          </a:p>
          <a:p>
            <a:r>
              <a:rPr lang="en-US"/>
              <a:t>Does my BCDR depend on AD to restore AD, because that aint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a:t>
            </a:r>
          </a:p>
          <a:p>
            <a:r>
              <a:rPr lang="en-US"/>
              <a:t/>
            </a:r>
          </a:p>
          <a:p>
            <a:r>
              <a:rPr lang="en-US"/>
              <a:t>We need a target; some goals.</a:t>
            </a:r>
          </a:p>
          <a:p>
            <a:r>
              <a:rPr lang="en-US"/>
              <a:t/>
            </a:r>
          </a:p>
          <a:p>
            <a:r>
              <a:rPr lang="en-US"/>
              <a:t>What is the business need? Too many orgs go into BCDR forgetting that they need to know how far back to keep backups or what a reasonable amount of downtime looks like.</a:t>
            </a:r>
          </a:p>
          <a:p>
            <a:r>
              <a:rPr lang="en-US"/>
              <a:t/>
            </a:r>
          </a:p>
          <a:p>
            <a:r>
              <a:rPr lang="en-US"/>
              <a:t>Execs love to say "Zero downtime" which is a great thing to say in the mirror. It's not realistic when thinking of BCDR. </a:t>
            </a:r>
          </a:p>
          <a:p>
            <a:r>
              <a:rPr lang="en-US"/>
              <a:t/>
            </a:r>
          </a:p>
          <a:p>
            <a:r>
              <a:rPr lang="en-US"/>
              <a:t>[slide]</a:t>
            </a:r>
          </a:p>
          <a:p>
            <a:r>
              <a:rPr lang="en-US"/>
              <a:t>What are we protecting against?  This focuses on what events and impacts are being considered. </a:t>
            </a:r>
          </a:p>
          <a:p>
            <a:r>
              <a:rPr lang="en-US"/>
              <a:t/>
            </a:r>
          </a:p>
          <a:p>
            <a:r>
              <a:rPr lang="en-US"/>
              <a:t>Flooding? Fire? Malware? </a:t>
            </a:r>
          </a:p>
          <a:p>
            <a:r>
              <a:rPr lang="en-US"/>
              <a:t/>
            </a:r>
          </a:p>
          <a:p>
            <a:r>
              <a:rPr lang="en-US"/>
              <a:t>But don't forget the human and technical elements. People make mistakes. Hard drives go bad. Ransomware gives you the red screen of "eff". </a:t>
            </a:r>
          </a:p>
          <a:p>
            <a:r>
              <a:rPr lang="en-US"/>
              <a:t/>
            </a:r>
          </a:p>
          <a:p>
            <a:r>
              <a:rPr lang="en-US"/>
              <a:t>[slide]</a:t>
            </a:r>
          </a:p>
          <a:p>
            <a:r>
              <a:rPr lang="en-US"/>
              <a:t>Thinking of technical. </a:t>
            </a:r>
          </a:p>
          <a:p>
            <a:r>
              <a:rPr lang="en-US"/>
              <a:t/>
            </a:r>
          </a:p>
          <a:p>
            <a:r>
              <a:rPr lang="en-US"/>
              <a:t>The solution has to be able to restore, specifically in this case it has to be able to restore AD safely and reliably.</a:t>
            </a:r>
          </a:p>
          <a:p>
            <a:r>
              <a:rPr lang="en-US"/>
              <a:t/>
            </a:r>
          </a:p>
          <a:p>
            <a:r>
              <a:rPr lang="en-US"/>
              <a:t>AD is kind of a snowflake in how it likes to be restored, so the products need to actually be able to handle those quirks. Were not just file servers over here! </a:t>
            </a:r>
          </a:p>
          <a:p>
            <a:r>
              <a:rPr lang="en-US"/>
              <a:t/>
            </a:r>
          </a:p>
          <a:p>
            <a:r>
              <a:rPr lang="en-US"/>
              <a:t>If you can't restore your target, what's the point?</a:t>
            </a:r>
          </a:p>
          <a:p>
            <a:r>
              <a:rPr lang="en-US"/>
              <a:t/>
            </a:r>
          </a:p>
          <a:p>
            <a:r>
              <a:rPr lang="en-US"/>
              <a:t>[slide]</a:t>
            </a:r>
          </a:p>
          <a:p>
            <a:r>
              <a:rPr lang="en-US"/>
              <a:t/>
            </a:r>
          </a:p>
          <a:p>
            <a:r>
              <a:rPr lang="en-US"/>
              <a:t>What does the security model of the solution look like? Is it encrypted at rest? If backups are replicated are they encrypted in transit? Do they have an RBAC model? </a:t>
            </a:r>
          </a:p>
          <a:p>
            <a:r>
              <a:rPr lang="en-US"/>
              <a:t/>
            </a:r>
          </a:p>
          <a:p>
            <a:r>
              <a:rPr lang="en-US"/>
              <a:t>[slide]</a:t>
            </a:r>
          </a:p>
          <a:p>
            <a:r>
              <a:rPr lang="en-US"/>
              <a:t>Support. I've mentioned that before. It has to be supportable by the vendor. </a:t>
            </a:r>
          </a:p>
          <a:p>
            <a:r>
              <a:rPr lang="en-US"/>
              <a:t/>
            </a:r>
          </a:p>
          <a:p>
            <a:r>
              <a:rPr lang="en-US"/>
              <a:t>[slide] </a:t>
            </a:r>
          </a:p>
          <a:p>
            <a:r>
              <a:rPr lang="en-US"/>
              <a:t>Resilence is a big part of BCDR. What if the malware goes after my backups? Does my solution, not just the product but my solution, have planned resiliency? </a:t>
            </a:r>
          </a:p>
          <a:p>
            <a:r>
              <a:rPr lang="en-US"/>
              <a:t/>
            </a:r>
          </a:p>
          <a:p>
            <a:r>
              <a:rPr lang="en-US"/>
              <a:t>Does my BCDR depend on AD to restore AD, because that aint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minutes</a:t>
            </a:r>
          </a:p>
          <a:p>
            <a:r>
              <a:rPr lang="en-US"/>
              <a:t/>
            </a:r>
          </a:p>
          <a:p>
            <a:r>
              <a:rPr lang="en-US"/>
              <a:t>This slide is really about the one item. There's more, but it is for the notes. </a:t>
            </a:r>
          </a:p>
          <a:p>
            <a:r>
              <a:rPr lang="en-US"/>
              <a:t/>
            </a:r>
          </a:p>
          <a:p>
            <a:r>
              <a:rPr lang="en-US"/>
              <a:t>[slide]</a:t>
            </a:r>
          </a:p>
          <a:p>
            <a:r>
              <a:rPr lang="en-US"/>
              <a:t/>
            </a:r>
          </a:p>
          <a:p>
            <a:r>
              <a:rPr lang="en-US"/>
              <a:t>3-2-1 rule is the standard.</a:t>
            </a:r>
          </a:p>
          <a:p>
            <a:r>
              <a:rPr lang="en-US"/>
              <a:t/>
            </a:r>
          </a:p>
          <a:p>
            <a:r>
              <a:rPr lang="en-US"/>
              <a:t>You need 3 copies of the data you're backing up. </a:t>
            </a:r>
          </a:p>
          <a:p>
            <a:r>
              <a:rPr lang="en-US"/>
              <a:t/>
            </a:r>
          </a:p>
          <a:p>
            <a:r>
              <a:rPr lang="en-US"/>
              <a:t>You need those copies to live on at least 2 media types. I consider an on-prem type and cloud as acceptable here. </a:t>
            </a:r>
          </a:p>
          <a:p>
            <a:r>
              <a:rPr lang="en-US"/>
              <a:t/>
            </a:r>
          </a:p>
          <a:p>
            <a:r>
              <a:rPr lang="en-US"/>
              <a:t>At least one copy should be stored offsite. Traditionally this meant in caves or bunkers. Now it is interesting because with cloud integration, what if your offsite is an S3, Glacier or Azure Storage location? Those need to be airgapped somehow or you need actual off site because of connectivity. </a:t>
            </a:r>
          </a:p>
          <a:p>
            <a:r>
              <a:rPr lang="en-US"/>
              <a:t/>
            </a:r>
          </a:p>
          <a:p>
            <a:r>
              <a:rPr lang="en-US"/>
              <a:t>The newer addition to this rule is the +1 to say one copy should be immutable/write-only. </a:t>
            </a:r>
          </a:p>
          <a:p>
            <a:r>
              <a:rPr lang="en-US"/>
              <a:t/>
            </a:r>
          </a:p>
          <a:p>
            <a:r>
              <a:rPr lang="en-US"/>
              <a:t>[slide]</a:t>
            </a:r>
          </a:p>
          <a:p>
            <a:r>
              <a:rPr lang="en-US"/>
              <a:t/>
            </a:r>
          </a:p>
          <a:p>
            <a:r>
              <a:rPr lang="en-US"/>
              <a:t>You want to make sure your backups are protected. I mentioned encrypted and RBAC controls but you should make sure the backups are treated as securely as the system they backed up. Make sure no one can just copy your backups and walk out. At least with AD you have to remember the backups are a copy of AD, including passwords and secrets.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4 minutes</a:t>
            </a:r>
          </a:p>
          <a:p>
            <a:r>
              <a:rPr lang="en-US"/>
              <a:t/>
            </a:r>
          </a:p>
          <a:p>
            <a:r>
              <a:rPr lang="en-US"/>
              <a:t>#1 recommendation: Get an Enterprise solution</a:t>
            </a:r>
          </a:p>
          <a:p>
            <a:r>
              <a:rPr lang="en-US"/>
              <a:t/>
            </a:r>
          </a:p>
          <a:p>
            <a:r>
              <a:rPr lang="en-US"/>
              <a:t>What if we don't have the budget? Well there is some hope.</a:t>
            </a:r>
          </a:p>
          <a:p>
            <a:r>
              <a:rPr lang="en-US"/>
              <a:t/>
            </a:r>
          </a:p>
          <a:p>
            <a:r>
              <a:rPr lang="en-US"/>
              <a:t>[slide]</a:t>
            </a:r>
          </a:p>
          <a:p>
            <a:r>
              <a:rPr lang="en-US"/>
              <a:t/>
            </a:r>
          </a:p>
          <a:p>
            <a:r>
              <a:rPr lang="en-US"/>
              <a:t>Windows Server Backup. I know it isn't the best. Heck I wouldn't even call it good. But it is something you already have and it doesn't cost any extra. You can get BMR or System state backups with it pretty easy. It's also supported by Microsoft. They still talk about it in BCDR engagements, trust me.</a:t>
            </a:r>
          </a:p>
          <a:p>
            <a:r>
              <a:rPr lang="en-US"/>
              <a:t/>
            </a:r>
          </a:p>
          <a:p>
            <a:r>
              <a:rPr lang="en-US"/>
              <a:t>Another option is Azure Backups. If you have an IaaS DC running in the cloud, Azure Backup can do the work. The big thing here is when on-prem is compromised the cloud-side often is too because of all the connections. Also, Azure security is about as bad as AD in many places so you may not have the access controls here you think. Nonetheless, it works. </a:t>
            </a:r>
          </a:p>
          <a:p>
            <a:r>
              <a:rPr lang="en-US"/>
              <a:t/>
            </a:r>
          </a:p>
          <a:p>
            <a:r>
              <a:rPr lang="en-US"/>
              <a:t>By the way, most NAS solutions even off the shelf ones, tend to have Write-Only or Immutible modes that would account for immutible backups. The downside is the security. Immutible means squat if you have root access to the volumes. So that will have to be hardened for that to matter. </a:t>
            </a:r>
          </a:p>
          <a:p>
            <a:r>
              <a:rPr lang="en-US"/>
              <a:t/>
            </a:r>
          </a:p>
          <a:p>
            <a:r>
              <a:rPr lang="en-US"/>
              <a:t>[slide]</a:t>
            </a:r>
          </a:p>
          <a:p>
            <a:r>
              <a:rPr lang="en-US"/>
              <a:t/>
            </a:r>
          </a:p>
          <a:p>
            <a:r>
              <a:rPr lang="en-US"/>
              <a:t>IFM is "Install From Media". This is a feature of AD that allows you pre-seed the AD database to new domain controllers to reduce replication time. This file includes the NTDS.DIT, the database, the SYSVOL, and a few registry items. </a:t>
            </a:r>
          </a:p>
          <a:p>
            <a:r>
              <a:rPr lang="en-US"/>
              <a:t/>
            </a:r>
          </a:p>
          <a:p>
            <a:r>
              <a:rPr lang="en-US"/>
              <a:t>The folks at DSInternals figured out a way to take the IFM data and generate a recovery script that will rebuild a DC with nothing shared. Fresh build on a new system with the correct domain, SID, etc. It's pretty cool.</a:t>
            </a:r>
          </a:p>
          <a:p>
            <a:r>
              <a:rPr lang="en-US"/>
              <a:t/>
            </a:r>
          </a:p>
          <a:p>
            <a:r>
              <a:rPr lang="en-US"/>
              <a:t>Fun fact: Any enterprise tool that has a "clean os" option or similar, is likely using this behind the scenes.</a:t>
            </a:r>
          </a:p>
          <a:p>
            <a:r>
              <a:rPr lang="en-US"/>
              <a:t/>
            </a:r>
          </a:p>
          <a:p>
            <a:r>
              <a:rPr lang="en-US"/>
              <a:t>The IFMs are not encrypted and really are just a blind copy of the AD database, secure them accordingly. </a:t>
            </a:r>
          </a:p>
          <a:p>
            <a:r>
              <a:rPr lang="en-US"/>
              <a:t/>
            </a:r>
          </a:p>
          <a:p>
            <a:r>
              <a:rPr lang="en-US"/>
              <a:t>Together those can restore a DC. Its, very neat. </a:t>
            </a:r>
          </a:p>
          <a:p>
            <a:r>
              <a:rPr lang="en-US"/>
              <a:t/>
            </a:r>
          </a:p>
          <a:p>
            <a:r>
              <a:rPr lang="en-US"/>
              <a:t>[slide]</a:t>
            </a:r>
          </a:p>
          <a:p>
            <a:r>
              <a:rPr lang="en-US"/>
              <a:t/>
            </a:r>
          </a:p>
          <a:p>
            <a:r>
              <a:rPr lang="en-US"/>
              <a:t>To that end I'm working on a collection scripts and stuff to smooth over the IFM + DSInternals process to create a backup solution gives some more flexibility. Keep an eye on my github for that.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4 minutes</a:t>
            </a:r>
          </a:p>
          <a:p>
            <a:r>
              <a:rPr lang="en-US"/>
              <a:t/>
            </a:r>
          </a:p>
          <a:p>
            <a:r>
              <a:rPr lang="en-US"/>
              <a:t>#1 recommendation: Get an Enterprise solution</a:t>
            </a:r>
          </a:p>
          <a:p>
            <a:r>
              <a:rPr lang="en-US"/>
              <a:t/>
            </a:r>
          </a:p>
          <a:p>
            <a:r>
              <a:rPr lang="en-US"/>
              <a:t>What if we don't have the budget? Well there is some hope.</a:t>
            </a:r>
          </a:p>
          <a:p>
            <a:r>
              <a:rPr lang="en-US"/>
              <a:t/>
            </a:r>
          </a:p>
          <a:p>
            <a:r>
              <a:rPr lang="en-US"/>
              <a:t>[slide]</a:t>
            </a:r>
          </a:p>
          <a:p>
            <a:r>
              <a:rPr lang="en-US"/>
              <a:t/>
            </a:r>
          </a:p>
          <a:p>
            <a:r>
              <a:rPr lang="en-US"/>
              <a:t>Windows Server Backup. I know it isn't the best. Heck I wouldn't even call it good. But it is something you already have and it doesn't cost any extra. You can get BMR or System state backups with it pretty easy. It's also supported by Microsoft. They still talk about it in BCDR engagements, trust me.</a:t>
            </a:r>
          </a:p>
          <a:p>
            <a:r>
              <a:rPr lang="en-US"/>
              <a:t/>
            </a:r>
          </a:p>
          <a:p>
            <a:r>
              <a:rPr lang="en-US"/>
              <a:t>Another option is Azure Backups. If you have an IaaS DC running in the cloud, Azure Backup can do the work. The big thing here is when on-prem is compromised the cloud-side often is too because of all the connections. Also, Azure security is about as bad as AD in many places so you may not have the access controls here you think. Nonetheless, it works. </a:t>
            </a:r>
          </a:p>
          <a:p>
            <a:r>
              <a:rPr lang="en-US"/>
              <a:t/>
            </a:r>
          </a:p>
          <a:p>
            <a:r>
              <a:rPr lang="en-US"/>
              <a:t>By the way, most NAS solutions even off the shelf ones, tend to have Write-Only or Immutible modes that would account for immutible backups. The downside is the security. Immutible means squat if you have root access to the volumes. So that will have to be hardened for that to matter. </a:t>
            </a:r>
          </a:p>
          <a:p>
            <a:r>
              <a:rPr lang="en-US"/>
              <a:t/>
            </a:r>
          </a:p>
          <a:p>
            <a:r>
              <a:rPr lang="en-US"/>
              <a:t>[slide]</a:t>
            </a:r>
          </a:p>
          <a:p>
            <a:r>
              <a:rPr lang="en-US"/>
              <a:t/>
            </a:r>
          </a:p>
          <a:p>
            <a:r>
              <a:rPr lang="en-US"/>
              <a:t>IFM is "Install From Media". This is a feature of AD that allows you pre-seed the AD database to new domain controllers to reduce replication time. This file includes the NTDS.DIT, the database, the SYSVOL, and a few registry items. </a:t>
            </a:r>
          </a:p>
          <a:p>
            <a:r>
              <a:rPr lang="en-US"/>
              <a:t/>
            </a:r>
          </a:p>
          <a:p>
            <a:r>
              <a:rPr lang="en-US"/>
              <a:t>The folks at DSInternals figured out a way to take the IFM data and generate a recovery script that will rebuild a DC with nothing shared. Fresh build on a new system with the correct domain, SID, etc. It's pretty cool.</a:t>
            </a:r>
          </a:p>
          <a:p>
            <a:r>
              <a:rPr lang="en-US"/>
              <a:t/>
            </a:r>
          </a:p>
          <a:p>
            <a:r>
              <a:rPr lang="en-US"/>
              <a:t>Fun fact: Any enterprise tool that has a "clean os" option or similar, is likely using this behind the scenes.</a:t>
            </a:r>
          </a:p>
          <a:p>
            <a:r>
              <a:rPr lang="en-US"/>
              <a:t/>
            </a:r>
          </a:p>
          <a:p>
            <a:r>
              <a:rPr lang="en-US"/>
              <a:t>The IFMs are not encrypted and really are just a blind copy of the AD database, secure them accordingly. </a:t>
            </a:r>
          </a:p>
          <a:p>
            <a:r>
              <a:rPr lang="en-US"/>
              <a:t/>
            </a:r>
          </a:p>
          <a:p>
            <a:r>
              <a:rPr lang="en-US"/>
              <a:t>Together those can restore a DC. Its, very neat. </a:t>
            </a:r>
          </a:p>
          <a:p>
            <a:r>
              <a:rPr lang="en-US"/>
              <a:t/>
            </a:r>
          </a:p>
          <a:p>
            <a:r>
              <a:rPr lang="en-US"/>
              <a:t>[slide]</a:t>
            </a:r>
          </a:p>
          <a:p>
            <a:r>
              <a:rPr lang="en-US"/>
              <a:t/>
            </a:r>
          </a:p>
          <a:p>
            <a:r>
              <a:rPr lang="en-US"/>
              <a:t>To that end I'm working on a collection scripts and stuff to smooth over the IFM + DSInternals process to create a backup solution gives some more flexibility. Keep an eye on my github for that.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4 minutes</a:t>
            </a:r>
          </a:p>
          <a:p>
            <a:r>
              <a:rPr lang="en-US"/>
              <a:t/>
            </a:r>
          </a:p>
          <a:p>
            <a:r>
              <a:rPr lang="en-US"/>
              <a:t>#1 recommendation: Get an Enterprise solution</a:t>
            </a:r>
          </a:p>
          <a:p>
            <a:r>
              <a:rPr lang="en-US"/>
              <a:t/>
            </a:r>
          </a:p>
          <a:p>
            <a:r>
              <a:rPr lang="en-US"/>
              <a:t>What if we don't have the budget? Well there is some hope.</a:t>
            </a:r>
          </a:p>
          <a:p>
            <a:r>
              <a:rPr lang="en-US"/>
              <a:t/>
            </a:r>
          </a:p>
          <a:p>
            <a:r>
              <a:rPr lang="en-US"/>
              <a:t>[slide]</a:t>
            </a:r>
          </a:p>
          <a:p>
            <a:r>
              <a:rPr lang="en-US"/>
              <a:t/>
            </a:r>
          </a:p>
          <a:p>
            <a:r>
              <a:rPr lang="en-US"/>
              <a:t>Windows Server Backup. I know it isn't the best. Heck I wouldn't even call it good. But it is something you already have and it doesn't cost any extra. You can get BMR or System state backups with it pretty easy. It's also supported by Microsoft. They still talk about it in BCDR engagements, trust me.</a:t>
            </a:r>
          </a:p>
          <a:p>
            <a:r>
              <a:rPr lang="en-US"/>
              <a:t/>
            </a:r>
          </a:p>
          <a:p>
            <a:r>
              <a:rPr lang="en-US"/>
              <a:t>Another option is Azure Backups. If you have an IaaS DC running in the cloud, Azure Backup can do the work. The big thing here is when on-prem is compromised the cloud-side often is too because of all the connections. Also, Azure security is about as bad as AD in many places so you may not have the access controls here you think. Nonetheless, it works. </a:t>
            </a:r>
          </a:p>
          <a:p>
            <a:r>
              <a:rPr lang="en-US"/>
              <a:t/>
            </a:r>
          </a:p>
          <a:p>
            <a:r>
              <a:rPr lang="en-US"/>
              <a:t>By the way, most NAS solutions even off the shelf ones, tend to have Write-Only or Immutible modes that would account for immutible backups. The downside is the security. Immutible means squat if you have root access to the volumes. So that will have to be hardened for that to matter. </a:t>
            </a:r>
          </a:p>
          <a:p>
            <a:r>
              <a:rPr lang="en-US"/>
              <a:t/>
            </a:r>
          </a:p>
          <a:p>
            <a:r>
              <a:rPr lang="en-US"/>
              <a:t>[slide]</a:t>
            </a:r>
          </a:p>
          <a:p>
            <a:r>
              <a:rPr lang="en-US"/>
              <a:t/>
            </a:r>
          </a:p>
          <a:p>
            <a:r>
              <a:rPr lang="en-US"/>
              <a:t>IFM is "Install From Media". This is a feature of AD that allows you pre-seed the AD database to new domain controllers to reduce replication time. This file includes the NTDS.DIT, the database, the SYSVOL, and a few registry items. </a:t>
            </a:r>
          </a:p>
          <a:p>
            <a:r>
              <a:rPr lang="en-US"/>
              <a:t/>
            </a:r>
          </a:p>
          <a:p>
            <a:r>
              <a:rPr lang="en-US"/>
              <a:t>The folks at DSInternals figured out a way to take the IFM data and generate a recovery script that will rebuild a DC with nothing shared. Fresh build on a new system with the correct domain, SID, etc. It's pretty cool.</a:t>
            </a:r>
          </a:p>
          <a:p>
            <a:r>
              <a:rPr lang="en-US"/>
              <a:t/>
            </a:r>
          </a:p>
          <a:p>
            <a:r>
              <a:rPr lang="en-US"/>
              <a:t>Fun fact: Any enterprise tool that has a "clean os" option or similar, is likely using this behind the scenes.</a:t>
            </a:r>
          </a:p>
          <a:p>
            <a:r>
              <a:rPr lang="en-US"/>
              <a:t/>
            </a:r>
          </a:p>
          <a:p>
            <a:r>
              <a:rPr lang="en-US"/>
              <a:t>The IFMs are not encrypted and really are just a blind copy of the AD database, secure them accordingly. </a:t>
            </a:r>
          </a:p>
          <a:p>
            <a:r>
              <a:rPr lang="en-US"/>
              <a:t/>
            </a:r>
          </a:p>
          <a:p>
            <a:r>
              <a:rPr lang="en-US"/>
              <a:t>Together those can restore a DC. Its, very neat. </a:t>
            </a:r>
          </a:p>
          <a:p>
            <a:r>
              <a:rPr lang="en-US"/>
              <a:t/>
            </a:r>
          </a:p>
          <a:p>
            <a:r>
              <a:rPr lang="en-US"/>
              <a:t>[slide]</a:t>
            </a:r>
          </a:p>
          <a:p>
            <a:r>
              <a:rPr lang="en-US"/>
              <a:t/>
            </a:r>
          </a:p>
          <a:p>
            <a:r>
              <a:rPr lang="en-US"/>
              <a:t>To that end I'm working on a collection scripts and stuff to smooth over the IFM + DSInternals process to create a backup solution gives some more flexibility. Keep an eye on my github for that.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a:t>
            </a:r>
          </a:p>
          <a:p>
            <a:r>
              <a:rPr lang="en-US"/>
              <a:t/>
            </a:r>
          </a:p>
          <a:p>
            <a:r>
              <a:rPr lang="en-US"/>
              <a:t>I love this slide. I intentionally broke all the rules. </a:t>
            </a:r>
          </a:p>
          <a:p>
            <a:r>
              <a:rPr lang="en-US"/>
              <a:t/>
            </a:r>
          </a:p>
          <a:p>
            <a:r>
              <a:rPr lang="en-US"/>
              <a:t>"Limit all the words on your slides". Nah. I'll use all the words!</a:t>
            </a:r>
          </a:p>
          <a:p>
            <a:r>
              <a:rPr lang="en-US"/>
              <a:t/>
            </a:r>
          </a:p>
          <a:p>
            <a:r>
              <a:rPr lang="en-US"/>
              <a:t/>
            </a:r>
          </a:p>
          <a:p>
            <a:r>
              <a:rPr lang="en-US"/>
              <a:t>There are uncountable tools for cybersecurity and identity management. I guarantee you this is not comprehensive. </a:t>
            </a:r>
          </a:p>
          <a:p>
            <a:r>
              <a:rPr lang="en-US"/>
              <a:t/>
            </a:r>
          </a:p>
          <a:p>
            <a:r>
              <a:rPr lang="en-US"/>
              <a:t>Toss in the new AI tools and we have even more. It's too much for any one person to know and keep track of. </a:t>
            </a:r>
          </a:p>
          <a:p>
            <a:r>
              <a:rPr lang="en-US"/>
              <a:t/>
            </a:r>
          </a:p>
          <a:p>
            <a:r>
              <a:rPr lang="en-US"/>
              <a:t>What often happens is the company buys one tool, uses half (at best) of its capabilities, and forgets about it. A few years later a new C-suite pops in and buys their tool of choice and the cycle repeats. </a:t>
            </a:r>
          </a:p>
          <a:p>
            <a:r>
              <a:rPr lang="en-US"/>
              <a:t/>
            </a:r>
          </a:p>
          <a:p>
            <a:r>
              <a:rPr lang="en-US"/>
              <a:t>Don't chase shiny, new, buzzwordy solutions. Look at what is already deployed and make that work for you if it can. </a:t>
            </a:r>
          </a:p>
          <a:p>
            <a:r>
              <a:rPr lang="en-US"/>
              <a:t/>
            </a:r>
          </a:p>
          <a:p>
            <a:r>
              <a:rPr lang="en-US"/>
              <a:t>The vendors don't help much. If they can they'll sell you the Nile, the Pyramids and the Sphynx's nose. It's their job. Make sure you know what you're getting into with any tools. </a:t>
            </a:r>
          </a:p>
          <a:p>
            <a:r>
              <a:rPr lang="en-US"/>
              <a:t/>
            </a:r>
          </a:p>
          <a:p>
            <a:r>
              <a:rPr lang="en-US"/>
              <a:t>Also pay attention to these tool's permissions. I've seen too many of them want domain admin rights, local admin rights, or SYSTEM rights on a DC.</a:t>
            </a:r>
          </a:p>
          <a:p>
            <a:r>
              <a:rPr lang="en-US"/>
              <a:t/>
            </a:r>
          </a:p>
          <a:p>
            <a:r>
              <a:rPr lang="en-US"/>
              <a:t>If the tools require those rights, let's make sure they have separate instances with separate creds or move the existing instances to be more secure. If you have an agent running SYSTEM on a DC, what can it do? EVERYTHING.</a:t>
            </a:r>
          </a:p>
          <a:p>
            <a:r>
              <a:rPr lang="en-US"/>
              <a:t/>
            </a:r>
          </a:p>
          <a:p>
            <a:r>
              <a:rPr lang="en-US"/>
              <a:t>Cyber teams, your tools are cool and great but ask the question: What if my tool is the tool that gets compromised? All the analytics in the word don't make the side channel attacks against your tool non-existant.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If someone were to ask me whether I would have a killer vulnerability scanning tool or a monitoring tool for AD, I'd answer monitoring. I don't mean security monitoring either. I mean simple system performance monitoring. </a:t>
            </a:r>
          </a:p>
          <a:p>
            <a:r>
              <a:rPr lang="en-US"/>
              <a:t/>
            </a:r>
          </a:p>
          <a:p>
            <a:r>
              <a:rPr lang="en-US"/>
              <a:t>Why?</a:t>
            </a:r>
          </a:p>
          <a:p>
            <a:r>
              <a:rPr lang="en-US"/>
              <a:t/>
            </a:r>
          </a:p>
          <a:p>
            <a:r>
              <a:rPr lang="en-US"/>
              <a:t>Because Operational Risk is still risk! </a:t>
            </a:r>
          </a:p>
          <a:p>
            <a:r>
              <a:rPr lang="en-US"/>
              <a:t/>
            </a:r>
          </a:p>
          <a:p>
            <a:r>
              <a:rPr lang="en-US"/>
              <a:t>Our responsibility as administrators are to ensure that the business services stay available and online. The moment that is not longer true, the calculus falls a part and the "value" goes away. </a:t>
            </a:r>
          </a:p>
          <a:p>
            <a:r>
              <a:rPr lang="en-US"/>
              <a:t/>
            </a:r>
          </a:p>
          <a:p>
            <a:r>
              <a:rPr lang="en-US"/>
              <a:t>Vuln scanners are cool. SIEMs are necessary. Are either more important than knowing if the services we offer are healthy? </a:t>
            </a:r>
          </a:p>
          <a:p>
            <a:r>
              <a:rPr lang="en-US"/>
              <a:t/>
            </a:r>
          </a:p>
          <a:p>
            <a:r>
              <a:rPr lang="en-US"/>
              <a:t>A downed system is no better than a compromised system when you talk with business leaders. </a:t>
            </a:r>
          </a:p>
          <a:p>
            <a:r>
              <a:rPr lang="en-US"/>
              <a:t/>
            </a:r>
          </a:p>
          <a:p>
            <a:r>
              <a:rPr lang="en-US"/>
              <a:t>If your bank is offline, how much money is lost? If your healthcare system is down what is the cost there? Think about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minute</a:t>
            </a:r>
          </a:p>
          <a:p>
            <a:r>
              <a:rPr lang="en-US"/>
              <a:t/>
            </a:r>
          </a:p>
          <a:p>
            <a:r>
              <a:rPr lang="en-US"/>
              <a:t>This has been mentioned before, but the first thing to consider is what tools you may already have. Are they perfect? Maybe not, but they're a hell of a lot cheaper than buying something else. </a:t>
            </a:r>
          </a:p>
          <a:p>
            <a:r>
              <a:rPr lang="en-US"/>
              <a:t/>
            </a:r>
          </a:p>
          <a:p>
            <a:r>
              <a:rPr lang="en-US"/>
              <a:t>I'm also obliged to say that I'm almost 100% going to not mention the tool(s) you're thinking of here. There are some many in this space. I picked what I know. If it works, it's not stupid. </a:t>
            </a:r>
          </a:p>
          <a:p>
            <a:r>
              <a:rPr lang="en-US"/>
              <a:t/>
            </a:r>
          </a:p>
          <a:p>
            <a:r>
              <a:rPr lang="en-US"/>
              <a:t>[slide]</a:t>
            </a:r>
          </a:p>
          <a:p>
            <a:r>
              <a:rPr lang="en-US"/>
              <a:t/>
            </a:r>
          </a:p>
          <a:p>
            <a:r>
              <a:rPr lang="en-US"/>
              <a:t>Speaking of obliged tools. There is a solid chance you have SCOM. If you have the system center suite, you have SCOM. </a:t>
            </a:r>
          </a:p>
          <a:p>
            <a:r>
              <a:rPr lang="en-US"/>
              <a:t/>
            </a:r>
          </a:p>
          <a:p>
            <a:r>
              <a:rPr lang="en-US"/>
              <a:t>Personally, I hate SCOM. I hate almost everything about it, but it is there for most places. </a:t>
            </a:r>
          </a:p>
          <a:p>
            <a:r>
              <a:rPr lang="en-US"/>
              <a:t/>
            </a:r>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minute</a:t>
            </a:r>
          </a:p>
          <a:p>
            <a:r>
              <a:rPr lang="en-US"/>
              <a:t/>
            </a:r>
          </a:p>
          <a:p>
            <a:r>
              <a:rPr lang="en-US"/>
              <a:t>This has been mentioned before, but the first thing to consider is what tools you may already have. Are they perfect? Maybe not, but they're a hell of a lot cheaper than buying something else. </a:t>
            </a:r>
          </a:p>
          <a:p>
            <a:r>
              <a:rPr lang="en-US"/>
              <a:t/>
            </a:r>
          </a:p>
          <a:p>
            <a:r>
              <a:rPr lang="en-US"/>
              <a:t>I'm also obliged to say that I'm almost 100% going to not mention the tool(s) you're thinking of here. There are some many in this space. I picked what I know. If it works, it's not stupid. </a:t>
            </a:r>
          </a:p>
          <a:p>
            <a:r>
              <a:rPr lang="en-US"/>
              <a:t/>
            </a:r>
          </a:p>
          <a:p>
            <a:r>
              <a:rPr lang="en-US"/>
              <a:t>[slide]</a:t>
            </a:r>
          </a:p>
          <a:p>
            <a:r>
              <a:rPr lang="en-US"/>
              <a:t/>
            </a:r>
          </a:p>
          <a:p>
            <a:r>
              <a:rPr lang="en-US"/>
              <a:t>Speaking of obliged tools. There is a solid chance you have SCOM. If you have the system center suite, you have SCOM. </a:t>
            </a:r>
          </a:p>
          <a:p>
            <a:r>
              <a:rPr lang="en-US"/>
              <a:t/>
            </a:r>
          </a:p>
          <a:p>
            <a:r>
              <a:rPr lang="en-US"/>
              <a:t>Personally, I hate SCOM. I hate almost everything about it, but it is there for most places. </a:t>
            </a:r>
          </a:p>
          <a:p>
            <a:r>
              <a:rPr lang="en-US"/>
              <a:t/>
            </a:r>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minute</a:t>
            </a:r>
          </a:p>
          <a:p>
            <a:r>
              <a:rPr lang="en-US"/>
              <a:t/>
            </a:r>
          </a:p>
          <a:p>
            <a:r>
              <a:rPr lang="en-US"/>
              <a:t>Azure Monitor is actually a very solid tool. You can build neat dashboards that execs love but also do stuff engineers care about.</a:t>
            </a:r>
          </a:p>
          <a:p>
            <a:r>
              <a:rPr lang="en-US"/>
              <a:t/>
            </a:r>
          </a:p>
          <a:p>
            <a:r>
              <a:rPr lang="en-US"/>
              <a:t>The biggest downside with Azure Monitor are that it uses Log Analytics as a data source and if you haven't used Log Analytics, they can get VERY expensive very quickly. This requires lots of attention to refine.</a:t>
            </a:r>
          </a:p>
          <a:p>
            <a:r>
              <a:rPr lang="en-US"/>
              <a:t/>
            </a:r>
          </a:p>
          <a:p>
            <a:r>
              <a:rPr lang="en-US"/>
              <a:t>I suggest starting with low retention and only a few things ingested and work up.</a:t>
            </a:r>
          </a:p>
          <a:p>
            <a:r>
              <a:rPr lang="en-US"/>
              <a:t/>
            </a:r>
          </a:p>
          <a:p>
            <a:r>
              <a:rPr lang="en-US"/>
              <a:t>With Azure Monitor you can find free workbooks online to help setup the dashboards and what not. </a:t>
            </a:r>
          </a:p>
          <a:p>
            <a:r>
              <a:rPr lang="en-US"/>
              <a:t/>
            </a:r>
          </a:p>
          <a:p>
            <a:r>
              <a:rPr lang="en-US"/>
              <a:t>References and Resources:</a:t>
            </a:r>
          </a:p>
          <a:p>
            <a:r>
              <a:rPr lang="en-US"/>
              <a:t>- https://github.com/dmrellan/Active-Directory-Performance-Assessment-with-Azure-Monitor-workbook</a:t>
            </a:r>
          </a:p>
          <a:p>
            <a:r>
              <a:rPr lang="en-US"/>
              <a:t/>
            </a:r>
          </a:p>
          <a:p>
            <a:r>
              <a:rPr lang="en-US"/>
              <a:t>- https://github.com/microsoft/AzureMonitorCommunity</a:t>
            </a:r>
          </a:p>
          <a:p>
            <a:r>
              <a:rPr lang="en-US"/>
              <a:t/>
            </a:r>
          </a:p>
          <a:p>
            <a:r>
              <a:rPr lang="en-US"/>
              <a:t>- https://www.zabbix.com/documentation/7.0/en/manual/installation/getting_zabbix</a:t>
            </a:r>
          </a:p>
          <a:p>
            <a:r>
              <a:rPr lang="en-US"/>
              <a:t/>
            </a:r>
          </a:p>
          <a:p>
            <a:r>
              <a:rPr lang="en-US"/>
              <a:t>- https://www.zabbix.com/manuals</a:t>
            </a:r>
          </a:p>
          <a:p>
            <a:r>
              <a:rPr lang="en-US"/>
              <a:t/>
            </a:r>
          </a:p>
          <a:p>
            <a:r>
              <a:rPr lang="en-US"/>
              <a:t>https://github.com/ActiveDirectoryKC/Zabbix-AD-Health-Monitors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minute</a:t>
            </a:r>
          </a:p>
          <a:p>
            <a:r>
              <a:rPr lang="en-US"/>
              <a:t/>
            </a:r>
          </a:p>
          <a:p>
            <a:r>
              <a:rPr lang="en-US"/>
              <a:t>My personal favorite tool on the list is Zabbix. Sure there are others but I've used this the most in labs and it works really good.</a:t>
            </a:r>
          </a:p>
          <a:p>
            <a:r>
              <a:rPr lang="en-US"/>
              <a:t/>
            </a:r>
          </a:p>
          <a:p>
            <a:r>
              <a:rPr lang="en-US"/>
              <a:t>The biggest disadvantages to Zabbix is that is a bit confusing out of the box and it doesn't have super great Windows support. They support Windows but it almost always seems like an after thought. </a:t>
            </a:r>
          </a:p>
          <a:p>
            <a:r>
              <a:rPr lang="en-US"/>
              <a:t/>
            </a:r>
          </a:p>
          <a:p>
            <a:r>
              <a:rPr lang="en-US"/>
              <a:t>The good news is that I put a AD-specific template for Zabbix on my github as a starting point for anyone going down that road. I encourage you to give that a look if you're interested in Zabbix.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minutes</a:t>
            </a:r>
          </a:p>
          <a:p>
            <a:r>
              <a:rPr lang="en-US"/>
              <a:t/>
            </a:r>
          </a:p>
          <a:p>
            <a:r>
              <a:rPr lang="en-US"/>
              <a:t>How do we get started with monitoring? </a:t>
            </a:r>
          </a:p>
          <a:p>
            <a:r>
              <a:rPr lang="en-US"/>
              <a:t/>
            </a:r>
          </a:p>
          <a:p>
            <a:r>
              <a:rPr lang="en-US"/>
              <a:t>[slide] </a:t>
            </a:r>
          </a:p>
          <a:p>
            <a:r>
              <a:rPr lang="en-US"/>
              <a:t/>
            </a:r>
          </a:p>
          <a:p>
            <a:r>
              <a:rPr lang="en-US"/>
              <a:t>Start with Advanced Audit Policies. Do not confuse these with traditional audit policies. The two are incompatible. </a:t>
            </a:r>
          </a:p>
          <a:p>
            <a:r>
              <a:rPr lang="en-US"/>
              <a:t/>
            </a:r>
          </a:p>
          <a:p>
            <a:r>
              <a:rPr lang="en-US"/>
              <a:t>You can get very granular with what you're reporting on with these and it is important to set them up right (details later). </a:t>
            </a:r>
          </a:p>
          <a:p>
            <a:r>
              <a:rPr lang="en-US"/>
              <a:t/>
            </a:r>
          </a:p>
          <a:p>
            <a:r>
              <a:rPr lang="en-US"/>
              <a:t>[slide] </a:t>
            </a:r>
          </a:p>
          <a:p>
            <a:r>
              <a:rPr lang="en-US"/>
              <a:t/>
            </a:r>
          </a:p>
          <a:p>
            <a:r>
              <a:rPr lang="en-US"/>
              <a:t>Data Collector Sets don't get tons of love. They are kind of clunky but they are a good means gathering period views of the performance on a system. They can be scheduled and do get a lot of information. I recommend looking into them if you haven't.</a:t>
            </a:r>
          </a:p>
          <a:p>
            <a:r>
              <a:rPr lang="en-US"/>
              <a:t/>
            </a:r>
          </a:p>
          <a:p>
            <a:r>
              <a:rPr lang="en-US"/>
              <a:t>[slide]</a:t>
            </a:r>
          </a:p>
          <a:p>
            <a:r>
              <a:rPr lang="en-US"/>
              <a:t/>
            </a:r>
          </a:p>
          <a:p>
            <a:r>
              <a:rPr lang="en-US"/>
              <a:t>Get an actual monitoring/alerting tool, set it up, and configure it to alert. </a:t>
            </a:r>
          </a:p>
          <a:p>
            <a:r>
              <a:rPr lang="en-US"/>
              <a:t/>
            </a:r>
          </a:p>
          <a:p>
            <a:r>
              <a:rPr lang="en-US"/>
              <a:t>My recommendation is, of course, Zabbix, but use what makes sense to you. Just make sure you're using it. </a:t>
            </a:r>
          </a:p>
          <a:p>
            <a:r>
              <a:rPr lang="en-US"/>
              <a:t/>
            </a:r>
          </a:p>
          <a:p>
            <a:r>
              <a:rPr lang="en-US"/>
              <a:t>[slide]</a:t>
            </a:r>
          </a:p>
          <a:p>
            <a:r>
              <a:rPr lang="en-US"/>
              <a:t/>
            </a:r>
          </a:p>
          <a:p>
            <a:r>
              <a:rPr lang="en-US"/>
              <a:t>None of this makes any sense if you don't use it. Make sure someone looks at the data and is assessing reliability and responding to alerts coming out of this.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minutes</a:t>
            </a:r>
          </a:p>
          <a:p>
            <a:r>
              <a:rPr lang="en-US"/>
              <a:t/>
            </a:r>
          </a:p>
          <a:p>
            <a:r>
              <a:rPr lang="en-US"/>
              <a:t>How do we get started with monitoring? </a:t>
            </a:r>
          </a:p>
          <a:p>
            <a:r>
              <a:rPr lang="en-US"/>
              <a:t/>
            </a:r>
          </a:p>
          <a:p>
            <a:r>
              <a:rPr lang="en-US"/>
              <a:t>[slide] </a:t>
            </a:r>
          </a:p>
          <a:p>
            <a:r>
              <a:rPr lang="en-US"/>
              <a:t/>
            </a:r>
          </a:p>
          <a:p>
            <a:r>
              <a:rPr lang="en-US"/>
              <a:t>Start with Advanced Audit Policies. Do not confuse these with traditional audit policies. The two are incompatible. </a:t>
            </a:r>
          </a:p>
          <a:p>
            <a:r>
              <a:rPr lang="en-US"/>
              <a:t/>
            </a:r>
          </a:p>
          <a:p>
            <a:r>
              <a:rPr lang="en-US"/>
              <a:t>You can get very granular with what you're reporting on with these and it is important to set them up right (details later). </a:t>
            </a:r>
          </a:p>
          <a:p>
            <a:r>
              <a:rPr lang="en-US"/>
              <a:t/>
            </a:r>
          </a:p>
          <a:p>
            <a:r>
              <a:rPr lang="en-US"/>
              <a:t>[slide] </a:t>
            </a:r>
          </a:p>
          <a:p>
            <a:r>
              <a:rPr lang="en-US"/>
              <a:t/>
            </a:r>
          </a:p>
          <a:p>
            <a:r>
              <a:rPr lang="en-US"/>
              <a:t>Data Collector Sets don't get tons of love. They are kind of clunky but they are a good means gathering period views of the performance on a system. They can be scheduled and do get a lot of information. I recommend looking into them if you haven't.</a:t>
            </a:r>
          </a:p>
          <a:p>
            <a:r>
              <a:rPr lang="en-US"/>
              <a:t/>
            </a:r>
          </a:p>
          <a:p>
            <a:r>
              <a:rPr lang="en-US"/>
              <a:t>[slide]</a:t>
            </a:r>
          </a:p>
          <a:p>
            <a:r>
              <a:rPr lang="en-US"/>
              <a:t/>
            </a:r>
          </a:p>
          <a:p>
            <a:r>
              <a:rPr lang="en-US"/>
              <a:t>Get an actual monitoring/alerting tool, set it up, and configure it to alert. </a:t>
            </a:r>
          </a:p>
          <a:p>
            <a:r>
              <a:rPr lang="en-US"/>
              <a:t/>
            </a:r>
          </a:p>
          <a:p>
            <a:r>
              <a:rPr lang="en-US"/>
              <a:t>My recommendation is, of course, Zabbix, but use what makes sense to you. Just make sure you're using it. </a:t>
            </a:r>
          </a:p>
          <a:p>
            <a:r>
              <a:rPr lang="en-US"/>
              <a:t/>
            </a:r>
          </a:p>
          <a:p>
            <a:r>
              <a:rPr lang="en-US"/>
              <a:t>[slide]</a:t>
            </a:r>
          </a:p>
          <a:p>
            <a:r>
              <a:rPr lang="en-US"/>
              <a:t/>
            </a:r>
          </a:p>
          <a:p>
            <a:r>
              <a:rPr lang="en-US"/>
              <a:t>None of this makes any sense if you don't use it. Make sure someone looks at the data and is assessing reliability and responding to alerts coming out of this.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minutes</a:t>
            </a:r>
          </a:p>
          <a:p>
            <a:r>
              <a:rPr lang="en-US"/>
              <a:t/>
            </a:r>
          </a:p>
          <a:p>
            <a:r>
              <a:rPr lang="en-US"/>
              <a:t>How do we get started with monitoring? </a:t>
            </a:r>
          </a:p>
          <a:p>
            <a:r>
              <a:rPr lang="en-US"/>
              <a:t/>
            </a:r>
          </a:p>
          <a:p>
            <a:r>
              <a:rPr lang="en-US"/>
              <a:t>[slide] </a:t>
            </a:r>
          </a:p>
          <a:p>
            <a:r>
              <a:rPr lang="en-US"/>
              <a:t/>
            </a:r>
          </a:p>
          <a:p>
            <a:r>
              <a:rPr lang="en-US"/>
              <a:t>Start with Advanced Audit Policies. Do not confuse these with traditional audit policies. The two are incompatible. </a:t>
            </a:r>
          </a:p>
          <a:p>
            <a:r>
              <a:rPr lang="en-US"/>
              <a:t/>
            </a:r>
          </a:p>
          <a:p>
            <a:r>
              <a:rPr lang="en-US"/>
              <a:t>You can get very granular with what you're reporting on with these and it is important to set them up right (details later). </a:t>
            </a:r>
          </a:p>
          <a:p>
            <a:r>
              <a:rPr lang="en-US"/>
              <a:t/>
            </a:r>
          </a:p>
          <a:p>
            <a:r>
              <a:rPr lang="en-US"/>
              <a:t>[slide] </a:t>
            </a:r>
          </a:p>
          <a:p>
            <a:r>
              <a:rPr lang="en-US"/>
              <a:t/>
            </a:r>
          </a:p>
          <a:p>
            <a:r>
              <a:rPr lang="en-US"/>
              <a:t>Data Collector Sets don't get tons of love. They are kind of clunky but they are a good means gathering period views of the performance on a system. They can be scheduled and do get a lot of information. I recommend looking into them if you haven't.</a:t>
            </a:r>
          </a:p>
          <a:p>
            <a:r>
              <a:rPr lang="en-US"/>
              <a:t/>
            </a:r>
          </a:p>
          <a:p>
            <a:r>
              <a:rPr lang="en-US"/>
              <a:t>[slide]</a:t>
            </a:r>
          </a:p>
          <a:p>
            <a:r>
              <a:rPr lang="en-US"/>
              <a:t/>
            </a:r>
          </a:p>
          <a:p>
            <a:r>
              <a:rPr lang="en-US"/>
              <a:t>Get an actual monitoring/alerting tool, set it up, and configure it to alert. </a:t>
            </a:r>
          </a:p>
          <a:p>
            <a:r>
              <a:rPr lang="en-US"/>
              <a:t/>
            </a:r>
          </a:p>
          <a:p>
            <a:r>
              <a:rPr lang="en-US"/>
              <a:t>My recommendation is, of course, Zabbix, but use what makes sense to you. Just make sure you're using it. </a:t>
            </a:r>
          </a:p>
          <a:p>
            <a:r>
              <a:rPr lang="en-US"/>
              <a:t/>
            </a:r>
          </a:p>
          <a:p>
            <a:r>
              <a:rPr lang="en-US"/>
              <a:t>[slide]</a:t>
            </a:r>
          </a:p>
          <a:p>
            <a:r>
              <a:rPr lang="en-US"/>
              <a:t/>
            </a:r>
          </a:p>
          <a:p>
            <a:r>
              <a:rPr lang="en-US"/>
              <a:t>None of this makes any sense if you don't use it. Make sure someone looks at the data and is assessing reliability and responding to alerts coming out of this.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minutes</a:t>
            </a:r>
          </a:p>
          <a:p>
            <a:r>
              <a:rPr lang="en-US"/>
              <a:t/>
            </a:r>
          </a:p>
          <a:p>
            <a:r>
              <a:rPr lang="en-US"/>
              <a:t>How do we get started with monitoring? </a:t>
            </a:r>
          </a:p>
          <a:p>
            <a:r>
              <a:rPr lang="en-US"/>
              <a:t/>
            </a:r>
          </a:p>
          <a:p>
            <a:r>
              <a:rPr lang="en-US"/>
              <a:t>[slide] </a:t>
            </a:r>
          </a:p>
          <a:p>
            <a:r>
              <a:rPr lang="en-US"/>
              <a:t/>
            </a:r>
          </a:p>
          <a:p>
            <a:r>
              <a:rPr lang="en-US"/>
              <a:t>Start with Advanced Audit Policies. Do not confuse these with traditional audit policies. The two are incompatible. </a:t>
            </a:r>
          </a:p>
          <a:p>
            <a:r>
              <a:rPr lang="en-US"/>
              <a:t/>
            </a:r>
          </a:p>
          <a:p>
            <a:r>
              <a:rPr lang="en-US"/>
              <a:t>You can get very granular with what you're reporting on with these and it is important to set them up right (details later). </a:t>
            </a:r>
          </a:p>
          <a:p>
            <a:r>
              <a:rPr lang="en-US"/>
              <a:t/>
            </a:r>
          </a:p>
          <a:p>
            <a:r>
              <a:rPr lang="en-US"/>
              <a:t>[slide] </a:t>
            </a:r>
          </a:p>
          <a:p>
            <a:r>
              <a:rPr lang="en-US"/>
              <a:t/>
            </a:r>
          </a:p>
          <a:p>
            <a:r>
              <a:rPr lang="en-US"/>
              <a:t>Data Collector Sets don't get tons of love. They are kind of clunky but they are a good means gathering period views of the performance on a system. They can be scheduled and do get a lot of information. I recommend looking into them if you haven't.</a:t>
            </a:r>
          </a:p>
          <a:p>
            <a:r>
              <a:rPr lang="en-US"/>
              <a:t/>
            </a:r>
          </a:p>
          <a:p>
            <a:r>
              <a:rPr lang="en-US"/>
              <a:t>[slide]</a:t>
            </a:r>
          </a:p>
          <a:p>
            <a:r>
              <a:rPr lang="en-US"/>
              <a:t/>
            </a:r>
          </a:p>
          <a:p>
            <a:r>
              <a:rPr lang="en-US"/>
              <a:t>Get an actual monitoring/alerting tool, set it up, and configure it to alert. </a:t>
            </a:r>
          </a:p>
          <a:p>
            <a:r>
              <a:rPr lang="en-US"/>
              <a:t/>
            </a:r>
          </a:p>
          <a:p>
            <a:r>
              <a:rPr lang="en-US"/>
              <a:t>My recommendation is, of course, Zabbix, but use what makes sense to you. Just make sure you're using it. </a:t>
            </a:r>
          </a:p>
          <a:p>
            <a:r>
              <a:rPr lang="en-US"/>
              <a:t/>
            </a:r>
          </a:p>
          <a:p>
            <a:r>
              <a:rPr lang="en-US"/>
              <a:t>[slide]</a:t>
            </a:r>
          </a:p>
          <a:p>
            <a:r>
              <a:rPr lang="en-US"/>
              <a:t/>
            </a:r>
          </a:p>
          <a:p>
            <a:r>
              <a:rPr lang="en-US"/>
              <a:t>None of this makes any sense if you don't use it. Make sure someone looks at the data and is assessing reliability and responding to alerts coming out of this.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Section Time: 12 Min</a:t>
            </a:r>
          </a:p>
          <a:p>
            <a:r>
              <a:rPr lang="en-US"/>
              <a:t>Slide Time: 1 min</a:t>
            </a:r>
          </a:p>
          <a:p>
            <a:r>
              <a:rPr lang="en-US"/>
              <a:t/>
            </a:r>
          </a:p>
          <a:p>
            <a:r>
              <a:rPr lang="en-US"/>
              <a:t>Best practices are always a nebulous concept. Whose best practices are we using? Why do they get to decide? </a:t>
            </a:r>
          </a:p>
          <a:p>
            <a:r>
              <a:rPr lang="en-US"/>
              <a:t/>
            </a:r>
          </a:p>
          <a:p>
            <a:r>
              <a:rPr lang="en-US"/>
              <a:t>The industry standard on this is baselines and benchmarks. They're co developed with the vendors with the various bodies who issue them.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
            </a:r>
          </a:p>
          <a:p>
            <a:r>
              <a:rPr lang="en-US"/>
              <a:t>For most places, start with the Microsoft Baselines. It's a free download and a little clunky to use, but it will help you get a good start. With the download you'll get "drop in" GPO templates and there are a couple of tools: Policy Analyzer, which can compare what you have currently versus the baseline; and LGPO which can be used to audit and edit local group policy. </a:t>
            </a:r>
          </a:p>
          <a:p>
            <a:r>
              <a:rPr lang="en-US"/>
              <a:t/>
            </a:r>
          </a:p>
          <a:p>
            <a:r>
              <a:rPr lang="en-US"/>
              <a:t>There is one other thing that these include that has been a game changer for me so far. The download includes a download of a collection of excel spreadsheets that include the mappings for most Group Policy settings to their corresponding Registry Keys. This applies to most policies, but not any of the "Security Options" since those aren't registry settings. This spreadsheet is a really good resource. I even I have it pinned in excel and use it often. </a:t>
            </a:r>
          </a:p>
          <a:p>
            <a:r>
              <a:rPr lang="en-US"/>
              <a:t/>
            </a:r>
          </a:p>
          <a:p>
            <a:r>
              <a:rPr lang="en-US"/>
              <a:t>The downsides to MS Security Baselines are they are Windows-only, but you're in an Active Directory hardening talk. If you were expecting Linux hardening tips see me after and tell you to ask someone else. The other disadvantage is they are somewhat limited. If you compare them to the other two I'm going to talk about, they are not as comprehensive. But remember "Perfect is the enemy of good". </a:t>
            </a:r>
          </a:p>
          <a:p>
            <a:r>
              <a:rPr lang="en-US"/>
              <a:t/>
            </a:r>
          </a:p>
          <a:p>
            <a:r>
              <a:rPr lang="en-US"/>
              <a:t>Resources and References:</a:t>
            </a:r>
          </a:p>
          <a:p>
            <a:r>
              <a:rPr lang="en-US"/>
              <a:t>- https://www.microsoft.com/en-us/download/details.aspx?id=55319</a:t>
            </a:r>
          </a:p>
          <a:p>
            <a:r>
              <a:rPr lang="en-US"/>
              <a:t/>
            </a:r>
          </a:p>
          <a:p>
            <a:r>
              <a:rPr lang="en-US"/>
              <a:t>- https://learn.microsoft.com/en-us/windows/security/operating-system-security/device-management/windows-security-configuration-framework/windows-security-baselines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
            </a:r>
          </a:p>
          <a:p>
            <a:r>
              <a:rPr lang="en-US"/>
              <a:t>I could ask anyone who's used these raise their hands but this is not a game of Spot the Fed. </a:t>
            </a:r>
          </a:p>
          <a:p>
            <a:r>
              <a:rPr lang="en-US"/>
              <a:t/>
            </a:r>
          </a:p>
          <a:p>
            <a:r>
              <a:rPr lang="en-US"/>
              <a:t>DISA STIGs are a type of benchmarking that is put out by the US Government for the US Government. I know that inspires tons of confidence, but give them a chance here. </a:t>
            </a:r>
          </a:p>
          <a:p>
            <a:r>
              <a:rPr lang="en-US"/>
              <a:t/>
            </a:r>
          </a:p>
          <a:p>
            <a:r>
              <a:rPr lang="en-US"/>
              <a:t>The cool thing is there are STIGs for lots of different things, including lots outside of Microsoft. </a:t>
            </a:r>
          </a:p>
          <a:p>
            <a:r>
              <a:rPr lang="en-US"/>
              <a:t/>
            </a:r>
          </a:p>
          <a:p>
            <a:r>
              <a:rPr lang="en-US"/>
              <a:t>For Microsoft they include drop-in GPO policy templates and even Ansible-based options. </a:t>
            </a:r>
          </a:p>
          <a:p>
            <a:r>
              <a:rPr lang="en-US"/>
              <a:t/>
            </a:r>
          </a:p>
          <a:p>
            <a:r>
              <a:rPr lang="en-US"/>
              <a:t>STIGs tend to be more comprehensive than the Microsoft Baselines. My favorite thing about STIGs is the SCAP tool. This is a free download and it will do local or remote scanning of systems based on the specified STIG benchmark you included with the scan. The usual scan permissions apply, but it really can get you a good picture of the compliance. </a:t>
            </a:r>
          </a:p>
          <a:p>
            <a:r>
              <a:rPr lang="en-US"/>
              <a:t/>
            </a:r>
          </a:p>
          <a:p>
            <a:r>
              <a:rPr lang="en-US"/>
              <a:t>The big downside of STIGs is that they are very, very, very much focused on the US Government, specifically the Department of Defense. If you look there are settings that really only apply to the US Government. The two I always remember are the requirement to use US Government Root CAs and to use US Government Time Servers. You can obviously ignore those specific findings and use that more as a reminder or a template for making sure you have your own secured Root CA and a known good time source. </a:t>
            </a:r>
          </a:p>
          <a:p>
            <a:r>
              <a:rPr lang="en-US"/>
              <a:t/>
            </a:r>
          </a:p>
          <a:p>
            <a:r>
              <a:rPr lang="en-US"/>
              <a:t>You're all doing those things right?</a:t>
            </a:r>
          </a:p>
          <a:p>
            <a:r>
              <a:rPr lang="en-US"/>
              <a:t/>
            </a:r>
          </a:p>
          <a:p>
            <a:r>
              <a:rPr lang="en-US"/>
              <a:t>I recommend using these because of the scanner and the increased coverage over MS Baselines. They're probably my favorite long term option because of how simple the SCAP tool is. </a:t>
            </a:r>
          </a:p>
          <a:p>
            <a:r>
              <a:rPr lang="en-US"/>
              <a:t/>
            </a:r>
          </a:p>
          <a:p>
            <a:r>
              <a:rPr lang="en-US"/>
              <a:t>ADHD tangent: The format for the SCAP tool scans is kind of wierd. I looked at it a long time ago and decided it wasn't worth my time. I have it on good authority that you can use your LLM of choice to make your own SCAP Benchmarks. </a:t>
            </a:r>
          </a:p>
          <a:p>
            <a:r>
              <a:rPr lang="en-US"/>
              <a:t/>
            </a:r>
          </a:p>
          <a:p>
            <a:r>
              <a:rPr lang="en-US"/>
              <a:t>Resources and References:</a:t>
            </a:r>
          </a:p>
          <a:p>
            <a:r>
              <a:rPr lang="en-US"/>
              <a:t>- https://www.cyber.mil/stigs/</a:t>
            </a:r>
          </a:p>
          <a:p>
            <a:r>
              <a:rPr lang="en-US"/>
              <a:t>- https://cyber.trackr.live/stig</a:t>
            </a:r>
          </a:p>
          <a:p>
            <a:r>
              <a:rPr lang="en-US"/>
              <a:t/>
            </a:r>
          </a:p>
          <a:p>
            <a:r>
              <a:rPr lang="en-US"/>
              <a:t>Cyber.Trackr is a good quick viewer for STIG settings.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a:t>
            </a:r>
          </a:p>
          <a:p>
            <a:r>
              <a:rPr lang="en-US"/>
              <a:t/>
            </a:r>
          </a:p>
          <a:p>
            <a:r>
              <a:rPr lang="en-US"/>
              <a:t>CIS Benchmarks compare a lot to DISA STIGs. The big difference are CIS Benchmarks can go down some rabbit holes and can be super comprehensive. They are, admittedly, the ones I'm least familiar with. </a:t>
            </a:r>
          </a:p>
          <a:p>
            <a:r>
              <a:rPr lang="en-US"/>
              <a:t/>
            </a:r>
          </a:p>
          <a:p>
            <a:r>
              <a:rPr lang="en-US"/>
              <a:t>They're not bad and they are more universal than DISA STIGS so there aren't any "US Government" items in them, and they offer solid guidelines for the items instead. My biggest dislike of CIS Benchmarks are that they 1) require an email to download the PDF guides and 2) they require you to pay for their scanning tool. Compliance checks depend on either their paid tool or third parties. </a:t>
            </a:r>
          </a:p>
          <a:p>
            <a:r>
              <a:rPr lang="en-US"/>
              <a:t/>
            </a:r>
          </a:p>
          <a:p>
            <a:r>
              <a:rPr lang="en-US"/>
              <a:t>CIS will show up in pretty much any non-US Government compliance lists. </a:t>
            </a:r>
          </a:p>
          <a:p>
            <a:r>
              <a:rPr lang="en-US"/>
              <a:t/>
            </a:r>
          </a:p>
          <a:p>
            <a:r>
              <a:rPr lang="en-US"/>
              <a:t>Resources and References:</a:t>
            </a:r>
          </a:p>
          <a:p>
            <a:r>
              <a:rPr lang="en-US"/>
              <a:t>- https://downloads.cisecurity.org/#/</a:t>
            </a:r>
          </a:p>
          <a:p>
            <a:r>
              <a:rPr lang="en-US"/>
              <a:t>- https://learn.cisecurity.org/cis-cat-lite</a:t>
            </a:r>
          </a:p>
          <a:p>
            <a:r>
              <a:rPr lang="en-US"/>
              <a:t/>
            </a:r>
          </a:p>
          <a:p>
            <a:r>
              <a:rPr lang="en-US"/>
              <a:t>- https://www.huntress.com/cybersecurity-101/topic/what-are-cis-benchmarks</a:t>
            </a:r>
          </a:p>
          <a:p>
            <a:r>
              <a:rPr lang="en-US"/>
              <a:t>- https://netwrix.com/en/resources/blog/cis-security-benchmarks/</a:t>
            </a:r>
          </a:p>
          <a:p>
            <a:r>
              <a:rPr lang="en-US"/>
              <a:t/>
            </a:r>
          </a:p>
          <a:p>
            <a:r>
              <a:rPr lang="en-US"/>
              <a:t/>
            </a:r>
          </a:p>
          <a:p>
            <a:r>
              <a:rPr lang="en-US"/>
              <a:t> Other tools with CIS Scanning </a:t>
            </a:r>
          </a:p>
          <a:p>
            <a:r>
              <a:rPr lang="en-US"/>
              <a:t>- https://wazuh.com/</a:t>
            </a:r>
          </a:p>
          <a:p>
            <a:r>
              <a:rPr lang="en-US"/>
              <a:t>- https://github.com/scipag/HardeningKitty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(NEED NOTES)</a:t>
            </a:r>
          </a:p>
          <a:p>
            <a:r>
              <a:rPr lang="en-US"/>
              <a:t/>
            </a:r>
          </a:p>
          <a:p>
            <a:r>
              <a:rPr lang="en-US"/>
              <a:t>There are literally hundreds of security settings and it is impossible to call out all the meaningful ones here. Instead, I chose some that are either a really big deal or have a gotcha associated.</a:t>
            </a:r>
          </a:p>
          <a:p>
            <a:r>
              <a:rPr lang="en-US"/>
              <a:t/>
            </a:r>
          </a:p>
          <a:p>
            <a:r>
              <a:rPr lang="en-US"/>
              <a:t>LDAP Signing</a:t>
            </a:r>
          </a:p>
          <a:p>
            <a:r>
              <a:rPr lang="en-US"/>
              <a:t>- LDAP signing is one of the easier ones to get in. It doesn't mean LDAPS strictly, but I recommend deploying LDAPS for it as that meets it.</a:t>
            </a:r>
          </a:p>
          <a:p>
            <a:r>
              <a:rPr lang="en-US"/>
              <a:t/>
            </a:r>
          </a:p>
          <a:p>
            <a:r>
              <a:rPr lang="en-US"/>
              <a:t>- LDAP Channel Binding is useful as it prevents some MITM attacks. The challenge here is poorly supported by older OSes, particularly older Linux. </a:t>
            </a:r>
          </a:p>
          <a:p>
            <a:r>
              <a:rPr lang="en-US"/>
              <a:t/>
            </a:r>
          </a:p>
          <a:p>
            <a:r>
              <a:rPr lang="en-US"/>
              <a:t>For both of these there are audit policies, configure those.</a:t>
            </a:r>
          </a:p>
          <a:p>
            <a:r>
              <a:rPr lang="en-US"/>
              <a:t>(References below)</a:t>
            </a:r>
          </a:p>
          <a:p>
            <a:r>
              <a:rPr lang="en-US"/>
              <a:t/>
            </a:r>
          </a:p>
          <a:p>
            <a:r>
              <a:rPr lang="en-US"/>
              <a:t/>
            </a:r>
          </a:p>
          <a:p>
            <a:r>
              <a:rPr lang="en-US"/>
              <a:t>SMB Signing</a:t>
            </a:r>
          </a:p>
          <a:p>
            <a:r>
              <a:rPr lang="en-US"/>
              <a:t>- This is an easy one to get enabled and protects against several attacks. I've not seen much stuff have issues with it these days. </a:t>
            </a:r>
          </a:p>
          <a:p>
            <a:r>
              <a:rPr lang="en-US"/>
              <a:t/>
            </a:r>
          </a:p>
          <a:p>
            <a:r>
              <a:rPr lang="en-US"/>
              <a:t>NTLM Hardening</a:t>
            </a:r>
          </a:p>
          <a:p>
            <a:r>
              <a:rPr lang="en-US"/>
              <a:t>- This covers the Microsoft push to end NTLM. </a:t>
            </a:r>
          </a:p>
          <a:p>
            <a:r>
              <a:rPr lang="en-US"/>
              <a:t>- There are two types of NTLM: v1 and v2. v1 needs to die in fire so if you're using it, get rid of it. </a:t>
            </a:r>
          </a:p>
          <a:p>
            <a:r>
              <a:rPr lang="en-US"/>
              <a:t>- v2 is old and needs to go, but it is still needed by a lot of apps. </a:t>
            </a:r>
          </a:p>
          <a:p>
            <a:r>
              <a:rPr lang="en-US"/>
              <a:t>- There are audit policies to nail these down. </a:t>
            </a:r>
          </a:p>
          <a:p>
            <a:r>
              <a:rPr lang="en-US"/>
              <a:t/>
            </a:r>
          </a:p>
          <a:p>
            <a:r>
              <a:rPr lang="en-US"/>
              <a:t>Kerberos Delegations</a:t>
            </a:r>
          </a:p>
          <a:p>
            <a:r>
              <a:rPr lang="en-US"/>
              <a:t>- Kerberos Delegation is impersonation and it by itself isn't bad, but has options that are horrifying. </a:t>
            </a:r>
          </a:p>
          <a:p>
            <a:r>
              <a:rPr lang="en-US"/>
              <a:t>- Basically, find anything running unconstrained delegation or protocol translation.</a:t>
            </a:r>
          </a:p>
          <a:p>
            <a:r>
              <a:rPr lang="en-US"/>
              <a:t/>
            </a:r>
          </a:p>
          <a:p>
            <a:r>
              <a:rPr lang="en-US"/>
              <a:t>Kerberos Encryption Types</a:t>
            </a:r>
          </a:p>
          <a:p>
            <a:r>
              <a:rPr lang="en-US"/>
              <a:t>- Microsoft has gone to town on these lately with the demise of RC4. If you're still using it, get off it.</a:t>
            </a:r>
          </a:p>
          <a:p>
            <a:r>
              <a:rPr lang="en-US"/>
              <a:t>- At a minimum start finding RC4 stuff and rooting it out and make sure AES is enabled wherever possible. </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(NEED NOTES)</a:t>
            </a:r>
          </a:p>
          <a:p>
            <a:r>
              <a:rPr lang="en-US"/>
              <a:t/>
            </a:r>
          </a:p>
          <a:p>
            <a:r>
              <a:rPr lang="en-US"/>
              <a:t>There are literally hundreds of security settings and it is impossible to call out all the meaningful ones here. Instead, I chose some that are either a really big deal or have a gotcha associated.</a:t>
            </a:r>
          </a:p>
          <a:p>
            <a:r>
              <a:rPr lang="en-US"/>
              <a:t/>
            </a:r>
          </a:p>
          <a:p>
            <a:r>
              <a:rPr lang="en-US"/>
              <a:t>LDAP Signing</a:t>
            </a:r>
          </a:p>
          <a:p>
            <a:r>
              <a:rPr lang="en-US"/>
              <a:t>- LDAP signing is one of the easier ones to get in. It doesn't mean LDAPS strictly, but I recommend deploying LDAPS for it as that meets it.</a:t>
            </a:r>
          </a:p>
          <a:p>
            <a:r>
              <a:rPr lang="en-US"/>
              <a:t/>
            </a:r>
          </a:p>
          <a:p>
            <a:r>
              <a:rPr lang="en-US"/>
              <a:t>- LDAP Channel Binding is useful as it prevents some MITM attacks. The challenge here is poorly supported by older OSes, particularly older Linux. </a:t>
            </a:r>
          </a:p>
          <a:p>
            <a:r>
              <a:rPr lang="en-US"/>
              <a:t/>
            </a:r>
          </a:p>
          <a:p>
            <a:r>
              <a:rPr lang="en-US"/>
              <a:t>For both of these there are audit policies, configure those.</a:t>
            </a:r>
          </a:p>
          <a:p>
            <a:r>
              <a:rPr lang="en-US"/>
              <a:t>(References below)</a:t>
            </a:r>
          </a:p>
          <a:p>
            <a:r>
              <a:rPr lang="en-US"/>
              <a:t/>
            </a:r>
          </a:p>
          <a:p>
            <a:r>
              <a:rPr lang="en-US"/>
              <a:t/>
            </a:r>
          </a:p>
          <a:p>
            <a:r>
              <a:rPr lang="en-US"/>
              <a:t>SMB Signing</a:t>
            </a:r>
          </a:p>
          <a:p>
            <a:r>
              <a:rPr lang="en-US"/>
              <a:t>- This is an easy one to get enabled and protects against several attacks. I've not seen much stuff have issues with it these days. </a:t>
            </a:r>
          </a:p>
          <a:p>
            <a:r>
              <a:rPr lang="en-US"/>
              <a:t/>
            </a:r>
          </a:p>
          <a:p>
            <a:r>
              <a:rPr lang="en-US"/>
              <a:t>NTLM Hardening</a:t>
            </a:r>
          </a:p>
          <a:p>
            <a:r>
              <a:rPr lang="en-US"/>
              <a:t>- This covers the Microsoft push to end NTLM. </a:t>
            </a:r>
          </a:p>
          <a:p>
            <a:r>
              <a:rPr lang="en-US"/>
              <a:t>- There are two types of NTLM: v1 and v2. v1 needs to die in fire so if you're using it, get rid of it. </a:t>
            </a:r>
          </a:p>
          <a:p>
            <a:r>
              <a:rPr lang="en-US"/>
              <a:t>- v2 is old and needs to go, but it is still needed by a lot of apps. </a:t>
            </a:r>
          </a:p>
          <a:p>
            <a:r>
              <a:rPr lang="en-US"/>
              <a:t>- There are audit policies to nail these down. </a:t>
            </a:r>
          </a:p>
          <a:p>
            <a:r>
              <a:rPr lang="en-US"/>
              <a:t/>
            </a:r>
          </a:p>
          <a:p>
            <a:r>
              <a:rPr lang="en-US"/>
              <a:t>Kerberos Delegations</a:t>
            </a:r>
          </a:p>
          <a:p>
            <a:r>
              <a:rPr lang="en-US"/>
              <a:t>- Kerberos Delegation is impersonation and it by itself isn't bad, but has options that are horrifying. </a:t>
            </a:r>
          </a:p>
          <a:p>
            <a:r>
              <a:rPr lang="en-US"/>
              <a:t>- Basically, find anything running unconstrained delegation or protocol translation.</a:t>
            </a:r>
          </a:p>
          <a:p>
            <a:r>
              <a:rPr lang="en-US"/>
              <a:t/>
            </a:r>
          </a:p>
          <a:p>
            <a:r>
              <a:rPr lang="en-US"/>
              <a:t>Kerberos Encryption Types</a:t>
            </a:r>
          </a:p>
          <a:p>
            <a:r>
              <a:rPr lang="en-US"/>
              <a:t>- Microsoft has gone to town on these lately with the demise of RC4. If you're still using it, get off it.</a:t>
            </a:r>
          </a:p>
          <a:p>
            <a:r>
              <a:rPr lang="en-US"/>
              <a:t>- At a minimum start finding RC4 stuff and rooting it out and make sure AES is enabled wherever possible. </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(NEED NOTES)</a:t>
            </a:r>
          </a:p>
          <a:p>
            <a:r>
              <a:rPr lang="en-US"/>
              <a:t/>
            </a:r>
          </a:p>
          <a:p>
            <a:r>
              <a:rPr lang="en-US"/>
              <a:t>There are literally hundreds of security settings and it is impossible to call out all the meaningful ones here. Instead, I chose some that are either a really big deal or have a gotcha associated.</a:t>
            </a:r>
          </a:p>
          <a:p>
            <a:r>
              <a:rPr lang="en-US"/>
              <a:t/>
            </a:r>
          </a:p>
          <a:p>
            <a:r>
              <a:rPr lang="en-US"/>
              <a:t>LDAP Signing</a:t>
            </a:r>
          </a:p>
          <a:p>
            <a:r>
              <a:rPr lang="en-US"/>
              <a:t>- LDAP signing is one of the easier ones to get in. It doesn't mean LDAPS strictly, but I recommend deploying LDAPS for it as that meets it.</a:t>
            </a:r>
          </a:p>
          <a:p>
            <a:r>
              <a:rPr lang="en-US"/>
              <a:t/>
            </a:r>
          </a:p>
          <a:p>
            <a:r>
              <a:rPr lang="en-US"/>
              <a:t>- LDAP Channel Binding is useful as it prevents some MITM attacks. The challenge here is poorly supported by older OSes, particularly older Linux. </a:t>
            </a:r>
          </a:p>
          <a:p>
            <a:r>
              <a:rPr lang="en-US"/>
              <a:t/>
            </a:r>
          </a:p>
          <a:p>
            <a:r>
              <a:rPr lang="en-US"/>
              <a:t>For both of these there are audit policies, configure those.</a:t>
            </a:r>
          </a:p>
          <a:p>
            <a:r>
              <a:rPr lang="en-US"/>
              <a:t>(References below)</a:t>
            </a:r>
          </a:p>
          <a:p>
            <a:r>
              <a:rPr lang="en-US"/>
              <a:t/>
            </a:r>
          </a:p>
          <a:p>
            <a:r>
              <a:rPr lang="en-US"/>
              <a:t/>
            </a:r>
          </a:p>
          <a:p>
            <a:r>
              <a:rPr lang="en-US"/>
              <a:t>SMB Signing</a:t>
            </a:r>
          </a:p>
          <a:p>
            <a:r>
              <a:rPr lang="en-US"/>
              <a:t>- This is an easy one to get enabled and protects against several attacks. I've not seen much stuff have issues with it these days. </a:t>
            </a:r>
          </a:p>
          <a:p>
            <a:r>
              <a:rPr lang="en-US"/>
              <a:t/>
            </a:r>
          </a:p>
          <a:p>
            <a:r>
              <a:rPr lang="en-US"/>
              <a:t>NTLM Hardening</a:t>
            </a:r>
          </a:p>
          <a:p>
            <a:r>
              <a:rPr lang="en-US"/>
              <a:t>- This covers the Microsoft push to end NTLM. </a:t>
            </a:r>
          </a:p>
          <a:p>
            <a:r>
              <a:rPr lang="en-US"/>
              <a:t>- There are two types of NTLM: v1 and v2. v1 needs to die in fire so if you're using it, get rid of it. </a:t>
            </a:r>
          </a:p>
          <a:p>
            <a:r>
              <a:rPr lang="en-US"/>
              <a:t>- v2 is old and needs to go, but it is still needed by a lot of apps. </a:t>
            </a:r>
          </a:p>
          <a:p>
            <a:r>
              <a:rPr lang="en-US"/>
              <a:t>- There are audit policies to nail these down. </a:t>
            </a:r>
          </a:p>
          <a:p>
            <a:r>
              <a:rPr lang="en-US"/>
              <a:t/>
            </a:r>
          </a:p>
          <a:p>
            <a:r>
              <a:rPr lang="en-US"/>
              <a:t>Kerberos Delegations</a:t>
            </a:r>
          </a:p>
          <a:p>
            <a:r>
              <a:rPr lang="en-US"/>
              <a:t>- Kerberos Delegation is impersonation and it by itself isn't bad, but has options that are horrifying. </a:t>
            </a:r>
          </a:p>
          <a:p>
            <a:r>
              <a:rPr lang="en-US"/>
              <a:t>- Basically, find anything running unconstrained delegation or protocol translation.</a:t>
            </a:r>
          </a:p>
          <a:p>
            <a:r>
              <a:rPr lang="en-US"/>
              <a:t/>
            </a:r>
          </a:p>
          <a:p>
            <a:r>
              <a:rPr lang="en-US"/>
              <a:t>Kerberos Encryption Types</a:t>
            </a:r>
          </a:p>
          <a:p>
            <a:r>
              <a:rPr lang="en-US"/>
              <a:t>- Microsoft has gone to town on these lately with the demise of RC4. If you're still using it, get off it.</a:t>
            </a:r>
          </a:p>
          <a:p>
            <a:r>
              <a:rPr lang="en-US"/>
              <a:t>- At a minimum start finding RC4 stuff and rooting it out and make sure AES is enabled wherever possible. </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(NEED NOTES)</a:t>
            </a:r>
          </a:p>
          <a:p>
            <a:r>
              <a:rPr lang="en-US"/>
              <a:t/>
            </a:r>
          </a:p>
          <a:p>
            <a:r>
              <a:rPr lang="en-US"/>
              <a:t>There are literally hundreds of security settings and it is impossible to call out all the meaningful ones here. Instead, I chose some that are either a really big deal or have a gotcha associated.</a:t>
            </a:r>
          </a:p>
          <a:p>
            <a:r>
              <a:rPr lang="en-US"/>
              <a:t/>
            </a:r>
          </a:p>
          <a:p>
            <a:r>
              <a:rPr lang="en-US"/>
              <a:t>LDAP Signing</a:t>
            </a:r>
          </a:p>
          <a:p>
            <a:r>
              <a:rPr lang="en-US"/>
              <a:t>- LDAP signing is one of the easier ones to get in. It doesn't mean LDAPS strictly, but I recommend deploying LDAPS for it as that meets it.</a:t>
            </a:r>
          </a:p>
          <a:p>
            <a:r>
              <a:rPr lang="en-US"/>
              <a:t/>
            </a:r>
          </a:p>
          <a:p>
            <a:r>
              <a:rPr lang="en-US"/>
              <a:t>- LDAP Channel Binding is useful as it prevents some MITM attacks. The challenge here is poorly supported by older OSes, particularly older Linux. </a:t>
            </a:r>
          </a:p>
          <a:p>
            <a:r>
              <a:rPr lang="en-US"/>
              <a:t/>
            </a:r>
          </a:p>
          <a:p>
            <a:r>
              <a:rPr lang="en-US"/>
              <a:t>For both of these there are audit policies, configure those.</a:t>
            </a:r>
          </a:p>
          <a:p>
            <a:r>
              <a:rPr lang="en-US"/>
              <a:t>(References below)</a:t>
            </a:r>
          </a:p>
          <a:p>
            <a:r>
              <a:rPr lang="en-US"/>
              <a:t/>
            </a:r>
          </a:p>
          <a:p>
            <a:r>
              <a:rPr lang="en-US"/>
              <a:t/>
            </a:r>
          </a:p>
          <a:p>
            <a:r>
              <a:rPr lang="en-US"/>
              <a:t>SMB Signing</a:t>
            </a:r>
          </a:p>
          <a:p>
            <a:r>
              <a:rPr lang="en-US"/>
              <a:t>- This is an easy one to get enabled and protects against several attacks. I've not seen much stuff have issues with it these days. </a:t>
            </a:r>
          </a:p>
          <a:p>
            <a:r>
              <a:rPr lang="en-US"/>
              <a:t/>
            </a:r>
          </a:p>
          <a:p>
            <a:r>
              <a:rPr lang="en-US"/>
              <a:t>NTLM Hardening</a:t>
            </a:r>
          </a:p>
          <a:p>
            <a:r>
              <a:rPr lang="en-US"/>
              <a:t>- This covers the Microsoft push to end NTLM. </a:t>
            </a:r>
          </a:p>
          <a:p>
            <a:r>
              <a:rPr lang="en-US"/>
              <a:t>- There are two types of NTLM: v1 and v2. v1 needs to die in fire so if you're using it, get rid of it. </a:t>
            </a:r>
          </a:p>
          <a:p>
            <a:r>
              <a:rPr lang="en-US"/>
              <a:t>- v2 is old and needs to go, but it is still needed by a lot of apps. </a:t>
            </a:r>
          </a:p>
          <a:p>
            <a:r>
              <a:rPr lang="en-US"/>
              <a:t>- There are audit policies to nail these down. </a:t>
            </a:r>
          </a:p>
          <a:p>
            <a:r>
              <a:rPr lang="en-US"/>
              <a:t/>
            </a:r>
          </a:p>
          <a:p>
            <a:r>
              <a:rPr lang="en-US"/>
              <a:t>Kerberos Delegations</a:t>
            </a:r>
          </a:p>
          <a:p>
            <a:r>
              <a:rPr lang="en-US"/>
              <a:t>- Kerberos Delegation is impersonation and it by itself isn't bad, but has options that are horrifying. </a:t>
            </a:r>
          </a:p>
          <a:p>
            <a:r>
              <a:rPr lang="en-US"/>
              <a:t>- Basically, find anything running unconstrained delegation or protocol translation.</a:t>
            </a:r>
          </a:p>
          <a:p>
            <a:r>
              <a:rPr lang="en-US"/>
              <a:t/>
            </a:r>
          </a:p>
          <a:p>
            <a:r>
              <a:rPr lang="en-US"/>
              <a:t>Kerberos Encryption Types</a:t>
            </a:r>
          </a:p>
          <a:p>
            <a:r>
              <a:rPr lang="en-US"/>
              <a:t>- Microsoft has gone to town on these lately with the demise of RC4. If you're still using it, get off it.</a:t>
            </a:r>
          </a:p>
          <a:p>
            <a:r>
              <a:rPr lang="en-US"/>
              <a:t>- At a minimum start finding RC4 stuff and rooting it out and make sure AES is enabled wherever possible. </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(NEED NOTES)</a:t>
            </a:r>
          </a:p>
          <a:p>
            <a:r>
              <a:rPr lang="en-US"/>
              <a:t/>
            </a:r>
          </a:p>
          <a:p>
            <a:r>
              <a:rPr lang="en-US"/>
              <a:t>There are literally hundreds of security settings and it is impossible to call out all the meaningful ones here. Instead, I chose some that are either a really big deal or have a gotcha associated.</a:t>
            </a:r>
          </a:p>
          <a:p>
            <a:r>
              <a:rPr lang="en-US"/>
              <a:t/>
            </a:r>
          </a:p>
          <a:p>
            <a:r>
              <a:rPr lang="en-US"/>
              <a:t>LDAP Signing</a:t>
            </a:r>
          </a:p>
          <a:p>
            <a:r>
              <a:rPr lang="en-US"/>
              <a:t>- LDAP signing is one of the easier ones to get in. It doesn't mean LDAPS strictly, but I recommend deploying LDAPS for it as that meets it.</a:t>
            </a:r>
          </a:p>
          <a:p>
            <a:r>
              <a:rPr lang="en-US"/>
              <a:t/>
            </a:r>
          </a:p>
          <a:p>
            <a:r>
              <a:rPr lang="en-US"/>
              <a:t>- LDAP Channel Binding is useful as it prevents some MITM attacks. The challenge here is poorly supported by older OSes, particularly older Linux. </a:t>
            </a:r>
          </a:p>
          <a:p>
            <a:r>
              <a:rPr lang="en-US"/>
              <a:t/>
            </a:r>
          </a:p>
          <a:p>
            <a:r>
              <a:rPr lang="en-US"/>
              <a:t>For both of these there are audit policies, configure those.</a:t>
            </a:r>
          </a:p>
          <a:p>
            <a:r>
              <a:rPr lang="en-US"/>
              <a:t>(References below)</a:t>
            </a:r>
          </a:p>
          <a:p>
            <a:r>
              <a:rPr lang="en-US"/>
              <a:t/>
            </a:r>
          </a:p>
          <a:p>
            <a:r>
              <a:rPr lang="en-US"/>
              <a:t/>
            </a:r>
          </a:p>
          <a:p>
            <a:r>
              <a:rPr lang="en-US"/>
              <a:t>SMB Signing</a:t>
            </a:r>
          </a:p>
          <a:p>
            <a:r>
              <a:rPr lang="en-US"/>
              <a:t>- This is an easy one to get enabled and protects against several attacks. I've not seen much stuff have issues with it these days. </a:t>
            </a:r>
          </a:p>
          <a:p>
            <a:r>
              <a:rPr lang="en-US"/>
              <a:t/>
            </a:r>
          </a:p>
          <a:p>
            <a:r>
              <a:rPr lang="en-US"/>
              <a:t>NTLM Hardening</a:t>
            </a:r>
          </a:p>
          <a:p>
            <a:r>
              <a:rPr lang="en-US"/>
              <a:t>- This covers the Microsoft push to end NTLM. </a:t>
            </a:r>
          </a:p>
          <a:p>
            <a:r>
              <a:rPr lang="en-US"/>
              <a:t>- There are two types of NTLM: v1 and v2. v1 needs to die in fire so if you're using it, get rid of it. </a:t>
            </a:r>
          </a:p>
          <a:p>
            <a:r>
              <a:rPr lang="en-US"/>
              <a:t>- v2 is old and needs to go, but it is still needed by a lot of apps. </a:t>
            </a:r>
          </a:p>
          <a:p>
            <a:r>
              <a:rPr lang="en-US"/>
              <a:t>- There are audit policies to nail these down. </a:t>
            </a:r>
          </a:p>
          <a:p>
            <a:r>
              <a:rPr lang="en-US"/>
              <a:t/>
            </a:r>
          </a:p>
          <a:p>
            <a:r>
              <a:rPr lang="en-US"/>
              <a:t>Kerberos Delegations</a:t>
            </a:r>
          </a:p>
          <a:p>
            <a:r>
              <a:rPr lang="en-US"/>
              <a:t>- Kerberos Delegation is impersonation and it by itself isn't bad, but has options that are horrifying. </a:t>
            </a:r>
          </a:p>
          <a:p>
            <a:r>
              <a:rPr lang="en-US"/>
              <a:t>- Basically, find anything running unconstrained delegation or protocol translation.</a:t>
            </a:r>
          </a:p>
          <a:p>
            <a:r>
              <a:rPr lang="en-US"/>
              <a:t/>
            </a:r>
          </a:p>
          <a:p>
            <a:r>
              <a:rPr lang="en-US"/>
              <a:t>Kerberos Encryption Types</a:t>
            </a:r>
          </a:p>
          <a:p>
            <a:r>
              <a:rPr lang="en-US"/>
              <a:t>- Microsoft has gone to town on these lately with the demise of RC4. If you're still using it, get off it.</a:t>
            </a:r>
          </a:p>
          <a:p>
            <a:r>
              <a:rPr lang="en-US"/>
              <a:t>- At a minimum start finding RC4 stuff and rooting it out and make sure AES is enabled wherever possible. </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(NEED NOTES)</a:t>
            </a:r>
          </a:p>
          <a:p>
            <a:r>
              <a:rPr lang="en-US"/>
              <a:t/>
            </a:r>
          </a:p>
          <a:p>
            <a:r>
              <a:rPr lang="en-US"/>
              <a:t>There are literally hundreds of security settings and it is impossible to call out all the meaningful ones here. Instead, I chose some that are either a really big deal or have a gotcha associated.</a:t>
            </a:r>
          </a:p>
          <a:p>
            <a:r>
              <a:rPr lang="en-US"/>
              <a:t/>
            </a:r>
          </a:p>
          <a:p>
            <a:r>
              <a:rPr lang="en-US"/>
              <a:t>LDAP Signing</a:t>
            </a:r>
          </a:p>
          <a:p>
            <a:r>
              <a:rPr lang="en-US"/>
              <a:t>- LDAP signing is one of the easier ones to get in. It doesn't mean LDAPS strictly, but I recommend deploying LDAPS for it as that meets it.</a:t>
            </a:r>
          </a:p>
          <a:p>
            <a:r>
              <a:rPr lang="en-US"/>
              <a:t/>
            </a:r>
          </a:p>
          <a:p>
            <a:r>
              <a:rPr lang="en-US"/>
              <a:t>- LDAP Channel Binding is useful as it prevents some MITM attacks. The challenge here is poorly supported by older OSes, particularly older Linux. </a:t>
            </a:r>
          </a:p>
          <a:p>
            <a:r>
              <a:rPr lang="en-US"/>
              <a:t/>
            </a:r>
          </a:p>
          <a:p>
            <a:r>
              <a:rPr lang="en-US"/>
              <a:t>For both of these there are audit policies, configure those.</a:t>
            </a:r>
          </a:p>
          <a:p>
            <a:r>
              <a:rPr lang="en-US"/>
              <a:t>(References below)</a:t>
            </a:r>
          </a:p>
          <a:p>
            <a:r>
              <a:rPr lang="en-US"/>
              <a:t/>
            </a:r>
          </a:p>
          <a:p>
            <a:r>
              <a:rPr lang="en-US"/>
              <a:t/>
            </a:r>
          </a:p>
          <a:p>
            <a:r>
              <a:rPr lang="en-US"/>
              <a:t>SMB Signing</a:t>
            </a:r>
          </a:p>
          <a:p>
            <a:r>
              <a:rPr lang="en-US"/>
              <a:t>- This is an easy one to get enabled and protects against several attacks. I've not seen much stuff have issues with it these days. </a:t>
            </a:r>
          </a:p>
          <a:p>
            <a:r>
              <a:rPr lang="en-US"/>
              <a:t/>
            </a:r>
          </a:p>
          <a:p>
            <a:r>
              <a:rPr lang="en-US"/>
              <a:t>NTLM Hardening</a:t>
            </a:r>
          </a:p>
          <a:p>
            <a:r>
              <a:rPr lang="en-US"/>
              <a:t>- This covers the Microsoft push to end NTLM. </a:t>
            </a:r>
          </a:p>
          <a:p>
            <a:r>
              <a:rPr lang="en-US"/>
              <a:t>- There are two types of NTLM: v1 and v2. v1 needs to die in fire so if you're using it, get rid of it. </a:t>
            </a:r>
          </a:p>
          <a:p>
            <a:r>
              <a:rPr lang="en-US"/>
              <a:t>- v2 is old and needs to go, but it is still needed by a lot of apps. </a:t>
            </a:r>
          </a:p>
          <a:p>
            <a:r>
              <a:rPr lang="en-US"/>
              <a:t>- There are audit policies to nail these down. </a:t>
            </a:r>
          </a:p>
          <a:p>
            <a:r>
              <a:rPr lang="en-US"/>
              <a:t/>
            </a:r>
          </a:p>
          <a:p>
            <a:r>
              <a:rPr lang="en-US"/>
              <a:t>Kerberos Delegations</a:t>
            </a:r>
          </a:p>
          <a:p>
            <a:r>
              <a:rPr lang="en-US"/>
              <a:t>- Kerberos Delegation is impersonation and it by itself isn't bad, but has options that are horrifying. </a:t>
            </a:r>
          </a:p>
          <a:p>
            <a:r>
              <a:rPr lang="en-US"/>
              <a:t>- Basically, find anything running unconstrained delegation or protocol translation.</a:t>
            </a:r>
          </a:p>
          <a:p>
            <a:r>
              <a:rPr lang="en-US"/>
              <a:t/>
            </a:r>
          </a:p>
          <a:p>
            <a:r>
              <a:rPr lang="en-US"/>
              <a:t>Kerberos Encryption Types</a:t>
            </a:r>
          </a:p>
          <a:p>
            <a:r>
              <a:rPr lang="en-US"/>
              <a:t>- Microsoft has gone to town on these lately with the demise of RC4. If you're still using it, get off it.</a:t>
            </a:r>
          </a:p>
          <a:p>
            <a:r>
              <a:rPr lang="en-US"/>
              <a:t>- At a minimum start finding RC4 stuff and rooting it out and make sure AES is enabled wherever possible. </a:t>
            </a:r>
          </a:p>
          <a:p>
            <a:r>
              <a:rPr lang="en-US"/>
              <a:t/>
            </a:r>
          </a:p>
          <a:p>
            <a:r>
              <a:rPr lang="en-US"/>
              <a:t/>
            </a:r>
          </a:p>
          <a:p>
            <a:r>
              <a:rPr lang="en-US"/>
              <a:t>-- References</a:t>
            </a:r>
          </a:p>
          <a:p>
            <a:r>
              <a:rPr lang="en-US"/>
              <a:t>LDAP References</a:t>
            </a:r>
          </a:p>
          <a:p>
            <a:r>
              <a:rPr lang="en-US"/>
              <a:t>- https://learn.microsoft.com/en-us/windows-server/identity/ad-ds/ldap-signing</a:t>
            </a:r>
          </a:p>
          <a:p>
            <a:r>
              <a:rPr lang="en-US"/>
              <a:t>- https://support.microsoft.com/en-us/topic/2020-2023-and-2024-ldap-channel-binding-and-ldap-signing-requirements-for-windows-kb4520412-ef185fb8-00f7-167d-744c-f299a66fc00a</a:t>
            </a:r>
          </a:p>
          <a:p>
            <a:r>
              <a:rPr lang="en-US"/>
              <a:t>-https://learn.microsoft.com/en-us/windows-server/identity/ad-ds/ldap-client-performance-counters</a:t>
            </a:r>
          </a:p>
          <a:p>
            <a:r>
              <a:rPr lang="en-US"/>
              <a:t>- learn.microsoft.com/en-us/windows-server/identity/ad-ds/configure-ldap-signing-certificates?tabs=microsoft-enterprise-ca</a:t>
            </a:r>
          </a:p>
          <a:p>
            <a:r>
              <a:rPr lang="en-US"/>
              <a:t>- https://learn.microsoft.com/en-us/windows-server/identity/manage-ldap-signing-group-policy?tabs=windows-server-2025</a:t>
            </a:r>
          </a:p>
          <a:p>
            <a:r>
              <a:rPr lang="en-US"/>
              <a:t>- https://support.microsoft.com/en-us/topic/kb4034879-use-the-ldapenforcechannelbinding-registry-entry-to-make-ldap-authentication-over-ssl-tls-more-secure-e9ecfa27-5e57-8519-6ba3-d2c06b21812e</a:t>
            </a:r>
          </a:p>
          <a:p>
            <a:r>
              <a:rPr lang="en-US"/>
              <a:t/>
            </a:r>
          </a:p>
          <a:p>
            <a:r>
              <a:rPr lang="en-US"/>
              <a:t>SMB</a:t>
            </a:r>
          </a:p>
          <a:p>
            <a:r>
              <a:rPr lang="en-US"/>
              <a:t>- https://learn.microsoft.com/en-us/windows-server/storage/file-server/smb-signing-overview</a:t>
            </a:r>
          </a:p>
          <a:p>
            <a:r>
              <a:rPr lang="en-US"/>
              <a:t/>
            </a:r>
          </a:p>
          <a:p>
            <a:r>
              <a:rPr lang="en-US"/>
              <a:t>NTLM </a:t>
            </a:r>
          </a:p>
          <a:p>
            <a:r>
              <a:rPr lang="en-US"/>
              <a:t>- https://syfuhs.net/deprecating-ntlm-is-easy-and-other-lies-we-tell-ourselves</a:t>
            </a:r>
          </a:p>
          <a:p>
            <a:r>
              <a:rPr lang="en-US"/>
              <a:t>- https://techcommunity.microsoft.com/blog/windows-itpro-blog/advancing-windows-security-disabling-ntlm-by-default/4489526</a:t>
            </a:r>
          </a:p>
          <a:p>
            <a:r>
              <a:rPr lang="en-US"/>
              <a:t>- https://support.microsoft.com/en-us/topic/overview-of-ntlm-auditing-enhancements-in-windows-11-version-24h2-and-windows-server-2025-b7ead732-6fc5-46a3-a943-27a4571d9e7b</a:t>
            </a:r>
          </a:p>
          <a:p>
            <a:r>
              <a:rPr lang="en-US"/>
              <a:t>- https://support.microsoft.com/en-us/topic/upcoming-changes-to-ntlmv1-in-windows-11-version-24h2-and-windows-server-2025-c0554217-cdbc-420f-b47c-e02b2db49b2e</a:t>
            </a:r>
          </a:p>
          <a:p>
            <a:r>
              <a:rPr lang="en-US"/>
              <a:t/>
            </a:r>
          </a:p>
          <a:p>
            <a:r>
              <a:rPr lang="en-US"/>
              <a:t>Kerberos Delegation</a:t>
            </a:r>
          </a:p>
          <a:p>
            <a:r>
              <a:rPr lang="en-US"/>
              <a:t>- https://learn.microsoft.com/en-us/windows-server/security/kerberos/kerberos-constrained-delegation-overview</a:t>
            </a:r>
          </a:p>
          <a:p>
            <a:r>
              <a:rPr lang="en-US"/>
              <a:t>- https://learn.microsoft.com/en-us/archive/blogs/poshchap/security-focus-analysing-account-is-sensitive-and-cannot-be-delegated-for-privileged-accounts</a:t>
            </a:r>
          </a:p>
          <a:p>
            <a:r>
              <a:rPr lang="en-US"/>
              <a:t>- https://learn.microsoft.com/en-us/previous-versions/tn-archive/cc995228(v=technet.10)?redirectedfrom=MSDN</a:t>
            </a:r>
          </a:p>
          <a:p>
            <a:r>
              <a:rPr lang="en-US"/>
              <a:t>- https://syfuhs.net/understanding-identity-delegation</a:t>
            </a:r>
          </a:p>
          <a:p>
            <a:r>
              <a:rPr lang="en-US"/>
              <a:t/>
            </a:r>
          </a:p>
          <a:p>
            <a:r>
              <a:rPr lang="en-US"/>
              <a:t>Kerberos Encryption</a:t>
            </a:r>
          </a:p>
          <a:p>
            <a:r>
              <a:rPr lang="en-US"/>
              <a:t>- https://syfuhs.net/lessons-in-disabling-rc4-in-active-directory</a:t>
            </a:r>
          </a:p>
          <a:p>
            <a:r>
              <a:rPr lang="en-US"/>
              <a:t>- https://www.microsoft.com/en-us/windows-server/blog/2025/12/03/beyond-rc4-for-windows-authentication/</a:t>
            </a:r>
          </a:p>
          <a:p>
            <a:r>
              <a:rPr lang="en-US"/>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minutes</a:t>
            </a:r>
          </a:p>
          <a:p>
            <a:r>
              <a:rPr lang="en-US"/>
              <a:t/>
            </a:r>
          </a:p>
          <a:p>
            <a:r>
              <a:rPr lang="en-US"/>
              <a:t>If you don't know where to start, start with MS Baselines. They're fast, their simple. </a:t>
            </a:r>
          </a:p>
          <a:p>
            <a:r>
              <a:rPr lang="en-US"/>
              <a:t/>
            </a:r>
          </a:p>
          <a:p>
            <a:r>
              <a:rPr lang="en-US"/>
              <a:t>Regardless of where you start, review the settings and get a rough idea of compliance. If you're looking at STIGs or CIS Benchmarks they're categorized by severity. I recommend reviewing the missing configurations or items and splitting them into three groups: high-impact, moderate-impact, and low-impact. Impact here isn't security risk -- impact is how likely am I to cause an a resume generating event by doing this? I have a list in the slide notes that you can look at later where I make an attempt to do some of this categorization for you, so I encourage you to look at that. Just be careful, what I think is low impact may not be low impact in your environment.</a:t>
            </a:r>
          </a:p>
          <a:p>
            <a:r>
              <a:rPr lang="en-US"/>
              <a:t/>
            </a:r>
          </a:p>
          <a:p>
            <a:r>
              <a:rPr lang="en-US"/>
              <a:t>Get projects started and approvals moving for the bigger items and start knocking out the low-impact items. They will move your bar forward and while the gains won't be great, they are a start. Once those start moving you can start focusing on the larger items. </a:t>
            </a:r>
          </a:p>
          <a:p>
            <a:r>
              <a:rPr lang="en-US"/>
              <a:t/>
            </a:r>
          </a:p>
          <a:p>
            <a:r>
              <a:rPr lang="en-US"/>
              <a:t>Another thing I tend to do is compare the settings from a couple of the different benchmarks and choose the stricter of the two when they differ. This is particularly useful for audit settings as they vary a lot between the different baselines. </a:t>
            </a:r>
          </a:p>
          <a:p>
            <a:r>
              <a:rPr lang="en-US"/>
              <a:t/>
            </a:r>
          </a:p>
          <a:p>
            <a:r>
              <a:rPr lang="en-US"/>
              <a:t>Don't get overwhelmed. From there work through the findings systematically. Anything you can implement easily without taking on too much business risk, do it. Everything else get plans and projects in place to start resolving them over time. If your security team is pushing for things, that helps prioritize.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few years ago NIST completely overhauled the guidance on passwords and password policies. </a:t>
            </a:r>
          </a:p>
          <a:p>
            <a:r>
              <a:rPr lang="en-US"/>
              <a:t/>
            </a:r>
          </a:p>
          <a:p>
            <a:r>
              <a:rPr lang="en-US"/>
              <a:t>One the the challenges I noticed, most solutions to NIST's requirements involve a cost.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Password Length is better than password complexity. </a:t>
            </a:r>
          </a:p>
          <a:p>
            <a:r>
              <a:rPr lang="en-US"/>
              <a:t>2. Use bad password lists to prevent use of known compromised passwords. </a:t>
            </a:r>
          </a:p>
          <a:p>
            <a:r>
              <a:rPr lang="en-US"/>
              <a:t>3. Deploy passwordless solutions whereever possible.</a:t>
            </a:r>
          </a:p>
          <a:p>
            <a:r>
              <a:rPr lang="en-US"/>
              <a:t>4. Do not employ forced expiration of passwords at an interval. Only force resets on known compromised accounts. </a:t>
            </a:r>
          </a:p>
          <a:p>
            <a:r>
              <a:rPr lang="en-US"/>
              <a:t/>
            </a:r>
          </a:p>
          <a:p>
            <a:r>
              <a:rPr lang="en-US"/>
              <a:t>While I don't 100% agree with all these, there is a lot of good information here. What could go wrong?</a:t>
            </a:r>
          </a:p>
          <a:p>
            <a:r>
              <a:rPr lang="en-US"/>
              <a:t/>
            </a:r>
          </a:p>
          <a:p>
            <a:r>
              <a:rPr lang="en-US"/>
              <a:t>Resources and References:</a:t>
            </a:r>
          </a:p>
          <a:p>
            <a:r>
              <a:rPr lang="en-US"/>
              <a:t>- https://pages.nist.gov/800-63-3/sp800-63b.html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minutes</a:t>
            </a:r>
          </a:p>
          <a:p>
            <a:r>
              <a:rPr lang="en-US"/>
              <a:t/>
            </a:r>
          </a:p>
          <a:p>
            <a:r>
              <a:rPr lang="en-US"/>
              <a:t>Bad Password lists (also called Password Filters in AD) have been in AD for a long time. They pre-date Azure. </a:t>
            </a:r>
          </a:p>
          <a:p>
            <a:r>
              <a:rPr lang="en-US"/>
              <a:t/>
            </a:r>
          </a:p>
          <a:p>
            <a:r>
              <a:rPr lang="en-US"/>
              <a:t>Based on how the filter's design they can just be simple keyword matches, there are also wildcards, and all kinds of options built into them. They're pretty slick. </a:t>
            </a:r>
          </a:p>
          <a:p>
            <a:r>
              <a:rPr lang="en-US"/>
              <a:t/>
            </a:r>
          </a:p>
          <a:p>
            <a:r>
              <a:rPr lang="en-US"/>
              <a:t>All the different filter types behave more or less the same. You can have lists of known bad passwords (haveibeenpwned) and you can create certain customization to match your needs. </a:t>
            </a:r>
          </a:p>
          <a:p>
            <a:r>
              <a:rPr lang="en-US"/>
              <a:t/>
            </a:r>
          </a:p>
          <a:p>
            <a:r>
              <a:rPr lang="en-US"/>
              <a:t>Entra Password Protection is more or less the industry standard. Or at least that's what it is called today. I fully suspect in two weeks it will be called something like Defender Copilot for Password or some absolute nonsense.</a:t>
            </a:r>
          </a:p>
          <a:p>
            <a:r>
              <a:rPr lang="en-US"/>
              <a:t/>
            </a:r>
          </a:p>
          <a:p>
            <a:r>
              <a:rPr lang="en-US"/>
              <a:t>EPP is great. It is easy to setup and does pretty much what you want it to do. It does require P1 or P2 licenses, or one of the Es but beyond that it is just a proxy server that lives on prem that syncs the password lists from the cloud. AD checks the proxy and you get filtering.</a:t>
            </a:r>
          </a:p>
          <a:p>
            <a:r>
              <a:rPr lang="en-US"/>
              <a:t/>
            </a:r>
          </a:p>
          <a:p>
            <a:r>
              <a:rPr lang="en-US"/>
              <a:t>Moving away from a first party option is Lithnet, a company out of Austrailia that I'm in no way affiliated with. They have some kickass free tools.</a:t>
            </a:r>
          </a:p>
          <a:p>
            <a:r>
              <a:rPr lang="en-US"/>
              <a:t/>
            </a:r>
          </a:p>
          <a:p>
            <a:r>
              <a:rPr lang="en-US"/>
              <a:t>Lithent Password Protection is free. And Open Source. It's less glamorous than EPP but it works. Install it. Run a command to add HaveIBeenPwed and  your set. </a:t>
            </a:r>
          </a:p>
          <a:p>
            <a:r>
              <a:rPr lang="en-US"/>
              <a:t/>
            </a:r>
          </a:p>
          <a:p>
            <a:r>
              <a:rPr lang="en-US"/>
              <a:t>I'll mention them more later. </a:t>
            </a:r>
          </a:p>
          <a:p>
            <a:r>
              <a:rPr lang="en-US"/>
              <a:t/>
            </a:r>
          </a:p>
          <a:p>
            <a:r>
              <a:rPr lang="en-US"/>
              <a:t>This last one is our honorable mention. It is a password filter written by Ryan Ries who is a legend at Microsoft. He wrote this tool ages ago, it works. I should be clear it is NOT an official Microsoft product. He even did some major updates a couple years ago. It's even less polished than Lithnet. </a:t>
            </a:r>
          </a:p>
          <a:p>
            <a:r>
              <a:rPr lang="en-US"/>
              <a:t/>
            </a:r>
          </a:p>
          <a:p>
            <a:r>
              <a:rPr lang="en-US"/>
              <a:t>Resources and References</a:t>
            </a:r>
          </a:p>
          <a:p>
            <a:r>
              <a:rPr lang="en-US"/>
              <a:t>- https://learn.microsoft.com/en-us/windows/win32/secmgmt/password-filters</a:t>
            </a:r>
          </a:p>
          <a:p>
            <a:r>
              <a:rPr lang="en-US"/>
              <a:t/>
            </a:r>
          </a:p>
          <a:p>
            <a:r>
              <a:rPr lang="en-US"/>
              <a:t>- https://learn.microsoft.com/en-us/entra/identity/authentication/concept-password-ban-bad</a:t>
            </a:r>
          </a:p>
          <a:p>
            <a:r>
              <a:rPr lang="en-US"/>
              <a:t/>
            </a:r>
          </a:p>
          <a:p>
            <a:r>
              <a:rPr lang="en-US"/>
              <a:t>- https://github.com/lithnet/ad-password-protection</a:t>
            </a:r>
          </a:p>
          <a:p>
            <a:r>
              <a:rPr lang="en-US"/>
              <a:t/>
            </a:r>
          </a:p>
          <a:p>
            <a:r>
              <a:rPr lang="en-US"/>
              <a:t>- github.com/ryanries/PassFiltEx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minutes</a:t>
            </a:r>
          </a:p>
          <a:p>
            <a:r>
              <a:rPr lang="en-US"/>
              <a:t/>
            </a:r>
          </a:p>
          <a:p>
            <a:r>
              <a:rPr lang="en-US"/>
              <a:t>Bad Password lists (also called Password Filters in AD) have been in AD for a long time. They pre-date Azure. </a:t>
            </a:r>
          </a:p>
          <a:p>
            <a:r>
              <a:rPr lang="en-US"/>
              <a:t/>
            </a:r>
          </a:p>
          <a:p>
            <a:r>
              <a:rPr lang="en-US"/>
              <a:t>Based on how the filter's design they can just be simple keyword matches, there are also wildcards, and all kinds of options built into them. They're pretty slick. </a:t>
            </a:r>
          </a:p>
          <a:p>
            <a:r>
              <a:rPr lang="en-US"/>
              <a:t/>
            </a:r>
          </a:p>
          <a:p>
            <a:r>
              <a:rPr lang="en-US"/>
              <a:t>All the different filter types behave more or less the same. You can have lists of known bad passwords (haveibeenpwned) and you can create certain customization to match your needs. </a:t>
            </a:r>
          </a:p>
          <a:p>
            <a:r>
              <a:rPr lang="en-US"/>
              <a:t/>
            </a:r>
          </a:p>
          <a:p>
            <a:r>
              <a:rPr lang="en-US"/>
              <a:t>Entra Password Protection is more or less the industry standard. Or at least that's what it is called today. I fully suspect in two weeks it will be called something like Defender Copilot for Password or some absolute nonsense.</a:t>
            </a:r>
          </a:p>
          <a:p>
            <a:r>
              <a:rPr lang="en-US"/>
              <a:t/>
            </a:r>
          </a:p>
          <a:p>
            <a:r>
              <a:rPr lang="en-US"/>
              <a:t>EPP is great. It is easy to setup and does pretty much what you want it to do. It does require P1 or P2 licenses, or one of the Es but beyond that it is just a proxy server that lives on prem that syncs the password lists from the cloud. AD checks the proxy and you get filtering.</a:t>
            </a:r>
          </a:p>
          <a:p>
            <a:r>
              <a:rPr lang="en-US"/>
              <a:t/>
            </a:r>
          </a:p>
          <a:p>
            <a:r>
              <a:rPr lang="en-US"/>
              <a:t>Moving away from a first party option is Lithnet, a company out of Austrailia that I'm in no way affiliated with. They have some kickass free tools.</a:t>
            </a:r>
          </a:p>
          <a:p>
            <a:r>
              <a:rPr lang="en-US"/>
              <a:t/>
            </a:r>
          </a:p>
          <a:p>
            <a:r>
              <a:rPr lang="en-US"/>
              <a:t>Lithent Password Protection is free. And Open Source. It's less glamorous than EPP but it works. Install it. Run a command to add HaveIBeenPwed and  your set. </a:t>
            </a:r>
          </a:p>
          <a:p>
            <a:r>
              <a:rPr lang="en-US"/>
              <a:t/>
            </a:r>
          </a:p>
          <a:p>
            <a:r>
              <a:rPr lang="en-US"/>
              <a:t>I'll mention them more later. </a:t>
            </a:r>
          </a:p>
          <a:p>
            <a:r>
              <a:rPr lang="en-US"/>
              <a:t/>
            </a:r>
          </a:p>
          <a:p>
            <a:r>
              <a:rPr lang="en-US"/>
              <a:t>This last one is our honorable mention. It is a password filter written by Ryan Ries who is a legend at Microsoft. He wrote this tool ages ago, it works. I should be clear it is NOT an official Microsoft product. He even did some major updates a couple years ago. It's even less polished than Lithnet. </a:t>
            </a:r>
          </a:p>
          <a:p>
            <a:r>
              <a:rPr lang="en-US"/>
              <a:t/>
            </a:r>
          </a:p>
          <a:p>
            <a:r>
              <a:rPr lang="en-US"/>
              <a:t>Resources and References</a:t>
            </a:r>
          </a:p>
          <a:p>
            <a:r>
              <a:rPr lang="en-US"/>
              <a:t>- https://learn.microsoft.com/en-us/windows/win32/secmgmt/password-filters</a:t>
            </a:r>
          </a:p>
          <a:p>
            <a:r>
              <a:rPr lang="en-US"/>
              <a:t/>
            </a:r>
          </a:p>
          <a:p>
            <a:r>
              <a:rPr lang="en-US"/>
              <a:t>- https://learn.microsoft.com/en-us/entra/identity/authentication/concept-password-ban-bad</a:t>
            </a:r>
          </a:p>
          <a:p>
            <a:r>
              <a:rPr lang="en-US"/>
              <a:t/>
            </a:r>
          </a:p>
          <a:p>
            <a:r>
              <a:rPr lang="en-US"/>
              <a:t>- https://github.com/lithnet/ad-password-protection</a:t>
            </a:r>
          </a:p>
          <a:p>
            <a:r>
              <a:rPr lang="en-US"/>
              <a:t/>
            </a:r>
          </a:p>
          <a:p>
            <a:r>
              <a:rPr lang="en-US"/>
              <a:t>- github.com/ryanries/PassFiltEx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minutes</a:t>
            </a:r>
          </a:p>
          <a:p>
            <a:r>
              <a:rPr lang="en-US"/>
              <a:t/>
            </a:r>
          </a:p>
          <a:p>
            <a:r>
              <a:rPr lang="en-US"/>
              <a:t>Bad Password lists (also called Password Filters in AD) have been in AD for a long time. They pre-date Azure. </a:t>
            </a:r>
          </a:p>
          <a:p>
            <a:r>
              <a:rPr lang="en-US"/>
              <a:t/>
            </a:r>
          </a:p>
          <a:p>
            <a:r>
              <a:rPr lang="en-US"/>
              <a:t>Based on how the filter's design they can just be simple keyword matches, there are also wildcards, and all kinds of options built into them. They're pretty slick. </a:t>
            </a:r>
          </a:p>
          <a:p>
            <a:r>
              <a:rPr lang="en-US"/>
              <a:t/>
            </a:r>
          </a:p>
          <a:p>
            <a:r>
              <a:rPr lang="en-US"/>
              <a:t>All the different filter types behave more or less the same. You can have lists of known bad passwords (haveibeenpwned) and you can create certain customization to match your needs. </a:t>
            </a:r>
          </a:p>
          <a:p>
            <a:r>
              <a:rPr lang="en-US"/>
              <a:t/>
            </a:r>
          </a:p>
          <a:p>
            <a:r>
              <a:rPr lang="en-US"/>
              <a:t>Entra Password Protection is more or less the industry standard. Or at least that's what it is called today. I fully suspect in two weeks it will be called something like Defender Copilot for Password or some absolute nonsense.</a:t>
            </a:r>
          </a:p>
          <a:p>
            <a:r>
              <a:rPr lang="en-US"/>
              <a:t/>
            </a:r>
          </a:p>
          <a:p>
            <a:r>
              <a:rPr lang="en-US"/>
              <a:t>EPP is great. It is easy to setup and does pretty much what you want it to do. It does require P1 or P2 licenses, or one of the Es but beyond that it is just a proxy server that lives on prem that syncs the password lists from the cloud. AD checks the proxy and you get filtering.</a:t>
            </a:r>
          </a:p>
          <a:p>
            <a:r>
              <a:rPr lang="en-US"/>
              <a:t/>
            </a:r>
          </a:p>
          <a:p>
            <a:r>
              <a:rPr lang="en-US"/>
              <a:t>Moving away from a first party option is Lithnet, a company out of Austrailia that I'm in no way affiliated with. They have some kickass free tools.</a:t>
            </a:r>
          </a:p>
          <a:p>
            <a:r>
              <a:rPr lang="en-US"/>
              <a:t/>
            </a:r>
          </a:p>
          <a:p>
            <a:r>
              <a:rPr lang="en-US"/>
              <a:t>Lithent Password Protection is free. And Open Source. It's less glamorous than EPP but it works. Install it. Run a command to add HaveIBeenPwed and  your set. </a:t>
            </a:r>
          </a:p>
          <a:p>
            <a:r>
              <a:rPr lang="en-US"/>
              <a:t/>
            </a:r>
          </a:p>
          <a:p>
            <a:r>
              <a:rPr lang="en-US"/>
              <a:t>I'll mention them more later. </a:t>
            </a:r>
          </a:p>
          <a:p>
            <a:r>
              <a:rPr lang="en-US"/>
              <a:t/>
            </a:r>
          </a:p>
          <a:p>
            <a:r>
              <a:rPr lang="en-US"/>
              <a:t>This last one is our honorable mention. It is a password filter written by Ryan Ries who is a legend at Microsoft. He wrote this tool ages ago, it works. I should be clear it is NOT an official Microsoft product. He even did some major updates a couple years ago. It's even less polished than Lithnet. </a:t>
            </a:r>
          </a:p>
          <a:p>
            <a:r>
              <a:rPr lang="en-US"/>
              <a:t/>
            </a:r>
          </a:p>
          <a:p>
            <a:r>
              <a:rPr lang="en-US"/>
              <a:t>Resources and References</a:t>
            </a:r>
          </a:p>
          <a:p>
            <a:r>
              <a:rPr lang="en-US"/>
              <a:t>- https://learn.microsoft.com/en-us/windows/win32/secmgmt/password-filters</a:t>
            </a:r>
          </a:p>
          <a:p>
            <a:r>
              <a:rPr lang="en-US"/>
              <a:t/>
            </a:r>
          </a:p>
          <a:p>
            <a:r>
              <a:rPr lang="en-US"/>
              <a:t>- https://learn.microsoft.com/en-us/entra/identity/authentication/concept-password-ban-bad</a:t>
            </a:r>
          </a:p>
          <a:p>
            <a:r>
              <a:rPr lang="en-US"/>
              <a:t/>
            </a:r>
          </a:p>
          <a:p>
            <a:r>
              <a:rPr lang="en-US"/>
              <a:t>- https://github.com/lithnet/ad-password-protection</a:t>
            </a:r>
          </a:p>
          <a:p>
            <a:r>
              <a:rPr lang="en-US"/>
              <a:t/>
            </a:r>
          </a:p>
          <a:p>
            <a:r>
              <a:rPr lang="en-US"/>
              <a:t>- github.com/ryanries/PassFiltEx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a:t>
            </a:r>
          </a:p>
          <a:p>
            <a:r>
              <a:rPr lang="en-US"/>
              <a:t/>
            </a:r>
          </a:p>
          <a:p>
            <a:r>
              <a:rPr lang="en-US"/>
              <a:t>MFA in many of it's on-prem implementations is really security theatre. </a:t>
            </a:r>
          </a:p>
          <a:p>
            <a:r>
              <a:rPr lang="en-US"/>
              <a:t/>
            </a:r>
          </a:p>
          <a:p>
            <a:r>
              <a:rPr lang="en-US"/>
              <a:t>AD doesn't have any native MFA options on-prem. You have to go with a third party and they usually either function one of two ways. </a:t>
            </a:r>
          </a:p>
          <a:p>
            <a:r>
              <a:rPr lang="en-US"/>
              <a:t/>
            </a:r>
          </a:p>
          <a:p>
            <a:r>
              <a:rPr lang="en-US"/>
              <a:t>1. They just secure RDP which, I'm sure all the Pentesters in the room will tell me is 100% the only way to breach an environment. </a:t>
            </a:r>
          </a:p>
          <a:p>
            <a:r>
              <a:rPr lang="en-US"/>
              <a:t/>
            </a:r>
          </a:p>
          <a:p>
            <a:r>
              <a:rPr lang="en-US"/>
              <a:t>2. They require kernel-level process hooks which introduces some severe instability to Windows so you introduce operation risk. </a:t>
            </a:r>
          </a:p>
          <a:p>
            <a:r>
              <a:rPr lang="en-US"/>
              <a:t/>
            </a:r>
          </a:p>
          <a:p>
            <a:r>
              <a:rPr lang="en-US"/>
              <a:t>Auditors like their tools and insurance has to check boxes so we may have to have something. </a:t>
            </a:r>
          </a:p>
          <a:p>
            <a:r>
              <a:rPr lang="en-US"/>
              <a:t/>
            </a:r>
          </a:p>
          <a:p>
            <a:r>
              <a:rPr lang="en-US"/>
              <a:t>- Duo supports some trial accounts with limited features. This only protects the front door (RDP) and leaves other areas exposed.</a:t>
            </a:r>
          </a:p>
          <a:p>
            <a:r>
              <a:rPr lang="en-US"/>
              <a:t/>
            </a:r>
          </a:p>
          <a:p>
            <a:r>
              <a:rPr lang="en-US"/>
              <a:t>- Entra MFA (for cloud solutions) since super privilege accounts shouldn't be synced, this is limited. There are some options in my notes. </a:t>
            </a:r>
          </a:p>
          <a:p>
            <a:r>
              <a:rPr lang="en-US"/>
              <a:t/>
            </a:r>
          </a:p>
          <a:p>
            <a:r>
              <a:rPr lang="en-US"/>
              <a:t>- Cert-based Auth. This is MFA without the traditional push notification and "enter the number". This is just certificate-based auth. Problem here is the PKI side of it, hardware tokens, and auditors don't get it so they may flag it.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Fine Grained Password Policies Don't cost anything. They can be deployed to add a more (or less) restrictive password and lockout policy to any user or group. Keep an eye on the Precedence, smaller the number the more priority it has. </a:t>
            </a:r>
          </a:p>
          <a:p>
            <a:r>
              <a:rPr lang="en-US"/>
              <a:t/>
            </a:r>
          </a:p>
          <a:p>
            <a:r>
              <a:rPr lang="en-US"/>
              <a:t>- Complexity - If you have a sufficiently long password and are encouraging pass phrases, get rid of Complexity. I leave it on in a FGPP for super-admins (Domain Admins, etc.).</a:t>
            </a:r>
          </a:p>
          <a:p>
            <a:r>
              <a:rPr lang="en-US"/>
              <a:t/>
            </a:r>
          </a:p>
          <a:p>
            <a:r>
              <a:rPr lang="en-US"/>
              <a:t>- Password Length: 16 characters or bust. 21 for privileged accounts and 32 for service accounts. </a:t>
            </a:r>
          </a:p>
          <a:p>
            <a:r>
              <a:rPr lang="en-US"/>
              <a:t/>
            </a:r>
          </a:p>
          <a:p>
            <a:r>
              <a:rPr lang="en-US"/>
              <a:t>- Password Safes - If you aren't using one, do it. You've probably heard this before, but seriously use something. If you're company doesn't recommend one, get on that. </a:t>
            </a:r>
          </a:p>
          <a:p>
            <a:r>
              <a:rPr lang="en-US"/>
              <a:t/>
            </a:r>
          </a:p>
          <a:p>
            <a:r>
              <a:rPr lang="en-US"/>
              <a:t>- 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a:p>
            <a:r>
              <a:rPr lang="en-US"/>
              <a:t/>
            </a:r>
          </a:p>
          <a:p>
            <a:r>
              <a:rPr lang="en-US"/>
              <a:t>- Deploy and configure a Passord Filtering solution. Any of the ones I listed will get it done. </a:t>
            </a:r>
          </a:p>
          <a:p>
            <a:r>
              <a:rPr lang="en-US"/>
              <a:t/>
            </a:r>
          </a:p>
          <a:p>
            <a:r>
              <a:rPr lang="en-US"/>
              <a:t>- 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Fine Grained Password Policies Don't cost anything. They can be deployed to add a more (or less) restrictive password and lockout policy to any user or group. Keep an eye on the Precedence, smaller the number the more priority it has. </a:t>
            </a:r>
          </a:p>
          <a:p>
            <a:r>
              <a:rPr lang="en-US"/>
              <a:t/>
            </a:r>
          </a:p>
          <a:p>
            <a:r>
              <a:rPr lang="en-US"/>
              <a:t>- Complexity - If you have a sufficiently long password and are encouraging pass phrases, get rid of Complexity. I leave it on in a FGPP for super-admins (Domain Admins, etc.).</a:t>
            </a:r>
          </a:p>
          <a:p>
            <a:r>
              <a:rPr lang="en-US"/>
              <a:t/>
            </a:r>
          </a:p>
          <a:p>
            <a:r>
              <a:rPr lang="en-US"/>
              <a:t>- Password Length: 16 characters or bust. 21 for privileged accounts and 32 for service accounts. </a:t>
            </a:r>
          </a:p>
          <a:p>
            <a:r>
              <a:rPr lang="en-US"/>
              <a:t/>
            </a:r>
          </a:p>
          <a:p>
            <a:r>
              <a:rPr lang="en-US"/>
              <a:t>- Password Safes - If you aren't using one, do it. You've probably heard this before, but seriously use something. If you're company doesn't recommend one, get on that. </a:t>
            </a:r>
          </a:p>
          <a:p>
            <a:r>
              <a:rPr lang="en-US"/>
              <a:t/>
            </a:r>
          </a:p>
          <a:p>
            <a:r>
              <a:rPr lang="en-US"/>
              <a:t>- 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a:p>
            <a:r>
              <a:rPr lang="en-US"/>
              <a:t/>
            </a:r>
          </a:p>
          <a:p>
            <a:r>
              <a:rPr lang="en-US"/>
              <a:t>- Deploy and configure a Passord Filtering solution. Any of the ones I listed will get it done. </a:t>
            </a:r>
          </a:p>
          <a:p>
            <a:r>
              <a:rPr lang="en-US"/>
              <a:t/>
            </a:r>
          </a:p>
          <a:p>
            <a:r>
              <a:rPr lang="en-US"/>
              <a:t>- 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Fine Grained Password Policies Don't cost anything. They can be deployed to add a more (or less) restrictive password and lockout policy to any user or group. Keep an eye on the Precedence, smaller the number the more priority it has. </a:t>
            </a:r>
          </a:p>
          <a:p>
            <a:r>
              <a:rPr lang="en-US"/>
              <a:t/>
            </a:r>
          </a:p>
          <a:p>
            <a:r>
              <a:rPr lang="en-US"/>
              <a:t>- Complexity - If you have a sufficiently long password and are encouraging pass phrases, get rid of Complexity. I leave it on in a FGPP for super-admins (Domain Admins, etc.).</a:t>
            </a:r>
          </a:p>
          <a:p>
            <a:r>
              <a:rPr lang="en-US"/>
              <a:t/>
            </a:r>
          </a:p>
          <a:p>
            <a:r>
              <a:rPr lang="en-US"/>
              <a:t>- Password Length: 16 characters or bust. 21 for privileged accounts and 32 for service accounts. </a:t>
            </a:r>
          </a:p>
          <a:p>
            <a:r>
              <a:rPr lang="en-US"/>
              <a:t/>
            </a:r>
          </a:p>
          <a:p>
            <a:r>
              <a:rPr lang="en-US"/>
              <a:t>- Password Safes - If you aren't using one, do it. You've probably heard this before, but seriously use something. If you're company doesn't recommend one, get on that. </a:t>
            </a:r>
          </a:p>
          <a:p>
            <a:r>
              <a:rPr lang="en-US"/>
              <a:t/>
            </a:r>
          </a:p>
          <a:p>
            <a:r>
              <a:rPr lang="en-US"/>
              <a:t>- 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a:p>
            <a:r>
              <a:rPr lang="en-US"/>
              <a:t/>
            </a:r>
          </a:p>
          <a:p>
            <a:r>
              <a:rPr lang="en-US"/>
              <a:t>- Deploy and configure a Passord Filtering solution. Any of the ones I listed will get it done. </a:t>
            </a:r>
          </a:p>
          <a:p>
            <a:r>
              <a:rPr lang="en-US"/>
              <a:t/>
            </a:r>
          </a:p>
          <a:p>
            <a:r>
              <a:rPr lang="en-US"/>
              <a:t>- 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Fine Grained Password Policies Don't cost anything. They can be deployed to add a more (or less) restrictive password and lockout policy to any user or group. Keep an eye on the Precedence, smaller the number the more priority it has. </a:t>
            </a:r>
          </a:p>
          <a:p>
            <a:r>
              <a:rPr lang="en-US"/>
              <a:t/>
            </a:r>
          </a:p>
          <a:p>
            <a:r>
              <a:rPr lang="en-US"/>
              <a:t>- Complexity - If you have a sufficiently long password and are encouraging pass phrases, get rid of Complexity. I leave it on in a FGPP for super-admins (Domain Admins, etc.).</a:t>
            </a:r>
          </a:p>
          <a:p>
            <a:r>
              <a:rPr lang="en-US"/>
              <a:t/>
            </a:r>
          </a:p>
          <a:p>
            <a:r>
              <a:rPr lang="en-US"/>
              <a:t>- Password Length: 16 characters or bust. 21 for privileged accounts and 32 for service accounts. </a:t>
            </a:r>
          </a:p>
          <a:p>
            <a:r>
              <a:rPr lang="en-US"/>
              <a:t/>
            </a:r>
          </a:p>
          <a:p>
            <a:r>
              <a:rPr lang="en-US"/>
              <a:t>- Password Safes - If you aren't using one, do it. You've probably heard this before, but seriously use something. If you're company doesn't recommend one, get on that. </a:t>
            </a:r>
          </a:p>
          <a:p>
            <a:r>
              <a:rPr lang="en-US"/>
              <a:t/>
            </a:r>
          </a:p>
          <a:p>
            <a:r>
              <a:rPr lang="en-US"/>
              <a:t>- 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a:p>
            <a:r>
              <a:rPr lang="en-US"/>
              <a:t/>
            </a:r>
          </a:p>
          <a:p>
            <a:r>
              <a:rPr lang="en-US"/>
              <a:t>- Deploy and configure a Passord Filtering solution. Any of the ones I listed will get it done. </a:t>
            </a:r>
          </a:p>
          <a:p>
            <a:r>
              <a:rPr lang="en-US"/>
              <a:t/>
            </a:r>
          </a:p>
          <a:p>
            <a:r>
              <a:rPr lang="en-US"/>
              <a:t>- 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Fine Grained Password Policies Don't cost anything. They can be deployed to add a more (or less) restrictive password and lockout policy to any user or group. Keep an eye on the Precedence, smaller the number the more priority it has. </a:t>
            </a:r>
          </a:p>
          <a:p>
            <a:r>
              <a:rPr lang="en-US"/>
              <a:t/>
            </a:r>
          </a:p>
          <a:p>
            <a:r>
              <a:rPr lang="en-US"/>
              <a:t>- Complexity - If you have a sufficiently long password and are encouraging pass phrases, get rid of Complexity. I leave it on in a FGPP for super-admins (Domain Admins, etc.).</a:t>
            </a:r>
          </a:p>
          <a:p>
            <a:r>
              <a:rPr lang="en-US"/>
              <a:t/>
            </a:r>
          </a:p>
          <a:p>
            <a:r>
              <a:rPr lang="en-US"/>
              <a:t>- Password Length: 16 characters or bust. 21 for privileged accounts and 32 for service accounts. </a:t>
            </a:r>
          </a:p>
          <a:p>
            <a:r>
              <a:rPr lang="en-US"/>
              <a:t/>
            </a:r>
          </a:p>
          <a:p>
            <a:r>
              <a:rPr lang="en-US"/>
              <a:t>- Password Safes - If you aren't using one, do it. You've probably heard this before, but seriously use something. If you're company doesn't recommend one, get on that. </a:t>
            </a:r>
          </a:p>
          <a:p>
            <a:r>
              <a:rPr lang="en-US"/>
              <a:t/>
            </a:r>
          </a:p>
          <a:p>
            <a:r>
              <a:rPr lang="en-US"/>
              <a:t>- 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a:p>
            <a:r>
              <a:rPr lang="en-US"/>
              <a:t/>
            </a:r>
          </a:p>
          <a:p>
            <a:r>
              <a:rPr lang="en-US"/>
              <a:t>- Deploy and configure a Passord Filtering solution. Any of the ones I listed will get it done. </a:t>
            </a:r>
          </a:p>
          <a:p>
            <a:r>
              <a:rPr lang="en-US"/>
              <a:t/>
            </a:r>
          </a:p>
          <a:p>
            <a:r>
              <a:rPr lang="en-US"/>
              <a:t>- 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Fine Grained Password Policies Don't cost anything. They can be deployed to add a more (or less) restrictive password and lockout policy to any user or group. Keep an eye on the Precedence, smaller the number the more priority it has. </a:t>
            </a:r>
          </a:p>
          <a:p>
            <a:r>
              <a:rPr lang="en-US"/>
              <a:t/>
            </a:r>
          </a:p>
          <a:p>
            <a:r>
              <a:rPr lang="en-US"/>
              <a:t>- Complexity - If you have a sufficiently long password and are encouraging pass phrases, get rid of Complexity. I leave it on in a FGPP for super-admins (Domain Admins, etc.).</a:t>
            </a:r>
          </a:p>
          <a:p>
            <a:r>
              <a:rPr lang="en-US"/>
              <a:t/>
            </a:r>
          </a:p>
          <a:p>
            <a:r>
              <a:rPr lang="en-US"/>
              <a:t>- Password Length: 16 characters or bust. 21 for privileged accounts and 32 for service accounts. </a:t>
            </a:r>
          </a:p>
          <a:p>
            <a:r>
              <a:rPr lang="en-US"/>
              <a:t/>
            </a:r>
          </a:p>
          <a:p>
            <a:r>
              <a:rPr lang="en-US"/>
              <a:t>- Password Safes - If you aren't using one, do it. You've probably heard this before, but seriously use something. If you're company doesn't recommend one, get on that. </a:t>
            </a:r>
          </a:p>
          <a:p>
            <a:r>
              <a:rPr lang="en-US"/>
              <a:t/>
            </a:r>
          </a:p>
          <a:p>
            <a:r>
              <a:rPr lang="en-US"/>
              <a:t>- 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a:p>
            <a:r>
              <a:rPr lang="en-US"/>
              <a:t/>
            </a:r>
          </a:p>
          <a:p>
            <a:r>
              <a:rPr lang="en-US"/>
              <a:t>- Deploy and configure a Passord Filtering solution. Any of the ones I listed will get it done. </a:t>
            </a:r>
          </a:p>
          <a:p>
            <a:r>
              <a:rPr lang="en-US"/>
              <a:t/>
            </a:r>
          </a:p>
          <a:p>
            <a:r>
              <a:rPr lang="en-US"/>
              <a:t>- 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Fine Grained Password Policies Don't cost anything. They can be deployed to add a more (or less) restrictive password and lockout policy to any user or group. Keep an eye on the Precedence, smaller the number the more priority it has. </a:t>
            </a:r>
          </a:p>
          <a:p>
            <a:r>
              <a:rPr lang="en-US"/>
              <a:t/>
            </a:r>
          </a:p>
          <a:p>
            <a:r>
              <a:rPr lang="en-US"/>
              <a:t>- Complexity - If you have a sufficiently long password and are encouraging pass phrases, get rid of Complexity. I leave it on in a FGPP for super-admins (Domain Admins, etc.).</a:t>
            </a:r>
          </a:p>
          <a:p>
            <a:r>
              <a:rPr lang="en-US"/>
              <a:t/>
            </a:r>
          </a:p>
          <a:p>
            <a:r>
              <a:rPr lang="en-US"/>
              <a:t>- Password Length: 16 characters or bust. 21 for privileged accounts and 32 for service accounts. </a:t>
            </a:r>
          </a:p>
          <a:p>
            <a:r>
              <a:rPr lang="en-US"/>
              <a:t/>
            </a:r>
          </a:p>
          <a:p>
            <a:r>
              <a:rPr lang="en-US"/>
              <a:t>- Password Safes - If you aren't using one, do it. You've probably heard this before, but seriously use something. If you're company doesn't recommend one, get on that. </a:t>
            </a:r>
          </a:p>
          <a:p>
            <a:r>
              <a:rPr lang="en-US"/>
              <a:t/>
            </a:r>
          </a:p>
          <a:p>
            <a:r>
              <a:rPr lang="en-US"/>
              <a:t>- 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a:p>
            <a:r>
              <a:rPr lang="en-US"/>
              <a:t/>
            </a:r>
          </a:p>
          <a:p>
            <a:r>
              <a:rPr lang="en-US"/>
              <a:t>- Deploy and configure a Passord Filtering solution. Any of the ones I listed will get it done. </a:t>
            </a:r>
          </a:p>
          <a:p>
            <a:r>
              <a:rPr lang="en-US"/>
              <a:t/>
            </a:r>
          </a:p>
          <a:p>
            <a:r>
              <a:rPr lang="en-US"/>
              <a:t>- 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Fine Grained Password Policies Don't cost anything. They can be deployed to add a more (or less) restrictive password and lockout policy to any user or group. Keep an eye on the Precedence, smaller the number the more priority it has. </a:t>
            </a:r>
          </a:p>
          <a:p>
            <a:r>
              <a:rPr lang="en-US"/>
              <a:t/>
            </a:r>
          </a:p>
          <a:p>
            <a:r>
              <a:rPr lang="en-US"/>
              <a:t>- Complexity - If you have a sufficiently long password and are encouraging pass phrases, get rid of Complexity. I leave it on in a FGPP for super-admins (Domain Admins, etc.).</a:t>
            </a:r>
          </a:p>
          <a:p>
            <a:r>
              <a:rPr lang="en-US"/>
              <a:t/>
            </a:r>
          </a:p>
          <a:p>
            <a:r>
              <a:rPr lang="en-US"/>
              <a:t>- Password Length: 16 characters or bust. 21 for privileged accounts and 32 for service accounts. </a:t>
            </a:r>
          </a:p>
          <a:p>
            <a:r>
              <a:rPr lang="en-US"/>
              <a:t/>
            </a:r>
          </a:p>
          <a:p>
            <a:r>
              <a:rPr lang="en-US"/>
              <a:t>- Password Safes - If you aren't using one, do it. You've probably heard this before, but seriously use something. If you're company doesn't recommend one, get on that. </a:t>
            </a:r>
          </a:p>
          <a:p>
            <a:r>
              <a:rPr lang="en-US"/>
              <a:t/>
            </a:r>
          </a:p>
          <a:p>
            <a:r>
              <a:rPr lang="en-US"/>
              <a:t>- 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a:p>
            <a:r>
              <a:rPr lang="en-US"/>
              <a:t/>
            </a:r>
          </a:p>
          <a:p>
            <a:r>
              <a:rPr lang="en-US"/>
              <a:t>- Deploy and configure a Passord Filtering solution. Any of the ones I listed will get it done. </a:t>
            </a:r>
          </a:p>
          <a:p>
            <a:r>
              <a:rPr lang="en-US"/>
              <a:t/>
            </a:r>
          </a:p>
          <a:p>
            <a:r>
              <a:rPr lang="en-US"/>
              <a:t>- 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 Fine Grained Password Policies Don't cost anything. They can be deployed to add a more (or less) restrictive password and lockout policy to any user or group. Keep an eye on the Precedence, smaller the number the more priority it has. </a:t>
            </a:r>
          </a:p>
          <a:p>
            <a:r>
              <a:rPr lang="en-US"/>
              <a:t/>
            </a:r>
          </a:p>
          <a:p>
            <a:r>
              <a:rPr lang="en-US"/>
              <a:t>- Complexity - If you have a sufficiently long password and are encouraging pass phrases, get rid of Complexity. I leave it on in a FGPP for super-admins (Domain Admins, etc.).</a:t>
            </a:r>
          </a:p>
          <a:p>
            <a:r>
              <a:rPr lang="en-US"/>
              <a:t/>
            </a:r>
          </a:p>
          <a:p>
            <a:r>
              <a:rPr lang="en-US"/>
              <a:t>- Password Length: 16 characters or bust. 21 for privileged accounts and 32 for service accounts. </a:t>
            </a:r>
          </a:p>
          <a:p>
            <a:r>
              <a:rPr lang="en-US"/>
              <a:t/>
            </a:r>
          </a:p>
          <a:p>
            <a:r>
              <a:rPr lang="en-US"/>
              <a:t>- Password Safes - If you aren't using one, do it. You've probably heard this before, but seriously use something. If you're company doesn't recommend one, get on that. </a:t>
            </a:r>
          </a:p>
          <a:p>
            <a:r>
              <a:rPr lang="en-US"/>
              <a:t/>
            </a:r>
          </a:p>
          <a:p>
            <a:r>
              <a:rPr lang="en-US"/>
              <a:t>- Lockout Policy - 3-5 bad passwords before lockout is the standard. Which is insane and will generate help desk tickets. If you can, I encourage you to use the 15 rule. </a:t>
            </a:r>
          </a:p>
          <a:p>
            <a:r>
              <a:rPr lang="en-US"/>
              <a:t>- 15 tries in 15 minutes gets locked for 15 minutes. </a:t>
            </a:r>
          </a:p>
          <a:p>
            <a:r>
              <a:rPr lang="en-US"/>
              <a:t/>
            </a:r>
          </a:p>
          <a:p>
            <a:r>
              <a:rPr lang="en-US"/>
              <a:t>Scale the first 15 to 25 or 50 if you want to really loosen up. </a:t>
            </a:r>
          </a:p>
          <a:p>
            <a:r>
              <a:rPr lang="en-US"/>
              <a:t/>
            </a:r>
          </a:p>
          <a:p>
            <a:r>
              <a:rPr lang="en-US"/>
              <a:t>- Deploy and configure a Passord Filtering solution. Any of the ones I listed will get it done. </a:t>
            </a:r>
          </a:p>
          <a:p>
            <a:r>
              <a:rPr lang="en-US"/>
              <a:t/>
            </a:r>
          </a:p>
          <a:p>
            <a:r>
              <a:rPr lang="en-US"/>
              <a:t>- Password Expiration - For NON PRIVILEGED ACCOUNTS, get rid of it. For Privileged Users (all) set it to 180 or 365. Make sure you have a break-glass or two (that's monitored). </a:t>
            </a:r>
          </a:p>
          <a:p>
            <a:r>
              <a:rPr lang="en-US"/>
              <a:t/>
            </a:r>
          </a:p>
          <a:p>
            <a:r>
              <a:rPr lang="en-US"/>
              <a:t>I personally think about a yearly graceful reset of all accounts, especially privileged is a good idea but go with you gut on this. Don't cause an outage because your SQL Service Account expired.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Section: 11 min</a:t>
            </a:r>
          </a:p>
          <a:p>
            <a:r>
              <a:rPr lang="en-US"/>
              <a:t>Slide: 1 min</a:t>
            </a:r>
          </a:p>
          <a:p>
            <a:r>
              <a:rPr lang="en-US"/>
              <a:t/>
            </a:r>
          </a:p>
          <a:p>
            <a:r>
              <a:rPr lang="en-US"/>
              <a:t>This is where I would normally go on and on about tiering or the Enterprise Access Model for the cloud hipsters in the room.</a:t>
            </a:r>
          </a:p>
          <a:p>
            <a:r>
              <a:rPr lang="en-US"/>
              <a:t/>
            </a:r>
          </a:p>
          <a:p>
            <a:r>
              <a:rPr lang="en-US"/>
              <a:t>Shifting away from those we'll focus on items that don't involve as big of projects that find some actionable targets.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2 min</a:t>
            </a:r>
          </a:p>
          <a:p>
            <a:r>
              <a:rPr lang="en-US"/>
              <a:t/>
            </a:r>
          </a:p>
          <a:p>
            <a:r>
              <a:rPr lang="en-US"/>
              <a:t>I like tiering, I do, but it is well covered. Also, organizations tend to get started and never finishing leaving this dumpster fire of access with no path forward. Without a complete version, there are tons of hidden vulnerabilities and a false sense of security. </a:t>
            </a:r>
          </a:p>
          <a:p>
            <a:r>
              <a:rPr lang="en-US"/>
              <a:t/>
            </a:r>
          </a:p>
          <a:p>
            <a:r>
              <a:rPr lang="en-US"/>
              <a:t>A quick guide to getting started with tiering:</a:t>
            </a:r>
          </a:p>
          <a:p>
            <a:r>
              <a:rPr lang="en-US"/>
              <a:t>1. Tier 0 should be hardened first. This is your domain admins, enterprise admins, global admins, and PKI admins and the like. </a:t>
            </a:r>
          </a:p>
          <a:p>
            <a:r>
              <a:rPr lang="en-US"/>
              <a:t>2. Isolate the users who are Tier 0. Give them separate accounts and secure those accounts.</a:t>
            </a:r>
          </a:p>
          <a:p>
            <a:r>
              <a:rPr lang="en-US"/>
              <a:t>3. Isolate system that are Tier 0 from being managed the same as all the others. </a:t>
            </a:r>
          </a:p>
          <a:p>
            <a:r>
              <a:rPr lang="en-US"/>
              <a:t>4. Find the dependencies. What tools run as system on the Tier 0 systems? Do they need that access? Can they be moved/built in the tier instead?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minutes</a:t>
            </a:r>
          </a:p>
          <a:p>
            <a:r>
              <a:rPr lang="en-US"/>
              <a:t/>
            </a:r>
          </a:p>
          <a:p>
            <a:r>
              <a:rPr lang="en-US"/>
              <a:t>Most organizations do not have an idea of how bad their access is. Many don't even know where to look. 10, 15, or 20 years of AD can lead to a lot of skeletons in the closet. </a:t>
            </a:r>
          </a:p>
          <a:p>
            <a:r>
              <a:rPr lang="en-US"/>
              <a:t/>
            </a:r>
          </a:p>
          <a:p>
            <a:r>
              <a:rPr lang="en-US"/>
              <a:t>Start with looking at stuff that bad stuff tends to happen I put a list on screen. I'm not going to read it, but those are places whose ACLs need attention. </a:t>
            </a:r>
          </a:p>
          <a:p>
            <a:r>
              <a:rPr lang="en-US"/>
              <a:t/>
            </a:r>
          </a:p>
          <a:p>
            <a:r>
              <a:rPr lang="en-US"/>
              <a:t>But what access is concerning? </a:t>
            </a:r>
          </a:p>
          <a:p>
            <a:r>
              <a:rPr lang="en-US"/>
              <a:t>Without being too detailed, focus on Full Control (Generic All), Control Access (CA), and Ownership permissions along with Reset Password. </a:t>
            </a:r>
          </a:p>
          <a:p>
            <a:r>
              <a:rPr lang="en-US"/>
              <a:t/>
            </a:r>
          </a:p>
          <a:p>
            <a:r>
              <a:rPr lang="en-US"/>
              <a:t>There are more permissions and locations. I have some of it in my notes in the deck. </a:t>
            </a:r>
          </a:p>
          <a:p>
            <a:r>
              <a:rPr lang="en-US"/>
              <a:t/>
            </a:r>
          </a:p>
          <a:p>
            <a:r>
              <a:rPr lang="en-US"/>
              <a:t>There are some tools that really help with this. My favorite of the list is probably ADDelegator which is a tool that specifically finds bad settings as they relate to known attacks. AD ACL scan is good as it gives a general overview. There are other tools out there too. Find what works for you and use it. Be warned, they may trip your EDR. </a:t>
            </a:r>
          </a:p>
          <a:p>
            <a:r>
              <a:rPr lang="en-US"/>
              <a:t> </a:t>
            </a:r>
          </a:p>
          <a:p>
            <a:r>
              <a:rPr lang="en-US"/>
              <a:t/>
            </a:r>
          </a:p>
          <a:p>
            <a:r>
              <a:rPr lang="en-US"/>
              <a:t>-- BONUS --</a:t>
            </a:r>
          </a:p>
          <a:p>
            <a:r>
              <a:rPr lang="en-US"/>
              <a:t>Some other permissions to consider are the following permissions.</a:t>
            </a:r>
          </a:p>
          <a:p>
            <a:r>
              <a:rPr lang="en-US"/>
              <a:t>- Replicate Changes</a:t>
            </a:r>
          </a:p>
          <a:p>
            <a:r>
              <a:rPr lang="en-US"/>
              <a:t>- Replicate Changes All</a:t>
            </a:r>
          </a:p>
          <a:p>
            <a:r>
              <a:rPr lang="en-US"/>
              <a:t>- Create permissions</a:t>
            </a:r>
          </a:p>
          <a:p>
            <a:r>
              <a:rPr lang="en-US"/>
              <a:t>- Delete Permissions</a:t>
            </a:r>
          </a:p>
          <a:p>
            <a:r>
              <a:rPr lang="en-US"/>
              <a:t>- WriteProperty to userAccountControl</a:t>
            </a:r>
          </a:p>
          <a:p>
            <a:r>
              <a:rPr lang="en-US"/>
              <a:t/>
            </a:r>
          </a:p>
          <a:p>
            <a:r>
              <a:rPr lang="en-US"/>
              <a:t>All those are permissions that could expose critical information or allow for greater compromise. </a:t>
            </a:r>
          </a:p>
          <a:p>
            <a:r>
              <a:rPr lang="en-US"/>
              <a:t/>
            </a:r>
          </a:p>
          <a:p>
            <a:r>
              <a:rPr lang="en-US"/>
              <a:t>Another tool worth mentioning is the Adalanche tool. It's really powerful but it is almost guaranteed to trip EDR.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2min</a:t>
            </a:r>
          </a:p>
          <a:p>
            <a:r>
              <a:rPr lang="en-US"/>
              <a:t/>
            </a:r>
          </a:p>
          <a:p>
            <a:r>
              <a:rPr lang="en-US"/>
              <a:t>Service Accounts or in the age of clanker agents pretending to be people, I'm supposed to use the term "non-human identities", but I actually am talking about service accounts. </a:t>
            </a:r>
          </a:p>
          <a:p>
            <a:r>
              <a:rPr lang="en-US"/>
              <a:t/>
            </a:r>
          </a:p>
          <a:p>
            <a:r>
              <a:rPr lang="en-US"/>
              <a:t>My definition is any account that either runs a service (Log on as Service / Se???) or any account with a servicePrincipalName (SPN) (pronoucned Spin)</a:t>
            </a:r>
          </a:p>
          <a:p>
            <a:r>
              <a:rPr lang="en-US"/>
              <a:t/>
            </a:r>
          </a:p>
          <a:p>
            <a:r>
              <a:rPr lang="en-US"/>
              <a:t>Loot I'm not here to teach you kerberos... I'd like to but I only have so much time. Check my slides for a quick primer on Kerberos. To keep time, ServicePrincipalNames are how services identify themselves on the network. They consist of a protocol, an address, and a port (e.g.; MSSQL\MyDBServer01$:1633).</a:t>
            </a:r>
          </a:p>
          <a:p>
            <a:r>
              <a:rPr lang="en-US"/>
              <a:t/>
            </a:r>
          </a:p>
          <a:p>
            <a:r>
              <a:rPr lang="en-US"/>
              <a:t>There are a number of attacks that bad service accounts can cause, and, again, I can't list them all here. Most often these attacks derive from either credential harvesting, bad passwords, or lack of access controls.</a:t>
            </a:r>
          </a:p>
          <a:p>
            <a:r>
              <a:rPr lang="en-US"/>
              <a:t/>
            </a:r>
          </a:p>
          <a:p>
            <a:r>
              <a:rPr lang="en-US"/>
              <a:t>Service accounts run services and pretty quick become the backbone of the network. SQL is the one I always go on because I think most everyone has at least one story of SQL going down and it being a bad day. </a:t>
            </a:r>
          </a:p>
          <a:p>
            <a:r>
              <a:rPr lang="en-US"/>
              <a:t/>
            </a:r>
          </a:p>
          <a:p>
            <a:r>
              <a:rPr lang="en-US"/>
              <a:t>With Service Accounts being instantly critical to the enterprise that means excuses and exceptions pop up and you get accounts who haven't had their password reset in 25 years. 25 years ago things were different. Security was a little different than it is today. </a:t>
            </a:r>
          </a:p>
          <a:p>
            <a:r>
              <a:rPr lang="en-US"/>
              <a:t/>
            </a:r>
          </a:p>
          <a:p>
            <a:r>
              <a:rPr lang="en-US"/>
              <a:t>On top of that, since it is critical there is a good chance the service account has "Password Never Expires" set on it. Which isn't a bad thing. The bad part is there was never an administrative control to come back, audit those, and ensure they get manually reset in a controlled fashion. </a:t>
            </a:r>
          </a:p>
          <a:p>
            <a:r>
              <a:rPr lang="en-US"/>
              <a:t/>
            </a:r>
          </a:p>
          <a:p>
            <a:r>
              <a:rPr lang="en-US"/>
              <a:t>This is amplified by the fact that service accounts, but nature are privileged accounts. They tend to be able to do stuff that we wouldn't just want rank-and-file users to do. So now we have a old password, on a privileged account.</a:t>
            </a:r>
          </a:p>
          <a:p>
            <a:r>
              <a:rPr lang="en-US"/>
              <a:t/>
            </a:r>
          </a:p>
          <a:p>
            <a:r>
              <a:rPr lang="en-US"/>
              <a:t>find any account whose password hasn't been reset in over a year. Coordinate with those teams and reset the passwords.</a:t>
            </a:r>
          </a:p>
          <a:p>
            <a:r>
              <a:rPr lang="en-US"/>
              <a:t/>
            </a:r>
          </a:p>
          <a:p>
            <a:r>
              <a:rPr lang="en-US"/>
              <a:t>When you identify something is truly a service account, mark it as such so this becomes easier later. </a:t>
            </a:r>
          </a:p>
          <a:p>
            <a:r>
              <a:rPr lang="en-US"/>
              <a:t>- There is an attribute in AD called flags that isn't used. It is an integer, so treat it like an enum and make every service account increment that field by +8192. </a:t>
            </a:r>
          </a:p>
          <a:p>
            <a:r>
              <a:rPr lang="en-US"/>
              <a:t>- Another field is attribute is employeeType. This one is a string. Just put Service Account in there. </a:t>
            </a:r>
          </a:p>
          <a:p>
            <a:r>
              <a:rPr lang="en-US"/>
              <a:t>- If those are used, you'll have to get creative. </a:t>
            </a:r>
          </a:p>
          <a:p>
            <a:r>
              <a:rPr lang="en-US"/>
              <a:t/>
            </a:r>
          </a:p>
          <a:p>
            <a:r>
              <a:rPr lang="en-US"/>
              <a:t>Next, find any account that ISN'T a computer or a known service account that has a servicePrincipalName and either make it a service account or get it a dedicated service account to run that service. Then go in and block everyone but actual service accounts from Log on as Service. </a:t>
            </a:r>
          </a:p>
          <a:p>
            <a:r>
              <a:rPr lang="en-US"/>
              <a:t>`Get-ADUser -LDAPFilter "(servicePrincipalName=*)`</a:t>
            </a:r>
          </a:p>
          <a:p>
            <a:r>
              <a:rPr lang="en-US"/>
              <a:t>Alternatively if you did use the employee type...</a:t>
            </a:r>
          </a:p>
          <a:p>
            <a:r>
              <a:rPr lang="en-US"/>
              <a:t>`Get-ADUser -LDAPFilter "(&amp;(servicePrincipalName=*)(employeeType=ServiceAccount))`</a:t>
            </a:r>
          </a:p>
          <a:p>
            <a:r>
              <a:rPr lang="en-US"/>
              <a:t/>
            </a:r>
          </a:p>
          <a:p>
            <a:r>
              <a:rPr lang="en-US"/>
              <a:t>Cap it all off with the fact that a particular segment of attacks exploits vulnerable passwords to generate arbitrary kerberos authorizations (yep, authorizations) \[Kerberosting] and next thing you know that business critical service account has become a critical vulnerability. </a:t>
            </a:r>
          </a:p>
          <a:p>
            <a:r>
              <a:rPr lang="en-US"/>
              <a:t/>
            </a:r>
          </a:p>
          <a:p>
            <a:r>
              <a:rPr lang="en-US"/>
              <a:t>-- REFERENCE</a:t>
            </a:r>
          </a:p>
          <a:p>
            <a:r>
              <a:rPr lang="en-US"/>
              <a:t>- https://www.hipconf.com/resources/how-to-protect-machine-identities/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2min</a:t>
            </a:r>
          </a:p>
          <a:p>
            <a:r>
              <a:rPr lang="en-US"/>
              <a:t/>
            </a:r>
          </a:p>
          <a:p>
            <a:r>
              <a:rPr lang="en-US"/>
              <a:t>Service Accounts or in the age of clanker agents pretending to be people, I'm supposed to use the term "non-human identities", but I actually am talking about service accounts. </a:t>
            </a:r>
          </a:p>
          <a:p>
            <a:r>
              <a:rPr lang="en-US"/>
              <a:t/>
            </a:r>
          </a:p>
          <a:p>
            <a:r>
              <a:rPr lang="en-US"/>
              <a:t>My definition is any account that either runs a service (Log on as Service / Se???) or any account with a servicePrincipalName (SPN) (pronoucned Spin)</a:t>
            </a:r>
          </a:p>
          <a:p>
            <a:r>
              <a:rPr lang="en-US"/>
              <a:t/>
            </a:r>
          </a:p>
          <a:p>
            <a:r>
              <a:rPr lang="en-US"/>
              <a:t>Loot I'm not here to teach you kerberos... I'd like to but I only have so much time. Check my slides for a quick primer on Kerberos. To keep time, ServicePrincipalNames are how services identify themselves on the network. They consist of a protocol, an address, and a port (e.g.; MSSQL\MyDBServer01$:1633).</a:t>
            </a:r>
          </a:p>
          <a:p>
            <a:r>
              <a:rPr lang="en-US"/>
              <a:t/>
            </a:r>
          </a:p>
          <a:p>
            <a:r>
              <a:rPr lang="en-US"/>
              <a:t>There are a number of attacks that bad service accounts can cause, and, again, I can't list them all here. Most often these attacks derive from either credential harvesting, bad passwords, or lack of access controls.</a:t>
            </a:r>
          </a:p>
          <a:p>
            <a:r>
              <a:rPr lang="en-US"/>
              <a:t/>
            </a:r>
          </a:p>
          <a:p>
            <a:r>
              <a:rPr lang="en-US"/>
              <a:t>Service accounts run services and pretty quick become the backbone of the network. SQL is the one I always go on because I think most everyone has at least one story of SQL going down and it being a bad day. </a:t>
            </a:r>
          </a:p>
          <a:p>
            <a:r>
              <a:rPr lang="en-US"/>
              <a:t/>
            </a:r>
          </a:p>
          <a:p>
            <a:r>
              <a:rPr lang="en-US"/>
              <a:t>With Service Accounts being instantly critical to the enterprise that means excuses and exceptions pop up and you get accounts who haven't had their password reset in 25 years. 25 years ago things were different. Security was a little different than it is today. </a:t>
            </a:r>
          </a:p>
          <a:p>
            <a:r>
              <a:rPr lang="en-US"/>
              <a:t/>
            </a:r>
          </a:p>
          <a:p>
            <a:r>
              <a:rPr lang="en-US"/>
              <a:t>On top of that, since it is critical there is a good chance the service account has "Password Never Expires" set on it. Which isn't a bad thing. The bad part is there was never an administrative control to come back, audit those, and ensure they get manually reset in a controlled fashion. </a:t>
            </a:r>
          </a:p>
          <a:p>
            <a:r>
              <a:rPr lang="en-US"/>
              <a:t/>
            </a:r>
          </a:p>
          <a:p>
            <a:r>
              <a:rPr lang="en-US"/>
              <a:t>This is amplified by the fact that service accounts, but nature are privileged accounts. They tend to be able to do stuff that we wouldn't just want rank-and-file users to do. So now we have a old password, on a privileged account.</a:t>
            </a:r>
          </a:p>
          <a:p>
            <a:r>
              <a:rPr lang="en-US"/>
              <a:t/>
            </a:r>
          </a:p>
          <a:p>
            <a:r>
              <a:rPr lang="en-US"/>
              <a:t>find any account whose password hasn't been reset in over a year. Coordinate with those teams and reset the passwords.</a:t>
            </a:r>
          </a:p>
          <a:p>
            <a:r>
              <a:rPr lang="en-US"/>
              <a:t/>
            </a:r>
          </a:p>
          <a:p>
            <a:r>
              <a:rPr lang="en-US"/>
              <a:t>When you identify something is truly a service account, mark it as such so this becomes easier later. </a:t>
            </a:r>
          </a:p>
          <a:p>
            <a:r>
              <a:rPr lang="en-US"/>
              <a:t>- There is an attribute in AD called flags that isn't used. It is an integer, so treat it like an enum and make every service account increment that field by +8192. </a:t>
            </a:r>
          </a:p>
          <a:p>
            <a:r>
              <a:rPr lang="en-US"/>
              <a:t>- Another field is attribute is employeeType. This one is a string. Just put Service Account in there. </a:t>
            </a:r>
          </a:p>
          <a:p>
            <a:r>
              <a:rPr lang="en-US"/>
              <a:t>- If those are used, you'll have to get creative. </a:t>
            </a:r>
          </a:p>
          <a:p>
            <a:r>
              <a:rPr lang="en-US"/>
              <a:t/>
            </a:r>
          </a:p>
          <a:p>
            <a:r>
              <a:rPr lang="en-US"/>
              <a:t>Next, find any account that ISN'T a computer or a known service account that has a servicePrincipalName and either make it a service account or get it a dedicated service account to run that service. Then go in and block everyone but actual service accounts from Log on as Service. </a:t>
            </a:r>
          </a:p>
          <a:p>
            <a:r>
              <a:rPr lang="en-US"/>
              <a:t>`Get-ADUser -LDAPFilter "(servicePrincipalName=*)`</a:t>
            </a:r>
          </a:p>
          <a:p>
            <a:r>
              <a:rPr lang="en-US"/>
              <a:t>Alternatively if you did use the employee type...</a:t>
            </a:r>
          </a:p>
          <a:p>
            <a:r>
              <a:rPr lang="en-US"/>
              <a:t>`Get-ADUser -LDAPFilter "(&amp;(servicePrincipalName=*)(employeeType=ServiceAccount))`</a:t>
            </a:r>
          </a:p>
          <a:p>
            <a:r>
              <a:rPr lang="en-US"/>
              <a:t/>
            </a:r>
          </a:p>
          <a:p>
            <a:r>
              <a:rPr lang="en-US"/>
              <a:t>Cap it all off with the fact that a particular segment of attacks exploits vulnerable passwords to generate arbitrary kerberos authorizations (yep, authorizations) \[Kerberosting] and next thing you know that business critical service account has become a critical vulnerability. </a:t>
            </a:r>
          </a:p>
          <a:p>
            <a:r>
              <a:rPr lang="en-US"/>
              <a:t/>
            </a:r>
          </a:p>
          <a:p>
            <a:r>
              <a:rPr lang="en-US"/>
              <a:t>-- REFERENCE</a:t>
            </a:r>
          </a:p>
          <a:p>
            <a:r>
              <a:rPr lang="en-US"/>
              <a:t>- https://www.hipconf.com/resources/how-to-protect-machine-identities/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a:t>
            </a:r>
          </a:p>
          <a:p>
            <a:r>
              <a:rPr lang="en-US"/>
              <a:t/>
            </a:r>
          </a:p>
          <a:p>
            <a:r>
              <a:rPr lang="en-US"/>
              <a:t>I'm skipping right over standalone MSAs as they really aren't used. They're mostly gMSAs that only work on single systems and aren't nearly as useful so they don't get much love. </a:t>
            </a:r>
          </a:p>
          <a:p>
            <a:r>
              <a:rPr lang="en-US"/>
              <a:t/>
            </a:r>
          </a:p>
          <a:p>
            <a:r>
              <a:rPr lang="en-US"/>
              <a:t>I hate the naming of these. Microsoft loves "Group" when it really already used that word. </a:t>
            </a:r>
          </a:p>
          <a:p>
            <a:r>
              <a:rPr lang="en-US"/>
              <a:t/>
            </a:r>
          </a:p>
          <a:p>
            <a:r>
              <a:rPr lang="en-US"/>
              <a:t>The big features of gMSAs</a:t>
            </a:r>
          </a:p>
          <a:p>
            <a:r>
              <a:rPr lang="en-US"/>
              <a:t>- Self-Managed Psswords (No know one even knows it)</a:t>
            </a:r>
          </a:p>
          <a:p>
            <a:r>
              <a:rPr lang="en-US"/>
              <a:t>- Self-SPN management.</a:t>
            </a:r>
          </a:p>
          <a:p>
            <a:r>
              <a:rPr lang="en-US"/>
              <a:t>- Not easily Kerbroastable (Can't be spoofed)</a:t>
            </a:r>
          </a:p>
          <a:p>
            <a:r>
              <a:rPr lang="en-US"/>
              <a:t>- Non-Interactive</a:t>
            </a:r>
          </a:p>
          <a:p>
            <a:r>
              <a:rPr lang="en-US"/>
              <a:t/>
            </a:r>
          </a:p>
          <a:p>
            <a:r>
              <a:rPr lang="en-US"/>
              <a:t>These, as compared to the standalone MSAs, can be used on multiple systems. This is done through an attribute that effectively includes every system allowed to retrieve their password, which is stored and encrypted in some fun ways on the account. </a:t>
            </a:r>
          </a:p>
          <a:p>
            <a:r>
              <a:rPr lang="en-US"/>
              <a:t/>
            </a:r>
          </a:p>
          <a:p>
            <a:r>
              <a:rPr lang="en-US"/>
              <a:t>You 100% should be using gMSAs. No excuses. They can be used on multiple computers, they manage their own passwords, they can be access controlled with groups, they manage their own SPNs (usually), and so on. They're awesome. </a:t>
            </a:r>
          </a:p>
          <a:p>
            <a:r>
              <a:rPr lang="en-US"/>
              <a:t/>
            </a:r>
          </a:p>
          <a:p>
            <a:r>
              <a:rPr lang="en-US"/>
              <a:t>The biggest downsides to these is you have to make sure you control the setting that allows for retrieving the managed password and keep the riff-raff out, they do not work with other operating systems (officially), and some apps want to have a physical password so they don't support gMSAs. This last one is surprising common considering how long gMSAs have been kicking around already. </a:t>
            </a:r>
          </a:p>
          <a:p>
            <a:r>
              <a:rPr lang="en-US"/>
              <a:t/>
            </a:r>
          </a:p>
          <a:p>
            <a:r>
              <a:rPr lang="en-US"/>
              <a:t>They aren't perfect and they can still be abused, but they reduce the attack surface on those accounts significantly. I highly recommend using them wherever you can.</a:t>
            </a:r>
          </a:p>
          <a:p>
            <a:r>
              <a:rPr lang="en-US"/>
              <a:t/>
            </a:r>
          </a:p>
          <a:p>
            <a:r>
              <a:rPr lang="en-US"/>
              <a:t>### dMSAs = Delegated Managed Service Accounts</a:t>
            </a:r>
          </a:p>
          <a:p>
            <a:r>
              <a:rPr lang="en-US"/>
              <a:t>Okay, I want to mention these because they are straight up black magic and love it. These take gMSAs to a whole new level.</a:t>
            </a:r>
          </a:p>
          <a:p>
            <a:r>
              <a:rPr lang="en-US"/>
              <a:t/>
            </a:r>
          </a:p>
          <a:p>
            <a:r>
              <a:rPr lang="en-US"/>
              <a:t>I'm not going to go super in depth on these as 1) I have only tested them in labs and 2) they're so new that really very few people are going to be looking at them yet. In my notes there is a link to a talk at HIP 2025 where an MVP goes into detail on all the MSA types that is straight gold. </a:t>
            </a:r>
          </a:p>
          <a:p>
            <a:r>
              <a:rPr lang="en-US"/>
              <a:t/>
            </a:r>
          </a:p>
          <a:p>
            <a:r>
              <a:rPr lang="en-US"/>
              <a:t>dMSAs require Server 2025 and the new Server 2025 functional levels in Active Directory. Yes Microsoft is still putting effort into AD after all these years. We're not dead yet!</a:t>
            </a:r>
          </a:p>
          <a:p>
            <a:r>
              <a:rPr lang="en-US"/>
              <a:t/>
            </a:r>
          </a:p>
          <a:p>
            <a:r>
              <a:rPr lang="en-US"/>
              <a:t>That is honestly their major downside. Well that and BadSuccessor which was a pretty gnarly vulnerability that came out for them like right after they were released. The vulnerability is improper access controls in AD so with proper access controls it is heavily mitigated. </a:t>
            </a:r>
          </a:p>
          <a:p>
            <a:r>
              <a:rPr lang="en-US"/>
              <a:t/>
            </a:r>
          </a:p>
          <a:p>
            <a:r>
              <a:rPr lang="en-US"/>
              <a:t>The short version of them is that look and behave similar to gMSAs except they are linked to a traditional (full user) service account. Whenever that service account's password is authenticated on the network, AD intercepts that and does a validation of the machine identity and some other wizardry. If it passes, AD swaps the access using the dMSA behind the scenes and does the authentication. Effectively this gives the same effect of having a gMSA without the trouble of actually setting up on end systems. </a:t>
            </a:r>
          </a:p>
          <a:p>
            <a:r>
              <a:rPr lang="en-US"/>
              <a:t/>
            </a:r>
          </a:p>
          <a:p>
            <a:r>
              <a:rPr lang="en-US"/>
              <a:t>I encourage you to keep an eye on dMSAs as much as you can and get comfortable with them.</a:t>
            </a:r>
          </a:p>
          <a:p>
            <a:r>
              <a:rPr lang="en-US"/>
              <a:t/>
            </a:r>
          </a:p>
          <a:p>
            <a:r>
              <a:rPr lang="en-US"/>
              <a:t>-- REFERENCES</a:t>
            </a:r>
          </a:p>
          <a:p>
            <a:r>
              <a:rPr lang="en-US"/>
              <a:t/>
            </a:r>
          </a:p>
          <a:p>
            <a:r>
              <a:rPr lang="en-US"/>
              <a:t>- https://www.hipconf.com/resources/demystifying-managed-service-accounts-best-practices-security-measures-to-reduce-risk-and-impact/</a:t>
            </a:r>
          </a:p>
          <a:p>
            <a:r>
              <a:rPr lang="en-US"/>
              <a:t/>
            </a:r>
          </a:p>
          <a:p>
            <a:r>
              <a:rPr lang="en-US"/>
              <a:t>gMSA Reference</a:t>
            </a:r>
          </a:p>
          <a:p>
            <a:r>
              <a:rPr lang="en-US"/>
              <a:t>- https://learn.microsoft.com/en-us/windows-server/identity/ad-ds/manage/group-managed-service-accounts/group-managed-service-accounts/group-managed-service-accounts-overview</a:t>
            </a:r>
          </a:p>
          <a:p>
            <a:r>
              <a:rPr lang="en-US"/>
              <a:t/>
            </a:r>
          </a:p>
          <a:p>
            <a:r>
              <a:rPr lang="en-US"/>
              <a:t>dMSA References</a:t>
            </a:r>
          </a:p>
          <a:p>
            <a:r>
              <a:rPr lang="en-US"/>
              <a:t>- https://learn.microsoft.com/en-us/windows-server/identity/ad-ds/manage/delegated-managed-service-accounts/delegated-managed-service-accounts-overview</a:t>
            </a:r>
          </a:p>
          <a:p>
            <a:r>
              <a:rPr lang="en-US"/>
              <a:t/>
            </a:r>
          </a:p>
          <a:p>
            <a:r>
              <a:rPr lang="en-US"/>
              <a:t>- https://jorgequestforknowledge.wordpress.com/2025/07/11/how-to-block-badsuccessor-the-good-bad-and-ugly-of-dmsa-migration/</a:t>
            </a:r>
          </a:p>
          <a:p>
            <a:r>
              <a:rPr lang="en-US"/>
              <a:t/>
            </a:r>
          </a:p>
          <a:p>
            <a:r>
              <a:rPr lang="en-US"/>
              <a:t>- https://jorgequestforknowledge.wordpress.com/2025/09/02/from-badsuccessor-to-patchedsuccessor/</a:t>
            </a:r>
          </a:p>
          <a:p>
            <a:r>
              <a:rPr lang="en-US"/>
              <a:t/>
            </a:r>
          </a:p>
          <a:p>
            <a:r>
              <a:rPr lang="en-US"/>
              <a:t>- https://jorgequestforknowledge.wordpress.com/2025/05/25/reviewing-your-delegation-model-before-introducing-w2k25-dcs-and-enhancing-security-due-to-badsuccessor/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3 min</a:t>
            </a:r>
          </a:p>
          <a:p>
            <a:r>
              <a:rPr lang="en-US"/>
              <a:t/>
            </a:r>
          </a:p>
          <a:p>
            <a:r>
              <a:rPr lang="en-US"/>
              <a:t>I'm skipping right over standalone MSAs as they really aren't used. They're mostly gMSAs that only work on single systems and aren't nearly as useful so they don't get much love. </a:t>
            </a:r>
          </a:p>
          <a:p>
            <a:r>
              <a:rPr lang="en-US"/>
              <a:t/>
            </a:r>
          </a:p>
          <a:p>
            <a:r>
              <a:rPr lang="en-US"/>
              <a:t>I hate the naming of these. Microsoft loves "Group" when it really already used that word. </a:t>
            </a:r>
          </a:p>
          <a:p>
            <a:r>
              <a:rPr lang="en-US"/>
              <a:t/>
            </a:r>
          </a:p>
          <a:p>
            <a:r>
              <a:rPr lang="en-US"/>
              <a:t>The big features of gMSAs</a:t>
            </a:r>
          </a:p>
          <a:p>
            <a:r>
              <a:rPr lang="en-US"/>
              <a:t>- Self-Managed Psswords (No know one even knows it)</a:t>
            </a:r>
          </a:p>
          <a:p>
            <a:r>
              <a:rPr lang="en-US"/>
              <a:t>- Self-SPN management.</a:t>
            </a:r>
          </a:p>
          <a:p>
            <a:r>
              <a:rPr lang="en-US"/>
              <a:t>- Not easily Kerbroastable (Can't be spoofed)</a:t>
            </a:r>
          </a:p>
          <a:p>
            <a:r>
              <a:rPr lang="en-US"/>
              <a:t>- Non-Interactive</a:t>
            </a:r>
          </a:p>
          <a:p>
            <a:r>
              <a:rPr lang="en-US"/>
              <a:t/>
            </a:r>
          </a:p>
          <a:p>
            <a:r>
              <a:rPr lang="en-US"/>
              <a:t>These, as compared to the standalone MSAs, can be used on multiple systems. This is done through an attribute that effectively includes every system allowed to retrieve their password, which is stored and encrypted in some fun ways on the account. </a:t>
            </a:r>
          </a:p>
          <a:p>
            <a:r>
              <a:rPr lang="en-US"/>
              <a:t/>
            </a:r>
          </a:p>
          <a:p>
            <a:r>
              <a:rPr lang="en-US"/>
              <a:t>You 100% should be using gMSAs. No excuses. They can be used on multiple computers, they manage their own passwords, they can be access controlled with groups, they manage their own SPNs (usually), and so on. They're awesome. </a:t>
            </a:r>
          </a:p>
          <a:p>
            <a:r>
              <a:rPr lang="en-US"/>
              <a:t/>
            </a:r>
          </a:p>
          <a:p>
            <a:r>
              <a:rPr lang="en-US"/>
              <a:t>The biggest downsides to these is you have to make sure you control the setting that allows for retrieving the managed password and keep the riff-raff out, they do not work with other operating systems (officially), and some apps want to have a physical password so they don't support gMSAs. This last one is surprising common considering how long gMSAs have been kicking around already. </a:t>
            </a:r>
          </a:p>
          <a:p>
            <a:r>
              <a:rPr lang="en-US"/>
              <a:t/>
            </a:r>
          </a:p>
          <a:p>
            <a:r>
              <a:rPr lang="en-US"/>
              <a:t>They aren't perfect and they can still be abused, but they reduce the attack surface on those accounts significantly. I highly recommend using them wherever you can.</a:t>
            </a:r>
          </a:p>
          <a:p>
            <a:r>
              <a:rPr lang="en-US"/>
              <a:t/>
            </a:r>
          </a:p>
          <a:p>
            <a:r>
              <a:rPr lang="en-US"/>
              <a:t>### dMSAs = Delegated Managed Service Accounts</a:t>
            </a:r>
          </a:p>
          <a:p>
            <a:r>
              <a:rPr lang="en-US"/>
              <a:t>Okay, I want to mention these because they are straight up black magic and love it. These take gMSAs to a whole new level.</a:t>
            </a:r>
          </a:p>
          <a:p>
            <a:r>
              <a:rPr lang="en-US"/>
              <a:t/>
            </a:r>
          </a:p>
          <a:p>
            <a:r>
              <a:rPr lang="en-US"/>
              <a:t>I'm not going to go super in depth on these as 1) I have only tested them in labs and 2) they're so new that really very few people are going to be looking at them yet. In my notes there is a link to a talk at HIP 2025 where an MVP goes into detail on all the MSA types that is straight gold. </a:t>
            </a:r>
          </a:p>
          <a:p>
            <a:r>
              <a:rPr lang="en-US"/>
              <a:t/>
            </a:r>
          </a:p>
          <a:p>
            <a:r>
              <a:rPr lang="en-US"/>
              <a:t>dMSAs require Server 2025 and the new Server 2025 functional levels in Active Directory. Yes Microsoft is still putting effort into AD after all these years. We're not dead yet!</a:t>
            </a:r>
          </a:p>
          <a:p>
            <a:r>
              <a:rPr lang="en-US"/>
              <a:t/>
            </a:r>
          </a:p>
          <a:p>
            <a:r>
              <a:rPr lang="en-US"/>
              <a:t>That is honestly their major downside. Well that and BadSuccessor which was a pretty gnarly vulnerability that came out for them like right after they were released. The vulnerability is improper access controls in AD so with proper access controls it is heavily mitigated. </a:t>
            </a:r>
          </a:p>
          <a:p>
            <a:r>
              <a:rPr lang="en-US"/>
              <a:t/>
            </a:r>
          </a:p>
          <a:p>
            <a:r>
              <a:rPr lang="en-US"/>
              <a:t>The short version of them is that look and behave similar to gMSAs except they are linked to a traditional (full user) service account. Whenever that service account's password is authenticated on the network, AD intercepts that and does a validation of the machine identity and some other wizardry. If it passes, AD swaps the access using the dMSA behind the scenes and does the authentication. Effectively this gives the same effect of having a gMSA without the trouble of actually setting up on end systems. </a:t>
            </a:r>
          </a:p>
          <a:p>
            <a:r>
              <a:rPr lang="en-US"/>
              <a:t/>
            </a:r>
          </a:p>
          <a:p>
            <a:r>
              <a:rPr lang="en-US"/>
              <a:t>I encourage you to keep an eye on dMSAs as much as you can and get comfortable with them.</a:t>
            </a:r>
          </a:p>
          <a:p>
            <a:r>
              <a:rPr lang="en-US"/>
              <a:t/>
            </a:r>
          </a:p>
          <a:p>
            <a:r>
              <a:rPr lang="en-US"/>
              <a:t>-- REFERENCES</a:t>
            </a:r>
          </a:p>
          <a:p>
            <a:r>
              <a:rPr lang="en-US"/>
              <a:t/>
            </a:r>
          </a:p>
          <a:p>
            <a:r>
              <a:rPr lang="en-US"/>
              <a:t>- https://www.hipconf.com/resources/demystifying-managed-service-accounts-best-practices-security-measures-to-reduce-risk-and-impact/</a:t>
            </a:r>
          </a:p>
          <a:p>
            <a:r>
              <a:rPr lang="en-US"/>
              <a:t/>
            </a:r>
          </a:p>
          <a:p>
            <a:r>
              <a:rPr lang="en-US"/>
              <a:t>gMSA Reference</a:t>
            </a:r>
          </a:p>
          <a:p>
            <a:r>
              <a:rPr lang="en-US"/>
              <a:t>- https://learn.microsoft.com/en-us/windows-server/identity/ad-ds/manage/group-managed-service-accounts/group-managed-service-accounts/group-managed-service-accounts-overview</a:t>
            </a:r>
          </a:p>
          <a:p>
            <a:r>
              <a:rPr lang="en-US"/>
              <a:t/>
            </a:r>
          </a:p>
          <a:p>
            <a:r>
              <a:rPr lang="en-US"/>
              <a:t>dMSA References</a:t>
            </a:r>
          </a:p>
          <a:p>
            <a:r>
              <a:rPr lang="en-US"/>
              <a:t>- https://learn.microsoft.com/en-us/windows-server/identity/ad-ds/manage/delegated-managed-service-accounts/delegated-managed-service-accounts-overview</a:t>
            </a:r>
          </a:p>
          <a:p>
            <a:r>
              <a:rPr lang="en-US"/>
              <a:t/>
            </a:r>
          </a:p>
          <a:p>
            <a:r>
              <a:rPr lang="en-US"/>
              <a:t>- https://jorgequestforknowledge.wordpress.com/2025/07/11/how-to-block-badsuccessor-the-good-bad-and-ugly-of-dmsa-migration/</a:t>
            </a:r>
          </a:p>
          <a:p>
            <a:r>
              <a:rPr lang="en-US"/>
              <a:t/>
            </a:r>
          </a:p>
          <a:p>
            <a:r>
              <a:rPr lang="en-US"/>
              <a:t>- https://jorgequestforknowledge.wordpress.com/2025/09/02/from-badsuccessor-to-patchedsuccessor/</a:t>
            </a:r>
          </a:p>
          <a:p>
            <a:r>
              <a:rPr lang="en-US"/>
              <a:t/>
            </a:r>
          </a:p>
          <a:p>
            <a:r>
              <a:rPr lang="en-US"/>
              <a:t>- https://jorgequestforknowledge.wordpress.com/2025/05/25/reviewing-your-delegation-model-before-introducing-w2k25-dcs-and-enhancing-security-due-to-badsuccessor/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
            </a:r>
          </a:p>
          <a:p>
            <a:r>
              <a:rPr lang="en-US"/>
              <a:t>Okay, another show of hands. </a:t>
            </a:r>
          </a:p>
          <a:p>
            <a:r>
              <a:rPr lang="en-US"/>
              <a:t>- Who here has heard of LAPS, Local Administrator Password Solution? </a:t>
            </a:r>
          </a:p>
          <a:p>
            <a:r>
              <a:rPr lang="en-US"/>
              <a:t>- Who here has actually deployed it? </a:t>
            </a:r>
          </a:p>
          <a:p>
            <a:r>
              <a:rPr lang="en-US"/>
              <a:t>- Who here knows Microsoft overhauled it a couple years ago? </a:t>
            </a:r>
          </a:p>
          <a:p>
            <a:r>
              <a:rPr lang="en-US"/>
              <a:t/>
            </a:r>
          </a:p>
          <a:p>
            <a:r>
              <a:rPr lang="en-US"/>
              <a:t>The problem LAPS solves is that organizations are lazy. Every local admin is created with the same local administrator password in provisioning and rarely are they disabled, even then they can be easily un-disabled as part of Windows Recovery. </a:t>
            </a:r>
          </a:p>
          <a:p>
            <a:r>
              <a:rPr lang="en-US"/>
              <a:t/>
            </a:r>
          </a:p>
          <a:p>
            <a:r>
              <a:rPr lang="en-US"/>
              <a:t>LAPS used to be an installation that you had to download and install. Now it is *mostly* included with Windows. LAPS has an agent (transparent now) that coordinates with AD and stores the password in Active Directory for the local admin. AND ONLY THE LOCAL ADMIN (SID-500)</a:t>
            </a:r>
          </a:p>
          <a:p>
            <a:r>
              <a:rPr lang="en-US"/>
              <a:t/>
            </a:r>
          </a:p>
          <a:p>
            <a:r>
              <a:rPr lang="en-US"/>
              <a:t>For this to work you do need to run a command to extend the AD Schema to include the LAPS attributes. This is required whether you use old LAPS or new LAPS but the attributes are different (there's a good reason, even I kind of hate it). It used to be stored plain-text and used access controls to secure it. With New LAPS it is better. </a:t>
            </a:r>
          </a:p>
          <a:p>
            <a:r>
              <a:rPr lang="en-US"/>
              <a:t/>
            </a:r>
          </a:p>
          <a:p>
            <a:r>
              <a:rPr lang="en-US"/>
              <a:t>Another feature worth mentioning with New LAPS is it can be configured to auto-rotate the passwords when they are used rather than just on a schedule. This is a big deal. It's almost like Microsoft knows how to do PAM...</a:t>
            </a:r>
          </a:p>
          <a:p>
            <a:r>
              <a:rPr lang="en-US"/>
              <a:t/>
            </a:r>
          </a:p>
          <a:p>
            <a:r>
              <a:rPr lang="en-US"/>
              <a:t>I have some notes and links in the slides that go into more. The short version of it is, if you're not using LAPS or a LAPS-like solution, you need to start doing that yesterday. It's not hard to manage. </a:t>
            </a:r>
          </a:p>
          <a:p>
            <a:r>
              <a:rPr lang="en-US"/>
              <a:t/>
            </a:r>
          </a:p>
          <a:p>
            <a:r>
              <a:rPr lang="en-US"/>
              <a:t>#### Local Administrator Hardening - Local Admins</a:t>
            </a:r>
          </a:p>
          <a:p>
            <a:r>
              <a:rPr lang="en-US"/>
              <a:t>While we are on the topic of local admins here are a couple of things I am going to recommend to really move that security bar forward. </a:t>
            </a:r>
          </a:p>
          <a:p>
            <a:r>
              <a:rPr lang="en-US"/>
              <a:t/>
            </a:r>
          </a:p>
          <a:p>
            <a:r>
              <a:rPr lang="en-US"/>
              <a:t>1. Remove domain admins, enterprise admins, and the domain builtin administrator account (and group) from all systems' local admins. You can do this with Group Policy. Create other administrative groups and restrict your super-privileged users from logging in everywhere. We'll talk more about this in a minute. </a:t>
            </a:r>
          </a:p>
          <a:p>
            <a:r>
              <a:rPr lang="en-US"/>
              <a:t>2. Remove any users you can from local admins. I know scrooge says that it allows him to have a smaller help desk, but day-to-day users don't need to be full time domain admins. Even if you're nuts and allowing them to look up the LAPS password to do stuff, it is better than them having sitting local admin.</a:t>
            </a:r>
          </a:p>
          <a:p>
            <a:r>
              <a:rPr lang="en-US"/>
              <a:t>#### Tools to Consider</a:t>
            </a:r>
          </a:p>
          <a:p>
            <a:r>
              <a:rPr lang="en-US"/>
              <a:t>Lithnet came up once before in this talk and here they are again. They have a couple of products that I think are worth looking at. </a:t>
            </a:r>
          </a:p>
          <a:p>
            <a:r>
              <a:rPr lang="en-US"/>
              <a:t/>
            </a:r>
          </a:p>
          <a:p>
            <a:r>
              <a:rPr lang="en-US"/>
              <a:t>Lithnet Access Manager has a free mode that is limited but for SMBs it may actually be enough. It can do some access delegations and is really helpful.</a:t>
            </a:r>
          </a:p>
          <a:p>
            <a:r>
              <a:rPr lang="en-US"/>
              <a:t>&gt; MORE? </a:t>
            </a:r>
          </a:p>
          <a:p>
            <a:r>
              <a:rPr lang="en-US"/>
              <a:t/>
            </a:r>
          </a:p>
          <a:p>
            <a:r>
              <a:rPr lang="en-US"/>
              <a:t>Lithnet RapidLAPS is their answer to old LAPS. It adds some features that Microsoft later added in new LAPS, but they also support an app that streamlines a lot of it. It is worth looking into.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a:t>
            </a:r>
          </a:p>
          <a:p>
            <a:r>
              <a:rPr lang="en-US"/>
              <a:t/>
            </a:r>
          </a:p>
          <a:p>
            <a:r>
              <a:rPr lang="en-US"/>
              <a:t>This is not a tiering talk so I'm limiting myself here some. Rather than overdoing it and spending three years failing at doing tiering, start with what can be done and then move onto the harder parts. I have more on this in my notes and in the bonus slides, but here are my top 5 tiering quick wins to keep this on track. </a:t>
            </a:r>
          </a:p>
          <a:p>
            <a:r>
              <a:rPr lang="en-US"/>
              <a:t/>
            </a:r>
          </a:p>
          <a:p>
            <a:r>
              <a:rPr lang="en-US"/>
              <a:t>1. Tier 0 Admins / Control Plane Admins (Domain Admins, Global Admins, etc.) should be split off into separate accounts dedicated to tier 0. No email. No web browsing. Just super admin stuff. </a:t>
            </a:r>
          </a:p>
          <a:p>
            <a:r>
              <a:rPr lang="en-US"/>
              <a:t>2. Isolate your Tier 0 / Control Plane systems as much as you can. Reduce dependencies. Keep non-tier 0 admins off them and harden them. </a:t>
            </a:r>
          </a:p>
          <a:p>
            <a:r>
              <a:rPr lang="en-US"/>
              <a:t>3. Deploy Secure Jump Hosts. Yes, I said jump hosts. Yes, I love PAWs. PAWs are a big project. Jump hosts are training for that project and are better than RDPing to a DC from the system you browse the web from. </a:t>
            </a:r>
          </a:p>
          <a:p>
            <a:r>
              <a:rPr lang="en-US"/>
              <a:t>4. Tier 0 / Control Plane admins need to be members of Protected Users. This group does lots of hardening but can break stuff, especially old stuff. Roll this out slow over a week or two targeting one or two admins at a time. Don't put your break-glass or Builtin\Admin into this. </a:t>
            </a:r>
          </a:p>
          <a:p>
            <a:r>
              <a:rPr lang="en-US"/>
              <a:t>5. If you must have a Tier 0 service account(s), all the tier 0 hardening stuff applies minus Protected Users, MFA, and forced password expirations.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
            </a:r>
          </a:p>
          <a:p>
            <a:r>
              <a:rPr lang="en-US"/>
              <a:t>Here's a final recommendation to make some of it more approachable. I recommend looking at a tool like ForestDruid by Semperis or even Bloodhound Community Edition from SpectreOps to do some Tier 0 attack path mapping. This will help you identify your super admins in AD and start hardening them. </a:t>
            </a:r>
          </a:p>
          <a:p>
            <a:r>
              <a:rPr lang="en-US"/>
              <a:t/>
            </a:r>
          </a:p>
          <a:p>
            <a:r>
              <a:rPr lang="en-US"/>
              <a:t>Note that BloodHound will 100% flag EDR so make sure you're working with your Security teams on this. The same applies to Forest Druid though I haven't seen it trip EDR yet. </a:t>
            </a:r>
          </a:p>
          <a:p>
            <a:r>
              <a:rPr lang="en-US"/>
              <a:t/>
            </a:r>
          </a:p>
          <a:p>
            <a:r>
              <a:rPr lang="en-US"/>
              <a:t>Remember all of this is a start. This isn't intended to be comprehensive, but intended to get you meaningful wins that can actually get done while you're working on long-term solutions.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
            </a:r>
          </a:p>
          <a:p>
            <a:r>
              <a:rPr lang="en-US"/>
              <a:t>There is a Dave Ramsey... I mean Scrooge McDuck approach here that fits. Do what you can get done first. Make sure the items that need time are put in the approval change ASAP to move them.</a:t>
            </a:r>
          </a:p>
          <a:p>
            <a:r>
              <a:rPr lang="en-US"/>
              <a:t/>
            </a:r>
          </a:p>
          <a:p>
            <a:r>
              <a:rPr lang="en-US"/>
              <a:t>1. Backups - Get backups running and stored somewhere. Work on resiliency and immutability of the backups later. Make sure they're secure from unwanted access though. </a:t>
            </a:r>
          </a:p>
          <a:p>
            <a:r>
              <a:rPr lang="en-US"/>
              <a:t>2. Security Baselines - Focus on Low Impact items and High Risk Items First. If it is going to take longer than a week or two to get implemented, get it on a project list. Do your Domain Controllers/T0 first, then workstations, then servers. </a:t>
            </a:r>
          </a:p>
          <a:p>
            <a:r>
              <a:rPr lang="en-US"/>
              <a:t>3. Tier 0 Administrator Hardening - Harden the Tier 0 Admins. This should be a small group (hopefully) and won't have big impacts. This also means give them their own accounts. </a:t>
            </a:r>
          </a:p>
          <a:p>
            <a:r>
              <a:rPr lang="en-US"/>
              <a:t>4. Reset Old Passwords - Find users with passwords older than 365 days. Start working on getting them reset. This defies NIST some but at this point we're thinking these passwords aren't 16 characters. </a:t>
            </a:r>
          </a:p>
          <a:p>
            <a:r>
              <a:rPr lang="en-US"/>
              <a:t>5. Harden Users with Service Principal Names - Either remove the SPN and get them a service account or harden the heck out of that user. This may take some time but it is worth it. </a:t>
            </a:r>
          </a:p>
          <a:p>
            <a:r>
              <a:rPr lang="en-US"/>
              <a:t>6. Deploy LAPS - This really doesn't take long and you can enable per system via GPO so it can be phased in. </a:t>
            </a:r>
          </a:p>
          <a:p>
            <a:r>
              <a:rPr lang="en-US"/>
              <a:t>7. ACL Scans - Start checking for bad ACLs and fixing them. At a minimum know what you have.</a:t>
            </a:r>
          </a:p>
          <a:p>
            <a:r>
              <a:rPr lang="en-US"/>
              <a:t/>
            </a:r>
          </a:p>
          <a:p>
            <a:r>
              <a:rPr lang="en-US"/>
              <a:t>Most of those items are fairly low barriers to start. They may take a week or two to get running but you will get wins.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Once you've finished the items I've already talked about or have them rolling forward start thinking of where to go. </a:t>
            </a:r>
          </a:p>
          <a:p>
            <a:r>
              <a:rPr lang="en-US"/>
              <a:t/>
            </a:r>
          </a:p>
          <a:p>
            <a:r>
              <a:rPr lang="en-US"/>
              <a:t>Next, look into tools like PurpleKnight or PingCastle to get a general AD health assessment. If you're running PKI using AD CS, make sure you run Locksmith it is pretty much the go-to PKI auditing tool. </a:t>
            </a:r>
          </a:p>
          <a:p>
            <a:r>
              <a:rPr lang="en-US"/>
              <a:t/>
            </a:r>
          </a:p>
          <a:p>
            <a:r>
              <a:rPr lang="en-US"/>
              <a:t>Start looking at making sure your backups are perfect and reliable and immutable. </a:t>
            </a:r>
          </a:p>
          <a:p>
            <a:r>
              <a:rPr lang="en-US"/>
              <a:t/>
            </a:r>
          </a:p>
          <a:p>
            <a:r>
              <a:rPr lang="en-US"/>
              <a:t>Move onto bigger and harder projects. Keep hammering at the baselines, look into a full AD/Cloud Tiering Project, and maybe start looking into PAM solutions (Not Scrooge Friendly).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2 min</a:t>
            </a:r>
          </a:p>
          <a:p>
            <a:r>
              <a:rPr lang="en-US"/>
              <a:t/>
            </a:r>
          </a:p>
          <a:p>
            <a:r>
              <a:rPr lang="en-US"/>
              <a:t>I covered a lot. Its okay to feel overwhelmed. Take it one item at a time and move the security bar forward. </a:t>
            </a:r>
          </a:p>
          <a:p>
            <a:r>
              <a:rPr lang="en-US"/>
              <a:t/>
            </a:r>
          </a:p>
          <a:p>
            <a:r>
              <a:rPr lang="en-US"/>
              <a:t>Lastly, resources. I broke the slide rule with lots of links, I'm sorry. </a:t>
            </a:r>
          </a:p>
          <a:p>
            <a:r>
              <a:rPr lang="en-US"/>
              <a:t>- The notes will be published later today on my Github. The QR code will take you to my Github.</a:t>
            </a:r>
          </a:p>
          <a:p>
            <a:r>
              <a:rPr lang="en-US"/>
              <a:t>	- I have tons of bonus slides so they will cover way more than I covered here. </a:t>
            </a:r>
          </a:p>
          <a:p>
            <a:r>
              <a:rPr lang="en-US"/>
              <a:t>- Check out the r/ActiveDirectory subreddit, especially the wiki. There are tons of resources there. Share these resources far and wide, just attribute the work to the creators. </a:t>
            </a:r>
          </a:p>
          <a:p>
            <a:r>
              <a:rPr lang="en-US"/>
              <a:t>- Connect with me if you're interested. I'm on Discord until it isn't cool anymore, but you can find me on Reddit and LinkedIn. You can email me, but I suck at responding so good luck. </a:t>
            </a:r>
          </a:p>
          <a:p>
            <a:r>
              <a:rPr lang="en-US"/>
              <a:t>	- Ask me about AD stuff, Identity, or PowerShell. Also I love chatting D&amp;D and how I've been using LLMs to make me a better DM. </a:t>
            </a:r>
          </a:p>
          <a:p>
            <a:r>
              <a:rPr lang="en-US"/>
              <a:t>- Finally, I have your attention. Do something good for the world. If its little, it still matters. Something you can do that could really change at least one life is sign up to be a bone marrow donor. Hit me up if you have questions about any of that. </a:t>
            </a:r>
          </a:p>
          <a:p>
            <a:r>
              <a:rPr lang="en-US"/>
              <a:t>- OH. I have a few stickers so if you're into that sort of things, come find me over there after this is done if you want one. </a:t>
            </a:r>
          </a:p>
          <a:p>
            <a:r>
              <a:rPr lang="en-US"/>
              <a:t/>
            </a:r>
          </a:p>
          <a:p>
            <a:r>
              <a:rPr lang="en-US"/>
              <a:t>God Bless!</a:t>
            </a:r>
          </a:p>
          <a:p>
            <a:r>
              <a:rPr lang="en-US"/>
              <a:t/>
            </a:r>
          </a:p>
          <a:p>
            <a:r>
              <a:rPr lang="en-US"/>
              <a:t>(Slide)</a:t>
            </a:r>
          </a:p>
          <a:p>
            <a:r>
              <a:rPr lang="en-US"/>
              <a:t>QnA</a:t>
            </a:r>
          </a:p>
          <a:p>
            <a:r>
              <a:rPr lang="en-US"/>
              <a:t>The plan was to have a couple of minutes at least so hit me with any questions you have. I'll do my best or make something up. Regardless come find me if you want to chat any of this stuff, I love talking AD.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5.png" Type="http://schemas.openxmlformats.org/officeDocument/2006/relationships/image"/><Relationship Id="rId4" Target="../media/image1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4.jpeg" Type="http://schemas.openxmlformats.org/officeDocument/2006/relationships/image"/><Relationship Id="rId4" Target="../media/image17.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18.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19.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20.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8.xml" Type="http://schemas.openxmlformats.org/officeDocument/2006/relationships/notesSlid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9.xml" Type="http://schemas.openxmlformats.org/officeDocument/2006/relationships/notesSlid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0.xml" Type="http://schemas.openxmlformats.org/officeDocument/2006/relationships/notesSlide"/><Relationship Id="rId3" Target="../media/image4.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1.xml" Type="http://schemas.openxmlformats.org/officeDocument/2006/relationships/notesSlide"/><Relationship Id="rId3" Target="../media/image21.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2.xml" Type="http://schemas.openxmlformats.org/officeDocument/2006/relationships/notesSlid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3.xml" Type="http://schemas.openxmlformats.org/officeDocument/2006/relationships/notesSlide"/><Relationship Id="rId3" Target="../media/image22.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4.xml" Type="http://schemas.openxmlformats.org/officeDocument/2006/relationships/notesSlide"/><Relationship Id="rId3" Target="../media/image23.png" Type="http://schemas.openxmlformats.org/officeDocument/2006/relationships/image"/><Relationship Id="rId4" Target="../media/image22.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5.xml" Type="http://schemas.openxmlformats.org/officeDocument/2006/relationships/notesSlide"/><Relationship Id="rId3" Target="../media/image24.png" Type="http://schemas.openxmlformats.org/officeDocument/2006/relationships/image"/><Relationship Id="rId4" Target="../media/image25.pn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6.xml" Type="http://schemas.openxmlformats.org/officeDocument/2006/relationships/notesSlide"/><Relationship Id="rId3" Target="../media/image26.pn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7.xml" Type="http://schemas.openxmlformats.org/officeDocument/2006/relationships/notesSlide"/><Relationship Id="rId3" Target="../media/image26.pn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8.xml" Type="http://schemas.openxmlformats.org/officeDocument/2006/relationships/notesSlide"/><Relationship Id="rId3" Target="../media/image26.pn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9.xml" Type="http://schemas.openxmlformats.org/officeDocument/2006/relationships/notesSlide"/><Relationship Id="rId3" Target="../media/image26.pn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0.xml" Type="http://schemas.openxmlformats.org/officeDocument/2006/relationships/notesSlide"/><Relationship Id="rId3" Target="../media/image26.pn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1.xml" Type="http://schemas.openxmlformats.org/officeDocument/2006/relationships/notesSlide"/><Relationship Id="rId3" Target="../media/image26.pn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2.xml" Type="http://schemas.openxmlformats.org/officeDocument/2006/relationships/notesSlide"/><Relationship Id="rId3" Target="../media/image26.pn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3.xml" Type="http://schemas.openxmlformats.org/officeDocument/2006/relationships/notesSlide"/><Relationship Id="rId3" Target="../media/image26.pn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4.xml" Type="http://schemas.openxmlformats.org/officeDocument/2006/relationships/notesSlide"/><Relationship Id="rId3" Target="../media/image26.pn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5.xml" Type="http://schemas.openxmlformats.org/officeDocument/2006/relationships/notesSlide"/><Relationship Id="rId3" Target="../media/image4.jpe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6.xml" Type="http://schemas.openxmlformats.org/officeDocument/2006/relationships/notesSlide"/><Relationship Id="rId3" Target="../media/image27.pn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7.xml" Type="http://schemas.openxmlformats.org/officeDocument/2006/relationships/notesSlid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8.xml" Type="http://schemas.openxmlformats.org/officeDocument/2006/relationships/notesSlid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9.xml" Type="http://schemas.openxmlformats.org/officeDocument/2006/relationships/notesSlid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0.xml" Type="http://schemas.openxmlformats.org/officeDocument/2006/relationships/notesSlid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1.xml" Type="http://schemas.openxmlformats.org/officeDocument/2006/relationships/notesSlide"/></Relationships>
</file>

<file path=ppt/slides/_rels/slide6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2.xml" Type="http://schemas.openxmlformats.org/officeDocument/2006/relationships/notesSlide"/><Relationship Id="rId3" Target="../media/image28.png" Type="http://schemas.openxmlformats.org/officeDocument/2006/relationships/image"/></Relationships>
</file>

<file path=ppt/slides/_rels/slide6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3.xml" Type="http://schemas.openxmlformats.org/officeDocument/2006/relationships/notesSlide"/><Relationship Id="rId3" Target="../media/image29.png" Type="http://schemas.openxmlformats.org/officeDocument/2006/relationships/image"/></Relationships>
</file>

<file path=ppt/slides/_rels/slide6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4.xml" Type="http://schemas.openxmlformats.org/officeDocument/2006/relationships/notesSlide"/><Relationship Id="rId3" Target="../media/image30.png" Type="http://schemas.openxmlformats.org/officeDocument/2006/relationships/image"/><Relationship Id="rId4" Target="../media/image31.png" Type="http://schemas.openxmlformats.org/officeDocument/2006/relationships/image"/></Relationships>
</file>

<file path=ppt/slides/_rels/slide6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5.xml" Type="http://schemas.openxmlformats.org/officeDocument/2006/relationships/notesSlide"/><Relationship Id="rId3" Target="../media/image32.png" Type="http://schemas.openxmlformats.org/officeDocument/2006/relationships/image"/><Relationship Id="rId4" Target="../media/image33.png" Type="http://schemas.openxmlformats.org/officeDocument/2006/relationships/image"/></Relationships>
</file>

<file path=ppt/slides/_rels/slide6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6.xml" Type="http://schemas.openxmlformats.org/officeDocument/2006/relationships/notesSlide"/><Relationship Id="rId3" Target="../media/image34.png" Type="http://schemas.openxmlformats.org/officeDocument/2006/relationships/image"/></Relationships>
</file>

<file path=ppt/slides/_rels/slide6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7.xml" Type="http://schemas.openxmlformats.org/officeDocument/2006/relationships/notesSlide"/><Relationship Id="rId3" Target="../media/image35.png" Type="http://schemas.openxmlformats.org/officeDocument/2006/relationships/image"/><Relationship Id="rId4" Target="../media/image36.png" Type="http://schemas.openxmlformats.org/officeDocument/2006/relationships/image"/><Relationship Id="rId5" Target="https://reddit.com/u/poolmanjim" TargetMode="External" Type="http://schemas.openxmlformats.org/officeDocument/2006/relationships/hyperlink"/><Relationship Id="rId6" Target="../media/image3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1028700" y="1986203"/>
            <a:ext cx="11213721" cy="824252"/>
          </a:xfrm>
          <a:prstGeom prst="rect">
            <a:avLst/>
          </a:prstGeom>
        </p:spPr>
        <p:txBody>
          <a:bodyPr anchor="t" rtlCol="false" tIns="0" lIns="0" bIns="0" rIns="0">
            <a:spAutoFit/>
          </a:bodyPr>
          <a:lstStyle/>
          <a:p>
            <a:pPr algn="l" marL="0" indent="0" lvl="0">
              <a:lnSpc>
                <a:spcPts val="6839"/>
              </a:lnSpc>
              <a:spcBef>
                <a:spcPct val="0"/>
              </a:spcBef>
            </a:pPr>
            <a:r>
              <a:rPr lang="en-US" sz="4885">
                <a:solidFill>
                  <a:srgbClr val="38B6FF"/>
                </a:solidFill>
                <a:latin typeface="DM Sans"/>
                <a:ea typeface="DM Sans"/>
                <a:cs typeface="DM Sans"/>
                <a:sym typeface="DM Sans"/>
              </a:rPr>
              <a:t>A Miser’s Guide to</a:t>
            </a:r>
          </a:p>
        </p:txBody>
      </p:sp>
      <p:sp>
        <p:nvSpPr>
          <p:cNvPr name="AutoShape 5" id="5"/>
          <p:cNvSpPr/>
          <p:nvPr/>
        </p:nvSpPr>
        <p:spPr>
          <a:xfrm flipV="true">
            <a:off x="0" y="9652029"/>
            <a:ext cx="18288000" cy="0"/>
          </a:xfrm>
          <a:prstGeom prst="line">
            <a:avLst/>
          </a:prstGeom>
          <a:ln cap="flat" w="38100">
            <a:solidFill>
              <a:srgbClr val="38B6FF"/>
            </a:solidFill>
            <a:prstDash val="solid"/>
            <a:headEnd type="none" len="sm" w="sm"/>
            <a:tailEnd type="none" len="sm" w="sm"/>
          </a:ln>
        </p:spPr>
      </p:sp>
      <p:sp>
        <p:nvSpPr>
          <p:cNvPr name="TextBox 6" id="6"/>
          <p:cNvSpPr txBox="true"/>
          <p:nvPr/>
        </p:nvSpPr>
        <p:spPr>
          <a:xfrm rot="0">
            <a:off x="1029996" y="5224168"/>
            <a:ext cx="8672048" cy="1409470"/>
          </a:xfrm>
          <a:prstGeom prst="rect">
            <a:avLst/>
          </a:prstGeom>
        </p:spPr>
        <p:txBody>
          <a:bodyPr anchor="t" rtlCol="false" tIns="0" lIns="0" bIns="0" rIns="0">
            <a:spAutoFit/>
          </a:bodyPr>
          <a:lstStyle/>
          <a:p>
            <a:pPr algn="l" marL="0" indent="0" lvl="0">
              <a:lnSpc>
                <a:spcPts val="10662"/>
              </a:lnSpc>
            </a:pPr>
            <a:r>
              <a:rPr lang="en-US" sz="10252">
                <a:solidFill>
                  <a:srgbClr val="38B6FF"/>
                </a:solidFill>
                <a:latin typeface="Anton"/>
                <a:ea typeface="Anton"/>
                <a:cs typeface="Anton"/>
                <a:sym typeface="Anton"/>
              </a:rPr>
              <a:t>ACTIVE DIRECTORY</a:t>
            </a:r>
          </a:p>
        </p:txBody>
      </p:sp>
      <p:sp>
        <p:nvSpPr>
          <p:cNvPr name="TextBox 7" id="7"/>
          <p:cNvSpPr txBox="true"/>
          <p:nvPr/>
        </p:nvSpPr>
        <p:spPr>
          <a:xfrm rot="0">
            <a:off x="1076985" y="3562048"/>
            <a:ext cx="6939673" cy="1408472"/>
          </a:xfrm>
          <a:prstGeom prst="rect">
            <a:avLst/>
          </a:prstGeom>
        </p:spPr>
        <p:txBody>
          <a:bodyPr anchor="t" rtlCol="false" tIns="0" lIns="0" bIns="0" rIns="0">
            <a:spAutoFit/>
          </a:bodyPr>
          <a:lstStyle/>
          <a:p>
            <a:pPr algn="l" marL="0" indent="0" lvl="0">
              <a:lnSpc>
                <a:spcPts val="10662"/>
              </a:lnSpc>
            </a:pPr>
            <a:r>
              <a:rPr lang="en-US" sz="10252">
                <a:solidFill>
                  <a:srgbClr val="FFFFFF"/>
                </a:solidFill>
                <a:latin typeface="Anton"/>
                <a:ea typeface="Anton"/>
                <a:cs typeface="Anton"/>
                <a:sym typeface="Anton"/>
              </a:rPr>
              <a:t>HARDENING</a:t>
            </a:r>
          </a:p>
        </p:txBody>
      </p:sp>
      <p:sp>
        <p:nvSpPr>
          <p:cNvPr name="TextBox 8" id="8"/>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AutoShape 3" id="3"/>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4" id="4"/>
          <p:cNvSpPr/>
          <p:nvPr/>
        </p:nvSpPr>
        <p:spPr>
          <a:xfrm flipH="false" flipV="false" rot="0">
            <a:off x="10698977" y="1028700"/>
            <a:ext cx="6458452" cy="7236361"/>
          </a:xfrm>
          <a:custGeom>
            <a:avLst/>
            <a:gdLst/>
            <a:ahLst/>
            <a:cxnLst/>
            <a:rect r="r" b="b" t="t" l="l"/>
            <a:pathLst>
              <a:path h="7236361" w="6458452">
                <a:moveTo>
                  <a:pt x="0" y="0"/>
                </a:moveTo>
                <a:lnTo>
                  <a:pt x="6458452" y="0"/>
                </a:lnTo>
                <a:lnTo>
                  <a:pt x="6458452" y="7236361"/>
                </a:lnTo>
                <a:lnTo>
                  <a:pt x="0" y="7236361"/>
                </a:lnTo>
                <a:lnTo>
                  <a:pt x="0" y="0"/>
                </a:lnTo>
                <a:close/>
              </a:path>
            </a:pathLst>
          </a:custGeom>
          <a:blipFill>
            <a:blip r:embed="rId4"/>
            <a:stretch>
              <a:fillRect l="0" t="0" r="0" b="0"/>
            </a:stretch>
          </a:blipFill>
          <a:ln w="38100" cap="sq">
            <a:solidFill>
              <a:srgbClr val="38B6FF"/>
            </a:solidFill>
            <a:prstDash val="solid"/>
            <a:miter/>
          </a:ln>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1076985" y="942975"/>
            <a:ext cx="6214395" cy="780115"/>
          </a:xfrm>
          <a:prstGeom prst="rect">
            <a:avLst/>
          </a:prstGeom>
        </p:spPr>
        <p:txBody>
          <a:bodyPr anchor="t" rtlCol="false" tIns="0" lIns="0" bIns="0" rIns="0">
            <a:spAutoFit/>
          </a:bodyPr>
          <a:lstStyle/>
          <a:p>
            <a:pPr algn="just">
              <a:lnSpc>
                <a:spcPts val="6411"/>
              </a:lnSpc>
              <a:spcBef>
                <a:spcPct val="0"/>
              </a:spcBef>
            </a:pPr>
            <a:r>
              <a:rPr lang="en-US" b="true" sz="4579">
                <a:solidFill>
                  <a:srgbClr val="FFFFFF"/>
                </a:solidFill>
                <a:latin typeface="DM Sans Bold"/>
                <a:ea typeface="DM Sans Bold"/>
                <a:cs typeface="DM Sans Bold"/>
                <a:sym typeface="DM Sans Bold"/>
              </a:rPr>
              <a:t>\&gt; INVOKE-WHOAMI</a:t>
            </a:r>
          </a:p>
        </p:txBody>
      </p:sp>
      <p:sp>
        <p:nvSpPr>
          <p:cNvPr name="TextBox 8" id="8"/>
          <p:cNvSpPr txBox="true"/>
          <p:nvPr/>
        </p:nvSpPr>
        <p:spPr>
          <a:xfrm rot="0">
            <a:off x="1423030" y="2116348"/>
            <a:ext cx="6955629" cy="6194532"/>
          </a:xfrm>
          <a:prstGeom prst="rect">
            <a:avLst/>
          </a:prstGeom>
        </p:spPr>
        <p:txBody>
          <a:bodyPr anchor="t" rtlCol="false" tIns="0" lIns="0" bIns="0" rIns="0">
            <a:spAutoFit/>
          </a:bodyPr>
          <a:lstStyle/>
          <a:p>
            <a:pPr algn="just">
              <a:lnSpc>
                <a:spcPts val="3532"/>
              </a:lnSpc>
            </a:pPr>
            <a:r>
              <a:rPr lang="en-US" sz="2522">
                <a:solidFill>
                  <a:srgbClr val="FFFFFF"/>
                </a:solidFill>
                <a:latin typeface="DM Sans"/>
                <a:ea typeface="DM Sans"/>
                <a:cs typeface="DM Sans"/>
                <a:sym typeface="DM Sans"/>
              </a:rPr>
              <a:t>Name = </a:t>
            </a:r>
            <a:r>
              <a:rPr lang="en-US" sz="2522" b="true">
                <a:solidFill>
                  <a:srgbClr val="FFFFFF"/>
                </a:solidFill>
                <a:latin typeface="DM Sans Bold"/>
                <a:ea typeface="DM Sans Bold"/>
                <a:cs typeface="DM Sans Bold"/>
                <a:sym typeface="DM Sans Bold"/>
              </a:rPr>
              <a:t>Tyler Jacob</a:t>
            </a:r>
            <a:r>
              <a:rPr lang="en-US" sz="2522">
                <a:solidFill>
                  <a:srgbClr val="FFFFFF"/>
                </a:solidFill>
                <a:latin typeface="DM Sans"/>
                <a:ea typeface="DM Sans"/>
                <a:cs typeface="DM Sans"/>
                <a:sym typeface="DM Sans"/>
              </a:rPr>
              <a:t>s</a:t>
            </a:r>
          </a:p>
          <a:p>
            <a:pPr algn="just">
              <a:lnSpc>
                <a:spcPts val="3532"/>
              </a:lnSpc>
            </a:pPr>
            <a:r>
              <a:rPr lang="en-US" sz="2522">
                <a:solidFill>
                  <a:srgbClr val="FFFFFF"/>
                </a:solidFill>
                <a:latin typeface="DM Sans"/>
                <a:ea typeface="DM Sans"/>
                <a:cs typeface="DM Sans"/>
                <a:sym typeface="DM Sans"/>
              </a:rPr>
              <a:t>Alias = Poolmanjim, ActiveDirectoryKC</a:t>
            </a:r>
          </a:p>
          <a:p>
            <a:pPr algn="just">
              <a:lnSpc>
                <a:spcPts val="3532"/>
              </a:lnSpc>
            </a:pPr>
            <a:r>
              <a:rPr lang="en-US" sz="2522">
                <a:solidFill>
                  <a:srgbClr val="FFFFFF"/>
                </a:solidFill>
                <a:latin typeface="DM Sans"/>
                <a:ea typeface="DM Sans"/>
                <a:cs typeface="DM Sans"/>
                <a:sym typeface="DM Sans"/>
              </a:rPr>
              <a:t>Job = @{</a:t>
            </a:r>
          </a:p>
          <a:p>
            <a:pPr algn="just">
              <a:lnSpc>
                <a:spcPts val="3532"/>
              </a:lnSpc>
            </a:pPr>
            <a:r>
              <a:rPr lang="en-US" sz="2522">
                <a:solidFill>
                  <a:srgbClr val="FFFFFF"/>
                </a:solidFill>
                <a:latin typeface="DM Sans"/>
                <a:ea typeface="DM Sans"/>
                <a:cs typeface="DM Sans"/>
                <a:sym typeface="DM Sans"/>
              </a:rPr>
              <a:t>    Title = Principal Security Engineer - Identity</a:t>
            </a:r>
          </a:p>
          <a:p>
            <a:pPr algn="just">
              <a:lnSpc>
                <a:spcPts val="3532"/>
              </a:lnSpc>
            </a:pPr>
            <a:r>
              <a:rPr lang="en-US" sz="2522">
                <a:solidFill>
                  <a:srgbClr val="FFFFFF"/>
                </a:solidFill>
                <a:latin typeface="DM Sans"/>
                <a:ea typeface="DM Sans"/>
                <a:cs typeface="DM Sans"/>
                <a:sym typeface="DM Sans"/>
              </a:rPr>
              <a:t>    Organization = Type.UndisclosedHealthCare</a:t>
            </a:r>
          </a:p>
          <a:p>
            <a:pPr algn="just">
              <a:lnSpc>
                <a:spcPts val="3532"/>
              </a:lnSpc>
            </a:pPr>
            <a:r>
              <a:rPr lang="en-US" sz="2522">
                <a:solidFill>
                  <a:srgbClr val="FFFFFF"/>
                </a:solidFill>
                <a:latin typeface="DM Sans"/>
                <a:ea typeface="DM Sans"/>
                <a:cs typeface="DM Sans"/>
                <a:sym typeface="DM Sans"/>
              </a:rPr>
              <a:t>    Experience = (Get-Random -Min 15 -Max 20)</a:t>
            </a:r>
          </a:p>
          <a:p>
            <a:pPr algn="just">
              <a:lnSpc>
                <a:spcPts val="3532"/>
              </a:lnSpc>
            </a:pPr>
            <a:r>
              <a:rPr lang="en-US" sz="2522">
                <a:solidFill>
                  <a:srgbClr val="FFFFFF"/>
                </a:solidFill>
                <a:latin typeface="DM Sans"/>
                <a:ea typeface="DM Sans"/>
                <a:cs typeface="DM Sans"/>
                <a:sym typeface="DM Sans"/>
              </a:rPr>
              <a:t>}</a:t>
            </a:r>
          </a:p>
          <a:p>
            <a:pPr algn="just">
              <a:lnSpc>
                <a:spcPts val="3532"/>
              </a:lnSpc>
            </a:pPr>
            <a:r>
              <a:rPr lang="en-US" sz="2522">
                <a:solidFill>
                  <a:srgbClr val="FFFFFF"/>
                </a:solidFill>
                <a:latin typeface="DM Sans"/>
                <a:ea typeface="DM Sans"/>
                <a:cs typeface="DM Sans"/>
                <a:sym typeface="DM Sans"/>
              </a:rPr>
              <a:t>Contact Info = @{ </a:t>
            </a:r>
          </a:p>
          <a:p>
            <a:pPr algn="just">
              <a:lnSpc>
                <a:spcPts val="3532"/>
              </a:lnSpc>
            </a:pPr>
            <a:r>
              <a:rPr lang="en-US" sz="2522">
                <a:solidFill>
                  <a:srgbClr val="FFFFFF"/>
                </a:solidFill>
                <a:latin typeface="DM Sans"/>
                <a:ea typeface="DM Sans"/>
                <a:cs typeface="DM Sans"/>
                <a:sym typeface="DM Sans"/>
              </a:rPr>
              <a:t>    Discord = @poolmanjim</a:t>
            </a:r>
          </a:p>
          <a:p>
            <a:pPr algn="just">
              <a:lnSpc>
                <a:spcPts val="3532"/>
              </a:lnSpc>
            </a:pPr>
            <a:r>
              <a:rPr lang="en-US" sz="2522">
                <a:solidFill>
                  <a:srgbClr val="FFFFFF"/>
                </a:solidFill>
                <a:latin typeface="DM Sans"/>
                <a:ea typeface="DM Sans"/>
                <a:cs typeface="DM Sans"/>
                <a:sym typeface="DM Sans"/>
              </a:rPr>
              <a:t>    Website = activedirectorykc.net</a:t>
            </a:r>
          </a:p>
          <a:p>
            <a:pPr algn="just">
              <a:lnSpc>
                <a:spcPts val="3532"/>
              </a:lnSpc>
            </a:pPr>
            <a:r>
              <a:rPr lang="en-US" sz="2522">
                <a:solidFill>
                  <a:srgbClr val="FFFFFF"/>
                </a:solidFill>
                <a:latin typeface="DM Sans"/>
                <a:ea typeface="DM Sans"/>
                <a:cs typeface="DM Sans"/>
                <a:sym typeface="DM Sans"/>
              </a:rPr>
              <a:t>    github = github.com/ActiveDirectoryKC</a:t>
            </a:r>
          </a:p>
          <a:p>
            <a:pPr algn="just">
              <a:lnSpc>
                <a:spcPts val="3532"/>
              </a:lnSpc>
            </a:pPr>
            <a:r>
              <a:rPr lang="en-US" sz="2522">
                <a:solidFill>
                  <a:srgbClr val="FFFFFF"/>
                </a:solidFill>
                <a:latin typeface="DM Sans"/>
                <a:ea typeface="DM Sans"/>
                <a:cs typeface="DM Sans"/>
                <a:sym typeface="DM Sans"/>
              </a:rPr>
              <a:t>    Reddit = u/poolmanjim</a:t>
            </a:r>
          </a:p>
          <a:p>
            <a:pPr algn="just">
              <a:lnSpc>
                <a:spcPts val="3532"/>
              </a:lnSpc>
            </a:pPr>
            <a:r>
              <a:rPr lang="en-US" sz="2522">
                <a:solidFill>
                  <a:srgbClr val="FFFFFF"/>
                </a:solidFill>
                <a:latin typeface="DM Sans"/>
                <a:ea typeface="DM Sans"/>
                <a:cs typeface="DM Sans"/>
                <a:sym typeface="DM Sans"/>
              </a:rPr>
              <a:t>}</a:t>
            </a:r>
          </a:p>
          <a:p>
            <a:pPr algn="just">
              <a:lnSpc>
                <a:spcPts val="3532"/>
              </a:lnSpc>
              <a:spcBef>
                <a:spcPct val="0"/>
              </a:spcBef>
            </a:pPr>
            <a:r>
              <a:rPr lang="en-US" sz="2522">
                <a:solidFill>
                  <a:srgbClr val="FFFFFF"/>
                </a:solidFill>
                <a:latin typeface="DM Sans"/>
                <a:ea typeface="DM Sans"/>
                <a:cs typeface="DM Sans"/>
                <a:sym typeface="DM Sans"/>
              </a:rPr>
              <a:t>Interests = Identity, Homelab, TTRPGs, Gaming</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684356" y="486903"/>
            <a:ext cx="4775614"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38B6FF"/>
                </a:solidFill>
                <a:latin typeface="Anton"/>
                <a:ea typeface="Anton"/>
                <a:cs typeface="Anton"/>
                <a:sym typeface="Anton"/>
              </a:rPr>
              <a:t>WHAT’S THIS ALL ABOUT?</a:t>
            </a:r>
          </a:p>
        </p:txBody>
      </p:sp>
      <p:sp>
        <p:nvSpPr>
          <p:cNvPr name="TextBox 6" id="6"/>
          <p:cNvSpPr txBox="true"/>
          <p:nvPr/>
        </p:nvSpPr>
        <p:spPr>
          <a:xfrm rot="0">
            <a:off x="684356" y="1748479"/>
            <a:ext cx="5827077" cy="60642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DM Sans"/>
                <a:ea typeface="DM Sans"/>
                <a:cs typeface="DM Sans"/>
                <a:sym typeface="DM Sans"/>
              </a:rPr>
              <a:t>Active Directory Is not dead!</a:t>
            </a:r>
          </a:p>
        </p:txBody>
      </p:sp>
      <p:sp>
        <p:nvSpPr>
          <p:cNvPr name="TextBox 7" id="7"/>
          <p:cNvSpPr txBox="true"/>
          <p:nvPr/>
        </p:nvSpPr>
        <p:spPr>
          <a:xfrm rot="0">
            <a:off x="684356" y="3012129"/>
            <a:ext cx="3800316" cy="60642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DM Sans"/>
                <a:ea typeface="DM Sans"/>
                <a:cs typeface="DM Sans"/>
                <a:sym typeface="DM Sans"/>
              </a:rPr>
              <a:t>Security isn’t free. </a:t>
            </a:r>
          </a:p>
        </p:txBody>
      </p:sp>
      <p:sp>
        <p:nvSpPr>
          <p:cNvPr name="TextBox 8" id="8"/>
          <p:cNvSpPr txBox="true"/>
          <p:nvPr/>
        </p:nvSpPr>
        <p:spPr>
          <a:xfrm rot="0">
            <a:off x="684356" y="4275779"/>
            <a:ext cx="6016149" cy="60642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DM Sans"/>
                <a:ea typeface="DM Sans"/>
                <a:cs typeface="DM Sans"/>
                <a:sym typeface="DM Sans"/>
              </a:rPr>
              <a:t>We have to start somewhere.</a:t>
            </a:r>
          </a:p>
        </p:txBody>
      </p:sp>
      <p:sp>
        <p:nvSpPr>
          <p:cNvPr name="TextBox 9" id="9"/>
          <p:cNvSpPr txBox="true"/>
          <p:nvPr/>
        </p:nvSpPr>
        <p:spPr>
          <a:xfrm rot="0">
            <a:off x="684356" y="5539429"/>
            <a:ext cx="4451350" cy="606425"/>
          </a:xfrm>
          <a:prstGeom prst="rect">
            <a:avLst/>
          </a:prstGeom>
        </p:spPr>
        <p:txBody>
          <a:bodyPr anchor="t" rtlCol="false" tIns="0" lIns="0" bIns="0" rIns="0">
            <a:spAutoFit/>
          </a:bodyPr>
          <a:lstStyle/>
          <a:p>
            <a:pPr algn="l">
              <a:lnSpc>
                <a:spcPts val="4900"/>
              </a:lnSpc>
              <a:spcBef>
                <a:spcPct val="0"/>
              </a:spcBef>
            </a:pPr>
            <a:r>
              <a:rPr lang="en-US" sz="3500">
                <a:solidFill>
                  <a:srgbClr val="FFFFFF"/>
                </a:solidFill>
                <a:latin typeface="DM Sans"/>
                <a:ea typeface="DM Sans"/>
                <a:cs typeface="DM Sans"/>
                <a:sym typeface="DM Sans"/>
              </a:rPr>
              <a:t>Not overcomplicated.</a:t>
            </a:r>
          </a:p>
        </p:txBody>
      </p:sp>
      <p:grpSp>
        <p:nvGrpSpPr>
          <p:cNvPr name="Group 10" id="10"/>
          <p:cNvGrpSpPr/>
          <p:nvPr/>
        </p:nvGrpSpPr>
        <p:grpSpPr>
          <a:xfrm rot="0">
            <a:off x="9908322" y="1633714"/>
            <a:ext cx="6457321" cy="6387014"/>
            <a:chOff x="0" y="0"/>
            <a:chExt cx="8609762" cy="8516019"/>
          </a:xfrm>
        </p:grpSpPr>
        <p:grpSp>
          <p:nvGrpSpPr>
            <p:cNvPr name="Group 11" id="11"/>
            <p:cNvGrpSpPr/>
            <p:nvPr/>
          </p:nvGrpSpPr>
          <p:grpSpPr>
            <a:xfrm rot="0">
              <a:off x="1054206" y="1091489"/>
              <a:ext cx="6745825" cy="5902597"/>
              <a:chOff x="0" y="0"/>
              <a:chExt cx="812800" cy="711200"/>
            </a:xfrm>
          </p:grpSpPr>
          <p:sp>
            <p:nvSpPr>
              <p:cNvPr name="Freeform 12" id="1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2F7BD1"/>
              </a:solidFill>
            </p:spPr>
          </p:sp>
          <p:sp>
            <p:nvSpPr>
              <p:cNvPr name="TextBox 13" id="13"/>
              <p:cNvSpPr txBox="true"/>
              <p:nvPr/>
            </p:nvSpPr>
            <p:spPr>
              <a:xfrm>
                <a:off x="127000" y="301625"/>
                <a:ext cx="558800" cy="358775"/>
              </a:xfrm>
              <a:prstGeom prst="rect">
                <a:avLst/>
              </a:prstGeom>
            </p:spPr>
            <p:txBody>
              <a:bodyPr anchor="ctr" rtlCol="false" tIns="50800" lIns="50800" bIns="50800" rIns="50800"/>
              <a:lstStyle/>
              <a:p>
                <a:pPr algn="ctr">
                  <a:lnSpc>
                    <a:spcPts val="2045"/>
                  </a:lnSpc>
                </a:pPr>
              </a:p>
            </p:txBody>
          </p:sp>
        </p:grpSp>
        <p:sp>
          <p:nvSpPr>
            <p:cNvPr name="TextBox 14" id="14"/>
            <p:cNvSpPr txBox="true"/>
            <p:nvPr/>
          </p:nvSpPr>
          <p:spPr>
            <a:xfrm rot="0">
              <a:off x="3282319" y="-76200"/>
              <a:ext cx="2289598" cy="891166"/>
            </a:xfrm>
            <a:prstGeom prst="rect">
              <a:avLst/>
            </a:prstGeom>
          </p:spPr>
          <p:txBody>
            <a:bodyPr anchor="t" rtlCol="false" tIns="0" lIns="0" bIns="0" rIns="0">
              <a:spAutoFit/>
            </a:bodyPr>
            <a:lstStyle/>
            <a:p>
              <a:pPr algn="ctr">
                <a:lnSpc>
                  <a:spcPts val="5685"/>
                </a:lnSpc>
                <a:spcBef>
                  <a:spcPct val="0"/>
                </a:spcBef>
              </a:pPr>
              <a:r>
                <a:rPr lang="en-US" b="true" sz="4061">
                  <a:solidFill>
                    <a:srgbClr val="FFFFFF"/>
                  </a:solidFill>
                  <a:latin typeface="DM Sans Bold"/>
                  <a:ea typeface="DM Sans Bold"/>
                  <a:cs typeface="DM Sans Bold"/>
                  <a:sym typeface="DM Sans Bold"/>
                </a:rPr>
                <a:t>CHEAP</a:t>
              </a:r>
            </a:p>
          </p:txBody>
        </p:sp>
        <p:sp>
          <p:nvSpPr>
            <p:cNvPr name="TextBox 15" id="15"/>
            <p:cNvSpPr txBox="true"/>
            <p:nvPr/>
          </p:nvSpPr>
          <p:spPr>
            <a:xfrm rot="0">
              <a:off x="0" y="7624853"/>
              <a:ext cx="2108412" cy="891166"/>
            </a:xfrm>
            <a:prstGeom prst="rect">
              <a:avLst/>
            </a:prstGeom>
          </p:spPr>
          <p:txBody>
            <a:bodyPr anchor="t" rtlCol="false" tIns="0" lIns="0" bIns="0" rIns="0">
              <a:spAutoFit/>
            </a:bodyPr>
            <a:lstStyle/>
            <a:p>
              <a:pPr algn="ctr">
                <a:lnSpc>
                  <a:spcPts val="5685"/>
                </a:lnSpc>
                <a:spcBef>
                  <a:spcPct val="0"/>
                </a:spcBef>
              </a:pPr>
              <a:r>
                <a:rPr lang="en-US" b="true" sz="4061">
                  <a:solidFill>
                    <a:srgbClr val="FFFFFF"/>
                  </a:solidFill>
                  <a:latin typeface="DM Sans Bold"/>
                  <a:ea typeface="DM Sans Bold"/>
                  <a:cs typeface="DM Sans Bold"/>
                  <a:sym typeface="DM Sans Bold"/>
                </a:rPr>
                <a:t>GOOD</a:t>
              </a:r>
            </a:p>
          </p:txBody>
        </p:sp>
        <p:sp>
          <p:nvSpPr>
            <p:cNvPr name="TextBox 16" id="16"/>
            <p:cNvSpPr txBox="true"/>
            <p:nvPr/>
          </p:nvSpPr>
          <p:spPr>
            <a:xfrm rot="0">
              <a:off x="6990300" y="7624853"/>
              <a:ext cx="1619462" cy="891166"/>
            </a:xfrm>
            <a:prstGeom prst="rect">
              <a:avLst/>
            </a:prstGeom>
          </p:spPr>
          <p:txBody>
            <a:bodyPr anchor="t" rtlCol="false" tIns="0" lIns="0" bIns="0" rIns="0">
              <a:spAutoFit/>
            </a:bodyPr>
            <a:lstStyle/>
            <a:p>
              <a:pPr algn="ctr">
                <a:lnSpc>
                  <a:spcPts val="5685"/>
                </a:lnSpc>
                <a:spcBef>
                  <a:spcPct val="0"/>
                </a:spcBef>
              </a:pPr>
              <a:r>
                <a:rPr lang="en-US" b="true" sz="4061">
                  <a:solidFill>
                    <a:srgbClr val="FFFFFF"/>
                  </a:solidFill>
                  <a:latin typeface="DM Sans Bold"/>
                  <a:ea typeface="DM Sans Bold"/>
                  <a:cs typeface="DM Sans Bold"/>
                  <a:sym typeface="DM Sans Bold"/>
                </a:rPr>
                <a:t>FAST</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2775099"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1285381" y="1692082"/>
            <a:ext cx="6098614" cy="4878891"/>
          </a:xfrm>
          <a:custGeom>
            <a:avLst/>
            <a:gdLst/>
            <a:ahLst/>
            <a:cxnLst/>
            <a:rect r="r" b="b" t="t" l="l"/>
            <a:pathLst>
              <a:path h="4878891" w="6098614">
                <a:moveTo>
                  <a:pt x="0" y="0"/>
                </a:moveTo>
                <a:lnTo>
                  <a:pt x="6098614" y="0"/>
                </a:lnTo>
                <a:lnTo>
                  <a:pt x="6098614" y="4878891"/>
                </a:lnTo>
                <a:lnTo>
                  <a:pt x="0" y="4878891"/>
                </a:lnTo>
                <a:lnTo>
                  <a:pt x="0" y="0"/>
                </a:lnTo>
                <a:close/>
              </a:path>
            </a:pathLst>
          </a:custGeom>
          <a:blipFill>
            <a:blip r:embed="rId3"/>
            <a:stretch>
              <a:fillRect l="0" t="0" r="0" b="0"/>
            </a:stretch>
          </a:blipFill>
          <a:ln w="38100" cap="sq">
            <a:solidFill>
              <a:srgbClr val="2F7BD1"/>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594527" y="548005"/>
            <a:ext cx="6055969"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DISCLAIMERS / WHAT IS THIS NOT?</a:t>
            </a:r>
          </a:p>
        </p:txBody>
      </p:sp>
      <p:sp>
        <p:nvSpPr>
          <p:cNvPr name="TextBox 7" id="7"/>
          <p:cNvSpPr txBox="true"/>
          <p:nvPr/>
        </p:nvSpPr>
        <p:spPr>
          <a:xfrm rot="0">
            <a:off x="594527" y="1359417"/>
            <a:ext cx="10413803" cy="5477547"/>
          </a:xfrm>
          <a:prstGeom prst="rect">
            <a:avLst/>
          </a:prstGeom>
        </p:spPr>
        <p:txBody>
          <a:bodyPr anchor="t" rtlCol="false" tIns="0" lIns="0" bIns="0" rIns="0">
            <a:spAutoFit/>
          </a:bodyPr>
          <a:lstStyle/>
          <a:p>
            <a:pPr algn="just" marL="682472" indent="-341236" lvl="1">
              <a:lnSpc>
                <a:spcPts val="4425"/>
              </a:lnSpc>
              <a:buFont typeface="Arial"/>
              <a:buChar char="•"/>
            </a:pPr>
            <a:r>
              <a:rPr lang="en-US" sz="3161">
                <a:solidFill>
                  <a:srgbClr val="FFFFFF"/>
                </a:solidFill>
                <a:latin typeface="DM Sans"/>
                <a:ea typeface="DM Sans"/>
                <a:cs typeface="DM Sans"/>
                <a:sym typeface="DM Sans"/>
              </a:rPr>
              <a:t>TOOLS MAY TRIP EDR/SIEM/AV</a:t>
            </a:r>
          </a:p>
          <a:p>
            <a:pPr algn="just">
              <a:lnSpc>
                <a:spcPts val="4425"/>
              </a:lnSpc>
            </a:pPr>
          </a:p>
          <a:p>
            <a:pPr algn="just" marL="682472" indent="-341236" lvl="1">
              <a:lnSpc>
                <a:spcPts val="4425"/>
              </a:lnSpc>
              <a:buFont typeface="Arial"/>
              <a:buChar char="•"/>
            </a:pPr>
            <a:r>
              <a:rPr lang="en-US" sz="3161">
                <a:solidFill>
                  <a:srgbClr val="FFFFFF"/>
                </a:solidFill>
                <a:latin typeface="DM Sans"/>
                <a:ea typeface="DM Sans"/>
                <a:cs typeface="DM Sans"/>
                <a:sym typeface="DM Sans"/>
              </a:rPr>
              <a:t>MOST TOOLS FREE - SOME AREN’T</a:t>
            </a:r>
          </a:p>
          <a:p>
            <a:pPr algn="just" marL="1036320" indent="-345440" lvl="2">
              <a:lnSpc>
                <a:spcPts val="3359"/>
              </a:lnSpc>
              <a:buFont typeface="Arial"/>
              <a:buChar char="⚬"/>
            </a:pPr>
            <a:r>
              <a:rPr lang="en-US" sz="2400">
                <a:solidFill>
                  <a:srgbClr val="FFFFFF"/>
                </a:solidFill>
                <a:latin typeface="DM Sans"/>
                <a:ea typeface="DM Sans"/>
                <a:cs typeface="DM Sans"/>
                <a:sym typeface="DM Sans"/>
              </a:rPr>
              <a:t>I DON’T WORK FOR THEM</a:t>
            </a:r>
          </a:p>
          <a:p>
            <a:pPr algn="just" marL="682472" indent="-341236" lvl="1">
              <a:lnSpc>
                <a:spcPts val="4425"/>
              </a:lnSpc>
              <a:buFont typeface="Arial"/>
              <a:buChar char="•"/>
            </a:pPr>
          </a:p>
          <a:p>
            <a:pPr algn="just" marL="682472" indent="-341236" lvl="1">
              <a:lnSpc>
                <a:spcPts val="4425"/>
              </a:lnSpc>
              <a:buFont typeface="Arial"/>
              <a:buChar char="•"/>
            </a:pPr>
            <a:r>
              <a:rPr lang="en-US" sz="3161">
                <a:solidFill>
                  <a:srgbClr val="FFFFFF"/>
                </a:solidFill>
                <a:latin typeface="DM Sans"/>
                <a:ea typeface="DM Sans"/>
                <a:cs typeface="DM Sans"/>
                <a:sym typeface="DM Sans"/>
              </a:rPr>
              <a:t>FREE TOOLS OFTEN REQUIRE EMAILS*</a:t>
            </a:r>
          </a:p>
          <a:p>
            <a:pPr algn="just">
              <a:lnSpc>
                <a:spcPts val="4425"/>
              </a:lnSpc>
            </a:pPr>
          </a:p>
          <a:p>
            <a:pPr algn="just" marL="682472" indent="-341236" lvl="1">
              <a:lnSpc>
                <a:spcPts val="4425"/>
              </a:lnSpc>
              <a:buFont typeface="Arial"/>
              <a:buChar char="•"/>
            </a:pPr>
            <a:r>
              <a:rPr lang="en-US" sz="3161">
                <a:solidFill>
                  <a:srgbClr val="FFFFFF"/>
                </a:solidFill>
                <a:latin typeface="DM Sans"/>
                <a:ea typeface="DM Sans"/>
                <a:cs typeface="DM Sans"/>
                <a:sym typeface="DM Sans"/>
              </a:rPr>
              <a:t>OPINIONS ARE MINE</a:t>
            </a:r>
          </a:p>
          <a:p>
            <a:pPr algn="just">
              <a:lnSpc>
                <a:spcPts val="4425"/>
              </a:lnSpc>
            </a:pPr>
          </a:p>
          <a:p>
            <a:pPr algn="just" marL="682472" indent="-341236" lvl="1">
              <a:lnSpc>
                <a:spcPts val="4425"/>
              </a:lnSpc>
              <a:buFont typeface="Arial"/>
              <a:buChar char="•"/>
            </a:pPr>
            <a:r>
              <a:rPr lang="en-US" sz="3161">
                <a:solidFill>
                  <a:srgbClr val="FFFFFF"/>
                </a:solidFill>
                <a:latin typeface="DM Sans"/>
                <a:ea typeface="DM Sans"/>
                <a:cs typeface="DM Sans"/>
                <a:sym typeface="DM Sans"/>
              </a:rPr>
              <a:t>NOT AN EXHAUSTIVE LIST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7589023" y="5039682"/>
            <a:ext cx="9670277" cy="2277740"/>
          </a:xfrm>
          <a:prstGeom prst="rect">
            <a:avLst/>
          </a:prstGeom>
        </p:spPr>
        <p:txBody>
          <a:bodyPr anchor="t" rtlCol="false" tIns="0" lIns="0" bIns="0" rIns="0">
            <a:spAutoFit/>
          </a:bodyPr>
          <a:lstStyle/>
          <a:p>
            <a:pPr algn="l" marL="0" indent="0" lvl="0">
              <a:lnSpc>
                <a:spcPts val="8839"/>
              </a:lnSpc>
            </a:pPr>
            <a:r>
              <a:rPr lang="en-US" sz="8499">
                <a:solidFill>
                  <a:srgbClr val="FFFFFF"/>
                </a:solidFill>
                <a:latin typeface="Anton"/>
                <a:ea typeface="Anton"/>
                <a:cs typeface="Anton"/>
                <a:sym typeface="Anton"/>
              </a:rPr>
              <a:t>THE GHOST OF BACKUPS ARE EXPENSIVE</a:t>
            </a:r>
          </a:p>
        </p:txBody>
      </p:sp>
      <p:sp>
        <p:nvSpPr>
          <p:cNvPr name="TextBox 7" id="7"/>
          <p:cNvSpPr txBox="true"/>
          <p:nvPr/>
        </p:nvSpPr>
        <p:spPr>
          <a:xfrm rot="0">
            <a:off x="7589023" y="7723251"/>
            <a:ext cx="6582533" cy="1535049"/>
          </a:xfrm>
          <a:prstGeom prst="rect">
            <a:avLst/>
          </a:prstGeom>
        </p:spPr>
        <p:txBody>
          <a:bodyPr anchor="t" rtlCol="false" tIns="0" lIns="0" bIns="0" rIns="0">
            <a:spAutoFit/>
          </a:bodyPr>
          <a:lstStyle/>
          <a:p>
            <a:pPr algn="l" marL="0" indent="0" lvl="0">
              <a:lnSpc>
                <a:spcPts val="5928"/>
              </a:lnSpc>
            </a:pPr>
            <a:r>
              <a:rPr lang="en-US" sz="5700">
                <a:solidFill>
                  <a:srgbClr val="38B6FF"/>
                </a:solidFill>
                <a:latin typeface="DM Sans"/>
                <a:ea typeface="DM Sans"/>
                <a:cs typeface="DM Sans"/>
                <a:sym typeface="DM Sans"/>
              </a:rPr>
              <a:t>Business Resilience &amp; BCDR</a:t>
            </a:r>
          </a:p>
        </p:txBody>
      </p:sp>
      <p:sp>
        <p:nvSpPr>
          <p:cNvPr name="Freeform 8" id="8"/>
          <p:cNvSpPr/>
          <p:nvPr/>
        </p:nvSpPr>
        <p:spPr>
          <a:xfrm flipH="false" flipV="false" rot="0">
            <a:off x="382747" y="438294"/>
            <a:ext cx="6095662" cy="4059533"/>
          </a:xfrm>
          <a:custGeom>
            <a:avLst/>
            <a:gdLst/>
            <a:ahLst/>
            <a:cxnLst/>
            <a:rect r="r" b="b" t="t" l="l"/>
            <a:pathLst>
              <a:path h="4059533" w="6095662">
                <a:moveTo>
                  <a:pt x="0" y="0"/>
                </a:moveTo>
                <a:lnTo>
                  <a:pt x="6095662" y="0"/>
                </a:lnTo>
                <a:lnTo>
                  <a:pt x="6095662" y="4059533"/>
                </a:lnTo>
                <a:lnTo>
                  <a:pt x="0" y="4059533"/>
                </a:lnTo>
                <a:lnTo>
                  <a:pt x="0" y="0"/>
                </a:lnTo>
                <a:close/>
              </a:path>
            </a:pathLst>
          </a:custGeom>
          <a:blipFill>
            <a:blip r:embed="rId4"/>
            <a:stretch>
              <a:fillRect l="0" t="0" r="0" b="0"/>
            </a:stretch>
          </a:blipFill>
          <a:ln w="38100" cap="sq">
            <a:solidFill>
              <a:srgbClr val="38B6FF"/>
            </a:solid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852797" y="4548151"/>
            <a:ext cx="6438583" cy="595349"/>
          </a:xfrm>
          <a:prstGeom prst="rect">
            <a:avLst/>
          </a:prstGeom>
        </p:spPr>
        <p:txBody>
          <a:bodyPr anchor="t" rtlCol="false" tIns="0" lIns="0" bIns="0" rIns="0">
            <a:spAutoFit/>
          </a:bodyPr>
          <a:lstStyle/>
          <a:p>
            <a:pPr algn="ctr">
              <a:lnSpc>
                <a:spcPts val="4985"/>
              </a:lnSpc>
              <a:spcBef>
                <a:spcPct val="0"/>
              </a:spcBef>
            </a:pPr>
            <a:r>
              <a:rPr lang="en-US" b="true" sz="3561">
                <a:solidFill>
                  <a:srgbClr val="FFFFFF"/>
                </a:solidFill>
                <a:latin typeface="DM Sans Bold"/>
                <a:ea typeface="DM Sans Bold"/>
                <a:cs typeface="DM Sans Bold"/>
                <a:sym typeface="DM Sans Bold"/>
              </a:rPr>
              <a:t>Go from “Oh S***” to “Okay?”</a:t>
            </a:r>
          </a:p>
        </p:txBody>
      </p:sp>
      <p:sp>
        <p:nvSpPr>
          <p:cNvPr name="Freeform 4" id="4"/>
          <p:cNvSpPr/>
          <p:nvPr/>
        </p:nvSpPr>
        <p:spPr>
          <a:xfrm flipH="false" flipV="false" rot="0">
            <a:off x="9144000" y="2630278"/>
            <a:ext cx="7415741" cy="4940737"/>
          </a:xfrm>
          <a:custGeom>
            <a:avLst/>
            <a:gdLst/>
            <a:ahLst/>
            <a:cxnLst/>
            <a:rect r="r" b="b" t="t" l="l"/>
            <a:pathLst>
              <a:path h="4940737" w="7415741">
                <a:moveTo>
                  <a:pt x="0" y="0"/>
                </a:moveTo>
                <a:lnTo>
                  <a:pt x="7415741" y="0"/>
                </a:lnTo>
                <a:lnTo>
                  <a:pt x="7415741" y="4940737"/>
                </a:lnTo>
                <a:lnTo>
                  <a:pt x="0" y="4940737"/>
                </a:lnTo>
                <a:lnTo>
                  <a:pt x="0" y="0"/>
                </a:lnTo>
                <a:close/>
              </a:path>
            </a:pathLst>
          </a:custGeom>
          <a:blipFill>
            <a:blip r:embed="rId3"/>
            <a:stretch>
              <a:fillRect l="0" t="0" r="0" b="0"/>
            </a:stretch>
          </a:blipFill>
          <a:ln w="38100" cap="sq">
            <a:solidFill>
              <a:srgbClr val="000000"/>
            </a:solidFill>
            <a:prstDash val="solid"/>
            <a:miter/>
          </a:ln>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594527" y="548005"/>
            <a:ext cx="6055969"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WHY ARE BACKUPS IMPORTANT?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Freeform 2" id="2"/>
          <p:cNvSpPr/>
          <p:nvPr/>
        </p:nvSpPr>
        <p:spPr>
          <a:xfrm flipH="false" flipV="false" rot="0">
            <a:off x="-42390" y="-314337"/>
            <a:ext cx="18372779" cy="11482987"/>
          </a:xfrm>
          <a:custGeom>
            <a:avLst/>
            <a:gdLst/>
            <a:ahLst/>
            <a:cxnLst/>
            <a:rect r="r" b="b" t="t" l="l"/>
            <a:pathLst>
              <a:path h="11482987" w="18372779">
                <a:moveTo>
                  <a:pt x="0" y="0"/>
                </a:moveTo>
                <a:lnTo>
                  <a:pt x="18372780" y="0"/>
                </a:lnTo>
                <a:lnTo>
                  <a:pt x="18372780" y="11482987"/>
                </a:lnTo>
                <a:lnTo>
                  <a:pt x="0" y="11482987"/>
                </a:lnTo>
                <a:lnTo>
                  <a:pt x="0" y="0"/>
                </a:lnTo>
                <a:close/>
              </a:path>
            </a:pathLst>
          </a:custGeom>
          <a:blipFill>
            <a:blip r:embed="rId3"/>
            <a:stretch>
              <a:fillRect l="0" t="0" r="0" b="0"/>
            </a:stretch>
          </a:blipFill>
        </p:spPr>
      </p:sp>
      <p:sp>
        <p:nvSpPr>
          <p:cNvPr name="TextBox 3" id="3"/>
          <p:cNvSpPr txBox="true"/>
          <p:nvPr/>
        </p:nvSpPr>
        <p:spPr>
          <a:xfrm rot="0">
            <a:off x="5561806" y="166650"/>
            <a:ext cx="7164388" cy="862050"/>
          </a:xfrm>
          <a:prstGeom prst="rect">
            <a:avLst/>
          </a:prstGeom>
        </p:spPr>
        <p:txBody>
          <a:bodyPr anchor="t" rtlCol="false" tIns="0" lIns="0" bIns="0" rIns="0">
            <a:spAutoFit/>
          </a:bodyPr>
          <a:lstStyle/>
          <a:p>
            <a:pPr algn="ctr">
              <a:lnSpc>
                <a:spcPts val="7085"/>
              </a:lnSpc>
              <a:spcBef>
                <a:spcPct val="0"/>
              </a:spcBef>
            </a:pPr>
            <a:r>
              <a:rPr lang="en-US" b="true" sz="5061">
                <a:solidFill>
                  <a:srgbClr val="FFFFFF"/>
                </a:solidFill>
                <a:latin typeface="DM Sans Bold"/>
                <a:ea typeface="DM Sans Bold"/>
                <a:cs typeface="DM Sans Bold"/>
                <a:sym typeface="DM Sans Bold"/>
              </a:rPr>
              <a:t>RED SCREEN OF “EFF!””</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594527" y="548005"/>
            <a:ext cx="6055969"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BAD NEWS... :(</a:t>
            </a:r>
          </a:p>
        </p:txBody>
      </p:sp>
      <p:sp>
        <p:nvSpPr>
          <p:cNvPr name="TextBox 6" id="6"/>
          <p:cNvSpPr txBox="true"/>
          <p:nvPr/>
        </p:nvSpPr>
        <p:spPr>
          <a:xfrm rot="0">
            <a:off x="2162865" y="1807643"/>
            <a:ext cx="7918194" cy="548005"/>
          </a:xfrm>
          <a:prstGeom prst="rect">
            <a:avLst/>
          </a:prstGeom>
        </p:spPr>
        <p:txBody>
          <a:bodyPr anchor="t" rtlCol="false" tIns="0" lIns="0" bIns="0" rIns="0">
            <a:spAutoFit/>
          </a:bodyPr>
          <a:lstStyle/>
          <a:p>
            <a:pPr algn="l" marL="0" indent="0" lvl="0">
              <a:lnSpc>
                <a:spcPts val="4160"/>
              </a:lnSpc>
            </a:pPr>
            <a:r>
              <a:rPr lang="en-US" b="true" sz="4000">
                <a:solidFill>
                  <a:srgbClr val="FFFFFF"/>
                </a:solidFill>
                <a:latin typeface="DM Sans Bold"/>
                <a:ea typeface="DM Sans Bold"/>
                <a:cs typeface="DM Sans Bold"/>
                <a:sym typeface="DM Sans Bold"/>
              </a:rPr>
              <a:t>GOOD BACKUPS COST $$$</a:t>
            </a:r>
          </a:p>
        </p:txBody>
      </p:sp>
      <p:sp>
        <p:nvSpPr>
          <p:cNvPr name="TextBox 7" id="7"/>
          <p:cNvSpPr txBox="true"/>
          <p:nvPr/>
        </p:nvSpPr>
        <p:spPr>
          <a:xfrm rot="0">
            <a:off x="2162865" y="2938146"/>
            <a:ext cx="7918194" cy="548005"/>
          </a:xfrm>
          <a:prstGeom prst="rect">
            <a:avLst/>
          </a:prstGeom>
        </p:spPr>
        <p:txBody>
          <a:bodyPr anchor="t" rtlCol="false" tIns="0" lIns="0" bIns="0" rIns="0">
            <a:spAutoFit/>
          </a:bodyPr>
          <a:lstStyle/>
          <a:p>
            <a:pPr algn="l" marL="0" indent="0" lvl="0">
              <a:lnSpc>
                <a:spcPts val="4160"/>
              </a:lnSpc>
            </a:pPr>
            <a:r>
              <a:rPr lang="en-US" sz="4000">
                <a:solidFill>
                  <a:srgbClr val="FFFFFF"/>
                </a:solidFill>
                <a:latin typeface="DM Sans"/>
                <a:ea typeface="DM Sans"/>
                <a:cs typeface="DM Sans"/>
                <a:sym typeface="DM Sans"/>
              </a:rPr>
              <a:t>Are they worth it? </a:t>
            </a:r>
          </a:p>
        </p:txBody>
      </p:sp>
      <p:sp>
        <p:nvSpPr>
          <p:cNvPr name="TextBox 8" id="8"/>
          <p:cNvSpPr txBox="true"/>
          <p:nvPr/>
        </p:nvSpPr>
        <p:spPr>
          <a:xfrm rot="0">
            <a:off x="2282316" y="4240228"/>
            <a:ext cx="8896297" cy="4762499"/>
          </a:xfrm>
          <a:prstGeom prst="rect">
            <a:avLst/>
          </a:prstGeom>
        </p:spPr>
        <p:txBody>
          <a:bodyPr anchor="t" rtlCol="false" tIns="0" lIns="0" bIns="0" rIns="0">
            <a:spAutoFit/>
          </a:bodyPr>
          <a:lstStyle/>
          <a:p>
            <a:pPr algn="l">
              <a:lnSpc>
                <a:spcPts val="7799"/>
              </a:lnSpc>
            </a:pPr>
            <a:r>
              <a:rPr lang="en-US" sz="7499" b="true">
                <a:solidFill>
                  <a:srgbClr val="FFFFFF"/>
                </a:solidFill>
                <a:latin typeface="DM Sans Bold"/>
                <a:ea typeface="DM Sans Bold"/>
                <a:cs typeface="DM Sans Bold"/>
                <a:sym typeface="DM Sans Bold"/>
              </a:rPr>
              <a:t>YES!</a:t>
            </a:r>
          </a:p>
          <a:p>
            <a:pPr algn="l">
              <a:lnSpc>
                <a:spcPts val="3640"/>
              </a:lnSpc>
            </a:pPr>
          </a:p>
          <a:p>
            <a:pPr algn="l" marL="755657" indent="-377829" lvl="1">
              <a:lnSpc>
                <a:spcPts val="3640"/>
              </a:lnSpc>
              <a:buFont typeface="Arial"/>
              <a:buChar char="•"/>
            </a:pPr>
            <a:r>
              <a:rPr lang="en-US" b="true" sz="3500">
                <a:solidFill>
                  <a:srgbClr val="FFFFFF"/>
                </a:solidFill>
                <a:latin typeface="DM Sans Bold"/>
                <a:ea typeface="DM Sans Bold"/>
                <a:cs typeface="DM Sans Bold"/>
                <a:sym typeface="DM Sans Bold"/>
              </a:rPr>
              <a:t>Support</a:t>
            </a:r>
          </a:p>
          <a:p>
            <a:pPr algn="l">
              <a:lnSpc>
                <a:spcPts val="3640"/>
              </a:lnSpc>
            </a:pPr>
          </a:p>
          <a:p>
            <a:pPr algn="l" marL="755657" indent="-377829" lvl="1">
              <a:lnSpc>
                <a:spcPts val="3640"/>
              </a:lnSpc>
              <a:buFont typeface="Arial"/>
              <a:buChar char="•"/>
            </a:pPr>
            <a:r>
              <a:rPr lang="en-US" b="true" sz="3500">
                <a:solidFill>
                  <a:srgbClr val="FFFFFF"/>
                </a:solidFill>
                <a:latin typeface="DM Sans Bold"/>
                <a:ea typeface="DM Sans Bold"/>
                <a:cs typeface="DM Sans Bold"/>
                <a:sym typeface="DM Sans Bold"/>
              </a:rPr>
              <a:t>Insurance</a:t>
            </a:r>
          </a:p>
          <a:p>
            <a:pPr algn="l">
              <a:lnSpc>
                <a:spcPts val="3640"/>
              </a:lnSpc>
            </a:pPr>
          </a:p>
          <a:p>
            <a:pPr algn="l" marL="755657" indent="-377829" lvl="1">
              <a:lnSpc>
                <a:spcPts val="3640"/>
              </a:lnSpc>
              <a:buFont typeface="Arial"/>
              <a:buChar char="•"/>
            </a:pPr>
            <a:r>
              <a:rPr lang="en-US" b="true" sz="3500">
                <a:solidFill>
                  <a:srgbClr val="FFFFFF"/>
                </a:solidFill>
                <a:latin typeface="DM Sans Bold"/>
                <a:ea typeface="DM Sans Bold"/>
                <a:cs typeface="DM Sans Bold"/>
                <a:sym typeface="DM Sans Bold"/>
              </a:rPr>
              <a:t>Features</a:t>
            </a:r>
          </a:p>
          <a:p>
            <a:pPr algn="l" marL="0" indent="0" lvl="0">
              <a:lnSpc>
                <a:spcPts val="779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2652311" y="1575637"/>
            <a:ext cx="12685735" cy="7135726"/>
          </a:xfrm>
          <a:custGeom>
            <a:avLst/>
            <a:gdLst/>
            <a:ahLst/>
            <a:cxnLst/>
            <a:rect r="r" b="b" t="t" l="l"/>
            <a:pathLst>
              <a:path h="7135726" w="12685735">
                <a:moveTo>
                  <a:pt x="0" y="0"/>
                </a:moveTo>
                <a:lnTo>
                  <a:pt x="12685735" y="0"/>
                </a:lnTo>
                <a:lnTo>
                  <a:pt x="12685735" y="7135726"/>
                </a:lnTo>
                <a:lnTo>
                  <a:pt x="0" y="7135726"/>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FFFFFF"/>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FFFFFF"/>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737373"/>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
        <p:nvSpPr>
          <p:cNvPr name="TextBox 7" id="7"/>
          <p:cNvSpPr txBox="true"/>
          <p:nvPr/>
        </p:nvSpPr>
        <p:spPr>
          <a:xfrm rot="0">
            <a:off x="1076985" y="4256624"/>
            <a:ext cx="8510550" cy="42227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Technical Musts</a:t>
            </a:r>
          </a:p>
        </p:txBody>
      </p:sp>
      <p:sp>
        <p:nvSpPr>
          <p:cNvPr name="TextBox 8" id="8"/>
          <p:cNvSpPr txBox="true"/>
          <p:nvPr/>
        </p:nvSpPr>
        <p:spPr>
          <a:xfrm rot="0">
            <a:off x="1229385" y="4900946"/>
            <a:ext cx="5535235" cy="606425"/>
          </a:xfrm>
          <a:prstGeom prst="rect">
            <a:avLst/>
          </a:prstGeom>
        </p:spPr>
        <p:txBody>
          <a:bodyPr anchor="t" rtlCol="false" tIns="0" lIns="0" bIns="0" rIns="0">
            <a:spAutoFit/>
          </a:bodyPr>
          <a:lstStyle/>
          <a:p>
            <a:pPr algn="just">
              <a:lnSpc>
                <a:spcPts val="4900"/>
              </a:lnSpc>
            </a:pPr>
            <a:r>
              <a:rPr lang="en-US" sz="3500">
                <a:solidFill>
                  <a:srgbClr val="FFFFFF"/>
                </a:solidFill>
                <a:latin typeface="DM Sans"/>
                <a:ea typeface="DM Sans"/>
                <a:cs typeface="DM Sans"/>
                <a:sym typeface="DM Sans"/>
              </a:rPr>
              <a:t>Can it restore? AD?</a:t>
            </a:r>
          </a:p>
        </p:txBody>
      </p:sp>
      <p:grpSp>
        <p:nvGrpSpPr>
          <p:cNvPr name="Group 9" id="9"/>
          <p:cNvGrpSpPr/>
          <p:nvPr/>
        </p:nvGrpSpPr>
        <p:grpSpPr>
          <a:xfrm rot="0">
            <a:off x="13109300" y="350115"/>
            <a:ext cx="2340032" cy="9254061"/>
            <a:chOff x="0" y="0"/>
            <a:chExt cx="3120043" cy="12338749"/>
          </a:xfrm>
        </p:grpSpPr>
        <p:grpSp>
          <p:nvGrpSpPr>
            <p:cNvPr name="Group 10" id="10"/>
            <p:cNvGrpSpPr/>
            <p:nvPr/>
          </p:nvGrpSpPr>
          <p:grpSpPr>
            <a:xfrm rot="0">
              <a:off x="232837" y="0"/>
              <a:ext cx="2654369" cy="1202833"/>
              <a:chOff x="0" y="0"/>
              <a:chExt cx="567034" cy="256952"/>
            </a:xfrm>
          </p:grpSpPr>
          <p:sp>
            <p:nvSpPr>
              <p:cNvPr name="Freeform 11" id="11"/>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12" id="12"/>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NETWORK</a:t>
                </a:r>
              </a:p>
            </p:txBody>
          </p:sp>
        </p:grpSp>
        <p:grpSp>
          <p:nvGrpSpPr>
            <p:cNvPr name="Group 13" id="13"/>
            <p:cNvGrpSpPr/>
            <p:nvPr/>
          </p:nvGrpSpPr>
          <p:grpSpPr>
            <a:xfrm rot="0">
              <a:off x="0" y="3672678"/>
              <a:ext cx="3120043" cy="1790486"/>
              <a:chOff x="0" y="0"/>
              <a:chExt cx="951616" cy="546100"/>
            </a:xfrm>
          </p:grpSpPr>
          <p:sp>
            <p:nvSpPr>
              <p:cNvPr name="Freeform 14" id="14"/>
              <p:cNvSpPr/>
              <p:nvPr/>
            </p:nvSpPr>
            <p:spPr>
              <a:xfrm flipH="false" flipV="false" rot="0">
                <a:off x="0" y="0"/>
                <a:ext cx="951616" cy="539683"/>
              </a:xfrm>
              <a:custGeom>
                <a:avLst/>
                <a:gdLst/>
                <a:ahLst/>
                <a:cxnLst/>
                <a:rect r="r" b="b" t="t" l="l"/>
                <a:pathLst>
                  <a:path h="539683" w="951616">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sp>
          <p:sp>
            <p:nvSpPr>
              <p:cNvPr name="TextBox 15" id="15"/>
              <p:cNvSpPr txBox="true"/>
              <p:nvPr/>
            </p:nvSpPr>
            <p:spPr>
              <a:xfrm>
                <a:off x="0" y="-12700"/>
                <a:ext cx="951616" cy="330200"/>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CONNECT STORAGE</a:t>
                </a:r>
              </a:p>
              <a:p>
                <a:pPr algn="ctr">
                  <a:lnSpc>
                    <a:spcPts val="2240"/>
                  </a:lnSpc>
                </a:pPr>
                <a:r>
                  <a:rPr lang="en-US" b="true" sz="1600">
                    <a:solidFill>
                      <a:srgbClr val="FFFFFF"/>
                    </a:solidFill>
                    <a:latin typeface="DM Sans Bold"/>
                    <a:ea typeface="DM Sans Bold"/>
                    <a:cs typeface="DM Sans Bold"/>
                    <a:sym typeface="DM Sans Bold"/>
                  </a:rPr>
                  <a:t>(BACKUPS)</a:t>
                </a:r>
              </a:p>
            </p:txBody>
          </p:sp>
        </p:grpSp>
        <p:grpSp>
          <p:nvGrpSpPr>
            <p:cNvPr name="Group 16" id="16"/>
            <p:cNvGrpSpPr/>
            <p:nvPr/>
          </p:nvGrpSpPr>
          <p:grpSpPr>
            <a:xfrm rot="0">
              <a:off x="466045" y="6016200"/>
              <a:ext cx="2187952" cy="2187952"/>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sp>
          <p:sp>
            <p:nvSpPr>
              <p:cNvPr name="TextBox 18" id="18"/>
              <p:cNvSpPr txBox="true"/>
              <p:nvPr/>
            </p:nvSpPr>
            <p:spPr>
              <a:xfrm>
                <a:off x="152400" y="114300"/>
                <a:ext cx="508000" cy="546100"/>
              </a:xfrm>
              <a:prstGeom prst="rect">
                <a:avLst/>
              </a:prstGeom>
            </p:spPr>
            <p:txBody>
              <a:bodyPr anchor="ctr" rtlCol="false" tIns="50800" lIns="50800" bIns="50800" rIns="50800"/>
              <a:lstStyle/>
              <a:p>
                <a:pPr algn="ctr">
                  <a:lnSpc>
                    <a:spcPts val="2239"/>
                  </a:lnSpc>
                </a:pPr>
                <a:r>
                  <a:rPr lang="en-US" b="true" sz="1599">
                    <a:solidFill>
                      <a:srgbClr val="FFFFFF"/>
                    </a:solidFill>
                    <a:latin typeface="DM Sans Bold"/>
                    <a:ea typeface="DM Sans Bold"/>
                    <a:cs typeface="DM Sans Bold"/>
                    <a:sym typeface="DM Sans Bold"/>
                  </a:rPr>
                  <a:t>RECOVER AD</a:t>
                </a:r>
              </a:p>
            </p:txBody>
          </p:sp>
        </p:grpSp>
        <p:grpSp>
          <p:nvGrpSpPr>
            <p:cNvPr name="Group 19" id="19"/>
            <p:cNvGrpSpPr/>
            <p:nvPr/>
          </p:nvGrpSpPr>
          <p:grpSpPr>
            <a:xfrm rot="0">
              <a:off x="670249" y="10472398"/>
              <a:ext cx="1779544" cy="1866351"/>
              <a:chOff x="0" y="0"/>
              <a:chExt cx="520700" cy="546100"/>
            </a:xfrm>
          </p:grpSpPr>
          <p:sp>
            <p:nvSpPr>
              <p:cNvPr name="Freeform 20" id="20"/>
              <p:cNvSpPr/>
              <p:nvPr/>
            </p:nvSpPr>
            <p:spPr>
              <a:xfrm flipH="false" flipV="false" rot="0">
                <a:off x="0" y="0"/>
                <a:ext cx="520700" cy="527335"/>
              </a:xfrm>
              <a:custGeom>
                <a:avLst/>
                <a:gdLst/>
                <a:ahLst/>
                <a:cxnLst/>
                <a:rect r="r" b="b" t="t" l="l"/>
                <a:pathLst>
                  <a:path h="527335" w="520700">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sp>
          <p:sp>
            <p:nvSpPr>
              <p:cNvPr name="TextBox 21" id="21"/>
              <p:cNvSpPr txBox="true"/>
              <p:nvPr/>
            </p:nvSpPr>
            <p:spPr>
              <a:xfrm>
                <a:off x="0" y="-12700"/>
                <a:ext cx="520700" cy="330200"/>
              </a:xfrm>
              <a:prstGeom prst="rect">
                <a:avLst/>
              </a:prstGeom>
            </p:spPr>
            <p:txBody>
              <a:bodyPr anchor="ctr" rtlCol="false" tIns="50800" lIns="50800" bIns="50800" rIns="50800"/>
              <a:lstStyle/>
              <a:p>
                <a:pPr algn="ctr">
                  <a:lnSpc>
                    <a:spcPts val="2520"/>
                  </a:lnSpc>
                </a:pPr>
                <a:r>
                  <a:rPr lang="en-US" b="true" sz="1800">
                    <a:solidFill>
                      <a:srgbClr val="FFFFFF"/>
                    </a:solidFill>
                    <a:latin typeface="DM Sans Bold"/>
                    <a:ea typeface="DM Sans Bold"/>
                    <a:cs typeface="DM Sans Bold"/>
                    <a:sym typeface="DM Sans Bold"/>
                  </a:rPr>
                  <a:t>RECOVER APPS</a:t>
                </a:r>
              </a:p>
            </p:txBody>
          </p:sp>
        </p:grpSp>
        <p:grpSp>
          <p:nvGrpSpPr>
            <p:cNvPr name="Group 22" id="22"/>
            <p:cNvGrpSpPr/>
            <p:nvPr/>
          </p:nvGrpSpPr>
          <p:grpSpPr>
            <a:xfrm rot="0">
              <a:off x="232837" y="1861488"/>
              <a:ext cx="2654369" cy="1202833"/>
              <a:chOff x="0" y="0"/>
              <a:chExt cx="567034" cy="256952"/>
            </a:xfrm>
          </p:grpSpPr>
          <p:sp>
            <p:nvSpPr>
              <p:cNvPr name="Freeform 23" id="23"/>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4" id="24"/>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COMPUTE</a:t>
                </a:r>
              </a:p>
            </p:txBody>
          </p:sp>
        </p:grpSp>
        <p:grpSp>
          <p:nvGrpSpPr>
            <p:cNvPr name="Group 25" id="25"/>
            <p:cNvGrpSpPr/>
            <p:nvPr/>
          </p:nvGrpSpPr>
          <p:grpSpPr>
            <a:xfrm rot="0">
              <a:off x="232837" y="8649535"/>
              <a:ext cx="2654369" cy="1202833"/>
              <a:chOff x="0" y="0"/>
              <a:chExt cx="567034" cy="256952"/>
            </a:xfrm>
          </p:grpSpPr>
          <p:sp>
            <p:nvSpPr>
              <p:cNvPr name="Freeform 26" id="26"/>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7" id="27"/>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 RCA</a:t>
                </a:r>
              </a:p>
            </p:txBody>
          </p:sp>
        </p:grpSp>
        <p:grpSp>
          <p:nvGrpSpPr>
            <p:cNvPr name="Group 28" id="28"/>
            <p:cNvGrpSpPr/>
            <p:nvPr/>
          </p:nvGrpSpPr>
          <p:grpSpPr>
            <a:xfrm rot="0">
              <a:off x="1238226" y="1036175"/>
              <a:ext cx="643591" cy="802106"/>
              <a:chOff x="0" y="0"/>
              <a:chExt cx="652172" cy="812800"/>
            </a:xfrm>
          </p:grpSpPr>
          <p:sp>
            <p:nvSpPr>
              <p:cNvPr name="Freeform 29" id="29"/>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0" id="30"/>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1" id="31"/>
            <p:cNvGrpSpPr/>
            <p:nvPr/>
          </p:nvGrpSpPr>
          <p:grpSpPr>
            <a:xfrm rot="0">
              <a:off x="1238226" y="2908403"/>
              <a:ext cx="643591" cy="802106"/>
              <a:chOff x="0" y="0"/>
              <a:chExt cx="652172" cy="812800"/>
            </a:xfrm>
          </p:grpSpPr>
          <p:sp>
            <p:nvSpPr>
              <p:cNvPr name="Freeform 32" id="32"/>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3" id="33"/>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4" id="34"/>
            <p:cNvGrpSpPr/>
            <p:nvPr/>
          </p:nvGrpSpPr>
          <p:grpSpPr>
            <a:xfrm rot="0">
              <a:off x="1238226" y="5163873"/>
              <a:ext cx="643591" cy="802106"/>
              <a:chOff x="0" y="0"/>
              <a:chExt cx="652172" cy="812800"/>
            </a:xfrm>
          </p:grpSpPr>
          <p:sp>
            <p:nvSpPr>
              <p:cNvPr name="Freeform 35" id="35"/>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6" id="36"/>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7" id="37"/>
            <p:cNvGrpSpPr/>
            <p:nvPr/>
          </p:nvGrpSpPr>
          <p:grpSpPr>
            <a:xfrm rot="0">
              <a:off x="1238226" y="7847428"/>
              <a:ext cx="643591" cy="802106"/>
              <a:chOff x="0" y="0"/>
              <a:chExt cx="652172" cy="812800"/>
            </a:xfrm>
          </p:grpSpPr>
          <p:sp>
            <p:nvSpPr>
              <p:cNvPr name="Freeform 38" id="38"/>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9" id="39"/>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0" id="40"/>
            <p:cNvGrpSpPr/>
            <p:nvPr/>
          </p:nvGrpSpPr>
          <p:grpSpPr>
            <a:xfrm rot="0">
              <a:off x="1238226" y="9620892"/>
              <a:ext cx="643591" cy="802106"/>
              <a:chOff x="0" y="0"/>
              <a:chExt cx="652172" cy="812800"/>
            </a:xfrm>
          </p:grpSpPr>
          <p:sp>
            <p:nvSpPr>
              <p:cNvPr name="Freeform 41" id="41"/>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2" id="42"/>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737373"/>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
        <p:nvSpPr>
          <p:cNvPr name="TextBox 7" id="7"/>
          <p:cNvSpPr txBox="true"/>
          <p:nvPr/>
        </p:nvSpPr>
        <p:spPr>
          <a:xfrm rot="0">
            <a:off x="1076985" y="4256624"/>
            <a:ext cx="8510550" cy="42227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Technical Musts</a:t>
            </a:r>
          </a:p>
        </p:txBody>
      </p:sp>
      <p:sp>
        <p:nvSpPr>
          <p:cNvPr name="TextBox 8" id="8"/>
          <p:cNvSpPr txBox="true"/>
          <p:nvPr/>
        </p:nvSpPr>
        <p:spPr>
          <a:xfrm rot="0">
            <a:off x="1229385" y="5651530"/>
            <a:ext cx="5535235" cy="606425"/>
          </a:xfrm>
          <a:prstGeom prst="rect">
            <a:avLst/>
          </a:prstGeom>
        </p:spPr>
        <p:txBody>
          <a:bodyPr anchor="t" rtlCol="false" tIns="0" lIns="0" bIns="0" rIns="0">
            <a:spAutoFit/>
          </a:bodyPr>
          <a:lstStyle/>
          <a:p>
            <a:pPr algn="just">
              <a:lnSpc>
                <a:spcPts val="4900"/>
              </a:lnSpc>
            </a:pPr>
            <a:r>
              <a:rPr lang="en-US" sz="3500">
                <a:solidFill>
                  <a:srgbClr val="FFFFFF"/>
                </a:solidFill>
                <a:latin typeface="DM Sans"/>
                <a:ea typeface="DM Sans"/>
                <a:cs typeface="DM Sans"/>
                <a:sym typeface="DM Sans"/>
              </a:rPr>
              <a:t>Can it be secured?</a:t>
            </a:r>
          </a:p>
        </p:txBody>
      </p:sp>
      <p:sp>
        <p:nvSpPr>
          <p:cNvPr name="TextBox 9" id="9"/>
          <p:cNvSpPr txBox="true"/>
          <p:nvPr/>
        </p:nvSpPr>
        <p:spPr>
          <a:xfrm rot="0">
            <a:off x="1229385" y="4900946"/>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restore? AD?</a:t>
            </a:r>
          </a:p>
        </p:txBody>
      </p:sp>
      <p:grpSp>
        <p:nvGrpSpPr>
          <p:cNvPr name="Group 10" id="10"/>
          <p:cNvGrpSpPr/>
          <p:nvPr/>
        </p:nvGrpSpPr>
        <p:grpSpPr>
          <a:xfrm rot="0">
            <a:off x="13109300" y="350115"/>
            <a:ext cx="2340032" cy="9254061"/>
            <a:chOff x="0" y="0"/>
            <a:chExt cx="3120043" cy="12338749"/>
          </a:xfrm>
        </p:grpSpPr>
        <p:grpSp>
          <p:nvGrpSpPr>
            <p:cNvPr name="Group 11" id="11"/>
            <p:cNvGrpSpPr/>
            <p:nvPr/>
          </p:nvGrpSpPr>
          <p:grpSpPr>
            <a:xfrm rot="0">
              <a:off x="232837" y="0"/>
              <a:ext cx="2654369" cy="1202833"/>
              <a:chOff x="0" y="0"/>
              <a:chExt cx="567034" cy="256952"/>
            </a:xfrm>
          </p:grpSpPr>
          <p:sp>
            <p:nvSpPr>
              <p:cNvPr name="Freeform 12" id="12"/>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13" id="13"/>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NETWORK</a:t>
                </a:r>
              </a:p>
            </p:txBody>
          </p:sp>
        </p:grpSp>
        <p:grpSp>
          <p:nvGrpSpPr>
            <p:cNvPr name="Group 14" id="14"/>
            <p:cNvGrpSpPr/>
            <p:nvPr/>
          </p:nvGrpSpPr>
          <p:grpSpPr>
            <a:xfrm rot="0">
              <a:off x="0" y="3672678"/>
              <a:ext cx="3120043" cy="1790486"/>
              <a:chOff x="0" y="0"/>
              <a:chExt cx="951616" cy="546100"/>
            </a:xfrm>
          </p:grpSpPr>
          <p:sp>
            <p:nvSpPr>
              <p:cNvPr name="Freeform 15" id="15"/>
              <p:cNvSpPr/>
              <p:nvPr/>
            </p:nvSpPr>
            <p:spPr>
              <a:xfrm flipH="false" flipV="false" rot="0">
                <a:off x="0" y="0"/>
                <a:ext cx="951616" cy="539683"/>
              </a:xfrm>
              <a:custGeom>
                <a:avLst/>
                <a:gdLst/>
                <a:ahLst/>
                <a:cxnLst/>
                <a:rect r="r" b="b" t="t" l="l"/>
                <a:pathLst>
                  <a:path h="539683" w="951616">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sp>
          <p:sp>
            <p:nvSpPr>
              <p:cNvPr name="TextBox 16" id="16"/>
              <p:cNvSpPr txBox="true"/>
              <p:nvPr/>
            </p:nvSpPr>
            <p:spPr>
              <a:xfrm>
                <a:off x="0" y="-12700"/>
                <a:ext cx="951616" cy="330200"/>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CONNECT STORAGE</a:t>
                </a:r>
              </a:p>
              <a:p>
                <a:pPr algn="ctr">
                  <a:lnSpc>
                    <a:spcPts val="2240"/>
                  </a:lnSpc>
                </a:pPr>
                <a:r>
                  <a:rPr lang="en-US" b="true" sz="1600">
                    <a:solidFill>
                      <a:srgbClr val="FFFFFF"/>
                    </a:solidFill>
                    <a:latin typeface="DM Sans Bold"/>
                    <a:ea typeface="DM Sans Bold"/>
                    <a:cs typeface="DM Sans Bold"/>
                    <a:sym typeface="DM Sans Bold"/>
                  </a:rPr>
                  <a:t>(BACKUPS)</a:t>
                </a:r>
              </a:p>
            </p:txBody>
          </p:sp>
        </p:grpSp>
        <p:grpSp>
          <p:nvGrpSpPr>
            <p:cNvPr name="Group 17" id="17"/>
            <p:cNvGrpSpPr/>
            <p:nvPr/>
          </p:nvGrpSpPr>
          <p:grpSpPr>
            <a:xfrm rot="0">
              <a:off x="466045" y="6016200"/>
              <a:ext cx="2187952" cy="218795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sp>
          <p:sp>
            <p:nvSpPr>
              <p:cNvPr name="TextBox 19" id="19"/>
              <p:cNvSpPr txBox="true"/>
              <p:nvPr/>
            </p:nvSpPr>
            <p:spPr>
              <a:xfrm>
                <a:off x="152400" y="114300"/>
                <a:ext cx="508000" cy="546100"/>
              </a:xfrm>
              <a:prstGeom prst="rect">
                <a:avLst/>
              </a:prstGeom>
            </p:spPr>
            <p:txBody>
              <a:bodyPr anchor="ctr" rtlCol="false" tIns="50800" lIns="50800" bIns="50800" rIns="50800"/>
              <a:lstStyle/>
              <a:p>
                <a:pPr algn="ctr">
                  <a:lnSpc>
                    <a:spcPts val="2239"/>
                  </a:lnSpc>
                </a:pPr>
                <a:r>
                  <a:rPr lang="en-US" b="true" sz="1599">
                    <a:solidFill>
                      <a:srgbClr val="FFFFFF"/>
                    </a:solidFill>
                    <a:latin typeface="DM Sans Bold"/>
                    <a:ea typeface="DM Sans Bold"/>
                    <a:cs typeface="DM Sans Bold"/>
                    <a:sym typeface="DM Sans Bold"/>
                  </a:rPr>
                  <a:t>RECOVER AD</a:t>
                </a:r>
              </a:p>
            </p:txBody>
          </p:sp>
        </p:grpSp>
        <p:grpSp>
          <p:nvGrpSpPr>
            <p:cNvPr name="Group 20" id="20"/>
            <p:cNvGrpSpPr/>
            <p:nvPr/>
          </p:nvGrpSpPr>
          <p:grpSpPr>
            <a:xfrm rot="0">
              <a:off x="670249" y="10472398"/>
              <a:ext cx="1779544" cy="1866351"/>
              <a:chOff x="0" y="0"/>
              <a:chExt cx="520700" cy="546100"/>
            </a:xfrm>
          </p:grpSpPr>
          <p:sp>
            <p:nvSpPr>
              <p:cNvPr name="Freeform 21" id="21"/>
              <p:cNvSpPr/>
              <p:nvPr/>
            </p:nvSpPr>
            <p:spPr>
              <a:xfrm flipH="false" flipV="false" rot="0">
                <a:off x="0" y="0"/>
                <a:ext cx="520700" cy="527335"/>
              </a:xfrm>
              <a:custGeom>
                <a:avLst/>
                <a:gdLst/>
                <a:ahLst/>
                <a:cxnLst/>
                <a:rect r="r" b="b" t="t" l="l"/>
                <a:pathLst>
                  <a:path h="527335" w="520700">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sp>
          <p:sp>
            <p:nvSpPr>
              <p:cNvPr name="TextBox 22" id="22"/>
              <p:cNvSpPr txBox="true"/>
              <p:nvPr/>
            </p:nvSpPr>
            <p:spPr>
              <a:xfrm>
                <a:off x="0" y="-12700"/>
                <a:ext cx="520700" cy="330200"/>
              </a:xfrm>
              <a:prstGeom prst="rect">
                <a:avLst/>
              </a:prstGeom>
            </p:spPr>
            <p:txBody>
              <a:bodyPr anchor="ctr" rtlCol="false" tIns="50800" lIns="50800" bIns="50800" rIns="50800"/>
              <a:lstStyle/>
              <a:p>
                <a:pPr algn="ctr">
                  <a:lnSpc>
                    <a:spcPts val="2520"/>
                  </a:lnSpc>
                </a:pPr>
                <a:r>
                  <a:rPr lang="en-US" b="true" sz="1800">
                    <a:solidFill>
                      <a:srgbClr val="FFFFFF"/>
                    </a:solidFill>
                    <a:latin typeface="DM Sans Bold"/>
                    <a:ea typeface="DM Sans Bold"/>
                    <a:cs typeface="DM Sans Bold"/>
                    <a:sym typeface="DM Sans Bold"/>
                  </a:rPr>
                  <a:t>RECOVER APPS</a:t>
                </a:r>
              </a:p>
            </p:txBody>
          </p:sp>
        </p:grpSp>
        <p:grpSp>
          <p:nvGrpSpPr>
            <p:cNvPr name="Group 23" id="23"/>
            <p:cNvGrpSpPr/>
            <p:nvPr/>
          </p:nvGrpSpPr>
          <p:grpSpPr>
            <a:xfrm rot="0">
              <a:off x="232837" y="1861488"/>
              <a:ext cx="2654369" cy="1202833"/>
              <a:chOff x="0" y="0"/>
              <a:chExt cx="567034" cy="256952"/>
            </a:xfrm>
          </p:grpSpPr>
          <p:sp>
            <p:nvSpPr>
              <p:cNvPr name="Freeform 24" id="24"/>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5" id="25"/>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COMPUTE</a:t>
                </a:r>
              </a:p>
            </p:txBody>
          </p:sp>
        </p:grpSp>
        <p:grpSp>
          <p:nvGrpSpPr>
            <p:cNvPr name="Group 26" id="26"/>
            <p:cNvGrpSpPr/>
            <p:nvPr/>
          </p:nvGrpSpPr>
          <p:grpSpPr>
            <a:xfrm rot="0">
              <a:off x="232837" y="8649535"/>
              <a:ext cx="2654369" cy="1202833"/>
              <a:chOff x="0" y="0"/>
              <a:chExt cx="567034" cy="256952"/>
            </a:xfrm>
          </p:grpSpPr>
          <p:sp>
            <p:nvSpPr>
              <p:cNvPr name="Freeform 27" id="27"/>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8" id="28"/>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 RCA</a:t>
                </a:r>
              </a:p>
            </p:txBody>
          </p:sp>
        </p:grpSp>
        <p:grpSp>
          <p:nvGrpSpPr>
            <p:cNvPr name="Group 29" id="29"/>
            <p:cNvGrpSpPr/>
            <p:nvPr/>
          </p:nvGrpSpPr>
          <p:grpSpPr>
            <a:xfrm rot="0">
              <a:off x="1238226" y="1036175"/>
              <a:ext cx="643591" cy="802106"/>
              <a:chOff x="0" y="0"/>
              <a:chExt cx="652172" cy="812800"/>
            </a:xfrm>
          </p:grpSpPr>
          <p:sp>
            <p:nvSpPr>
              <p:cNvPr name="Freeform 30" id="30"/>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1" id="31"/>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2" id="32"/>
            <p:cNvGrpSpPr/>
            <p:nvPr/>
          </p:nvGrpSpPr>
          <p:grpSpPr>
            <a:xfrm rot="0">
              <a:off x="1238226" y="2908403"/>
              <a:ext cx="643591" cy="802106"/>
              <a:chOff x="0" y="0"/>
              <a:chExt cx="652172" cy="812800"/>
            </a:xfrm>
          </p:grpSpPr>
          <p:sp>
            <p:nvSpPr>
              <p:cNvPr name="Freeform 33" id="33"/>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4" id="34"/>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5" id="35"/>
            <p:cNvGrpSpPr/>
            <p:nvPr/>
          </p:nvGrpSpPr>
          <p:grpSpPr>
            <a:xfrm rot="0">
              <a:off x="1238226" y="5163873"/>
              <a:ext cx="643591" cy="802106"/>
              <a:chOff x="0" y="0"/>
              <a:chExt cx="652172" cy="812800"/>
            </a:xfrm>
          </p:grpSpPr>
          <p:sp>
            <p:nvSpPr>
              <p:cNvPr name="Freeform 36" id="36"/>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7" id="37"/>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8" id="38"/>
            <p:cNvGrpSpPr/>
            <p:nvPr/>
          </p:nvGrpSpPr>
          <p:grpSpPr>
            <a:xfrm rot="0">
              <a:off x="1238226" y="7847428"/>
              <a:ext cx="643591" cy="802106"/>
              <a:chOff x="0" y="0"/>
              <a:chExt cx="652172" cy="812800"/>
            </a:xfrm>
          </p:grpSpPr>
          <p:sp>
            <p:nvSpPr>
              <p:cNvPr name="Freeform 39" id="39"/>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0" id="40"/>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1" id="41"/>
            <p:cNvGrpSpPr/>
            <p:nvPr/>
          </p:nvGrpSpPr>
          <p:grpSpPr>
            <a:xfrm rot="0">
              <a:off x="1238226" y="9620892"/>
              <a:ext cx="643591" cy="802106"/>
              <a:chOff x="0" y="0"/>
              <a:chExt cx="652172" cy="812800"/>
            </a:xfrm>
          </p:grpSpPr>
          <p:sp>
            <p:nvSpPr>
              <p:cNvPr name="Freeform 42" id="42"/>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3" id="43"/>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spTree>
  </p:cSld>
  <p:clrMapOvr>
    <a:masterClrMapping/>
  </p:clrMapOvr>
</p:sld>
</file>

<file path=ppt/slides/slide13.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737373"/>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
        <p:nvSpPr>
          <p:cNvPr name="TextBox 7" id="7"/>
          <p:cNvSpPr txBox="true"/>
          <p:nvPr/>
        </p:nvSpPr>
        <p:spPr>
          <a:xfrm rot="0">
            <a:off x="1076985" y="4256624"/>
            <a:ext cx="8510550" cy="42227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Technical Musts</a:t>
            </a:r>
          </a:p>
        </p:txBody>
      </p:sp>
      <p:sp>
        <p:nvSpPr>
          <p:cNvPr name="TextBox 8" id="8"/>
          <p:cNvSpPr txBox="true"/>
          <p:nvPr/>
        </p:nvSpPr>
        <p:spPr>
          <a:xfrm rot="0">
            <a:off x="1229385" y="5651530"/>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name="TextBox 9" id="9"/>
          <p:cNvSpPr txBox="true"/>
          <p:nvPr/>
        </p:nvSpPr>
        <p:spPr>
          <a:xfrm rot="0">
            <a:off x="1229385" y="4900946"/>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name="TextBox 10" id="10"/>
          <p:cNvSpPr txBox="true"/>
          <p:nvPr/>
        </p:nvSpPr>
        <p:spPr>
          <a:xfrm rot="0">
            <a:off x="1229385" y="6402115"/>
            <a:ext cx="5535235" cy="606425"/>
          </a:xfrm>
          <a:prstGeom prst="rect">
            <a:avLst/>
          </a:prstGeom>
        </p:spPr>
        <p:txBody>
          <a:bodyPr anchor="t" rtlCol="false" tIns="0" lIns="0" bIns="0" rIns="0">
            <a:spAutoFit/>
          </a:bodyPr>
          <a:lstStyle/>
          <a:p>
            <a:pPr algn="just">
              <a:lnSpc>
                <a:spcPts val="4900"/>
              </a:lnSpc>
            </a:pPr>
            <a:r>
              <a:rPr lang="en-US" sz="3500">
                <a:solidFill>
                  <a:srgbClr val="FFFFFF"/>
                </a:solidFill>
                <a:latin typeface="DM Sans"/>
                <a:ea typeface="DM Sans"/>
                <a:cs typeface="DM Sans"/>
                <a:sym typeface="DM Sans"/>
              </a:rPr>
              <a:t>Is it supported?</a:t>
            </a:r>
          </a:p>
        </p:txBody>
      </p:sp>
      <p:grpSp>
        <p:nvGrpSpPr>
          <p:cNvPr name="Group 11" id="11"/>
          <p:cNvGrpSpPr/>
          <p:nvPr/>
        </p:nvGrpSpPr>
        <p:grpSpPr>
          <a:xfrm rot="0">
            <a:off x="13109300" y="350115"/>
            <a:ext cx="2340032" cy="9254061"/>
            <a:chOff x="0" y="0"/>
            <a:chExt cx="3120043" cy="12338749"/>
          </a:xfrm>
        </p:grpSpPr>
        <p:grpSp>
          <p:nvGrpSpPr>
            <p:cNvPr name="Group 12" id="12"/>
            <p:cNvGrpSpPr/>
            <p:nvPr/>
          </p:nvGrpSpPr>
          <p:grpSpPr>
            <a:xfrm rot="0">
              <a:off x="232837" y="0"/>
              <a:ext cx="2654369" cy="1202833"/>
              <a:chOff x="0" y="0"/>
              <a:chExt cx="567034" cy="256952"/>
            </a:xfrm>
          </p:grpSpPr>
          <p:sp>
            <p:nvSpPr>
              <p:cNvPr name="Freeform 13" id="13"/>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14" id="14"/>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NETWORK</a:t>
                </a:r>
              </a:p>
            </p:txBody>
          </p:sp>
        </p:grpSp>
        <p:grpSp>
          <p:nvGrpSpPr>
            <p:cNvPr name="Group 15" id="15"/>
            <p:cNvGrpSpPr/>
            <p:nvPr/>
          </p:nvGrpSpPr>
          <p:grpSpPr>
            <a:xfrm rot="0">
              <a:off x="0" y="3672678"/>
              <a:ext cx="3120043" cy="1790486"/>
              <a:chOff x="0" y="0"/>
              <a:chExt cx="951616" cy="546100"/>
            </a:xfrm>
          </p:grpSpPr>
          <p:sp>
            <p:nvSpPr>
              <p:cNvPr name="Freeform 16" id="16"/>
              <p:cNvSpPr/>
              <p:nvPr/>
            </p:nvSpPr>
            <p:spPr>
              <a:xfrm flipH="false" flipV="false" rot="0">
                <a:off x="0" y="0"/>
                <a:ext cx="951616" cy="539683"/>
              </a:xfrm>
              <a:custGeom>
                <a:avLst/>
                <a:gdLst/>
                <a:ahLst/>
                <a:cxnLst/>
                <a:rect r="r" b="b" t="t" l="l"/>
                <a:pathLst>
                  <a:path h="539683" w="951616">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sp>
          <p:sp>
            <p:nvSpPr>
              <p:cNvPr name="TextBox 17" id="17"/>
              <p:cNvSpPr txBox="true"/>
              <p:nvPr/>
            </p:nvSpPr>
            <p:spPr>
              <a:xfrm>
                <a:off x="0" y="-12700"/>
                <a:ext cx="951616" cy="330200"/>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CONNECT STORAGE</a:t>
                </a:r>
              </a:p>
              <a:p>
                <a:pPr algn="ctr">
                  <a:lnSpc>
                    <a:spcPts val="2240"/>
                  </a:lnSpc>
                </a:pPr>
                <a:r>
                  <a:rPr lang="en-US" b="true" sz="1600">
                    <a:solidFill>
                      <a:srgbClr val="FFFFFF"/>
                    </a:solidFill>
                    <a:latin typeface="DM Sans Bold"/>
                    <a:ea typeface="DM Sans Bold"/>
                    <a:cs typeface="DM Sans Bold"/>
                    <a:sym typeface="DM Sans Bold"/>
                  </a:rPr>
                  <a:t>(BACKUPS)</a:t>
                </a:r>
              </a:p>
            </p:txBody>
          </p:sp>
        </p:grpSp>
        <p:grpSp>
          <p:nvGrpSpPr>
            <p:cNvPr name="Group 18" id="18"/>
            <p:cNvGrpSpPr/>
            <p:nvPr/>
          </p:nvGrpSpPr>
          <p:grpSpPr>
            <a:xfrm rot="0">
              <a:off x="466045" y="6016200"/>
              <a:ext cx="2187952" cy="218795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sp>
          <p:sp>
            <p:nvSpPr>
              <p:cNvPr name="TextBox 20" id="20"/>
              <p:cNvSpPr txBox="true"/>
              <p:nvPr/>
            </p:nvSpPr>
            <p:spPr>
              <a:xfrm>
                <a:off x="152400" y="114300"/>
                <a:ext cx="508000" cy="546100"/>
              </a:xfrm>
              <a:prstGeom prst="rect">
                <a:avLst/>
              </a:prstGeom>
            </p:spPr>
            <p:txBody>
              <a:bodyPr anchor="ctr" rtlCol="false" tIns="50800" lIns="50800" bIns="50800" rIns="50800"/>
              <a:lstStyle/>
              <a:p>
                <a:pPr algn="ctr">
                  <a:lnSpc>
                    <a:spcPts val="2239"/>
                  </a:lnSpc>
                </a:pPr>
                <a:r>
                  <a:rPr lang="en-US" b="true" sz="1599">
                    <a:solidFill>
                      <a:srgbClr val="FFFFFF"/>
                    </a:solidFill>
                    <a:latin typeface="DM Sans Bold"/>
                    <a:ea typeface="DM Sans Bold"/>
                    <a:cs typeface="DM Sans Bold"/>
                    <a:sym typeface="DM Sans Bold"/>
                  </a:rPr>
                  <a:t>RECOVER AD</a:t>
                </a:r>
              </a:p>
            </p:txBody>
          </p:sp>
        </p:grpSp>
        <p:grpSp>
          <p:nvGrpSpPr>
            <p:cNvPr name="Group 21" id="21"/>
            <p:cNvGrpSpPr/>
            <p:nvPr/>
          </p:nvGrpSpPr>
          <p:grpSpPr>
            <a:xfrm rot="0">
              <a:off x="670249" y="10472398"/>
              <a:ext cx="1779544" cy="1866351"/>
              <a:chOff x="0" y="0"/>
              <a:chExt cx="520700" cy="546100"/>
            </a:xfrm>
          </p:grpSpPr>
          <p:sp>
            <p:nvSpPr>
              <p:cNvPr name="Freeform 22" id="22"/>
              <p:cNvSpPr/>
              <p:nvPr/>
            </p:nvSpPr>
            <p:spPr>
              <a:xfrm flipH="false" flipV="false" rot="0">
                <a:off x="0" y="0"/>
                <a:ext cx="520700" cy="527335"/>
              </a:xfrm>
              <a:custGeom>
                <a:avLst/>
                <a:gdLst/>
                <a:ahLst/>
                <a:cxnLst/>
                <a:rect r="r" b="b" t="t" l="l"/>
                <a:pathLst>
                  <a:path h="527335" w="520700">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sp>
          <p:sp>
            <p:nvSpPr>
              <p:cNvPr name="TextBox 23" id="23"/>
              <p:cNvSpPr txBox="true"/>
              <p:nvPr/>
            </p:nvSpPr>
            <p:spPr>
              <a:xfrm>
                <a:off x="0" y="-12700"/>
                <a:ext cx="520700" cy="330200"/>
              </a:xfrm>
              <a:prstGeom prst="rect">
                <a:avLst/>
              </a:prstGeom>
            </p:spPr>
            <p:txBody>
              <a:bodyPr anchor="ctr" rtlCol="false" tIns="50800" lIns="50800" bIns="50800" rIns="50800"/>
              <a:lstStyle/>
              <a:p>
                <a:pPr algn="ctr">
                  <a:lnSpc>
                    <a:spcPts val="2520"/>
                  </a:lnSpc>
                </a:pPr>
                <a:r>
                  <a:rPr lang="en-US" b="true" sz="1800">
                    <a:solidFill>
                      <a:srgbClr val="FFFFFF"/>
                    </a:solidFill>
                    <a:latin typeface="DM Sans Bold"/>
                    <a:ea typeface="DM Sans Bold"/>
                    <a:cs typeface="DM Sans Bold"/>
                    <a:sym typeface="DM Sans Bold"/>
                  </a:rPr>
                  <a:t>RECOVER APPS</a:t>
                </a:r>
              </a:p>
            </p:txBody>
          </p:sp>
        </p:grpSp>
        <p:grpSp>
          <p:nvGrpSpPr>
            <p:cNvPr name="Group 24" id="24"/>
            <p:cNvGrpSpPr/>
            <p:nvPr/>
          </p:nvGrpSpPr>
          <p:grpSpPr>
            <a:xfrm rot="0">
              <a:off x="232837" y="1861488"/>
              <a:ext cx="2654369" cy="1202833"/>
              <a:chOff x="0" y="0"/>
              <a:chExt cx="567034" cy="256952"/>
            </a:xfrm>
          </p:grpSpPr>
          <p:sp>
            <p:nvSpPr>
              <p:cNvPr name="Freeform 25" id="25"/>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6" id="26"/>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COMPUTE</a:t>
                </a:r>
              </a:p>
            </p:txBody>
          </p:sp>
        </p:grpSp>
        <p:grpSp>
          <p:nvGrpSpPr>
            <p:cNvPr name="Group 27" id="27"/>
            <p:cNvGrpSpPr/>
            <p:nvPr/>
          </p:nvGrpSpPr>
          <p:grpSpPr>
            <a:xfrm rot="0">
              <a:off x="232837" y="8649535"/>
              <a:ext cx="2654369" cy="1202833"/>
              <a:chOff x="0" y="0"/>
              <a:chExt cx="567034" cy="256952"/>
            </a:xfrm>
          </p:grpSpPr>
          <p:sp>
            <p:nvSpPr>
              <p:cNvPr name="Freeform 28" id="28"/>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9" id="29"/>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 RCA</a:t>
                </a:r>
              </a:p>
            </p:txBody>
          </p:sp>
        </p:grpSp>
        <p:grpSp>
          <p:nvGrpSpPr>
            <p:cNvPr name="Group 30" id="30"/>
            <p:cNvGrpSpPr/>
            <p:nvPr/>
          </p:nvGrpSpPr>
          <p:grpSpPr>
            <a:xfrm rot="0">
              <a:off x="1238226" y="1036175"/>
              <a:ext cx="643591" cy="802106"/>
              <a:chOff x="0" y="0"/>
              <a:chExt cx="652172" cy="812800"/>
            </a:xfrm>
          </p:grpSpPr>
          <p:sp>
            <p:nvSpPr>
              <p:cNvPr name="Freeform 31" id="31"/>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2" id="32"/>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3" id="33"/>
            <p:cNvGrpSpPr/>
            <p:nvPr/>
          </p:nvGrpSpPr>
          <p:grpSpPr>
            <a:xfrm rot="0">
              <a:off x="1238226" y="2908403"/>
              <a:ext cx="643591" cy="802106"/>
              <a:chOff x="0" y="0"/>
              <a:chExt cx="652172" cy="812800"/>
            </a:xfrm>
          </p:grpSpPr>
          <p:sp>
            <p:nvSpPr>
              <p:cNvPr name="Freeform 34" id="34"/>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5" id="35"/>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6" id="36"/>
            <p:cNvGrpSpPr/>
            <p:nvPr/>
          </p:nvGrpSpPr>
          <p:grpSpPr>
            <a:xfrm rot="0">
              <a:off x="1238226" y="5163873"/>
              <a:ext cx="643591" cy="802106"/>
              <a:chOff x="0" y="0"/>
              <a:chExt cx="652172" cy="812800"/>
            </a:xfrm>
          </p:grpSpPr>
          <p:sp>
            <p:nvSpPr>
              <p:cNvPr name="Freeform 37" id="37"/>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8" id="38"/>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9" id="39"/>
            <p:cNvGrpSpPr/>
            <p:nvPr/>
          </p:nvGrpSpPr>
          <p:grpSpPr>
            <a:xfrm rot="0">
              <a:off x="1238226" y="7847428"/>
              <a:ext cx="643591" cy="802106"/>
              <a:chOff x="0" y="0"/>
              <a:chExt cx="652172" cy="812800"/>
            </a:xfrm>
          </p:grpSpPr>
          <p:sp>
            <p:nvSpPr>
              <p:cNvPr name="Freeform 40" id="40"/>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1" id="41"/>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2" id="42"/>
            <p:cNvGrpSpPr/>
            <p:nvPr/>
          </p:nvGrpSpPr>
          <p:grpSpPr>
            <a:xfrm rot="0">
              <a:off x="1238226" y="9620892"/>
              <a:ext cx="643591" cy="802106"/>
              <a:chOff x="0" y="0"/>
              <a:chExt cx="652172" cy="812800"/>
            </a:xfrm>
          </p:grpSpPr>
          <p:sp>
            <p:nvSpPr>
              <p:cNvPr name="Freeform 43" id="43"/>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4" id="44"/>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spTree>
  </p:cSld>
  <p:clrMapOvr>
    <a:masterClrMapping/>
  </p:clrMapOvr>
</p:sld>
</file>

<file path=ppt/slides/slide14.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2080532"/>
            <a:ext cx="8510550" cy="1647825"/>
          </a:xfrm>
          <a:prstGeom prst="rect">
            <a:avLst/>
          </a:prstGeom>
        </p:spPr>
        <p:txBody>
          <a:bodyPr anchor="t" rtlCol="false" tIns="0" lIns="0" bIns="0" rIns="0">
            <a:spAutoFit/>
          </a:bodyPr>
          <a:lstStyle/>
          <a:p>
            <a:pPr algn="just">
              <a:lnSpc>
                <a:spcPts val="3499"/>
              </a:lnSpc>
            </a:pPr>
            <a:r>
              <a:rPr lang="en-US" sz="2499" i="true">
                <a:solidFill>
                  <a:srgbClr val="737373"/>
                </a:solidFill>
                <a:latin typeface="DM Sans Italics"/>
                <a:ea typeface="DM Sans Italics"/>
                <a:cs typeface="DM Sans Italics"/>
                <a:sym typeface="DM Sans Italics"/>
              </a:rPr>
              <a:t>Business Requirements</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Business Tolerance?</a:t>
            </a:r>
          </a:p>
          <a:p>
            <a:pPr algn="just" marL="755651" indent="-377825" lvl="1">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name="TextBox 6" id="6"/>
          <p:cNvSpPr txBox="true"/>
          <p:nvPr/>
        </p:nvSpPr>
        <p:spPr>
          <a:xfrm rot="0">
            <a:off x="684356" y="486903"/>
            <a:ext cx="6080263"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FINDING A GOOD SOLUTION</a:t>
            </a:r>
          </a:p>
        </p:txBody>
      </p:sp>
      <p:sp>
        <p:nvSpPr>
          <p:cNvPr name="TextBox 7" id="7"/>
          <p:cNvSpPr txBox="true"/>
          <p:nvPr/>
        </p:nvSpPr>
        <p:spPr>
          <a:xfrm rot="0">
            <a:off x="1076985" y="4256624"/>
            <a:ext cx="8510550" cy="422275"/>
          </a:xfrm>
          <a:prstGeom prst="rect">
            <a:avLst/>
          </a:prstGeom>
        </p:spPr>
        <p:txBody>
          <a:bodyPr anchor="t" rtlCol="false" tIns="0" lIns="0" bIns="0" rIns="0">
            <a:spAutoFit/>
          </a:bodyPr>
          <a:lstStyle/>
          <a:p>
            <a:pPr algn="just">
              <a:lnSpc>
                <a:spcPts val="3499"/>
              </a:lnSpc>
            </a:pPr>
            <a:r>
              <a:rPr lang="en-US" sz="2499" i="true">
                <a:solidFill>
                  <a:srgbClr val="FFFFFF"/>
                </a:solidFill>
                <a:latin typeface="DM Sans Italics"/>
                <a:ea typeface="DM Sans Italics"/>
                <a:cs typeface="DM Sans Italics"/>
                <a:sym typeface="DM Sans Italics"/>
              </a:rPr>
              <a:t>Technical Musts</a:t>
            </a:r>
          </a:p>
        </p:txBody>
      </p:sp>
      <p:sp>
        <p:nvSpPr>
          <p:cNvPr name="TextBox 8" id="8"/>
          <p:cNvSpPr txBox="true"/>
          <p:nvPr/>
        </p:nvSpPr>
        <p:spPr>
          <a:xfrm rot="0">
            <a:off x="1229385" y="5651530"/>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name="TextBox 9" id="9"/>
          <p:cNvSpPr txBox="true"/>
          <p:nvPr/>
        </p:nvSpPr>
        <p:spPr>
          <a:xfrm rot="0">
            <a:off x="1229385" y="4900946"/>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name="TextBox 10" id="10"/>
          <p:cNvSpPr txBox="true"/>
          <p:nvPr/>
        </p:nvSpPr>
        <p:spPr>
          <a:xfrm rot="0">
            <a:off x="1229385" y="6402115"/>
            <a:ext cx="5535235" cy="606425"/>
          </a:xfrm>
          <a:prstGeom prst="rect">
            <a:avLst/>
          </a:prstGeom>
        </p:spPr>
        <p:txBody>
          <a:bodyPr anchor="t" rtlCol="false" tIns="0" lIns="0" bIns="0" rIns="0">
            <a:spAutoFit/>
          </a:bodyPr>
          <a:lstStyle/>
          <a:p>
            <a:pPr algn="just">
              <a:lnSpc>
                <a:spcPts val="4900"/>
              </a:lnSpc>
            </a:pPr>
            <a:r>
              <a:rPr lang="en-US" sz="3500">
                <a:solidFill>
                  <a:srgbClr val="767676"/>
                </a:solidFill>
                <a:latin typeface="DM Sans"/>
                <a:ea typeface="DM Sans"/>
                <a:cs typeface="DM Sans"/>
                <a:sym typeface="DM Sans"/>
              </a:rPr>
              <a:t>Is it supported?</a:t>
            </a:r>
          </a:p>
        </p:txBody>
      </p:sp>
      <p:sp>
        <p:nvSpPr>
          <p:cNvPr name="TextBox 11" id="11"/>
          <p:cNvSpPr txBox="true"/>
          <p:nvPr/>
        </p:nvSpPr>
        <p:spPr>
          <a:xfrm rot="0">
            <a:off x="1229385" y="7152700"/>
            <a:ext cx="5535235" cy="606425"/>
          </a:xfrm>
          <a:prstGeom prst="rect">
            <a:avLst/>
          </a:prstGeom>
        </p:spPr>
        <p:txBody>
          <a:bodyPr anchor="t" rtlCol="false" tIns="0" lIns="0" bIns="0" rIns="0">
            <a:spAutoFit/>
          </a:bodyPr>
          <a:lstStyle/>
          <a:p>
            <a:pPr algn="just">
              <a:lnSpc>
                <a:spcPts val="4900"/>
              </a:lnSpc>
            </a:pPr>
            <a:r>
              <a:rPr lang="en-US" sz="3500">
                <a:solidFill>
                  <a:srgbClr val="FFFFFF"/>
                </a:solidFill>
                <a:latin typeface="DM Sans"/>
                <a:ea typeface="DM Sans"/>
                <a:cs typeface="DM Sans"/>
                <a:sym typeface="DM Sans"/>
              </a:rPr>
              <a:t>Is it resilient?</a:t>
            </a:r>
          </a:p>
        </p:txBody>
      </p:sp>
      <p:grpSp>
        <p:nvGrpSpPr>
          <p:cNvPr name="Group 12" id="12"/>
          <p:cNvGrpSpPr/>
          <p:nvPr/>
        </p:nvGrpSpPr>
        <p:grpSpPr>
          <a:xfrm rot="0">
            <a:off x="13109300" y="350115"/>
            <a:ext cx="2340032" cy="9254061"/>
            <a:chOff x="0" y="0"/>
            <a:chExt cx="3120043" cy="12338749"/>
          </a:xfrm>
        </p:grpSpPr>
        <p:grpSp>
          <p:nvGrpSpPr>
            <p:cNvPr name="Group 13" id="13"/>
            <p:cNvGrpSpPr/>
            <p:nvPr/>
          </p:nvGrpSpPr>
          <p:grpSpPr>
            <a:xfrm rot="0">
              <a:off x="232837" y="0"/>
              <a:ext cx="2654369" cy="1202833"/>
              <a:chOff x="0" y="0"/>
              <a:chExt cx="567034" cy="256952"/>
            </a:xfrm>
          </p:grpSpPr>
          <p:sp>
            <p:nvSpPr>
              <p:cNvPr name="Freeform 14" id="14"/>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15" id="15"/>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NETWORK</a:t>
                </a:r>
              </a:p>
            </p:txBody>
          </p:sp>
        </p:grpSp>
        <p:grpSp>
          <p:nvGrpSpPr>
            <p:cNvPr name="Group 16" id="16"/>
            <p:cNvGrpSpPr/>
            <p:nvPr/>
          </p:nvGrpSpPr>
          <p:grpSpPr>
            <a:xfrm rot="0">
              <a:off x="0" y="3672678"/>
              <a:ext cx="3120043" cy="1790486"/>
              <a:chOff x="0" y="0"/>
              <a:chExt cx="951616" cy="546100"/>
            </a:xfrm>
          </p:grpSpPr>
          <p:sp>
            <p:nvSpPr>
              <p:cNvPr name="Freeform 17" id="17"/>
              <p:cNvSpPr/>
              <p:nvPr/>
            </p:nvSpPr>
            <p:spPr>
              <a:xfrm flipH="false" flipV="false" rot="0">
                <a:off x="0" y="0"/>
                <a:ext cx="951616" cy="539683"/>
              </a:xfrm>
              <a:custGeom>
                <a:avLst/>
                <a:gdLst/>
                <a:ahLst/>
                <a:cxnLst/>
                <a:rect r="r" b="b" t="t" l="l"/>
                <a:pathLst>
                  <a:path h="539683" w="951616">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sp>
          <p:sp>
            <p:nvSpPr>
              <p:cNvPr name="TextBox 18" id="18"/>
              <p:cNvSpPr txBox="true"/>
              <p:nvPr/>
            </p:nvSpPr>
            <p:spPr>
              <a:xfrm>
                <a:off x="0" y="-12700"/>
                <a:ext cx="951616" cy="330200"/>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CONNECT STORAGE</a:t>
                </a:r>
              </a:p>
              <a:p>
                <a:pPr algn="ctr">
                  <a:lnSpc>
                    <a:spcPts val="2240"/>
                  </a:lnSpc>
                </a:pPr>
                <a:r>
                  <a:rPr lang="en-US" b="true" sz="1600">
                    <a:solidFill>
                      <a:srgbClr val="FFFFFF"/>
                    </a:solidFill>
                    <a:latin typeface="DM Sans Bold"/>
                    <a:ea typeface="DM Sans Bold"/>
                    <a:cs typeface="DM Sans Bold"/>
                    <a:sym typeface="DM Sans Bold"/>
                  </a:rPr>
                  <a:t>(BACKUPS)</a:t>
                </a:r>
              </a:p>
            </p:txBody>
          </p:sp>
        </p:grpSp>
        <p:grpSp>
          <p:nvGrpSpPr>
            <p:cNvPr name="Group 19" id="19"/>
            <p:cNvGrpSpPr/>
            <p:nvPr/>
          </p:nvGrpSpPr>
          <p:grpSpPr>
            <a:xfrm rot="0">
              <a:off x="466045" y="6016200"/>
              <a:ext cx="2187952" cy="2187952"/>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sp>
          <p:sp>
            <p:nvSpPr>
              <p:cNvPr name="TextBox 21" id="21"/>
              <p:cNvSpPr txBox="true"/>
              <p:nvPr/>
            </p:nvSpPr>
            <p:spPr>
              <a:xfrm>
                <a:off x="152400" y="114300"/>
                <a:ext cx="508000" cy="546100"/>
              </a:xfrm>
              <a:prstGeom prst="rect">
                <a:avLst/>
              </a:prstGeom>
            </p:spPr>
            <p:txBody>
              <a:bodyPr anchor="ctr" rtlCol="false" tIns="50800" lIns="50800" bIns="50800" rIns="50800"/>
              <a:lstStyle/>
              <a:p>
                <a:pPr algn="ctr">
                  <a:lnSpc>
                    <a:spcPts val="2239"/>
                  </a:lnSpc>
                </a:pPr>
                <a:r>
                  <a:rPr lang="en-US" b="true" sz="1599">
                    <a:solidFill>
                      <a:srgbClr val="FFFFFF"/>
                    </a:solidFill>
                    <a:latin typeface="DM Sans Bold"/>
                    <a:ea typeface="DM Sans Bold"/>
                    <a:cs typeface="DM Sans Bold"/>
                    <a:sym typeface="DM Sans Bold"/>
                  </a:rPr>
                  <a:t>RECOVER AD</a:t>
                </a:r>
              </a:p>
            </p:txBody>
          </p:sp>
        </p:grpSp>
        <p:grpSp>
          <p:nvGrpSpPr>
            <p:cNvPr name="Group 22" id="22"/>
            <p:cNvGrpSpPr/>
            <p:nvPr/>
          </p:nvGrpSpPr>
          <p:grpSpPr>
            <a:xfrm rot="0">
              <a:off x="670249" y="10472398"/>
              <a:ext cx="1779544" cy="1866351"/>
              <a:chOff x="0" y="0"/>
              <a:chExt cx="520700" cy="546100"/>
            </a:xfrm>
          </p:grpSpPr>
          <p:sp>
            <p:nvSpPr>
              <p:cNvPr name="Freeform 23" id="23"/>
              <p:cNvSpPr/>
              <p:nvPr/>
            </p:nvSpPr>
            <p:spPr>
              <a:xfrm flipH="false" flipV="false" rot="0">
                <a:off x="0" y="0"/>
                <a:ext cx="520700" cy="527335"/>
              </a:xfrm>
              <a:custGeom>
                <a:avLst/>
                <a:gdLst/>
                <a:ahLst/>
                <a:cxnLst/>
                <a:rect r="r" b="b" t="t" l="l"/>
                <a:pathLst>
                  <a:path h="527335" w="520700">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sp>
          <p:sp>
            <p:nvSpPr>
              <p:cNvPr name="TextBox 24" id="24"/>
              <p:cNvSpPr txBox="true"/>
              <p:nvPr/>
            </p:nvSpPr>
            <p:spPr>
              <a:xfrm>
                <a:off x="0" y="-12700"/>
                <a:ext cx="520700" cy="330200"/>
              </a:xfrm>
              <a:prstGeom prst="rect">
                <a:avLst/>
              </a:prstGeom>
            </p:spPr>
            <p:txBody>
              <a:bodyPr anchor="ctr" rtlCol="false" tIns="50800" lIns="50800" bIns="50800" rIns="50800"/>
              <a:lstStyle/>
              <a:p>
                <a:pPr algn="ctr">
                  <a:lnSpc>
                    <a:spcPts val="2520"/>
                  </a:lnSpc>
                </a:pPr>
                <a:r>
                  <a:rPr lang="en-US" b="true" sz="1800">
                    <a:solidFill>
                      <a:srgbClr val="FFFFFF"/>
                    </a:solidFill>
                    <a:latin typeface="DM Sans Bold"/>
                    <a:ea typeface="DM Sans Bold"/>
                    <a:cs typeface="DM Sans Bold"/>
                    <a:sym typeface="DM Sans Bold"/>
                  </a:rPr>
                  <a:t>RECOVER APPS</a:t>
                </a:r>
              </a:p>
            </p:txBody>
          </p:sp>
        </p:grpSp>
        <p:grpSp>
          <p:nvGrpSpPr>
            <p:cNvPr name="Group 25" id="25"/>
            <p:cNvGrpSpPr/>
            <p:nvPr/>
          </p:nvGrpSpPr>
          <p:grpSpPr>
            <a:xfrm rot="0">
              <a:off x="232837" y="1861488"/>
              <a:ext cx="2654369" cy="1202833"/>
              <a:chOff x="0" y="0"/>
              <a:chExt cx="567034" cy="256952"/>
            </a:xfrm>
          </p:grpSpPr>
          <p:sp>
            <p:nvSpPr>
              <p:cNvPr name="Freeform 26" id="26"/>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27" id="27"/>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RECOVER COMPUTE</a:t>
                </a:r>
              </a:p>
            </p:txBody>
          </p:sp>
        </p:grpSp>
        <p:grpSp>
          <p:nvGrpSpPr>
            <p:cNvPr name="Group 28" id="28"/>
            <p:cNvGrpSpPr/>
            <p:nvPr/>
          </p:nvGrpSpPr>
          <p:grpSpPr>
            <a:xfrm rot="0">
              <a:off x="232837" y="8649535"/>
              <a:ext cx="2654369" cy="1202833"/>
              <a:chOff x="0" y="0"/>
              <a:chExt cx="567034" cy="256952"/>
            </a:xfrm>
          </p:grpSpPr>
          <p:sp>
            <p:nvSpPr>
              <p:cNvPr name="Freeform 29" id="29"/>
              <p:cNvSpPr/>
              <p:nvPr/>
            </p:nvSpPr>
            <p:spPr>
              <a:xfrm flipH="false" flipV="false" rot="0">
                <a:off x="0" y="0"/>
                <a:ext cx="567034" cy="256952"/>
              </a:xfrm>
              <a:custGeom>
                <a:avLst/>
                <a:gdLst/>
                <a:ahLst/>
                <a:cxnLst/>
                <a:rect r="r" b="b" t="t" l="l"/>
                <a:pathLst>
                  <a:path h="256952" w="567034">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sp>
          <p:sp>
            <p:nvSpPr>
              <p:cNvPr name="TextBox 30" id="30"/>
              <p:cNvSpPr txBox="true"/>
              <p:nvPr/>
            </p:nvSpPr>
            <p:spPr>
              <a:xfrm>
                <a:off x="0" y="-38100"/>
                <a:ext cx="567034" cy="295052"/>
              </a:xfrm>
              <a:prstGeom prst="rect">
                <a:avLst/>
              </a:prstGeom>
            </p:spPr>
            <p:txBody>
              <a:bodyPr anchor="ctr" rtlCol="false" tIns="50800" lIns="50800" bIns="50800" rIns="50800"/>
              <a:lstStyle/>
              <a:p>
                <a:pPr algn="ctr">
                  <a:lnSpc>
                    <a:spcPts val="2240"/>
                  </a:lnSpc>
                </a:pPr>
                <a:r>
                  <a:rPr lang="en-US" b="true" sz="1600">
                    <a:solidFill>
                      <a:srgbClr val="FFFFFF"/>
                    </a:solidFill>
                    <a:latin typeface="DM Sans Bold"/>
                    <a:ea typeface="DM Sans Bold"/>
                    <a:cs typeface="DM Sans Bold"/>
                    <a:sym typeface="DM Sans Bold"/>
                  </a:rPr>
                  <a:t> RCA</a:t>
                </a:r>
              </a:p>
            </p:txBody>
          </p:sp>
        </p:grpSp>
        <p:grpSp>
          <p:nvGrpSpPr>
            <p:cNvPr name="Group 31" id="31"/>
            <p:cNvGrpSpPr/>
            <p:nvPr/>
          </p:nvGrpSpPr>
          <p:grpSpPr>
            <a:xfrm rot="0">
              <a:off x="1238226" y="1036175"/>
              <a:ext cx="643591" cy="802106"/>
              <a:chOff x="0" y="0"/>
              <a:chExt cx="652172" cy="812800"/>
            </a:xfrm>
          </p:grpSpPr>
          <p:sp>
            <p:nvSpPr>
              <p:cNvPr name="Freeform 32" id="32"/>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3" id="33"/>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4" id="34"/>
            <p:cNvGrpSpPr/>
            <p:nvPr/>
          </p:nvGrpSpPr>
          <p:grpSpPr>
            <a:xfrm rot="0">
              <a:off x="1238226" y="2908403"/>
              <a:ext cx="643591" cy="802106"/>
              <a:chOff x="0" y="0"/>
              <a:chExt cx="652172" cy="812800"/>
            </a:xfrm>
          </p:grpSpPr>
          <p:sp>
            <p:nvSpPr>
              <p:cNvPr name="Freeform 35" id="35"/>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6" id="36"/>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37" id="37"/>
            <p:cNvGrpSpPr/>
            <p:nvPr/>
          </p:nvGrpSpPr>
          <p:grpSpPr>
            <a:xfrm rot="0">
              <a:off x="1238226" y="5163873"/>
              <a:ext cx="643591" cy="802106"/>
              <a:chOff x="0" y="0"/>
              <a:chExt cx="652172" cy="812800"/>
            </a:xfrm>
          </p:grpSpPr>
          <p:sp>
            <p:nvSpPr>
              <p:cNvPr name="Freeform 38" id="38"/>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39" id="39"/>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0" id="40"/>
            <p:cNvGrpSpPr/>
            <p:nvPr/>
          </p:nvGrpSpPr>
          <p:grpSpPr>
            <a:xfrm rot="0">
              <a:off x="1238226" y="7847428"/>
              <a:ext cx="643591" cy="802106"/>
              <a:chOff x="0" y="0"/>
              <a:chExt cx="652172" cy="812800"/>
            </a:xfrm>
          </p:grpSpPr>
          <p:sp>
            <p:nvSpPr>
              <p:cNvPr name="Freeform 41" id="41"/>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2" id="42"/>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nvGrpSpPr>
            <p:cNvPr name="Group 43" id="43"/>
            <p:cNvGrpSpPr/>
            <p:nvPr/>
          </p:nvGrpSpPr>
          <p:grpSpPr>
            <a:xfrm rot="0">
              <a:off x="1238226" y="9620892"/>
              <a:ext cx="643591" cy="802106"/>
              <a:chOff x="0" y="0"/>
              <a:chExt cx="652172" cy="812800"/>
            </a:xfrm>
          </p:grpSpPr>
          <p:sp>
            <p:nvSpPr>
              <p:cNvPr name="Freeform 44" id="44"/>
              <p:cNvSpPr/>
              <p:nvPr/>
            </p:nvSpPr>
            <p:spPr>
              <a:xfrm flipH="false" flipV="false" rot="0">
                <a:off x="0" y="0"/>
                <a:ext cx="652172" cy="812800"/>
              </a:xfrm>
              <a:custGeom>
                <a:avLst/>
                <a:gdLst/>
                <a:ahLst/>
                <a:cxnLst/>
                <a:rect r="r" b="b" t="t" l="l"/>
                <a:pathLst>
                  <a:path h="812800" w="652172">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sp>
          <p:sp>
            <p:nvSpPr>
              <p:cNvPr name="TextBox 45" id="45"/>
              <p:cNvSpPr txBox="true"/>
              <p:nvPr/>
            </p:nvSpPr>
            <p:spPr>
              <a:xfrm>
                <a:off x="203200" y="-28575"/>
                <a:ext cx="245772" cy="739775"/>
              </a:xfrm>
              <a:prstGeom prst="rect">
                <a:avLst/>
              </a:prstGeom>
            </p:spPr>
            <p:txBody>
              <a:bodyPr anchor="ctr" rtlCol="false" tIns="50800" lIns="50800" bIns="50800" rIns="50800"/>
              <a:lstStyle/>
              <a:p>
                <a:pPr algn="ctr">
                  <a:lnSpc>
                    <a:spcPts val="2045"/>
                  </a:lnSpc>
                </a:pPr>
              </a:p>
            </p:txBody>
          </p:sp>
        </p:grpSp>
      </p:grpSp>
    </p:spTree>
  </p:cSld>
  <p:clrMapOvr>
    <a:masterClrMapping/>
  </p:clrMapOvr>
</p:sld>
</file>

<file path=ppt/slides/slide15.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00807" y="1546259"/>
            <a:ext cx="1224677" cy="749935"/>
          </a:xfrm>
          <a:prstGeom prst="rect">
            <a:avLst/>
          </a:prstGeom>
        </p:spPr>
        <p:txBody>
          <a:bodyPr anchor="t" rtlCol="false" tIns="0" lIns="0" bIns="0" rIns="0">
            <a:spAutoFit/>
          </a:bodyPr>
          <a:lstStyle/>
          <a:p>
            <a:pPr algn="l" marL="0" indent="0" lvl="0">
              <a:lnSpc>
                <a:spcPts val="5719"/>
              </a:lnSpc>
            </a:pPr>
            <a:r>
              <a:rPr lang="en-US" sz="5499">
                <a:solidFill>
                  <a:srgbClr val="FFFFFF"/>
                </a:solidFill>
                <a:latin typeface="Anton"/>
                <a:ea typeface="Anton"/>
                <a:cs typeface="Anton"/>
                <a:sym typeface="Anton"/>
              </a:rPr>
              <a:t>01</a:t>
            </a:r>
          </a:p>
        </p:txBody>
      </p:sp>
      <p:sp>
        <p:nvSpPr>
          <p:cNvPr name="TextBox 6" id="6"/>
          <p:cNvSpPr txBox="true"/>
          <p:nvPr/>
        </p:nvSpPr>
        <p:spPr>
          <a:xfrm rot="0">
            <a:off x="1000807" y="4270173"/>
            <a:ext cx="1224677" cy="749935"/>
          </a:xfrm>
          <a:prstGeom prst="rect">
            <a:avLst/>
          </a:prstGeom>
        </p:spPr>
        <p:txBody>
          <a:bodyPr anchor="t" rtlCol="false" tIns="0" lIns="0" bIns="0" rIns="0">
            <a:spAutoFit/>
          </a:bodyPr>
          <a:lstStyle/>
          <a:p>
            <a:pPr algn="l" marL="0" indent="0" lvl="0">
              <a:lnSpc>
                <a:spcPts val="5719"/>
              </a:lnSpc>
            </a:pPr>
            <a:r>
              <a:rPr lang="en-US" sz="5499">
                <a:solidFill>
                  <a:srgbClr val="FFFFFF"/>
                </a:solidFill>
                <a:latin typeface="Anton"/>
                <a:ea typeface="Anton"/>
                <a:cs typeface="Anton"/>
                <a:sym typeface="Anton"/>
              </a:rPr>
              <a:t>02</a:t>
            </a:r>
          </a:p>
        </p:txBody>
      </p:sp>
      <p:sp>
        <p:nvSpPr>
          <p:cNvPr name="TextBox 7" id="7"/>
          <p:cNvSpPr txBox="true"/>
          <p:nvPr/>
        </p:nvSpPr>
        <p:spPr>
          <a:xfrm rot="0">
            <a:off x="684356" y="486903"/>
            <a:ext cx="7598010" cy="688047"/>
          </a:xfrm>
          <a:prstGeom prst="rect">
            <a:avLst/>
          </a:prstGeom>
        </p:spPr>
        <p:txBody>
          <a:bodyPr anchor="t" rtlCol="false" tIns="0" lIns="0" bIns="0" rIns="0">
            <a:spAutoFit/>
          </a:bodyPr>
          <a:lstStyle/>
          <a:p>
            <a:pPr algn="l" marL="0" indent="0" lvl="0">
              <a:lnSpc>
                <a:spcPts val="5651"/>
              </a:lnSpc>
              <a:spcBef>
                <a:spcPct val="0"/>
              </a:spcBef>
            </a:pPr>
            <a:r>
              <a:rPr lang="en-US" sz="4036">
                <a:solidFill>
                  <a:srgbClr val="38B6FF"/>
                </a:solidFill>
                <a:latin typeface="Anton"/>
                <a:ea typeface="Anton"/>
                <a:cs typeface="Anton"/>
                <a:sym typeface="Anton"/>
              </a:rPr>
              <a:t>SOME OTHER THOUGHTS ON BCDR</a:t>
            </a:r>
          </a:p>
        </p:txBody>
      </p:sp>
      <p:sp>
        <p:nvSpPr>
          <p:cNvPr name="TextBox 8" id="8"/>
          <p:cNvSpPr txBox="true"/>
          <p:nvPr/>
        </p:nvSpPr>
        <p:spPr>
          <a:xfrm rot="0">
            <a:off x="1976627" y="1325642"/>
            <a:ext cx="4422753" cy="481366"/>
          </a:xfrm>
          <a:prstGeom prst="rect">
            <a:avLst/>
          </a:prstGeom>
        </p:spPr>
        <p:txBody>
          <a:bodyPr anchor="t" rtlCol="false" tIns="0" lIns="0" bIns="0" rIns="0">
            <a:spAutoFit/>
          </a:bodyPr>
          <a:lstStyle/>
          <a:p>
            <a:pPr algn="l" marL="0" indent="0" lvl="0">
              <a:lnSpc>
                <a:spcPts val="3918"/>
              </a:lnSpc>
              <a:spcBef>
                <a:spcPct val="0"/>
              </a:spcBef>
            </a:pPr>
            <a:r>
              <a:rPr lang="en-US" sz="2798">
                <a:solidFill>
                  <a:srgbClr val="FFFFFF"/>
                </a:solidFill>
                <a:latin typeface="DM Sans"/>
                <a:ea typeface="DM Sans"/>
                <a:cs typeface="DM Sans"/>
                <a:sym typeface="DM Sans"/>
              </a:rPr>
              <a:t>3 - 2 - 1 + 1 Rule</a:t>
            </a:r>
          </a:p>
        </p:txBody>
      </p:sp>
      <p:sp>
        <p:nvSpPr>
          <p:cNvPr name="TextBox 9" id="9"/>
          <p:cNvSpPr txBox="true"/>
          <p:nvPr/>
        </p:nvSpPr>
        <p:spPr>
          <a:xfrm rot="0">
            <a:off x="1976627" y="1911783"/>
            <a:ext cx="5628408" cy="1663065"/>
          </a:xfrm>
          <a:prstGeom prst="rect">
            <a:avLst/>
          </a:prstGeom>
        </p:spPr>
        <p:txBody>
          <a:bodyPr anchor="t" rtlCol="false" tIns="0" lIns="0" bIns="0" rIns="0">
            <a:spAutoFit/>
          </a:bodyPr>
          <a:lstStyle/>
          <a:p>
            <a:pPr algn="l">
              <a:lnSpc>
                <a:spcPts val="3359"/>
              </a:lnSpc>
            </a:pPr>
            <a:r>
              <a:rPr lang="en-US" sz="2400" b="true">
                <a:solidFill>
                  <a:srgbClr val="FFFFFF"/>
                </a:solidFill>
                <a:latin typeface="DM Sans Bold"/>
                <a:ea typeface="DM Sans Bold"/>
                <a:cs typeface="DM Sans Bold"/>
                <a:sym typeface="DM Sans Bold"/>
              </a:rPr>
              <a:t>3x </a:t>
            </a:r>
            <a:r>
              <a:rPr lang="en-US" sz="2400">
                <a:solidFill>
                  <a:srgbClr val="FFFFFF"/>
                </a:solidFill>
                <a:latin typeface="DM Sans"/>
                <a:ea typeface="DM Sans"/>
                <a:cs typeface="DM Sans"/>
                <a:sym typeface="DM Sans"/>
              </a:rPr>
              <a:t>Copies of the data</a:t>
            </a:r>
          </a:p>
          <a:p>
            <a:pPr algn="l">
              <a:lnSpc>
                <a:spcPts val="3359"/>
              </a:lnSpc>
            </a:pPr>
            <a:r>
              <a:rPr lang="en-US" sz="2400" b="true">
                <a:solidFill>
                  <a:srgbClr val="FFFFFF"/>
                </a:solidFill>
                <a:latin typeface="DM Sans Bold"/>
                <a:ea typeface="DM Sans Bold"/>
                <a:cs typeface="DM Sans Bold"/>
                <a:sym typeface="DM Sans Bold"/>
              </a:rPr>
              <a:t>2x </a:t>
            </a:r>
            <a:r>
              <a:rPr lang="en-US" sz="2400">
                <a:solidFill>
                  <a:srgbClr val="FFFFFF"/>
                </a:solidFill>
                <a:latin typeface="DM Sans"/>
                <a:ea typeface="DM Sans"/>
                <a:cs typeface="DM Sans"/>
                <a:sym typeface="DM Sans"/>
              </a:rPr>
              <a:t>Different Media Types</a:t>
            </a:r>
          </a:p>
          <a:p>
            <a:pPr algn="l">
              <a:lnSpc>
                <a:spcPts val="3359"/>
              </a:lnSpc>
            </a:pPr>
            <a:r>
              <a:rPr lang="en-US" sz="2400" b="true">
                <a:solidFill>
                  <a:srgbClr val="FFFFFF"/>
                </a:solidFill>
                <a:latin typeface="DM Sans Bold"/>
                <a:ea typeface="DM Sans Bold"/>
                <a:cs typeface="DM Sans Bold"/>
                <a:sym typeface="DM Sans Bold"/>
              </a:rPr>
              <a:t>1x </a:t>
            </a:r>
            <a:r>
              <a:rPr lang="en-US" sz="2400">
                <a:solidFill>
                  <a:srgbClr val="FFFFFF"/>
                </a:solidFill>
                <a:latin typeface="DM Sans"/>
                <a:ea typeface="DM Sans"/>
                <a:cs typeface="DM Sans"/>
                <a:sym typeface="DM Sans"/>
              </a:rPr>
              <a:t>Copy Offsite</a:t>
            </a:r>
          </a:p>
          <a:p>
            <a:pPr algn="l" marL="0" indent="0" lvl="0">
              <a:lnSpc>
                <a:spcPts val="3359"/>
              </a:lnSpc>
              <a:spcBef>
                <a:spcPct val="0"/>
              </a:spcBef>
            </a:pPr>
            <a:r>
              <a:rPr lang="en-US" b="true" sz="2400">
                <a:solidFill>
                  <a:srgbClr val="FFFFFF"/>
                </a:solidFill>
                <a:latin typeface="DM Sans Bold"/>
                <a:ea typeface="DM Sans Bold"/>
                <a:cs typeface="DM Sans Bold"/>
                <a:sym typeface="DM Sans Bold"/>
              </a:rPr>
              <a:t>1x </a:t>
            </a:r>
            <a:r>
              <a:rPr lang="en-US" sz="2400">
                <a:solidFill>
                  <a:srgbClr val="FFFFFF"/>
                </a:solidFill>
                <a:latin typeface="DM Sans"/>
                <a:ea typeface="DM Sans"/>
                <a:cs typeface="DM Sans"/>
                <a:sym typeface="DM Sans"/>
              </a:rPr>
              <a:t>Copy Immutable/Write-Only</a:t>
            </a:r>
          </a:p>
        </p:txBody>
      </p:sp>
      <p:sp>
        <p:nvSpPr>
          <p:cNvPr name="TextBox 10" id="10"/>
          <p:cNvSpPr txBox="true"/>
          <p:nvPr/>
        </p:nvSpPr>
        <p:spPr>
          <a:xfrm rot="0">
            <a:off x="1976627" y="4111486"/>
            <a:ext cx="5416507" cy="481366"/>
          </a:xfrm>
          <a:prstGeom prst="rect">
            <a:avLst/>
          </a:prstGeom>
        </p:spPr>
        <p:txBody>
          <a:bodyPr anchor="t" rtlCol="false" tIns="0" lIns="0" bIns="0" rIns="0">
            <a:spAutoFit/>
          </a:bodyPr>
          <a:lstStyle/>
          <a:p>
            <a:pPr algn="l" marL="0" indent="0" lvl="0">
              <a:lnSpc>
                <a:spcPts val="3918"/>
              </a:lnSpc>
              <a:spcBef>
                <a:spcPct val="0"/>
              </a:spcBef>
            </a:pPr>
            <a:r>
              <a:rPr lang="en-US" sz="2798">
                <a:solidFill>
                  <a:srgbClr val="FFFFFF"/>
                </a:solidFill>
                <a:latin typeface="DM Sans"/>
                <a:ea typeface="DM Sans"/>
                <a:cs typeface="DM Sans"/>
                <a:sym typeface="DM Sans"/>
              </a:rPr>
              <a:t>Protect Your Backups</a:t>
            </a:r>
          </a:p>
        </p:txBody>
      </p:sp>
      <p:sp>
        <p:nvSpPr>
          <p:cNvPr name="TextBox 11" id="11"/>
          <p:cNvSpPr txBox="true"/>
          <p:nvPr/>
        </p:nvSpPr>
        <p:spPr>
          <a:xfrm rot="0">
            <a:off x="1976627" y="4630156"/>
            <a:ext cx="5628408" cy="405765"/>
          </a:xfrm>
          <a:prstGeom prst="rect">
            <a:avLst/>
          </a:prstGeom>
        </p:spPr>
        <p:txBody>
          <a:bodyPr anchor="t" rtlCol="false" tIns="0" lIns="0" bIns="0" rIns="0">
            <a:spAutoFit/>
          </a:bodyPr>
          <a:lstStyle/>
          <a:p>
            <a:pPr algn="l" marL="0" indent="0" lvl="0">
              <a:lnSpc>
                <a:spcPts val="3359"/>
              </a:lnSpc>
              <a:spcBef>
                <a:spcPct val="0"/>
              </a:spcBef>
            </a:pPr>
            <a:r>
              <a:rPr lang="en-US" sz="2400">
                <a:solidFill>
                  <a:srgbClr val="FFFFFF"/>
                </a:solidFill>
                <a:latin typeface="DM Sans"/>
                <a:ea typeface="DM Sans"/>
                <a:cs typeface="DM Sans"/>
                <a:sym typeface="DM Sans"/>
              </a:rPr>
              <a:t>Access Controls + Storage Restrictions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910"/>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037095" y="2649765"/>
            <a:ext cx="6012486" cy="5323976"/>
          </a:xfrm>
          <a:custGeom>
            <a:avLst/>
            <a:gdLst/>
            <a:ahLst/>
            <a:cxnLst/>
            <a:rect r="r" b="b" t="t" l="l"/>
            <a:pathLst>
              <a:path h="5323976" w="6012486">
                <a:moveTo>
                  <a:pt x="0" y="0"/>
                </a:moveTo>
                <a:lnTo>
                  <a:pt x="6012486" y="0"/>
                </a:lnTo>
                <a:lnTo>
                  <a:pt x="6012486" y="5323977"/>
                </a:lnTo>
                <a:lnTo>
                  <a:pt x="0" y="5323977"/>
                </a:lnTo>
                <a:lnTo>
                  <a:pt x="0" y="0"/>
                </a:lnTo>
                <a:close/>
              </a:path>
            </a:pathLst>
          </a:custGeom>
          <a:blipFill>
            <a:blip r:embed="rId3"/>
            <a:stretch>
              <a:fillRect l="-10466" t="0" r="-19275"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684356" y="1684528"/>
            <a:ext cx="7419202"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FFFFFF"/>
                </a:solidFill>
                <a:latin typeface="DM Sans"/>
                <a:ea typeface="DM Sans"/>
                <a:cs typeface="DM Sans"/>
                <a:sym typeface="DM Sans"/>
              </a:rPr>
              <a:t>Get an Enterprise Solution...</a:t>
            </a:r>
          </a:p>
        </p:txBody>
      </p:sp>
      <p:sp>
        <p:nvSpPr>
          <p:cNvPr name="TextBox 7" id="7"/>
          <p:cNvSpPr txBox="true"/>
          <p:nvPr/>
        </p:nvSpPr>
        <p:spPr>
          <a:xfrm rot="0">
            <a:off x="684356" y="486903"/>
            <a:ext cx="7598010"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38B6FF"/>
                </a:solidFill>
                <a:latin typeface="Anton"/>
                <a:ea typeface="Anton"/>
                <a:cs typeface="Anton"/>
                <a:sym typeface="Anton"/>
              </a:rPr>
              <a:t>REAL SOLUTIONS = A PLAN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910"/>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037095" y="2649765"/>
            <a:ext cx="6012486" cy="5323976"/>
          </a:xfrm>
          <a:custGeom>
            <a:avLst/>
            <a:gdLst/>
            <a:ahLst/>
            <a:cxnLst/>
            <a:rect r="r" b="b" t="t" l="l"/>
            <a:pathLst>
              <a:path h="5323976" w="6012486">
                <a:moveTo>
                  <a:pt x="0" y="0"/>
                </a:moveTo>
                <a:lnTo>
                  <a:pt x="6012486" y="0"/>
                </a:lnTo>
                <a:lnTo>
                  <a:pt x="6012486" y="5323977"/>
                </a:lnTo>
                <a:lnTo>
                  <a:pt x="0" y="5323977"/>
                </a:lnTo>
                <a:lnTo>
                  <a:pt x="0" y="0"/>
                </a:lnTo>
                <a:close/>
              </a:path>
            </a:pathLst>
          </a:custGeom>
          <a:blipFill>
            <a:blip r:embed="rId3"/>
            <a:stretch>
              <a:fillRect l="-10466" t="0" r="-19275"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684356" y="1684528"/>
            <a:ext cx="7419202"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737373"/>
                </a:solidFill>
                <a:latin typeface="DM Sans"/>
                <a:ea typeface="DM Sans"/>
                <a:cs typeface="DM Sans"/>
                <a:sym typeface="DM Sans"/>
              </a:rPr>
              <a:t>Get an Enterprise Solution...</a:t>
            </a:r>
          </a:p>
        </p:txBody>
      </p:sp>
      <p:sp>
        <p:nvSpPr>
          <p:cNvPr name="TextBox 7" id="7"/>
          <p:cNvSpPr txBox="true"/>
          <p:nvPr/>
        </p:nvSpPr>
        <p:spPr>
          <a:xfrm rot="0">
            <a:off x="684356" y="486903"/>
            <a:ext cx="7598010"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38B6FF"/>
                </a:solidFill>
                <a:latin typeface="Anton"/>
                <a:ea typeface="Anton"/>
                <a:cs typeface="Anton"/>
                <a:sym typeface="Anton"/>
              </a:rPr>
              <a:t>REAL SOLUTIONS = A PLAN</a:t>
            </a:r>
          </a:p>
        </p:txBody>
      </p:sp>
      <p:sp>
        <p:nvSpPr>
          <p:cNvPr name="TextBox 8" id="8"/>
          <p:cNvSpPr txBox="true"/>
          <p:nvPr/>
        </p:nvSpPr>
        <p:spPr>
          <a:xfrm rot="0">
            <a:off x="684356" y="2881503"/>
            <a:ext cx="9476591" cy="1844675"/>
          </a:xfrm>
          <a:prstGeom prst="rect">
            <a:avLst/>
          </a:prstGeom>
        </p:spPr>
        <p:txBody>
          <a:bodyPr anchor="t" rtlCol="false" tIns="0" lIns="0" bIns="0" rIns="0">
            <a:spAutoFit/>
          </a:bodyPr>
          <a:lstStyle/>
          <a:p>
            <a:pPr algn="l">
              <a:lnSpc>
                <a:spcPts val="4900"/>
              </a:lnSpc>
            </a:pPr>
            <a:r>
              <a:rPr lang="en-US" sz="3500">
                <a:solidFill>
                  <a:srgbClr val="FFFFFF"/>
                </a:solidFill>
                <a:latin typeface="DM Sans"/>
                <a:ea typeface="DM Sans"/>
                <a:cs typeface="DM Sans"/>
                <a:sym typeface="DM Sans"/>
              </a:rPr>
              <a:t>Windows Server Backup </a:t>
            </a:r>
          </a:p>
          <a:p>
            <a:pPr algn="l">
              <a:lnSpc>
                <a:spcPts val="4900"/>
              </a:lnSpc>
            </a:pPr>
          </a:p>
          <a:p>
            <a:pPr algn="l" marL="0" indent="0" lvl="0">
              <a:lnSpc>
                <a:spcPts val="4900"/>
              </a:lnSpc>
              <a:spcBef>
                <a:spcPct val="0"/>
              </a:spcBef>
            </a:pPr>
            <a:r>
              <a:rPr lang="en-US" sz="3500">
                <a:solidFill>
                  <a:srgbClr val="FFFFFF"/>
                </a:solidFill>
                <a:latin typeface="DM Sans"/>
                <a:ea typeface="DM Sans"/>
                <a:cs typeface="DM Sans"/>
                <a:sym typeface="DM Sans"/>
              </a:rPr>
              <a:t>Azure Backups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910"/>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037095" y="2649765"/>
            <a:ext cx="6012486" cy="5323976"/>
          </a:xfrm>
          <a:custGeom>
            <a:avLst/>
            <a:gdLst/>
            <a:ahLst/>
            <a:cxnLst/>
            <a:rect r="r" b="b" t="t" l="l"/>
            <a:pathLst>
              <a:path h="5323976" w="6012486">
                <a:moveTo>
                  <a:pt x="0" y="0"/>
                </a:moveTo>
                <a:lnTo>
                  <a:pt x="6012486" y="0"/>
                </a:lnTo>
                <a:lnTo>
                  <a:pt x="6012486" y="5323977"/>
                </a:lnTo>
                <a:lnTo>
                  <a:pt x="0" y="5323977"/>
                </a:lnTo>
                <a:lnTo>
                  <a:pt x="0" y="0"/>
                </a:lnTo>
                <a:close/>
              </a:path>
            </a:pathLst>
          </a:custGeom>
          <a:blipFill>
            <a:blip r:embed="rId3"/>
            <a:stretch>
              <a:fillRect l="-10466" t="0" r="-19275"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684356" y="1684528"/>
            <a:ext cx="7419202"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737373"/>
                </a:solidFill>
                <a:latin typeface="DM Sans"/>
                <a:ea typeface="DM Sans"/>
                <a:cs typeface="DM Sans"/>
                <a:sym typeface="DM Sans"/>
              </a:rPr>
              <a:t>Get an Enterprise Solution...</a:t>
            </a:r>
          </a:p>
        </p:txBody>
      </p:sp>
      <p:sp>
        <p:nvSpPr>
          <p:cNvPr name="TextBox 7" id="7"/>
          <p:cNvSpPr txBox="true"/>
          <p:nvPr/>
        </p:nvSpPr>
        <p:spPr>
          <a:xfrm rot="0">
            <a:off x="684356" y="5316728"/>
            <a:ext cx="7419202"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FFFFFF"/>
                </a:solidFill>
                <a:latin typeface="DM Sans"/>
                <a:ea typeface="DM Sans"/>
                <a:cs typeface="DM Sans"/>
                <a:sym typeface="DM Sans"/>
              </a:rPr>
              <a:t>IFM + DSInternals</a:t>
            </a:r>
          </a:p>
        </p:txBody>
      </p:sp>
      <p:grpSp>
        <p:nvGrpSpPr>
          <p:cNvPr name="Group 8" id="8"/>
          <p:cNvGrpSpPr/>
          <p:nvPr/>
        </p:nvGrpSpPr>
        <p:grpSpPr>
          <a:xfrm rot="0">
            <a:off x="684356" y="6589903"/>
            <a:ext cx="7419202" cy="866775"/>
            <a:chOff x="0" y="0"/>
            <a:chExt cx="9892269" cy="1155700"/>
          </a:xfrm>
        </p:grpSpPr>
        <p:sp>
          <p:nvSpPr>
            <p:cNvPr name="TextBox 9" id="9"/>
            <p:cNvSpPr txBox="true"/>
            <p:nvPr/>
          </p:nvSpPr>
          <p:spPr>
            <a:xfrm rot="0">
              <a:off x="0" y="-47625"/>
              <a:ext cx="9892269" cy="547158"/>
            </a:xfrm>
            <a:prstGeom prst="rect">
              <a:avLst/>
            </a:prstGeom>
          </p:spPr>
          <p:txBody>
            <a:bodyPr anchor="t" rtlCol="false" tIns="0" lIns="0" bIns="0" rIns="0">
              <a:spAutoFit/>
            </a:bodyPr>
            <a:lstStyle/>
            <a:p>
              <a:pPr algn="l" marL="0" indent="0" lvl="0">
                <a:lnSpc>
                  <a:spcPts val="3499"/>
                </a:lnSpc>
                <a:spcBef>
                  <a:spcPct val="0"/>
                </a:spcBef>
              </a:pPr>
              <a:r>
                <a:rPr lang="en-US" sz="2499" i="true">
                  <a:solidFill>
                    <a:srgbClr val="FFFFFF"/>
                  </a:solidFill>
                  <a:latin typeface="DM Sans Italics"/>
                  <a:ea typeface="DM Sans Italics"/>
                  <a:cs typeface="DM Sans Italics"/>
                  <a:sym typeface="DM Sans Italics"/>
                </a:rPr>
                <a:t>Coming Soon...</a:t>
              </a:r>
            </a:p>
          </p:txBody>
        </p:sp>
        <p:sp>
          <p:nvSpPr>
            <p:cNvPr name="TextBox 10" id="10"/>
            <p:cNvSpPr txBox="true"/>
            <p:nvPr/>
          </p:nvSpPr>
          <p:spPr>
            <a:xfrm rot="0">
              <a:off x="0" y="372533"/>
              <a:ext cx="9892269" cy="783167"/>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FFFFFF"/>
                  </a:solidFill>
                  <a:latin typeface="DM Sans"/>
                  <a:ea typeface="DM Sans"/>
                  <a:cs typeface="DM Sans"/>
                  <a:sym typeface="DM Sans"/>
                </a:rPr>
                <a:t>Not-So-Enterprise AD Backups</a:t>
              </a:r>
            </a:p>
          </p:txBody>
        </p:sp>
      </p:grpSp>
      <p:sp>
        <p:nvSpPr>
          <p:cNvPr name="TextBox 11" id="11"/>
          <p:cNvSpPr txBox="true"/>
          <p:nvPr/>
        </p:nvSpPr>
        <p:spPr>
          <a:xfrm rot="0">
            <a:off x="684356" y="486903"/>
            <a:ext cx="7598010" cy="606425"/>
          </a:xfrm>
          <a:prstGeom prst="rect">
            <a:avLst/>
          </a:prstGeom>
        </p:spPr>
        <p:txBody>
          <a:bodyPr anchor="t" rtlCol="false" tIns="0" lIns="0" bIns="0" rIns="0">
            <a:spAutoFit/>
          </a:bodyPr>
          <a:lstStyle/>
          <a:p>
            <a:pPr algn="l" marL="0" indent="0" lvl="0">
              <a:lnSpc>
                <a:spcPts val="4900"/>
              </a:lnSpc>
              <a:spcBef>
                <a:spcPct val="0"/>
              </a:spcBef>
            </a:pPr>
            <a:r>
              <a:rPr lang="en-US" sz="3500">
                <a:solidFill>
                  <a:srgbClr val="38B6FF"/>
                </a:solidFill>
                <a:latin typeface="Anton"/>
                <a:ea typeface="Anton"/>
                <a:cs typeface="Anton"/>
                <a:sym typeface="Anton"/>
              </a:rPr>
              <a:t>REAL SOLUTIONS = A PLAN</a:t>
            </a:r>
          </a:p>
        </p:txBody>
      </p:sp>
      <p:sp>
        <p:nvSpPr>
          <p:cNvPr name="TextBox 12" id="12"/>
          <p:cNvSpPr txBox="true"/>
          <p:nvPr/>
        </p:nvSpPr>
        <p:spPr>
          <a:xfrm rot="0">
            <a:off x="684356" y="2881503"/>
            <a:ext cx="9476591" cy="1844675"/>
          </a:xfrm>
          <a:prstGeom prst="rect">
            <a:avLst/>
          </a:prstGeom>
        </p:spPr>
        <p:txBody>
          <a:bodyPr anchor="t" rtlCol="false" tIns="0" lIns="0" bIns="0" rIns="0">
            <a:spAutoFit/>
          </a:bodyPr>
          <a:lstStyle/>
          <a:p>
            <a:pPr algn="l">
              <a:lnSpc>
                <a:spcPts val="4900"/>
              </a:lnSpc>
            </a:pPr>
            <a:r>
              <a:rPr lang="en-US" sz="3500">
                <a:solidFill>
                  <a:srgbClr val="737373"/>
                </a:solidFill>
                <a:latin typeface="DM Sans"/>
                <a:ea typeface="DM Sans"/>
                <a:cs typeface="DM Sans"/>
                <a:sym typeface="DM Sans"/>
              </a:rPr>
              <a:t>Windows Server Backup </a:t>
            </a:r>
          </a:p>
          <a:p>
            <a:pPr algn="l">
              <a:lnSpc>
                <a:spcPts val="4900"/>
              </a:lnSpc>
            </a:pPr>
          </a:p>
          <a:p>
            <a:pPr algn="l" marL="0" indent="0" lvl="0">
              <a:lnSpc>
                <a:spcPts val="4900"/>
              </a:lnSpc>
              <a:spcBef>
                <a:spcPct val="0"/>
              </a:spcBef>
            </a:pPr>
            <a:r>
              <a:rPr lang="en-US" sz="3500">
                <a:solidFill>
                  <a:srgbClr val="737373"/>
                </a:solidFill>
                <a:latin typeface="DM Sans"/>
                <a:ea typeface="DM Sans"/>
                <a:cs typeface="DM Sans"/>
                <a:sym typeface="DM Sans"/>
              </a:rPr>
              <a:t>Azure Backups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306549" y="310617"/>
            <a:ext cx="9218481" cy="6510553"/>
          </a:xfrm>
          <a:custGeom>
            <a:avLst/>
            <a:gdLst/>
            <a:ahLst/>
            <a:cxnLst/>
            <a:rect r="r" b="b" t="t" l="l"/>
            <a:pathLst>
              <a:path h="6510553" w="9218481">
                <a:moveTo>
                  <a:pt x="0" y="0"/>
                </a:moveTo>
                <a:lnTo>
                  <a:pt x="9218481" y="0"/>
                </a:lnTo>
                <a:lnTo>
                  <a:pt x="9218481" y="6510553"/>
                </a:lnTo>
                <a:lnTo>
                  <a:pt x="0" y="6510553"/>
                </a:lnTo>
                <a:lnTo>
                  <a:pt x="0" y="0"/>
                </a:lnTo>
                <a:close/>
              </a:path>
            </a:pathLst>
          </a:custGeom>
          <a:blipFill>
            <a:blip r:embed="rId3"/>
            <a:stretch>
              <a:fillRect l="0" t="0" r="0" b="0"/>
            </a:stretch>
          </a:blipFill>
        </p:spPr>
      </p:sp>
      <p:sp>
        <p:nvSpPr>
          <p:cNvPr name="Freeform 4" id="4"/>
          <p:cNvSpPr/>
          <p:nvPr/>
        </p:nvSpPr>
        <p:spPr>
          <a:xfrm flipH="false" flipV="false" rot="0">
            <a:off x="7984090" y="5103317"/>
            <a:ext cx="9663749" cy="4348687"/>
          </a:xfrm>
          <a:custGeom>
            <a:avLst/>
            <a:gdLst/>
            <a:ahLst/>
            <a:cxnLst/>
            <a:rect r="r" b="b" t="t" l="l"/>
            <a:pathLst>
              <a:path h="4348687" w="9663749">
                <a:moveTo>
                  <a:pt x="0" y="0"/>
                </a:moveTo>
                <a:lnTo>
                  <a:pt x="9663749" y="0"/>
                </a:lnTo>
                <a:lnTo>
                  <a:pt x="9663749" y="4348687"/>
                </a:lnTo>
                <a:lnTo>
                  <a:pt x="0" y="4348687"/>
                </a:lnTo>
                <a:lnTo>
                  <a:pt x="0" y="0"/>
                </a:lnTo>
                <a:close/>
              </a:path>
            </a:pathLst>
          </a:custGeom>
          <a:blipFill>
            <a:blip r:embed="rId4"/>
            <a:stretch>
              <a:fillRect l="0" t="0" r="0" b="0"/>
            </a:stretch>
          </a:blipFill>
        </p:spPr>
      </p:sp>
      <p:sp>
        <p:nvSpPr>
          <p:cNvPr name="Freeform 5" id="5"/>
          <p:cNvSpPr/>
          <p:nvPr/>
        </p:nvSpPr>
        <p:spPr>
          <a:xfrm flipH="false" flipV="false" rot="0">
            <a:off x="10289097" y="310617"/>
            <a:ext cx="7358742" cy="4136286"/>
          </a:xfrm>
          <a:custGeom>
            <a:avLst/>
            <a:gdLst/>
            <a:ahLst/>
            <a:cxnLst/>
            <a:rect r="r" b="b" t="t" l="l"/>
            <a:pathLst>
              <a:path h="4136286" w="7358742">
                <a:moveTo>
                  <a:pt x="0" y="0"/>
                </a:moveTo>
                <a:lnTo>
                  <a:pt x="7358742" y="0"/>
                </a:lnTo>
                <a:lnTo>
                  <a:pt x="7358742" y="4136287"/>
                </a:lnTo>
                <a:lnTo>
                  <a:pt x="0" y="4136287"/>
                </a:lnTo>
                <a:lnTo>
                  <a:pt x="0" y="0"/>
                </a:lnTo>
                <a:close/>
              </a:path>
            </a:pathLst>
          </a:custGeom>
          <a:blipFill>
            <a:blip r:embed="rId5"/>
            <a:stretch>
              <a:fillRect l="0" t="0" r="0" b="0"/>
            </a:stretch>
          </a:blipFill>
        </p:spPr>
      </p:sp>
      <p:sp>
        <p:nvSpPr>
          <p:cNvPr name="TextBox 6" id="6"/>
          <p:cNvSpPr txBox="true"/>
          <p:nvPr/>
        </p:nvSpPr>
        <p:spPr>
          <a:xfrm rot="0">
            <a:off x="795880" y="7506970"/>
            <a:ext cx="6262680" cy="1751330"/>
          </a:xfrm>
          <a:prstGeom prst="rect">
            <a:avLst/>
          </a:prstGeom>
        </p:spPr>
        <p:txBody>
          <a:bodyPr anchor="t" rtlCol="false" tIns="0" lIns="0" bIns="0" rIns="0">
            <a:spAutoFit/>
          </a:bodyPr>
          <a:lstStyle/>
          <a:p>
            <a:pPr algn="l" marL="0" indent="0" lvl="0">
              <a:lnSpc>
                <a:spcPts val="6760"/>
              </a:lnSpc>
            </a:pPr>
            <a:r>
              <a:rPr lang="en-US" sz="6500">
                <a:solidFill>
                  <a:srgbClr val="FFFFFF"/>
                </a:solidFill>
                <a:latin typeface="Anton"/>
                <a:ea typeface="Anton"/>
                <a:cs typeface="Anton"/>
                <a:sym typeface="Anton"/>
              </a:rPr>
              <a:t>THE GHOST OF TOO MANY TOOLS</a:t>
            </a:r>
          </a:p>
        </p:txBody>
      </p:sp>
      <p:sp>
        <p:nvSpPr>
          <p:cNvPr name="TextBox 7" id="7"/>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8" id="8"/>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5567369" y="4423055"/>
            <a:ext cx="6855619" cy="720445"/>
          </a:xfrm>
          <a:prstGeom prst="rect">
            <a:avLst/>
          </a:prstGeom>
        </p:spPr>
        <p:txBody>
          <a:bodyPr anchor="t" rtlCol="false" tIns="0" lIns="0" bIns="0" rIns="0">
            <a:spAutoFit/>
          </a:bodyPr>
          <a:lstStyle/>
          <a:p>
            <a:pPr algn="ctr">
              <a:lnSpc>
                <a:spcPts val="5965"/>
              </a:lnSpc>
              <a:spcBef>
                <a:spcPct val="0"/>
              </a:spcBef>
            </a:pPr>
            <a:r>
              <a:rPr lang="en-US" b="true" sz="4261">
                <a:solidFill>
                  <a:srgbClr val="FFFFFF"/>
                </a:solidFill>
                <a:latin typeface="DM Sans Bold"/>
                <a:ea typeface="DM Sans Bold"/>
                <a:cs typeface="DM Sans Bold"/>
                <a:sym typeface="DM Sans Bold"/>
              </a:rPr>
              <a:t>OPERATIONAL RISK IS RISK</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520478" y="457984"/>
            <a:ext cx="7918194" cy="436500"/>
          </a:xfrm>
          <a:prstGeom prst="rect">
            <a:avLst/>
          </a:prstGeom>
        </p:spPr>
        <p:txBody>
          <a:bodyPr anchor="t" rtlCol="false" tIns="0" lIns="0" bIns="0" rIns="0">
            <a:spAutoFit/>
          </a:bodyPr>
          <a:lstStyle/>
          <a:p>
            <a:pPr algn="l" marL="0" indent="0" lvl="0">
              <a:lnSpc>
                <a:spcPts val="3328"/>
              </a:lnSpc>
            </a:pPr>
            <a:r>
              <a:rPr lang="en-US" sz="3200">
                <a:solidFill>
                  <a:srgbClr val="38B6FF"/>
                </a:solidFill>
                <a:latin typeface="Anton"/>
                <a:ea typeface="Anton"/>
                <a:cs typeface="Anton"/>
                <a:sym typeface="Anton"/>
              </a:rPr>
              <a:t>PERFORMANCE / RELIABILITY MONITORING</a:t>
            </a:r>
          </a:p>
        </p:txBody>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736136" y="1540127"/>
            <a:ext cx="7486877" cy="606425"/>
          </a:xfrm>
          <a:prstGeom prst="rect">
            <a:avLst/>
          </a:prstGeom>
        </p:spPr>
        <p:txBody>
          <a:bodyPr anchor="t" rtlCol="false" tIns="0" lIns="0" bIns="0" rIns="0">
            <a:spAutoFit/>
          </a:bodyPr>
          <a:lstStyle/>
          <a:p>
            <a:pPr algn="l">
              <a:lnSpc>
                <a:spcPts val="4900"/>
              </a:lnSpc>
            </a:pPr>
            <a:r>
              <a:rPr lang="en-US" b="true" sz="3500">
                <a:solidFill>
                  <a:srgbClr val="FFFFFF"/>
                </a:solidFill>
                <a:latin typeface="DM Sans Bold"/>
                <a:ea typeface="DM Sans Bold"/>
                <a:cs typeface="DM Sans Bold"/>
                <a:sym typeface="DM Sans Bold"/>
              </a:rPr>
              <a:t>WHAT DO YOU HAVE ALREADY?</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520478" y="457984"/>
            <a:ext cx="7918194" cy="436500"/>
          </a:xfrm>
          <a:prstGeom prst="rect">
            <a:avLst/>
          </a:prstGeom>
        </p:spPr>
        <p:txBody>
          <a:bodyPr anchor="t" rtlCol="false" tIns="0" lIns="0" bIns="0" rIns="0">
            <a:spAutoFit/>
          </a:bodyPr>
          <a:lstStyle/>
          <a:p>
            <a:pPr algn="l" marL="0" indent="0" lvl="0">
              <a:lnSpc>
                <a:spcPts val="3328"/>
              </a:lnSpc>
            </a:pPr>
            <a:r>
              <a:rPr lang="en-US" sz="3200">
                <a:solidFill>
                  <a:srgbClr val="38B6FF"/>
                </a:solidFill>
                <a:latin typeface="Anton"/>
                <a:ea typeface="Anton"/>
                <a:cs typeface="Anton"/>
                <a:sym typeface="Anton"/>
              </a:rPr>
              <a:t>PERFORMANCE / RELIABILITY MONITORING</a:t>
            </a:r>
          </a:p>
        </p:txBody>
      </p:sp>
      <p:sp>
        <p:nvSpPr>
          <p:cNvPr name="Freeform 4" id="4"/>
          <p:cNvSpPr/>
          <p:nvPr/>
        </p:nvSpPr>
        <p:spPr>
          <a:xfrm flipH="false" flipV="false" rot="0">
            <a:off x="12682435" y="2889284"/>
            <a:ext cx="5118631" cy="5722629"/>
          </a:xfrm>
          <a:custGeom>
            <a:avLst/>
            <a:gdLst/>
            <a:ahLst/>
            <a:cxnLst/>
            <a:rect r="r" b="b" t="t" l="l"/>
            <a:pathLst>
              <a:path h="5722629" w="5118631">
                <a:moveTo>
                  <a:pt x="0" y="0"/>
                </a:moveTo>
                <a:lnTo>
                  <a:pt x="5118631" y="0"/>
                </a:lnTo>
                <a:lnTo>
                  <a:pt x="5118631" y="5722629"/>
                </a:lnTo>
                <a:lnTo>
                  <a:pt x="0" y="5722629"/>
                </a:lnTo>
                <a:lnTo>
                  <a:pt x="0" y="0"/>
                </a:lnTo>
                <a:close/>
              </a:path>
            </a:pathLst>
          </a:custGeom>
          <a:blipFill>
            <a:blip r:embed="rId3"/>
            <a:stretch>
              <a:fillRect l="0" t="0" r="0" b="0"/>
            </a:stretch>
          </a:blipFill>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736136" y="1540127"/>
            <a:ext cx="7486877" cy="606425"/>
          </a:xfrm>
          <a:prstGeom prst="rect">
            <a:avLst/>
          </a:prstGeom>
        </p:spPr>
        <p:txBody>
          <a:bodyPr anchor="t" rtlCol="false" tIns="0" lIns="0" bIns="0" rIns="0">
            <a:spAutoFit/>
          </a:bodyPr>
          <a:lstStyle/>
          <a:p>
            <a:pPr algn="l">
              <a:lnSpc>
                <a:spcPts val="4900"/>
              </a:lnSpc>
            </a:pPr>
            <a:r>
              <a:rPr lang="en-US" b="true" sz="3500">
                <a:solidFill>
                  <a:srgbClr val="FFFFFF"/>
                </a:solidFill>
                <a:latin typeface="DM Sans Bold"/>
                <a:ea typeface="DM Sans Bold"/>
                <a:cs typeface="DM Sans Bold"/>
                <a:sym typeface="DM Sans Bold"/>
              </a:rPr>
              <a:t>WHAT DO YOU HAVE ALREADY?</a:t>
            </a:r>
          </a:p>
        </p:txBody>
      </p:sp>
      <p:sp>
        <p:nvSpPr>
          <p:cNvPr name="TextBox 8" id="8"/>
          <p:cNvSpPr txBox="true"/>
          <p:nvPr/>
        </p:nvSpPr>
        <p:spPr>
          <a:xfrm rot="0">
            <a:off x="749469" y="2766984"/>
            <a:ext cx="8394531" cy="1225550"/>
          </a:xfrm>
          <a:prstGeom prst="rect">
            <a:avLst/>
          </a:prstGeom>
        </p:spPr>
        <p:txBody>
          <a:bodyPr anchor="t" rtlCol="false" tIns="0" lIns="0" bIns="0" rIns="0">
            <a:spAutoFit/>
          </a:bodyPr>
          <a:lstStyle/>
          <a:p>
            <a:pPr algn="l">
              <a:lnSpc>
                <a:spcPts val="4900"/>
              </a:lnSpc>
            </a:pPr>
            <a:r>
              <a:rPr lang="en-US" sz="3500">
                <a:solidFill>
                  <a:srgbClr val="FFFFFF"/>
                </a:solidFill>
                <a:latin typeface="DM Sans"/>
                <a:ea typeface="DM Sans"/>
                <a:cs typeface="DM Sans"/>
                <a:sym typeface="DM Sans"/>
              </a:rPr>
              <a:t>Systems Center Operations Manager (SCOM)</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2818161" y="5957846"/>
            <a:ext cx="11994918" cy="3317417"/>
          </a:xfrm>
          <a:custGeom>
            <a:avLst/>
            <a:gdLst/>
            <a:ahLst/>
            <a:cxnLst/>
            <a:rect r="r" b="b" t="t" l="l"/>
            <a:pathLst>
              <a:path h="3317417" w="11994918">
                <a:moveTo>
                  <a:pt x="0" y="0"/>
                </a:moveTo>
                <a:lnTo>
                  <a:pt x="11994918" y="0"/>
                </a:lnTo>
                <a:lnTo>
                  <a:pt x="11994918" y="3317417"/>
                </a:lnTo>
                <a:lnTo>
                  <a:pt x="0" y="3317417"/>
                </a:lnTo>
                <a:lnTo>
                  <a:pt x="0" y="0"/>
                </a:lnTo>
                <a:close/>
              </a:path>
            </a:pathLst>
          </a:custGeom>
          <a:blipFill>
            <a:blip r:embed="rId3"/>
            <a:stretch>
              <a:fillRect l="0" t="0" r="0" b="0"/>
            </a:stretch>
          </a:blipFill>
        </p:spPr>
      </p:sp>
      <p:sp>
        <p:nvSpPr>
          <p:cNvPr name="TextBox 4" id="4"/>
          <p:cNvSpPr txBox="true"/>
          <p:nvPr/>
        </p:nvSpPr>
        <p:spPr>
          <a:xfrm rot="0">
            <a:off x="520478" y="457984"/>
            <a:ext cx="7918194" cy="436500"/>
          </a:xfrm>
          <a:prstGeom prst="rect">
            <a:avLst/>
          </a:prstGeom>
        </p:spPr>
        <p:txBody>
          <a:bodyPr anchor="t" rtlCol="false" tIns="0" lIns="0" bIns="0" rIns="0">
            <a:spAutoFit/>
          </a:bodyPr>
          <a:lstStyle/>
          <a:p>
            <a:pPr algn="l" marL="0" indent="0" lvl="0">
              <a:lnSpc>
                <a:spcPts val="3328"/>
              </a:lnSpc>
            </a:pPr>
            <a:r>
              <a:rPr lang="en-US" sz="3200">
                <a:solidFill>
                  <a:srgbClr val="38B6FF"/>
                </a:solidFill>
                <a:latin typeface="Anton"/>
                <a:ea typeface="Anton"/>
                <a:cs typeface="Anton"/>
                <a:sym typeface="Anton"/>
              </a:rPr>
              <a:t>PERFORMANCE / RELIABILITY MONITORING</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736136" y="1540127"/>
            <a:ext cx="7486877" cy="606425"/>
          </a:xfrm>
          <a:prstGeom prst="rect">
            <a:avLst/>
          </a:prstGeom>
        </p:spPr>
        <p:txBody>
          <a:bodyPr anchor="t" rtlCol="false" tIns="0" lIns="0" bIns="0" rIns="0">
            <a:spAutoFit/>
          </a:bodyPr>
          <a:lstStyle/>
          <a:p>
            <a:pPr algn="l">
              <a:lnSpc>
                <a:spcPts val="4900"/>
              </a:lnSpc>
            </a:pPr>
            <a:r>
              <a:rPr lang="en-US" b="true" sz="3500">
                <a:solidFill>
                  <a:srgbClr val="FFFFFF"/>
                </a:solidFill>
                <a:latin typeface="DM Sans Bold"/>
                <a:ea typeface="DM Sans Bold"/>
                <a:cs typeface="DM Sans Bold"/>
                <a:sym typeface="DM Sans Bold"/>
              </a:rPr>
              <a:t>WHAT DO YOU HAVE ALREADY?</a:t>
            </a:r>
          </a:p>
        </p:txBody>
      </p:sp>
      <p:sp>
        <p:nvSpPr>
          <p:cNvPr name="TextBox 8" id="8"/>
          <p:cNvSpPr txBox="true"/>
          <p:nvPr/>
        </p:nvSpPr>
        <p:spPr>
          <a:xfrm rot="0">
            <a:off x="749469" y="2766984"/>
            <a:ext cx="8394531" cy="1225550"/>
          </a:xfrm>
          <a:prstGeom prst="rect">
            <a:avLst/>
          </a:prstGeom>
        </p:spPr>
        <p:txBody>
          <a:bodyPr anchor="t" rtlCol="false" tIns="0" lIns="0" bIns="0" rIns="0">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name="TextBox 9" id="9"/>
          <p:cNvSpPr txBox="true"/>
          <p:nvPr/>
        </p:nvSpPr>
        <p:spPr>
          <a:xfrm rot="0">
            <a:off x="749469" y="4611659"/>
            <a:ext cx="9557126" cy="977900"/>
          </a:xfrm>
          <a:prstGeom prst="rect">
            <a:avLst/>
          </a:prstGeom>
        </p:spPr>
        <p:txBody>
          <a:bodyPr anchor="t" rtlCol="false" tIns="0" lIns="0" bIns="0" rIns="0">
            <a:spAutoFit/>
          </a:bodyPr>
          <a:lstStyle/>
          <a:p>
            <a:pPr algn="l">
              <a:lnSpc>
                <a:spcPts val="4900"/>
              </a:lnSpc>
            </a:pPr>
            <a:r>
              <a:rPr lang="en-US" sz="3500">
                <a:solidFill>
                  <a:srgbClr val="FFFFFF"/>
                </a:solidFill>
                <a:latin typeface="DM Sans"/>
                <a:ea typeface="DM Sans"/>
                <a:cs typeface="DM Sans"/>
                <a:sym typeface="DM Sans"/>
              </a:rPr>
              <a:t>Azure Monitor (Paid)</a:t>
            </a:r>
          </a:p>
          <a:p>
            <a:pPr algn="l">
              <a:lnSpc>
                <a:spcPts val="2799"/>
              </a:lnSpc>
            </a:pPr>
            <a:r>
              <a:rPr lang="en-US" sz="1999">
                <a:solidFill>
                  <a:srgbClr val="2F7BD1"/>
                </a:solidFill>
                <a:latin typeface="DM Sans"/>
                <a:ea typeface="DM Sans"/>
                <a:cs typeface="DM Sans"/>
                <a:sym typeface="DM Sans"/>
              </a:rPr>
              <a:t>https://learn.microsoft.com/en-us/azure/azure-monitor/fundamentals/overview</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1563651" y="300254"/>
            <a:ext cx="5936474" cy="4728350"/>
          </a:xfrm>
          <a:custGeom>
            <a:avLst/>
            <a:gdLst/>
            <a:ahLst/>
            <a:cxnLst/>
            <a:rect r="r" b="b" t="t" l="l"/>
            <a:pathLst>
              <a:path h="4728350" w="5936474">
                <a:moveTo>
                  <a:pt x="0" y="0"/>
                </a:moveTo>
                <a:lnTo>
                  <a:pt x="5936475" y="0"/>
                </a:lnTo>
                <a:lnTo>
                  <a:pt x="5936475" y="4728350"/>
                </a:lnTo>
                <a:lnTo>
                  <a:pt x="0" y="4728350"/>
                </a:lnTo>
                <a:lnTo>
                  <a:pt x="0" y="0"/>
                </a:lnTo>
                <a:close/>
              </a:path>
            </a:pathLst>
          </a:custGeom>
          <a:blipFill>
            <a:blip r:embed="rId3"/>
            <a:stretch>
              <a:fillRect l="0" t="0" r="0" b="0"/>
            </a:stretch>
          </a:blipFill>
          <a:ln w="38100" cap="sq">
            <a:solidFill>
              <a:srgbClr val="2F7BD1"/>
            </a:solidFill>
            <a:prstDash val="solid"/>
            <a:miter/>
          </a:ln>
        </p:spPr>
      </p:sp>
      <p:sp>
        <p:nvSpPr>
          <p:cNvPr name="Freeform 4" id="4"/>
          <p:cNvSpPr/>
          <p:nvPr/>
        </p:nvSpPr>
        <p:spPr>
          <a:xfrm flipH="false" flipV="false" rot="0">
            <a:off x="3493371" y="7196109"/>
            <a:ext cx="11301259" cy="2076606"/>
          </a:xfrm>
          <a:custGeom>
            <a:avLst/>
            <a:gdLst/>
            <a:ahLst/>
            <a:cxnLst/>
            <a:rect r="r" b="b" t="t" l="l"/>
            <a:pathLst>
              <a:path h="2076606" w="11301259">
                <a:moveTo>
                  <a:pt x="0" y="0"/>
                </a:moveTo>
                <a:lnTo>
                  <a:pt x="11301258" y="0"/>
                </a:lnTo>
                <a:lnTo>
                  <a:pt x="11301258" y="2076606"/>
                </a:lnTo>
                <a:lnTo>
                  <a:pt x="0" y="2076606"/>
                </a:lnTo>
                <a:lnTo>
                  <a:pt x="0" y="0"/>
                </a:lnTo>
                <a:close/>
              </a:path>
            </a:pathLst>
          </a:custGeom>
          <a:blipFill>
            <a:blip r:embed="rId4"/>
            <a:stretch>
              <a:fillRect l="0" t="0" r="0" b="0"/>
            </a:stretch>
          </a:blipFill>
          <a:ln w="38100" cap="sq">
            <a:solidFill>
              <a:srgbClr val="2F7BD1"/>
            </a:solidFill>
            <a:prstDash val="solid"/>
            <a:miter/>
          </a:ln>
        </p:spPr>
      </p:sp>
      <p:sp>
        <p:nvSpPr>
          <p:cNvPr name="TextBox 5" id="5"/>
          <p:cNvSpPr txBox="true"/>
          <p:nvPr/>
        </p:nvSpPr>
        <p:spPr>
          <a:xfrm rot="0">
            <a:off x="520478" y="457984"/>
            <a:ext cx="7918194" cy="436500"/>
          </a:xfrm>
          <a:prstGeom prst="rect">
            <a:avLst/>
          </a:prstGeom>
        </p:spPr>
        <p:txBody>
          <a:bodyPr anchor="t" rtlCol="false" tIns="0" lIns="0" bIns="0" rIns="0">
            <a:spAutoFit/>
          </a:bodyPr>
          <a:lstStyle/>
          <a:p>
            <a:pPr algn="l" marL="0" indent="0" lvl="0">
              <a:lnSpc>
                <a:spcPts val="3328"/>
              </a:lnSpc>
            </a:pPr>
            <a:r>
              <a:rPr lang="en-US" sz="3200">
                <a:solidFill>
                  <a:srgbClr val="38B6FF"/>
                </a:solidFill>
                <a:latin typeface="Anton"/>
                <a:ea typeface="Anton"/>
                <a:cs typeface="Anton"/>
                <a:sym typeface="Anton"/>
              </a:rPr>
              <a:t>PERFORMANCE / RELIABILITY MONITORING</a:t>
            </a:r>
          </a:p>
        </p:txBody>
      </p:sp>
      <p:sp>
        <p:nvSpPr>
          <p:cNvPr name="TextBox 6" id="6"/>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7" id="7"/>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8" id="8"/>
          <p:cNvSpPr txBox="true"/>
          <p:nvPr/>
        </p:nvSpPr>
        <p:spPr>
          <a:xfrm rot="0">
            <a:off x="736136" y="1540127"/>
            <a:ext cx="7486877" cy="606425"/>
          </a:xfrm>
          <a:prstGeom prst="rect">
            <a:avLst/>
          </a:prstGeom>
        </p:spPr>
        <p:txBody>
          <a:bodyPr anchor="t" rtlCol="false" tIns="0" lIns="0" bIns="0" rIns="0">
            <a:spAutoFit/>
          </a:bodyPr>
          <a:lstStyle/>
          <a:p>
            <a:pPr algn="l">
              <a:lnSpc>
                <a:spcPts val="4900"/>
              </a:lnSpc>
            </a:pPr>
            <a:r>
              <a:rPr lang="en-US" b="true" sz="3500">
                <a:solidFill>
                  <a:srgbClr val="FFFFFF"/>
                </a:solidFill>
                <a:latin typeface="DM Sans Bold"/>
                <a:ea typeface="DM Sans Bold"/>
                <a:cs typeface="DM Sans Bold"/>
                <a:sym typeface="DM Sans Bold"/>
              </a:rPr>
              <a:t>WHAT DO YOU HAVE ALREADY?</a:t>
            </a:r>
          </a:p>
        </p:txBody>
      </p:sp>
      <p:sp>
        <p:nvSpPr>
          <p:cNvPr name="TextBox 9" id="9"/>
          <p:cNvSpPr txBox="true"/>
          <p:nvPr/>
        </p:nvSpPr>
        <p:spPr>
          <a:xfrm rot="0">
            <a:off x="749469" y="2766984"/>
            <a:ext cx="8394531" cy="1225550"/>
          </a:xfrm>
          <a:prstGeom prst="rect">
            <a:avLst/>
          </a:prstGeom>
        </p:spPr>
        <p:txBody>
          <a:bodyPr anchor="t" rtlCol="false" tIns="0" lIns="0" bIns="0" rIns="0">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name="TextBox 10" id="10"/>
          <p:cNvSpPr txBox="true"/>
          <p:nvPr/>
        </p:nvSpPr>
        <p:spPr>
          <a:xfrm rot="0">
            <a:off x="736136" y="5865784"/>
            <a:ext cx="9962841" cy="977900"/>
          </a:xfrm>
          <a:prstGeom prst="rect">
            <a:avLst/>
          </a:prstGeom>
        </p:spPr>
        <p:txBody>
          <a:bodyPr anchor="t" rtlCol="false" tIns="0" lIns="0" bIns="0" rIns="0">
            <a:spAutoFit/>
          </a:bodyPr>
          <a:lstStyle/>
          <a:p>
            <a:pPr algn="l">
              <a:lnSpc>
                <a:spcPts val="4900"/>
              </a:lnSpc>
            </a:pPr>
            <a:r>
              <a:rPr lang="en-US" sz="3500">
                <a:solidFill>
                  <a:srgbClr val="FFFFFF"/>
                </a:solidFill>
                <a:latin typeface="DM Sans"/>
                <a:ea typeface="DM Sans"/>
                <a:cs typeface="DM Sans"/>
                <a:sym typeface="DM Sans"/>
              </a:rPr>
              <a:t>Zabbix (Free/Paid)</a:t>
            </a:r>
          </a:p>
          <a:p>
            <a:pPr algn="l">
              <a:lnSpc>
                <a:spcPts val="2800"/>
              </a:lnSpc>
            </a:pPr>
            <a:r>
              <a:rPr lang="en-US" sz="2000">
                <a:solidFill>
                  <a:srgbClr val="2F7BD1"/>
                </a:solidFill>
                <a:latin typeface="DM Sans"/>
                <a:ea typeface="DM Sans"/>
                <a:cs typeface="DM Sans"/>
                <a:sym typeface="DM Sans"/>
              </a:rPr>
              <a:t>https://www.zabbix.com/documentation/7.0/en/manual/installation/getting_zabbix</a:t>
            </a:r>
          </a:p>
        </p:txBody>
      </p:sp>
      <p:sp>
        <p:nvSpPr>
          <p:cNvPr name="TextBox 11" id="11"/>
          <p:cNvSpPr txBox="true"/>
          <p:nvPr/>
        </p:nvSpPr>
        <p:spPr>
          <a:xfrm rot="0">
            <a:off x="749469" y="4611659"/>
            <a:ext cx="9557126" cy="977900"/>
          </a:xfrm>
          <a:prstGeom prst="rect">
            <a:avLst/>
          </a:prstGeom>
        </p:spPr>
        <p:txBody>
          <a:bodyPr anchor="t" rtlCol="false" tIns="0" lIns="0" bIns="0" rIns="0">
            <a:spAutoFit/>
          </a:bodyPr>
          <a:lstStyle/>
          <a:p>
            <a:pPr algn="l">
              <a:lnSpc>
                <a:spcPts val="4900"/>
              </a:lnSpc>
            </a:pPr>
            <a:r>
              <a:rPr lang="en-US" sz="3500">
                <a:solidFill>
                  <a:srgbClr val="767676"/>
                </a:solidFill>
                <a:latin typeface="DM Sans"/>
                <a:ea typeface="DM Sans"/>
                <a:cs typeface="DM Sans"/>
                <a:sym typeface="DM Sans"/>
              </a:rPr>
              <a:t>Azure Monitor (Paid)</a:t>
            </a:r>
          </a:p>
          <a:p>
            <a:pPr algn="l">
              <a:lnSpc>
                <a:spcPts val="2799"/>
              </a:lnSpc>
            </a:pPr>
            <a:r>
              <a:rPr lang="en-US" sz="1999">
                <a:solidFill>
                  <a:srgbClr val="767676"/>
                </a:solidFill>
                <a:latin typeface="DM Sans"/>
                <a:ea typeface="DM Sans"/>
                <a:cs typeface="DM Sans"/>
                <a:sym typeface="DM Sans"/>
              </a:rPr>
              <a:t>https://learn.microsoft.com/en-us/azure/azure-monitor/fundamentals/overview</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486750" y="548005"/>
            <a:ext cx="9278888"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MONITORING ACTION PLAN</a:t>
            </a:r>
          </a:p>
        </p:txBody>
      </p:sp>
      <p:sp>
        <p:nvSpPr>
          <p:cNvPr name="TextBox 4" id="4"/>
          <p:cNvSpPr txBox="true"/>
          <p:nvPr/>
        </p:nvSpPr>
        <p:spPr>
          <a:xfrm rot="0">
            <a:off x="1028700" y="1460553"/>
            <a:ext cx="10564514" cy="1682166"/>
          </a:xfrm>
          <a:prstGeom prst="rect">
            <a:avLst/>
          </a:prstGeom>
        </p:spPr>
        <p:txBody>
          <a:bodyPr anchor="t" rtlCol="false" tIns="0" lIns="0" bIns="0" rIns="0">
            <a:spAutoFit/>
          </a:bodyPr>
          <a:lstStyle/>
          <a:p>
            <a:pPr algn="l" marL="765581" indent="-382791" lvl="1">
              <a:lnSpc>
                <a:spcPts val="4964"/>
              </a:lnSpc>
              <a:buFont typeface="Arial"/>
              <a:buChar char="•"/>
            </a:pPr>
            <a:r>
              <a:rPr lang="en-US" sz="3546">
                <a:solidFill>
                  <a:srgbClr val="FFFFFF"/>
                </a:solidFill>
                <a:latin typeface="DM Sans"/>
                <a:ea typeface="DM Sans"/>
                <a:cs typeface="DM Sans"/>
                <a:sym typeface="DM Sans"/>
              </a:rPr>
              <a:t>Configure AD Advanced Auditing</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6.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486750" y="548005"/>
            <a:ext cx="9278888"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MONITORING ACTION PLAN</a:t>
            </a:r>
          </a:p>
        </p:txBody>
      </p:sp>
      <p:sp>
        <p:nvSpPr>
          <p:cNvPr name="TextBox 4" id="4"/>
          <p:cNvSpPr txBox="true"/>
          <p:nvPr/>
        </p:nvSpPr>
        <p:spPr>
          <a:xfrm rot="0">
            <a:off x="1028700" y="1460553"/>
            <a:ext cx="10564514" cy="3989756"/>
          </a:xfrm>
          <a:prstGeom prst="rect">
            <a:avLst/>
          </a:prstGeom>
        </p:spPr>
        <p:txBody>
          <a:bodyPr anchor="t" rtlCol="false" tIns="0" lIns="0" bIns="0" rIns="0">
            <a:spAutoFit/>
          </a:bodyPr>
          <a:lstStyle/>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AD Advanced Auditing</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p>
          <a:p>
            <a:pPr algn="l" marL="765581" indent="-382791" lvl="1">
              <a:lnSpc>
                <a:spcPts val="4964"/>
              </a:lnSpc>
              <a:buFont typeface="Arial"/>
              <a:buChar char="•"/>
            </a:pPr>
            <a:r>
              <a:rPr lang="en-US" sz="3546">
                <a:solidFill>
                  <a:srgbClr val="FFFFFF"/>
                </a:solidFill>
                <a:latin typeface="DM Sans"/>
                <a:ea typeface="DM Sans"/>
                <a:cs typeface="DM Sans"/>
                <a:sym typeface="DM Sans"/>
              </a:rPr>
              <a:t>Configure Data Collector Sets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Perfmon \ Data Collector Sets</a:t>
            </a:r>
          </a:p>
          <a:p>
            <a:pPr algn="l" marL="777240" indent="-259080" lvl="2">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7.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486750" y="548005"/>
            <a:ext cx="9278888"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MONITORING ACTION PLAN</a:t>
            </a:r>
          </a:p>
        </p:txBody>
      </p:sp>
      <p:sp>
        <p:nvSpPr>
          <p:cNvPr name="TextBox 4" id="4"/>
          <p:cNvSpPr txBox="true"/>
          <p:nvPr/>
        </p:nvSpPr>
        <p:spPr>
          <a:xfrm rot="0">
            <a:off x="1028700" y="1460553"/>
            <a:ext cx="10564514" cy="6016041"/>
          </a:xfrm>
          <a:prstGeom prst="rect">
            <a:avLst/>
          </a:prstGeom>
        </p:spPr>
        <p:txBody>
          <a:bodyPr anchor="t" rtlCol="false" tIns="0" lIns="0" bIns="0" rIns="0">
            <a:spAutoFit/>
          </a:bodyPr>
          <a:lstStyle/>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AD Advanced Auditing</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p>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Data Collector Sets</a:t>
            </a:r>
          </a:p>
          <a:p>
            <a:pPr algn="l" marL="1036320" indent="-345440" lvl="2">
              <a:lnSpc>
                <a:spcPts val="3359"/>
              </a:lnSpc>
              <a:buFont typeface="Arial"/>
              <a:buChar char="⚬"/>
            </a:pPr>
            <a:r>
              <a:rPr lang="en-US" sz="2400">
                <a:solidFill>
                  <a:srgbClr val="737373"/>
                </a:solidFill>
                <a:latin typeface="DM Sans"/>
                <a:ea typeface="DM Sans"/>
                <a:cs typeface="DM Sans"/>
                <a:sym typeface="DM Sans"/>
              </a:rPr>
              <a:t>Perfmon \ Data Collector Sets</a:t>
            </a:r>
          </a:p>
          <a:p>
            <a:pPr algn="l" marL="777240" indent="-259080" lvl="2">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p>
          <a:p>
            <a:pPr algn="l" marL="765581" indent="-382791" lvl="1">
              <a:lnSpc>
                <a:spcPts val="4964"/>
              </a:lnSpc>
              <a:buFont typeface="Arial"/>
              <a:buChar char="•"/>
            </a:pPr>
            <a:r>
              <a:rPr lang="en-US" sz="3546">
                <a:solidFill>
                  <a:srgbClr val="FFFFFF"/>
                </a:solidFill>
                <a:latin typeface="DM Sans"/>
                <a:ea typeface="DM Sans"/>
                <a:cs typeface="DM Sans"/>
                <a:sym typeface="DM Sans"/>
              </a:rPr>
              <a:t>Get a tool (Zabbix)</a:t>
            </a:r>
          </a:p>
          <a:p>
            <a:pPr algn="l" marL="1036320" indent="-345440" lvl="2">
              <a:lnSpc>
                <a:spcPts val="3359"/>
              </a:lnSpc>
              <a:buFont typeface="Arial"/>
              <a:buChar char="⚬"/>
            </a:pPr>
            <a:r>
              <a:rPr lang="en-US" sz="2400">
                <a:solidFill>
                  <a:srgbClr val="FFFFFF"/>
                </a:solidFill>
                <a:latin typeface="DM Sans"/>
                <a:ea typeface="DM Sans"/>
                <a:cs typeface="DM Sans"/>
                <a:sym typeface="DM Sans"/>
              </a:rPr>
              <a:t>My github has a template for AD</a:t>
            </a:r>
          </a:p>
          <a:p>
            <a:pPr algn="l" marL="863604" indent="-287868" lvl="2">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8.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486750" y="548005"/>
            <a:ext cx="9278888" cy="480695"/>
          </a:xfrm>
          <a:prstGeom prst="rect">
            <a:avLst/>
          </a:prstGeom>
        </p:spPr>
        <p:txBody>
          <a:bodyPr anchor="t" rtlCol="false" tIns="0" lIns="0" bIns="0" rIns="0">
            <a:spAutoFit/>
          </a:bodyPr>
          <a:lstStyle/>
          <a:p>
            <a:pPr algn="l" marL="0" indent="0" lvl="0">
              <a:lnSpc>
                <a:spcPts val="3640"/>
              </a:lnSpc>
            </a:pPr>
            <a:r>
              <a:rPr lang="en-US" sz="3500">
                <a:solidFill>
                  <a:srgbClr val="38B6FF"/>
                </a:solidFill>
                <a:latin typeface="Anton"/>
                <a:ea typeface="Anton"/>
                <a:cs typeface="Anton"/>
                <a:sym typeface="Anton"/>
              </a:rPr>
              <a:t>MONITORING ACTION PLAN</a:t>
            </a:r>
          </a:p>
        </p:txBody>
      </p:sp>
      <p:sp>
        <p:nvSpPr>
          <p:cNvPr name="TextBox 4" id="4"/>
          <p:cNvSpPr txBox="true"/>
          <p:nvPr/>
        </p:nvSpPr>
        <p:spPr>
          <a:xfrm rot="0">
            <a:off x="1028700" y="1460553"/>
            <a:ext cx="10564514" cy="7139407"/>
          </a:xfrm>
          <a:prstGeom prst="rect">
            <a:avLst/>
          </a:prstGeom>
        </p:spPr>
        <p:txBody>
          <a:bodyPr anchor="t" rtlCol="false" tIns="0" lIns="0" bIns="0" rIns="0">
            <a:spAutoFit/>
          </a:bodyPr>
          <a:lstStyle/>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AD Advanced Auditing</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algn="l" marL="863604" indent="-287868" lvl="2">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p>
          <a:p>
            <a:pPr algn="l" marL="765581" indent="-382791" lvl="1">
              <a:lnSpc>
                <a:spcPts val="4964"/>
              </a:lnSpc>
              <a:buFont typeface="Arial"/>
              <a:buChar char="•"/>
            </a:pPr>
            <a:r>
              <a:rPr lang="en-US" sz="3546">
                <a:solidFill>
                  <a:srgbClr val="737373"/>
                </a:solidFill>
                <a:latin typeface="DM Sans"/>
                <a:ea typeface="DM Sans"/>
                <a:cs typeface="DM Sans"/>
                <a:sym typeface="DM Sans"/>
              </a:rPr>
              <a:t>Configure Data Collector Sets</a:t>
            </a:r>
          </a:p>
          <a:p>
            <a:pPr algn="l" marL="1036320" indent="-345440" lvl="2">
              <a:lnSpc>
                <a:spcPts val="3359"/>
              </a:lnSpc>
              <a:buFont typeface="Arial"/>
              <a:buChar char="⚬"/>
            </a:pPr>
            <a:r>
              <a:rPr lang="en-US" sz="2400">
                <a:solidFill>
                  <a:srgbClr val="737373"/>
                </a:solidFill>
                <a:latin typeface="DM Sans"/>
                <a:ea typeface="DM Sans"/>
                <a:cs typeface="DM Sans"/>
                <a:sym typeface="DM Sans"/>
              </a:rPr>
              <a:t>Perfmon \ Data Collector Sets</a:t>
            </a:r>
          </a:p>
          <a:p>
            <a:pPr algn="l" marL="777240" indent="-259080" lvl="2">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p>
          <a:p>
            <a:pPr algn="l" marL="765581" indent="-382791" lvl="1">
              <a:lnSpc>
                <a:spcPts val="4964"/>
              </a:lnSpc>
              <a:buFont typeface="Arial"/>
              <a:buChar char="•"/>
            </a:pPr>
            <a:r>
              <a:rPr lang="en-US" sz="3546">
                <a:solidFill>
                  <a:srgbClr val="737373"/>
                </a:solidFill>
                <a:latin typeface="DM Sans"/>
                <a:ea typeface="DM Sans"/>
                <a:cs typeface="DM Sans"/>
                <a:sym typeface="DM Sans"/>
              </a:rPr>
              <a:t>Get a tool (Zabbix)</a:t>
            </a:r>
          </a:p>
          <a:p>
            <a:pPr algn="l" marL="1036320" indent="-345440" lvl="2">
              <a:lnSpc>
                <a:spcPts val="3359"/>
              </a:lnSpc>
              <a:buFont typeface="Arial"/>
              <a:buChar char="⚬"/>
            </a:pPr>
            <a:r>
              <a:rPr lang="en-US" sz="2400">
                <a:solidFill>
                  <a:srgbClr val="737373"/>
                </a:solidFill>
                <a:latin typeface="DM Sans"/>
                <a:ea typeface="DM Sans"/>
                <a:cs typeface="DM Sans"/>
                <a:sym typeface="DM Sans"/>
              </a:rPr>
              <a:t>My github has a template for AD</a:t>
            </a:r>
          </a:p>
          <a:p>
            <a:pPr algn="l" marL="863604" indent="-287868" lvl="2">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a:p>
            <a:pPr algn="l">
              <a:lnSpc>
                <a:spcPts val="4059"/>
              </a:lnSpc>
            </a:pPr>
          </a:p>
          <a:p>
            <a:pPr algn="l" marL="765581" indent="-382791" lvl="1">
              <a:lnSpc>
                <a:spcPts val="4964"/>
              </a:lnSpc>
              <a:buFont typeface="Arial"/>
              <a:buChar char="•"/>
            </a:pPr>
            <a:r>
              <a:rPr lang="en-US" sz="3546">
                <a:solidFill>
                  <a:srgbClr val="FFFFFF"/>
                </a:solidFill>
                <a:latin typeface="DM Sans"/>
                <a:ea typeface="DM Sans"/>
                <a:cs typeface="DM Sans"/>
                <a:sym typeface="DM Sans"/>
              </a:rPr>
              <a:t>Review it the monitors / Alert</a:t>
            </a:r>
          </a:p>
        </p:txBody>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28700" y="3137270"/>
            <a:ext cx="6262680" cy="2277740"/>
          </a:xfrm>
          <a:prstGeom prst="rect">
            <a:avLst/>
          </a:prstGeom>
        </p:spPr>
        <p:txBody>
          <a:bodyPr anchor="t" rtlCol="false" tIns="0" lIns="0" bIns="0" rIns="0">
            <a:spAutoFit/>
          </a:bodyPr>
          <a:lstStyle/>
          <a:p>
            <a:pPr algn="l" marL="0" indent="0" lvl="0">
              <a:lnSpc>
                <a:spcPts val="8839"/>
              </a:lnSpc>
            </a:pPr>
            <a:r>
              <a:rPr lang="en-US" sz="8499">
                <a:solidFill>
                  <a:srgbClr val="FFFFFF"/>
                </a:solidFill>
                <a:latin typeface="Anton"/>
                <a:ea typeface="Anton"/>
                <a:cs typeface="Anton"/>
                <a:sym typeface="Anton"/>
              </a:rPr>
              <a:t>THE GHOST OF PERFECTION</a:t>
            </a:r>
          </a:p>
        </p:txBody>
      </p:sp>
      <p:sp>
        <p:nvSpPr>
          <p:cNvPr name="TextBox 7" id="7"/>
          <p:cNvSpPr txBox="true"/>
          <p:nvPr/>
        </p:nvSpPr>
        <p:spPr>
          <a:xfrm rot="0">
            <a:off x="1028700" y="5820839"/>
            <a:ext cx="6262680" cy="1535049"/>
          </a:xfrm>
          <a:prstGeom prst="rect">
            <a:avLst/>
          </a:prstGeom>
        </p:spPr>
        <p:txBody>
          <a:bodyPr anchor="t" rtlCol="false" tIns="0" lIns="0" bIns="0" rIns="0">
            <a:spAutoFit/>
          </a:bodyPr>
          <a:lstStyle/>
          <a:p>
            <a:pPr algn="l" marL="0" indent="0" lvl="0">
              <a:lnSpc>
                <a:spcPts val="5928"/>
              </a:lnSpc>
            </a:pPr>
            <a:r>
              <a:rPr lang="en-US" sz="5700">
                <a:solidFill>
                  <a:srgbClr val="38B6FF"/>
                </a:solidFill>
                <a:latin typeface="DM Sans"/>
                <a:ea typeface="DM Sans"/>
                <a:cs typeface="DM Sans"/>
                <a:sym typeface="DM Sans"/>
              </a:rPr>
              <a:t>Baselines, STIGS, &amp; Benchmarks</a:t>
            </a:r>
          </a:p>
        </p:txBody>
      </p:sp>
      <p:sp>
        <p:nvSpPr>
          <p:cNvPr name="Freeform 8" id="8"/>
          <p:cNvSpPr/>
          <p:nvPr/>
        </p:nvSpPr>
        <p:spPr>
          <a:xfrm flipH="false" flipV="false" rot="0">
            <a:off x="9791148" y="2420487"/>
            <a:ext cx="7261368" cy="5446026"/>
          </a:xfrm>
          <a:custGeom>
            <a:avLst/>
            <a:gdLst/>
            <a:ahLst/>
            <a:cxnLst/>
            <a:rect r="r" b="b" t="t" l="l"/>
            <a:pathLst>
              <a:path h="5446026" w="7261368">
                <a:moveTo>
                  <a:pt x="0" y="0"/>
                </a:moveTo>
                <a:lnTo>
                  <a:pt x="7261368" y="0"/>
                </a:lnTo>
                <a:lnTo>
                  <a:pt x="7261368" y="5446026"/>
                </a:lnTo>
                <a:lnTo>
                  <a:pt x="0" y="5446026"/>
                </a:lnTo>
                <a:lnTo>
                  <a:pt x="0" y="0"/>
                </a:lnTo>
                <a:close/>
              </a:path>
            </a:pathLst>
          </a:custGeom>
          <a:blipFill>
            <a:blip r:embed="rId4"/>
            <a:stretch>
              <a:fillRect l="0" t="0" r="0" b="0"/>
            </a:stretch>
          </a:blipFill>
          <a:ln w="38100" cap="sq">
            <a:solidFill>
              <a:srgbClr val="38B6FF"/>
            </a:solidFill>
            <a:prstDash val="solid"/>
            <a:miter/>
          </a:ln>
        </p:spPr>
      </p:sp>
      <p:sp>
        <p:nvSpPr>
          <p:cNvPr name="TextBox 9" id="9"/>
          <p:cNvSpPr txBox="true"/>
          <p:nvPr/>
        </p:nvSpPr>
        <p:spPr>
          <a:xfrm rot="0">
            <a:off x="9916460" y="3325495"/>
            <a:ext cx="5728838" cy="2006758"/>
          </a:xfrm>
          <a:prstGeom prst="rect">
            <a:avLst/>
          </a:prstGeom>
        </p:spPr>
        <p:txBody>
          <a:bodyPr anchor="t" rtlCol="false" tIns="0" lIns="0" bIns="0" rIns="0">
            <a:spAutoFit/>
          </a:bodyPr>
          <a:lstStyle/>
          <a:p>
            <a:pPr algn="ctr">
              <a:lnSpc>
                <a:spcPts val="6333"/>
              </a:lnSpc>
            </a:pPr>
            <a:r>
              <a:rPr lang="en-US" sz="4523">
                <a:solidFill>
                  <a:srgbClr val="0B2132"/>
                </a:solidFill>
                <a:latin typeface="Canva Student Font"/>
                <a:ea typeface="Canva Student Font"/>
                <a:cs typeface="Canva Student Font"/>
                <a:sym typeface="Canva Student Font"/>
              </a:rPr>
              <a:t>Perfection is the enemy of goo</a:t>
            </a:r>
            <a:r>
              <a:rPr lang="en-US" sz="4523">
                <a:solidFill>
                  <a:srgbClr val="0B2132"/>
                </a:solidFill>
                <a:latin typeface="Canva Student Font"/>
                <a:ea typeface="Canva Student Font"/>
                <a:cs typeface="Canva Student Font"/>
                <a:sym typeface="Canva Student Font"/>
              </a:rPr>
              <a:t>d</a:t>
            </a:r>
          </a:p>
          <a:p>
            <a:pPr algn="r">
              <a:lnSpc>
                <a:spcPts val="4796"/>
              </a:lnSpc>
            </a:pPr>
            <a:r>
              <a:rPr lang="en-US" sz="3426">
                <a:solidFill>
                  <a:srgbClr val="0B2132"/>
                </a:solidFill>
                <a:latin typeface="Canva Student Font"/>
                <a:ea typeface="Canva Student Font"/>
                <a:cs typeface="Canva Student Font"/>
                <a:sym typeface="Canva Student Font"/>
              </a:rPr>
              <a:t>- Voltaire       </a:t>
            </a:r>
          </a:p>
          <a:p>
            <a:pPr algn="r">
              <a:lnSpc>
                <a:spcPts val="4796"/>
              </a:lnSpc>
              <a:spcBef>
                <a:spcPct val="0"/>
              </a:spcBef>
            </a:pPr>
            <a:r>
              <a:rPr lang="en-US" sz="3426">
                <a:solidFill>
                  <a:srgbClr val="0B2132"/>
                </a:solidFill>
                <a:latin typeface="Canva Student Font"/>
                <a:ea typeface="Canva Student Font"/>
                <a:cs typeface="Canva Student Font"/>
                <a:sym typeface="Canva Student Font"/>
              </a:rPr>
              <a:t>- Michael Scott</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1045023" y="3244386"/>
            <a:ext cx="5697343" cy="3798229"/>
          </a:xfrm>
          <a:custGeom>
            <a:avLst/>
            <a:gdLst/>
            <a:ahLst/>
            <a:cxnLst/>
            <a:rect r="r" b="b" t="t" l="l"/>
            <a:pathLst>
              <a:path h="3798229" w="5697343">
                <a:moveTo>
                  <a:pt x="0" y="0"/>
                </a:moveTo>
                <a:lnTo>
                  <a:pt x="5697342" y="0"/>
                </a:lnTo>
                <a:lnTo>
                  <a:pt x="5697342" y="3798228"/>
                </a:lnTo>
                <a:lnTo>
                  <a:pt x="0" y="3798228"/>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28700" y="1605302"/>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MICROSOFT SECURITY BASELINES</a:t>
            </a:r>
          </a:p>
        </p:txBody>
      </p:sp>
      <p:sp>
        <p:nvSpPr>
          <p:cNvPr name="TextBox 7" id="7"/>
          <p:cNvSpPr txBox="true"/>
          <p:nvPr/>
        </p:nvSpPr>
        <p:spPr>
          <a:xfrm rot="0">
            <a:off x="1028700" y="2233206"/>
            <a:ext cx="7429183" cy="405764"/>
          </a:xfrm>
          <a:prstGeom prst="rect">
            <a:avLst/>
          </a:prstGeom>
        </p:spPr>
        <p:txBody>
          <a:bodyPr anchor="t" rtlCol="false" tIns="0" lIns="0" bIns="0" rIns="0">
            <a:spAutoFit/>
          </a:bodyPr>
          <a:lstStyle/>
          <a:p>
            <a:pPr algn="l">
              <a:lnSpc>
                <a:spcPts val="3360"/>
              </a:lnSpc>
              <a:spcBef>
                <a:spcPct val="0"/>
              </a:spcBef>
            </a:pPr>
            <a:r>
              <a:rPr lang="en-US" b="true" sz="2400">
                <a:solidFill>
                  <a:srgbClr val="FFFFFF"/>
                </a:solidFill>
                <a:latin typeface="DM Sans Bold"/>
                <a:ea typeface="DM Sans Bold"/>
                <a:cs typeface="DM Sans Bold"/>
                <a:sym typeface="DM Sans Bold"/>
              </a:rPr>
              <a:t>MICROSOFT SECURITY AND COMPLIANCE TOOLKIT</a:t>
            </a:r>
          </a:p>
        </p:txBody>
      </p:sp>
      <p:sp>
        <p:nvSpPr>
          <p:cNvPr name="TextBox 8" id="8"/>
          <p:cNvSpPr txBox="true"/>
          <p:nvPr/>
        </p:nvSpPr>
        <p:spPr>
          <a:xfrm rot="0">
            <a:off x="1028700" y="3288384"/>
            <a:ext cx="6838161" cy="4157979"/>
          </a:xfrm>
          <a:prstGeom prst="rect">
            <a:avLst/>
          </a:prstGeom>
        </p:spPr>
        <p:txBody>
          <a:bodyPr anchor="t" rtlCol="false" tIns="0" lIns="0" bIns="0" rIns="0">
            <a:spAutoFit/>
          </a:bodyPr>
          <a:lstStyle/>
          <a:p>
            <a:pPr algn="l" marL="604524" indent="-302262" lvl="1">
              <a:lnSpc>
                <a:spcPts val="3920"/>
              </a:lnSpc>
              <a:buFont typeface="Arial"/>
              <a:buChar char="•"/>
            </a:pPr>
            <a:r>
              <a:rPr lang="en-US" sz="2800">
                <a:solidFill>
                  <a:srgbClr val="FFFFFF"/>
                </a:solidFill>
                <a:latin typeface="DM Sans"/>
                <a:ea typeface="DM Sans"/>
                <a:cs typeface="DM Sans"/>
                <a:sym typeface="DM Sans"/>
              </a:rPr>
              <a:t>Free download from MS</a:t>
            </a:r>
          </a:p>
          <a:p>
            <a:pPr algn="l" marL="863601" indent="-287867" lvl="2">
              <a:lnSpc>
                <a:spcPts val="2800"/>
              </a:lnSpc>
              <a:buFont typeface="Arial"/>
              <a:buChar char="⚬"/>
            </a:pPr>
            <a:r>
              <a:rPr lang="en-US" sz="2000">
                <a:solidFill>
                  <a:srgbClr val="737373"/>
                </a:solidFill>
                <a:latin typeface="DM Sans"/>
                <a:ea typeface="DM Sans"/>
                <a:cs typeface="DM Sans"/>
                <a:sym typeface="DM Sans"/>
              </a:rPr>
              <a:t>https://www.microsoft.com/en-us/download/details.aspx?id=55319</a:t>
            </a:r>
          </a:p>
          <a:p>
            <a:pPr algn="l" marL="604524" indent="-302262" lvl="1">
              <a:lnSpc>
                <a:spcPts val="3920"/>
              </a:lnSpc>
              <a:buFont typeface="Arial"/>
              <a:buChar char="•"/>
            </a:pPr>
            <a:r>
              <a:rPr lang="en-US" sz="2800">
                <a:solidFill>
                  <a:srgbClr val="FFFFFF"/>
                </a:solidFill>
                <a:latin typeface="DM Sans"/>
                <a:ea typeface="DM Sans"/>
                <a:cs typeface="DM Sans"/>
                <a:sym typeface="DM Sans"/>
              </a:rPr>
              <a:t>Per-OS Version</a:t>
            </a:r>
          </a:p>
          <a:p>
            <a:pPr algn="l" marL="604524" indent="-302262" lvl="1">
              <a:lnSpc>
                <a:spcPts val="3920"/>
              </a:lnSpc>
              <a:buFont typeface="Arial"/>
              <a:buChar char="•"/>
            </a:pPr>
            <a:r>
              <a:rPr lang="en-US" sz="2800">
                <a:solidFill>
                  <a:srgbClr val="FFFFFF"/>
                </a:solidFill>
                <a:latin typeface="DM Sans"/>
                <a:ea typeface="DM Sans"/>
                <a:cs typeface="DM Sans"/>
                <a:sym typeface="DM Sans"/>
              </a:rPr>
              <a:t>Includes</a:t>
            </a:r>
          </a:p>
          <a:p>
            <a:pPr algn="l" marL="1209049" indent="-403016" lvl="2">
              <a:lnSpc>
                <a:spcPts val="3920"/>
              </a:lnSpc>
              <a:buFont typeface="Arial"/>
              <a:buChar char="⚬"/>
            </a:pPr>
            <a:r>
              <a:rPr lang="en-US" sz="2800">
                <a:solidFill>
                  <a:srgbClr val="FFFFFF"/>
                </a:solidFill>
                <a:latin typeface="DM Sans"/>
                <a:ea typeface="DM Sans"/>
                <a:cs typeface="DM Sans"/>
                <a:sym typeface="DM Sans"/>
              </a:rPr>
              <a:t>GPO Templates</a:t>
            </a:r>
          </a:p>
          <a:p>
            <a:pPr algn="l" marL="1209049" indent="-403016" lvl="2">
              <a:lnSpc>
                <a:spcPts val="3920"/>
              </a:lnSpc>
              <a:buFont typeface="Arial"/>
              <a:buChar char="⚬"/>
            </a:pPr>
            <a:r>
              <a:rPr lang="en-US" sz="2800">
                <a:solidFill>
                  <a:srgbClr val="FFFFFF"/>
                </a:solidFill>
                <a:latin typeface="DM Sans"/>
                <a:ea typeface="DM Sans"/>
                <a:cs typeface="DM Sans"/>
                <a:sym typeface="DM Sans"/>
              </a:rPr>
              <a:t>Policy Analyzer</a:t>
            </a:r>
          </a:p>
          <a:p>
            <a:pPr algn="l" marL="1209049" indent="-403016" lvl="2">
              <a:lnSpc>
                <a:spcPts val="3920"/>
              </a:lnSpc>
              <a:buFont typeface="Arial"/>
              <a:buChar char="⚬"/>
            </a:pPr>
            <a:r>
              <a:rPr lang="en-US" sz="2800">
                <a:solidFill>
                  <a:srgbClr val="FFFFFF"/>
                </a:solidFill>
                <a:latin typeface="DM Sans"/>
                <a:ea typeface="DM Sans"/>
                <a:cs typeface="DM Sans"/>
                <a:sym typeface="DM Sans"/>
              </a:rPr>
              <a:t>Policy to Reg Key Reference</a:t>
            </a:r>
          </a:p>
          <a:p>
            <a:pPr algn="l" marL="1209049" indent="-403016" lvl="2">
              <a:lnSpc>
                <a:spcPts val="3920"/>
              </a:lnSpc>
              <a:buFont typeface="Arial"/>
              <a:buChar char="⚬"/>
            </a:pPr>
            <a:r>
              <a:rPr lang="en-US" sz="2800">
                <a:solidFill>
                  <a:srgbClr val="FFFFFF"/>
                </a:solidFill>
                <a:latin typeface="DM Sans"/>
                <a:ea typeface="DM Sans"/>
                <a:cs typeface="DM Sans"/>
                <a:sym typeface="DM Sans"/>
              </a:rPr>
              <a:t>LGPO</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1605302"/>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DISA SITGS</a:t>
            </a:r>
          </a:p>
        </p:txBody>
      </p:sp>
      <p:sp>
        <p:nvSpPr>
          <p:cNvPr name="TextBox 6" id="6"/>
          <p:cNvSpPr txBox="true"/>
          <p:nvPr/>
        </p:nvSpPr>
        <p:spPr>
          <a:xfrm rot="0">
            <a:off x="1028700" y="2233206"/>
            <a:ext cx="7285196" cy="405764"/>
          </a:xfrm>
          <a:prstGeom prst="rect">
            <a:avLst/>
          </a:prstGeom>
        </p:spPr>
        <p:txBody>
          <a:bodyPr anchor="t" rtlCol="false" tIns="0" lIns="0" bIns="0" rIns="0">
            <a:spAutoFit/>
          </a:bodyPr>
          <a:lstStyle/>
          <a:p>
            <a:pPr algn="l">
              <a:lnSpc>
                <a:spcPts val="3360"/>
              </a:lnSpc>
              <a:spcBef>
                <a:spcPct val="0"/>
              </a:spcBef>
            </a:pPr>
            <a:r>
              <a:rPr lang="en-US" b="true" sz="2400">
                <a:solidFill>
                  <a:srgbClr val="737373"/>
                </a:solidFill>
                <a:latin typeface="DM Sans Bold"/>
                <a:ea typeface="DM Sans Bold"/>
                <a:cs typeface="DM Sans Bold"/>
                <a:sym typeface="DM Sans Bold"/>
              </a:rPr>
              <a:t>DISA = DEFENSE INFORMATION SECURITY AGENCY</a:t>
            </a:r>
          </a:p>
        </p:txBody>
      </p:sp>
      <p:sp>
        <p:nvSpPr>
          <p:cNvPr name="TextBox 7" id="7"/>
          <p:cNvSpPr txBox="true"/>
          <p:nvPr/>
        </p:nvSpPr>
        <p:spPr>
          <a:xfrm rot="0">
            <a:off x="1028700" y="3288384"/>
            <a:ext cx="6114610" cy="4796154"/>
          </a:xfrm>
          <a:prstGeom prst="rect">
            <a:avLst/>
          </a:prstGeom>
        </p:spPr>
        <p:txBody>
          <a:bodyPr anchor="t" rtlCol="false" tIns="0" lIns="0" bIns="0" rIns="0">
            <a:spAutoFit/>
          </a:bodyPr>
          <a:lstStyle/>
          <a:p>
            <a:pPr algn="l" marL="604524" indent="-302262" lvl="1">
              <a:lnSpc>
                <a:spcPts val="3920"/>
              </a:lnSpc>
              <a:buFont typeface="Arial"/>
              <a:buChar char="•"/>
            </a:pPr>
            <a:r>
              <a:rPr lang="en-US" sz="2800">
                <a:solidFill>
                  <a:srgbClr val="FFFFFF"/>
                </a:solidFill>
                <a:latin typeface="DM Sans"/>
                <a:ea typeface="DM Sans"/>
                <a:cs typeface="DM Sans"/>
                <a:sym typeface="DM Sans"/>
              </a:rPr>
              <a:t>US Gov. focused. </a:t>
            </a:r>
          </a:p>
          <a:p>
            <a:pPr algn="l" marL="604524" indent="-302262" lvl="1">
              <a:lnSpc>
                <a:spcPts val="3920"/>
              </a:lnSpc>
              <a:buFont typeface="Arial"/>
              <a:buChar char="•"/>
            </a:pPr>
            <a:r>
              <a:rPr lang="en-US" sz="2800">
                <a:solidFill>
                  <a:srgbClr val="FFFFFF"/>
                </a:solidFill>
                <a:latin typeface="DM Sans"/>
                <a:ea typeface="DM Sans"/>
                <a:cs typeface="DM Sans"/>
                <a:sym typeface="DM Sans"/>
              </a:rPr>
              <a:t>Not just Microsoft</a:t>
            </a:r>
          </a:p>
          <a:p>
            <a:pPr algn="l" marL="604524" indent="-302262" lvl="1">
              <a:lnSpc>
                <a:spcPts val="3920"/>
              </a:lnSpc>
              <a:buFont typeface="Arial"/>
              <a:buChar char="•"/>
            </a:pPr>
            <a:r>
              <a:rPr lang="en-US" sz="2800">
                <a:solidFill>
                  <a:srgbClr val="FFFFFF"/>
                </a:solidFill>
                <a:latin typeface="DM Sans"/>
                <a:ea typeface="DM Sans"/>
                <a:cs typeface="DM Sans"/>
                <a:sym typeface="DM Sans"/>
              </a:rPr>
              <a:t>More comprehensive than MS</a:t>
            </a:r>
          </a:p>
          <a:p>
            <a:pPr algn="l" marL="604524" indent="-302262" lvl="1">
              <a:lnSpc>
                <a:spcPts val="3920"/>
              </a:lnSpc>
              <a:buFont typeface="Arial"/>
              <a:buChar char="•"/>
            </a:pPr>
            <a:r>
              <a:rPr lang="en-US" sz="2800">
                <a:solidFill>
                  <a:srgbClr val="FFFFFF"/>
                </a:solidFill>
                <a:latin typeface="DM Sans"/>
                <a:ea typeface="DM Sans"/>
                <a:cs typeface="DM Sans"/>
                <a:sym typeface="DM Sans"/>
              </a:rPr>
              <a:t>Needs some tweaking</a:t>
            </a:r>
          </a:p>
          <a:p>
            <a:pPr algn="l" marL="431809" indent="-215904" lvl="1">
              <a:lnSpc>
                <a:spcPts val="2800"/>
              </a:lnSpc>
              <a:buFont typeface="Arial"/>
              <a:buChar char="•"/>
            </a:pPr>
            <a:r>
              <a:rPr lang="en-US" sz="2000">
                <a:solidFill>
                  <a:srgbClr val="2F7BD1"/>
                </a:solidFill>
                <a:latin typeface="DM Sans"/>
                <a:ea typeface="DM Sans"/>
                <a:cs typeface="DM Sans"/>
                <a:sym typeface="DM Sans"/>
              </a:rPr>
              <a:t>https://www.cyber.mil/stigs/</a:t>
            </a:r>
          </a:p>
          <a:p>
            <a:pPr algn="l">
              <a:lnSpc>
                <a:spcPts val="3920"/>
              </a:lnSpc>
            </a:pPr>
          </a:p>
          <a:p>
            <a:pPr algn="l" marL="604524" indent="-302262" lvl="1">
              <a:lnSpc>
                <a:spcPts val="3920"/>
              </a:lnSpc>
              <a:buFont typeface="Arial"/>
              <a:buChar char="•"/>
            </a:pPr>
            <a:r>
              <a:rPr lang="en-US" sz="2800">
                <a:solidFill>
                  <a:srgbClr val="FFFFFF"/>
                </a:solidFill>
                <a:latin typeface="DM Sans"/>
                <a:ea typeface="DM Sans"/>
                <a:cs typeface="DM Sans"/>
                <a:sym typeface="DM Sans"/>
              </a:rPr>
              <a:t>Includes</a:t>
            </a:r>
          </a:p>
          <a:p>
            <a:pPr algn="l" marL="1209049" indent="-403016" lvl="2">
              <a:lnSpc>
                <a:spcPts val="3920"/>
              </a:lnSpc>
              <a:buFont typeface="Arial"/>
              <a:buChar char="⚬"/>
            </a:pPr>
            <a:r>
              <a:rPr lang="en-US" sz="2800">
                <a:solidFill>
                  <a:srgbClr val="FFFFFF"/>
                </a:solidFill>
                <a:latin typeface="DM Sans"/>
                <a:ea typeface="DM Sans"/>
                <a:cs typeface="DM Sans"/>
                <a:sym typeface="DM Sans"/>
              </a:rPr>
              <a:t>GPO Templates</a:t>
            </a:r>
          </a:p>
          <a:p>
            <a:pPr algn="l" marL="1209049" indent="-403016" lvl="2">
              <a:lnSpc>
                <a:spcPts val="3920"/>
              </a:lnSpc>
              <a:buFont typeface="Arial"/>
              <a:buChar char="⚬"/>
            </a:pPr>
            <a:r>
              <a:rPr lang="en-US" sz="2800">
                <a:solidFill>
                  <a:srgbClr val="FFFFFF"/>
                </a:solidFill>
                <a:latin typeface="DM Sans"/>
                <a:ea typeface="DM Sans"/>
                <a:cs typeface="DM Sans"/>
                <a:sym typeface="DM Sans"/>
              </a:rPr>
              <a:t>SCAP Tool</a:t>
            </a:r>
          </a:p>
          <a:p>
            <a:pPr algn="l" marL="1209049" indent="-403016" lvl="2">
              <a:lnSpc>
                <a:spcPts val="3920"/>
              </a:lnSpc>
              <a:buFont typeface="Arial"/>
              <a:buChar char="⚬"/>
            </a:pPr>
            <a:r>
              <a:rPr lang="en-US" sz="2800">
                <a:solidFill>
                  <a:srgbClr val="FFFFFF"/>
                </a:solidFill>
                <a:latin typeface="DM Sans"/>
                <a:ea typeface="DM Sans"/>
                <a:cs typeface="DM Sans"/>
                <a:sym typeface="DM Sans"/>
              </a:rPr>
              <a:t>Guides</a:t>
            </a:r>
          </a:p>
        </p:txBody>
      </p:sp>
      <p:sp>
        <p:nvSpPr>
          <p:cNvPr name="TextBox 8" id="8"/>
          <p:cNvSpPr txBox="true"/>
          <p:nvPr/>
        </p:nvSpPr>
        <p:spPr>
          <a:xfrm rot="0">
            <a:off x="1008759" y="2765557"/>
            <a:ext cx="7938135" cy="405764"/>
          </a:xfrm>
          <a:prstGeom prst="rect">
            <a:avLst/>
          </a:prstGeom>
        </p:spPr>
        <p:txBody>
          <a:bodyPr anchor="t" rtlCol="false" tIns="0" lIns="0" bIns="0" rIns="0">
            <a:spAutoFit/>
          </a:bodyPr>
          <a:lstStyle/>
          <a:p>
            <a:pPr algn="l">
              <a:lnSpc>
                <a:spcPts val="3360"/>
              </a:lnSpc>
              <a:spcBef>
                <a:spcPct val="0"/>
              </a:spcBef>
            </a:pPr>
            <a:r>
              <a:rPr lang="en-US" b="true" sz="2400">
                <a:solidFill>
                  <a:srgbClr val="737373"/>
                </a:solidFill>
                <a:latin typeface="DM Sans Bold"/>
                <a:ea typeface="DM Sans Bold"/>
                <a:cs typeface="DM Sans Bold"/>
                <a:sym typeface="DM Sans Bold"/>
              </a:rPr>
              <a:t>STIG = SECURITY TECHNICAL IMPLEMENTATION GUIDE </a:t>
            </a:r>
          </a:p>
        </p:txBody>
      </p:sp>
      <p:sp>
        <p:nvSpPr>
          <p:cNvPr name="Freeform 9" id="9"/>
          <p:cNvSpPr/>
          <p:nvPr/>
        </p:nvSpPr>
        <p:spPr>
          <a:xfrm flipH="false" flipV="false" rot="0">
            <a:off x="10291075" y="2074441"/>
            <a:ext cx="5885116" cy="6275795"/>
          </a:xfrm>
          <a:custGeom>
            <a:avLst/>
            <a:gdLst/>
            <a:ahLst/>
            <a:cxnLst/>
            <a:rect r="r" b="b" t="t" l="l"/>
            <a:pathLst>
              <a:path h="6275795" w="5885116">
                <a:moveTo>
                  <a:pt x="0" y="0"/>
                </a:moveTo>
                <a:lnTo>
                  <a:pt x="5885116" y="0"/>
                </a:lnTo>
                <a:lnTo>
                  <a:pt x="5885116" y="6275795"/>
                </a:lnTo>
                <a:lnTo>
                  <a:pt x="0" y="6275795"/>
                </a:lnTo>
                <a:lnTo>
                  <a:pt x="0" y="0"/>
                </a:lnTo>
                <a:close/>
              </a:path>
            </a:pathLst>
          </a:custGeom>
          <a:blipFill>
            <a:blip r:embed="rId3"/>
            <a:stretch>
              <a:fillRect l="0" t="0" r="0" b="0"/>
            </a:stretch>
          </a:blipFill>
          <a:ln w="38100" cap="sq">
            <a:solidFill>
              <a:srgbClr val="2F7BD1"/>
            </a:solidFill>
            <a:prstDash val="solid"/>
            <a:miter/>
          </a:ln>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8558194" y="1557677"/>
            <a:ext cx="8407117" cy="5884982"/>
          </a:xfrm>
          <a:custGeom>
            <a:avLst/>
            <a:gdLst/>
            <a:ahLst/>
            <a:cxnLst/>
            <a:rect r="r" b="b" t="t" l="l"/>
            <a:pathLst>
              <a:path h="5884982" w="8407117">
                <a:moveTo>
                  <a:pt x="0" y="0"/>
                </a:moveTo>
                <a:lnTo>
                  <a:pt x="8407117" y="0"/>
                </a:lnTo>
                <a:lnTo>
                  <a:pt x="8407117" y="5884983"/>
                </a:lnTo>
                <a:lnTo>
                  <a:pt x="0" y="5884983"/>
                </a:lnTo>
                <a:lnTo>
                  <a:pt x="0" y="0"/>
                </a:lnTo>
                <a:close/>
              </a:path>
            </a:pathLst>
          </a:custGeom>
          <a:blipFill>
            <a:blip r:embed="rId3"/>
            <a:stretch>
              <a:fillRect l="0" t="0" r="0" b="0"/>
            </a:stretch>
          </a:blipFill>
          <a:ln w="38100" cap="sq">
            <a:solidFill>
              <a:srgbClr val="2F7BD1"/>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28700" y="1605302"/>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CIS BENCHMARKS</a:t>
            </a:r>
          </a:p>
        </p:txBody>
      </p:sp>
      <p:sp>
        <p:nvSpPr>
          <p:cNvPr name="TextBox 7" id="7"/>
          <p:cNvSpPr txBox="true"/>
          <p:nvPr/>
        </p:nvSpPr>
        <p:spPr>
          <a:xfrm rot="0">
            <a:off x="1028700" y="2233206"/>
            <a:ext cx="5707380" cy="405764"/>
          </a:xfrm>
          <a:prstGeom prst="rect">
            <a:avLst/>
          </a:prstGeom>
        </p:spPr>
        <p:txBody>
          <a:bodyPr anchor="t" rtlCol="false" tIns="0" lIns="0" bIns="0" rIns="0">
            <a:spAutoFit/>
          </a:bodyPr>
          <a:lstStyle/>
          <a:p>
            <a:pPr algn="l">
              <a:lnSpc>
                <a:spcPts val="3360"/>
              </a:lnSpc>
              <a:spcBef>
                <a:spcPct val="0"/>
              </a:spcBef>
            </a:pPr>
            <a:r>
              <a:rPr lang="en-US" b="true" sz="2400">
                <a:solidFill>
                  <a:srgbClr val="737373"/>
                </a:solidFill>
                <a:latin typeface="DM Sans Bold"/>
                <a:ea typeface="DM Sans Bold"/>
                <a:cs typeface="DM Sans Bold"/>
                <a:sym typeface="DM Sans Bold"/>
              </a:rPr>
              <a:t>CIS = CENTER FOR INTERNET SECURITY </a:t>
            </a:r>
          </a:p>
        </p:txBody>
      </p:sp>
      <p:sp>
        <p:nvSpPr>
          <p:cNvPr name="TextBox 8" id="8"/>
          <p:cNvSpPr txBox="true"/>
          <p:nvPr/>
        </p:nvSpPr>
        <p:spPr>
          <a:xfrm rot="0">
            <a:off x="1028700" y="3288384"/>
            <a:ext cx="6901078" cy="3177539"/>
          </a:xfrm>
          <a:prstGeom prst="rect">
            <a:avLst/>
          </a:prstGeom>
        </p:spPr>
        <p:txBody>
          <a:bodyPr anchor="t" rtlCol="false" tIns="0" lIns="0" bIns="0" rIns="0">
            <a:spAutoFit/>
          </a:bodyPr>
          <a:lstStyle/>
          <a:p>
            <a:pPr algn="l" marL="604524" indent="-302262" lvl="1">
              <a:lnSpc>
                <a:spcPts val="3920"/>
              </a:lnSpc>
              <a:buFont typeface="Arial"/>
              <a:buChar char="•"/>
            </a:pPr>
            <a:r>
              <a:rPr lang="en-US" sz="2800">
                <a:solidFill>
                  <a:srgbClr val="FFFFFF"/>
                </a:solidFill>
                <a:latin typeface="DM Sans"/>
                <a:ea typeface="DM Sans"/>
                <a:cs typeface="DM Sans"/>
                <a:sym typeface="DM Sans"/>
              </a:rPr>
              <a:t>Like STIGs but less government</a:t>
            </a:r>
          </a:p>
          <a:p>
            <a:pPr algn="l" marL="604524" indent="-302262" lvl="1">
              <a:lnSpc>
                <a:spcPts val="3920"/>
              </a:lnSpc>
              <a:buFont typeface="Arial"/>
              <a:buChar char="•"/>
            </a:pPr>
            <a:r>
              <a:rPr lang="en-US" sz="2800">
                <a:solidFill>
                  <a:srgbClr val="FFFFFF"/>
                </a:solidFill>
                <a:latin typeface="DM Sans"/>
                <a:ea typeface="DM Sans"/>
                <a:cs typeface="DM Sans"/>
                <a:sym typeface="DM Sans"/>
              </a:rPr>
              <a:t>Requires email address for the guide</a:t>
            </a:r>
          </a:p>
          <a:p>
            <a:pPr algn="l" marL="604524" indent="-302262" lvl="1">
              <a:lnSpc>
                <a:spcPts val="3920"/>
              </a:lnSpc>
              <a:buFont typeface="Arial"/>
              <a:buChar char="•"/>
            </a:pPr>
            <a:r>
              <a:rPr lang="en-US" sz="2800">
                <a:solidFill>
                  <a:srgbClr val="FFFFFF"/>
                </a:solidFill>
                <a:latin typeface="DM Sans"/>
                <a:ea typeface="DM Sans"/>
                <a:cs typeface="DM Sans"/>
                <a:sym typeface="DM Sans"/>
              </a:rPr>
              <a:t>CIS CAT-Lite Scanner (req. email)</a:t>
            </a:r>
          </a:p>
          <a:p>
            <a:pPr algn="l" marL="863601" indent="-287867" lvl="2">
              <a:lnSpc>
                <a:spcPts val="2800"/>
              </a:lnSpc>
              <a:buFont typeface="Arial"/>
              <a:buChar char="⚬"/>
            </a:pPr>
            <a:r>
              <a:rPr lang="en-US" sz="2000">
                <a:solidFill>
                  <a:srgbClr val="FFFFFF"/>
                </a:solidFill>
                <a:latin typeface="DM Sans"/>
                <a:ea typeface="DM Sans"/>
                <a:cs typeface="DM Sans"/>
                <a:sym typeface="DM Sans"/>
              </a:rPr>
              <a:t>Limited to client OSes</a:t>
            </a:r>
          </a:p>
          <a:p>
            <a:pPr algn="l" marL="604524" indent="-302262" lvl="1">
              <a:lnSpc>
                <a:spcPts val="3920"/>
              </a:lnSpc>
              <a:buFont typeface="Arial"/>
              <a:buChar char="•"/>
            </a:pPr>
            <a:r>
              <a:rPr lang="en-US" sz="2800">
                <a:solidFill>
                  <a:srgbClr val="FFFFFF"/>
                </a:solidFill>
                <a:latin typeface="DM Sans"/>
                <a:ea typeface="DM Sans"/>
                <a:cs typeface="DM Sans"/>
                <a:sym typeface="DM Sans"/>
              </a:rPr>
              <a:t>Extremely comprehensive = Harder to navigate</a:t>
            </a:r>
          </a:p>
          <a:p>
            <a:pPr algn="l" marL="431809" indent="-215904" lvl="1">
              <a:lnSpc>
                <a:spcPts val="2800"/>
              </a:lnSpc>
              <a:buFont typeface="Arial"/>
              <a:buChar char="•"/>
            </a:pPr>
            <a:r>
              <a:rPr lang="en-US" sz="2000">
                <a:solidFill>
                  <a:srgbClr val="2F7BD1"/>
                </a:solidFill>
                <a:latin typeface="DM Sans"/>
                <a:ea typeface="DM Sans"/>
                <a:cs typeface="DM Sans"/>
                <a:sym typeface="DM Sans"/>
              </a:rPr>
              <a:t>https://downloads.cisecurity.org/#/</a:t>
            </a:r>
          </a:p>
        </p:txBody>
      </p:sp>
    </p:spTree>
  </p:cSld>
  <p:clrMapOvr>
    <a:masterClrMapping/>
  </p:clrMapOvr>
</p:sld>
</file>

<file path=ppt/slides/slide33.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7" id="7"/>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FFFFFF"/>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7" id="7"/>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name="TextBox 8" id="8"/>
          <p:cNvSpPr txBox="true"/>
          <p:nvPr/>
        </p:nvSpPr>
        <p:spPr>
          <a:xfrm rot="0">
            <a:off x="1094679" y="5276693"/>
            <a:ext cx="7593170" cy="1196340"/>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7" id="7"/>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name="TextBox 8" id="8"/>
          <p:cNvSpPr txBox="true"/>
          <p:nvPr/>
        </p:nvSpPr>
        <p:spPr>
          <a:xfrm rot="0">
            <a:off x="1094679" y="5276693"/>
            <a:ext cx="7593170" cy="1196340"/>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name="TextBox 9" id="9"/>
          <p:cNvSpPr txBox="true"/>
          <p:nvPr/>
        </p:nvSpPr>
        <p:spPr>
          <a:xfrm rot="0">
            <a:off x="1076985" y="6930233"/>
            <a:ext cx="9276211" cy="1548764"/>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NTLM Hardening</a:t>
            </a:r>
          </a:p>
          <a:p>
            <a:pPr algn="l" marL="431809" indent="-215904" lvl="1">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algn="l" marL="431809" indent="-215904" lvl="1">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7" id="7"/>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name="TextBox 8" id="8"/>
          <p:cNvSpPr txBox="true"/>
          <p:nvPr/>
        </p:nvSpPr>
        <p:spPr>
          <a:xfrm rot="0">
            <a:off x="1094679" y="5276693"/>
            <a:ext cx="7593170" cy="1196340"/>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name="TextBox 9" id="9"/>
          <p:cNvSpPr txBox="true"/>
          <p:nvPr/>
        </p:nvSpPr>
        <p:spPr>
          <a:xfrm rot="0">
            <a:off x="1076985" y="6930233"/>
            <a:ext cx="9276211" cy="1548764"/>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NTLM Hardening</a:t>
            </a:r>
          </a:p>
          <a:p>
            <a:pPr algn="l" marL="431809" indent="-215904" lvl="1">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algn="l" marL="431809" indent="-215904" lvl="1">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name="TextBox 10" id="10"/>
          <p:cNvSpPr txBox="true"/>
          <p:nvPr/>
        </p:nvSpPr>
        <p:spPr>
          <a:xfrm rot="0">
            <a:off x="10698977" y="1488284"/>
            <a:ext cx="6901078" cy="2065655"/>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559561"/>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NOTABLE SECURITY SETTINGS</a:t>
            </a:r>
          </a:p>
        </p:txBody>
      </p:sp>
      <p:sp>
        <p:nvSpPr>
          <p:cNvPr name="TextBox 6" id="6"/>
          <p:cNvSpPr txBox="true"/>
          <p:nvPr/>
        </p:nvSpPr>
        <p:spPr>
          <a:xfrm rot="0">
            <a:off x="10698977" y="3728564"/>
            <a:ext cx="6901078" cy="1605279"/>
          </a:xfrm>
          <a:prstGeom prst="rect">
            <a:avLst/>
          </a:prstGeom>
        </p:spPr>
        <p:txBody>
          <a:bodyPr anchor="t" rtlCol="false" tIns="0" lIns="0" bIns="0" rIns="0">
            <a:spAutoFit/>
          </a:bodyPr>
          <a:lstStyle/>
          <a:p>
            <a:pPr algn="l">
              <a:lnSpc>
                <a:spcPts val="3920"/>
              </a:lnSpc>
            </a:pPr>
            <a:r>
              <a:rPr lang="en-US" sz="2800">
                <a:solidFill>
                  <a:srgbClr val="FFFFFF"/>
                </a:solidFill>
                <a:latin typeface="DM Sans"/>
                <a:ea typeface="DM Sans"/>
                <a:cs typeface="DM Sans"/>
                <a:sym typeface="DM Sans"/>
              </a:rPr>
              <a:t>Kerberos Delegations</a:t>
            </a:r>
          </a:p>
          <a:p>
            <a:pPr algn="l">
              <a:lnSpc>
                <a:spcPts val="2520"/>
              </a:lnSpc>
            </a:pPr>
            <a:r>
              <a:rPr lang="en-US" sz="1800">
                <a:solidFill>
                  <a:srgbClr val="737373"/>
                </a:solidFill>
                <a:latin typeface="DM Sans"/>
                <a:ea typeface="DM Sans"/>
                <a:cs typeface="DM Sans"/>
                <a:sym typeface="DM Sans"/>
              </a:rPr>
              <a:t>Get-ADComputer -Filter "'TrustedForDelegation' -eq $true -or 'TrustedToAuthenticateForDelegation' -eq $true"</a:t>
            </a:r>
          </a:p>
          <a:p>
            <a:pPr algn="l">
              <a:lnSpc>
                <a:spcPts val="3920"/>
              </a:lnSpc>
            </a:pPr>
          </a:p>
        </p:txBody>
      </p:sp>
      <p:sp>
        <p:nvSpPr>
          <p:cNvPr name="TextBox 7" id="7"/>
          <p:cNvSpPr txBox="true"/>
          <p:nvPr/>
        </p:nvSpPr>
        <p:spPr>
          <a:xfrm rot="0">
            <a:off x="1094679" y="1488284"/>
            <a:ext cx="7593170" cy="143700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name="TextBox 8" id="8"/>
          <p:cNvSpPr txBox="true"/>
          <p:nvPr/>
        </p:nvSpPr>
        <p:spPr>
          <a:xfrm rot="0">
            <a:off x="1076985" y="3382489"/>
            <a:ext cx="7026913" cy="1437005"/>
          </a:xfrm>
          <a:prstGeom prst="rect">
            <a:avLst/>
          </a:prstGeom>
        </p:spPr>
        <p:txBody>
          <a:bodyPr anchor="t" rtlCol="false" tIns="0" lIns="0" bIns="0" rIns="0">
            <a:spAutoFit/>
          </a:bodyPr>
          <a:lstStyle/>
          <a:p>
            <a:pPr algn="just">
              <a:lnSpc>
                <a:spcPts val="3920"/>
              </a:lnSpc>
            </a:pPr>
            <a:r>
              <a:rPr lang="en-US" sz="2800">
                <a:solidFill>
                  <a:srgbClr val="737373"/>
                </a:solidFill>
                <a:latin typeface="DM Sans"/>
                <a:ea typeface="DM Sans"/>
                <a:cs typeface="DM Sans"/>
                <a:sym typeface="DM Sans"/>
              </a:rPr>
              <a:t>LDAP Channel Binding</a:t>
            </a:r>
          </a:p>
          <a:p>
            <a:pPr algn="l">
              <a:lnSpc>
                <a:spcPts val="2520"/>
              </a:lnSpc>
            </a:pPr>
            <a:r>
              <a:rPr lang="en-US" sz="1800">
                <a:solidFill>
                  <a:srgbClr val="737373"/>
                </a:solidFill>
                <a:latin typeface="DM Sans"/>
                <a:ea typeface="DM Sans"/>
                <a:cs typeface="DM Sans"/>
                <a:sym typeface="DM Sans"/>
              </a:rPr>
              <a:t>Reg Add HKEY_LOCAL_MACHINE\SYSTEM\CurrentControlSet\Services\NTDS\Diagnostics /v "16 LDAP Interface Events" /t REG_DWORD /d 2</a:t>
            </a:r>
          </a:p>
        </p:txBody>
      </p:sp>
      <p:sp>
        <p:nvSpPr>
          <p:cNvPr name="TextBox 9" id="9"/>
          <p:cNvSpPr txBox="true"/>
          <p:nvPr/>
        </p:nvSpPr>
        <p:spPr>
          <a:xfrm rot="0">
            <a:off x="1094679" y="5276693"/>
            <a:ext cx="7593170" cy="1196340"/>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name="TextBox 10" id="10"/>
          <p:cNvSpPr txBox="true"/>
          <p:nvPr/>
        </p:nvSpPr>
        <p:spPr>
          <a:xfrm rot="0">
            <a:off x="1076985" y="6930233"/>
            <a:ext cx="9276211" cy="1548764"/>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NTLM Hardening</a:t>
            </a:r>
          </a:p>
          <a:p>
            <a:pPr algn="l" marL="431809" indent="-215904" lvl="1">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algn="l" marL="431809" indent="-215904" lvl="1">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name="TextBox 11" id="11"/>
          <p:cNvSpPr txBox="true"/>
          <p:nvPr/>
        </p:nvSpPr>
        <p:spPr>
          <a:xfrm rot="0">
            <a:off x="10698977" y="1488284"/>
            <a:ext cx="6901078" cy="2065655"/>
          </a:xfrm>
          <a:prstGeom prst="rect">
            <a:avLst/>
          </a:prstGeom>
        </p:spPr>
        <p:txBody>
          <a:bodyPr anchor="t" rtlCol="false" tIns="0" lIns="0" bIns="0" rIns="0">
            <a:spAutoFit/>
          </a:bodyPr>
          <a:lstStyle/>
          <a:p>
            <a:pPr algn="l">
              <a:lnSpc>
                <a:spcPts val="3920"/>
              </a:lnSpc>
            </a:pPr>
            <a:r>
              <a:rPr lang="en-US" sz="2800">
                <a:solidFill>
                  <a:srgbClr val="737373"/>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p>
        </p:txBody>
      </p:sp>
    </p:spTree>
  </p:cSld>
  <p:clrMapOvr>
    <a:masterClrMapping/>
  </p:clrMapOvr>
</p:sld>
</file>

<file path=ppt/slides/slide39.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28700" y="1605302"/>
            <a:ext cx="7918194" cy="469139"/>
          </a:xfrm>
          <a:prstGeom prst="rect">
            <a:avLst/>
          </a:prstGeom>
        </p:spPr>
        <p:txBody>
          <a:bodyPr anchor="t" rtlCol="false" tIns="0" lIns="0" bIns="0" rIns="0">
            <a:spAutoFit/>
          </a:bodyPr>
          <a:lstStyle/>
          <a:p>
            <a:pPr algn="l" marL="0" indent="0" lvl="0">
              <a:lnSpc>
                <a:spcPts val="3536"/>
              </a:lnSpc>
            </a:pPr>
            <a:r>
              <a:rPr lang="en-US" sz="3400">
                <a:solidFill>
                  <a:srgbClr val="38B6FF"/>
                </a:solidFill>
                <a:latin typeface="Anton"/>
                <a:ea typeface="Anton"/>
                <a:cs typeface="Anton"/>
                <a:sym typeface="Anton"/>
              </a:rPr>
              <a:t>PLAN. IMPLEMENT. FAIL. START OVER</a:t>
            </a:r>
          </a:p>
        </p:txBody>
      </p:sp>
      <p:sp>
        <p:nvSpPr>
          <p:cNvPr name="TextBox 6" id="6"/>
          <p:cNvSpPr txBox="true"/>
          <p:nvPr/>
        </p:nvSpPr>
        <p:spPr>
          <a:xfrm rot="0">
            <a:off x="1028700" y="3282125"/>
            <a:ext cx="6901078" cy="3513200"/>
          </a:xfrm>
          <a:prstGeom prst="rect">
            <a:avLst/>
          </a:prstGeom>
        </p:spPr>
        <p:txBody>
          <a:bodyPr anchor="t" rtlCol="false" tIns="0" lIns="0" bIns="0" rIns="0">
            <a:spAutoFit/>
          </a:bodyPr>
          <a:lstStyle/>
          <a:p>
            <a:pPr algn="l" marL="690882" indent="-345441" lvl="1">
              <a:lnSpc>
                <a:spcPts val="5952"/>
              </a:lnSpc>
              <a:buAutoNum type="arabicPeriod" startAt="1"/>
            </a:pPr>
            <a:r>
              <a:rPr lang="en-US" sz="3200">
                <a:solidFill>
                  <a:srgbClr val="FFFFFF"/>
                </a:solidFill>
                <a:latin typeface="DM Sans"/>
                <a:ea typeface="DM Sans"/>
                <a:cs typeface="DM Sans"/>
                <a:sym typeface="DM Sans"/>
              </a:rPr>
              <a:t>Start with MS Baselines</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Sort by Impact vs. Risk</a:t>
            </a:r>
          </a:p>
          <a:p>
            <a:pPr algn="l" marL="1209049" indent="-403016" lvl="2">
              <a:lnSpc>
                <a:spcPts val="5208"/>
              </a:lnSpc>
              <a:buAutoNum type="alphaLcPeriod" startAt="1"/>
            </a:pPr>
            <a:r>
              <a:rPr lang="en-US" sz="2800">
                <a:solidFill>
                  <a:srgbClr val="FFFFFF"/>
                </a:solidFill>
                <a:latin typeface="DM Sans"/>
                <a:ea typeface="DM Sans"/>
                <a:cs typeface="DM Sans"/>
                <a:sym typeface="DM Sans"/>
              </a:rPr>
              <a:t>Does this affect the business?</a:t>
            </a:r>
          </a:p>
          <a:p>
            <a:pPr algn="l" marL="1209049" indent="-403016" lvl="2">
              <a:lnSpc>
                <a:spcPts val="5208"/>
              </a:lnSpc>
              <a:buAutoNum type="alphaLcPeriod" startAt="1"/>
            </a:pPr>
            <a:r>
              <a:rPr lang="en-US" sz="2800">
                <a:solidFill>
                  <a:srgbClr val="FFFFFF"/>
                </a:solidFill>
                <a:latin typeface="DM Sans"/>
                <a:ea typeface="DM Sans"/>
                <a:cs typeface="DM Sans"/>
                <a:sym typeface="DM Sans"/>
              </a:rPr>
              <a:t>What security gain do we get?</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Move to STIGs or use CIS.</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grpSp>
        <p:nvGrpSpPr>
          <p:cNvPr name="Group 6" id="6"/>
          <p:cNvGrpSpPr/>
          <p:nvPr/>
        </p:nvGrpSpPr>
        <p:grpSpPr>
          <a:xfrm rot="0">
            <a:off x="1028700" y="1028700"/>
            <a:ext cx="7777772" cy="3589968"/>
            <a:chOff x="0" y="0"/>
            <a:chExt cx="10370362" cy="4786624"/>
          </a:xfrm>
        </p:grpSpPr>
        <p:sp>
          <p:nvSpPr>
            <p:cNvPr name="TextBox 7" id="7"/>
            <p:cNvSpPr txBox="true"/>
            <p:nvPr/>
          </p:nvSpPr>
          <p:spPr>
            <a:xfrm rot="0">
              <a:off x="0" y="123825"/>
              <a:ext cx="10370362" cy="3078262"/>
            </a:xfrm>
            <a:prstGeom prst="rect">
              <a:avLst/>
            </a:prstGeom>
          </p:spPr>
          <p:txBody>
            <a:bodyPr anchor="t" rtlCol="false" tIns="0" lIns="0" bIns="0" rIns="0">
              <a:spAutoFit/>
            </a:bodyPr>
            <a:lstStyle/>
            <a:p>
              <a:pPr algn="l" marL="0" indent="0" lvl="0">
                <a:lnSpc>
                  <a:spcPts val="8839"/>
                </a:lnSpc>
              </a:pPr>
              <a:r>
                <a:rPr lang="en-US" sz="8499">
                  <a:solidFill>
                    <a:srgbClr val="FFFFFF"/>
                  </a:solidFill>
                  <a:latin typeface="Anton"/>
                  <a:ea typeface="Anton"/>
                  <a:cs typeface="Anton"/>
                  <a:sym typeface="Anton"/>
                </a:rPr>
                <a:t>THE GHOST OF WEAK PASSWORDS</a:t>
              </a:r>
            </a:p>
          </p:txBody>
        </p:sp>
        <p:sp>
          <p:nvSpPr>
            <p:cNvPr name="TextBox 8" id="8"/>
            <p:cNvSpPr txBox="true"/>
            <p:nvPr/>
          </p:nvSpPr>
          <p:spPr>
            <a:xfrm rot="0">
              <a:off x="0" y="3714617"/>
              <a:ext cx="8350240" cy="1072008"/>
            </a:xfrm>
            <a:prstGeom prst="rect">
              <a:avLst/>
            </a:prstGeom>
          </p:spPr>
          <p:txBody>
            <a:bodyPr anchor="t" rtlCol="false" tIns="0" lIns="0" bIns="0" rIns="0">
              <a:spAutoFit/>
            </a:bodyPr>
            <a:lstStyle/>
            <a:p>
              <a:pPr algn="l" marL="0" indent="0" lvl="0">
                <a:lnSpc>
                  <a:spcPts val="5928"/>
                </a:lnSpc>
              </a:pPr>
              <a:r>
                <a:rPr lang="en-US" sz="5700">
                  <a:solidFill>
                    <a:srgbClr val="38B6FF"/>
                  </a:solidFill>
                  <a:latin typeface="DM Sans"/>
                  <a:ea typeface="DM Sans"/>
                  <a:cs typeface="DM Sans"/>
                  <a:sym typeface="DM Sans"/>
                </a:rPr>
                <a:t>Password Controls</a:t>
              </a:r>
            </a:p>
          </p:txBody>
        </p:sp>
      </p:gr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Freeform 2" id="2"/>
          <p:cNvSpPr/>
          <p:nvPr/>
        </p:nvSpPr>
        <p:spPr>
          <a:xfrm flipH="false" flipV="false" rot="0">
            <a:off x="1076985" y="2176920"/>
            <a:ext cx="8123929" cy="5933161"/>
          </a:xfrm>
          <a:custGeom>
            <a:avLst/>
            <a:gdLst/>
            <a:ahLst/>
            <a:cxnLst/>
            <a:rect r="r" b="b" t="t" l="l"/>
            <a:pathLst>
              <a:path h="5933161" w="8123929">
                <a:moveTo>
                  <a:pt x="0" y="0"/>
                </a:moveTo>
                <a:lnTo>
                  <a:pt x="8123928" y="0"/>
                </a:lnTo>
                <a:lnTo>
                  <a:pt x="8123928" y="5933160"/>
                </a:lnTo>
                <a:lnTo>
                  <a:pt x="0" y="5933160"/>
                </a:lnTo>
                <a:lnTo>
                  <a:pt x="0" y="0"/>
                </a:lnTo>
                <a:close/>
              </a:path>
            </a:pathLst>
          </a:custGeom>
          <a:blipFill>
            <a:blip r:embed="rId3"/>
            <a:stretch>
              <a:fillRect l="-19942" t="0" r="-19168" b="0"/>
            </a:stretch>
          </a:blipFill>
          <a:ln w="38100" cap="sq">
            <a:solidFill>
              <a:srgbClr val="38B6FF"/>
            </a:solidFill>
            <a:prstDash val="solid"/>
            <a:miter/>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698977" y="2568192"/>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NIST SPECIAL PUBLICATION 800-63B</a:t>
            </a:r>
          </a:p>
        </p:txBody>
      </p:sp>
      <p:sp>
        <p:nvSpPr>
          <p:cNvPr name="TextBox 6" id="6"/>
          <p:cNvSpPr txBox="true"/>
          <p:nvPr/>
        </p:nvSpPr>
        <p:spPr>
          <a:xfrm rot="0">
            <a:off x="10358222" y="3423767"/>
            <a:ext cx="6901078" cy="4045075"/>
          </a:xfrm>
          <a:prstGeom prst="rect">
            <a:avLst/>
          </a:prstGeom>
        </p:spPr>
        <p:txBody>
          <a:bodyPr anchor="t" rtlCol="false" tIns="0" lIns="0" bIns="0" rIns="0">
            <a:spAutoFit/>
          </a:bodyPr>
          <a:lstStyle/>
          <a:p>
            <a:pPr algn="l" marL="712472" indent="-356236" lvl="1">
              <a:lnSpc>
                <a:spcPts val="6138"/>
              </a:lnSpc>
              <a:buAutoNum type="arabicPeriod" startAt="1"/>
            </a:pPr>
            <a:r>
              <a:rPr lang="en-US" sz="3300">
                <a:solidFill>
                  <a:srgbClr val="FFFFFF"/>
                </a:solidFill>
                <a:latin typeface="DM Sans"/>
                <a:ea typeface="DM Sans"/>
                <a:cs typeface="DM Sans"/>
                <a:sym typeface="DM Sans"/>
              </a:rPr>
              <a:t>Password Length </a:t>
            </a:r>
            <a:r>
              <a:rPr lang="en-US" b="true" sz="3300">
                <a:solidFill>
                  <a:srgbClr val="FFFFFF"/>
                </a:solidFill>
                <a:latin typeface="DM Sans Bold"/>
                <a:ea typeface="DM Sans Bold"/>
                <a:cs typeface="DM Sans Bold"/>
                <a:sym typeface="DM Sans Bold"/>
              </a:rPr>
              <a:t>&gt;</a:t>
            </a:r>
            <a:r>
              <a:rPr lang="en-US" sz="3300">
                <a:solidFill>
                  <a:srgbClr val="FFFFFF"/>
                </a:solidFill>
                <a:latin typeface="DM Sans"/>
                <a:ea typeface="DM Sans"/>
                <a:cs typeface="DM Sans"/>
                <a:sym typeface="DM Sans"/>
              </a:rPr>
              <a:t> Complexity</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Bad Password Lists</a:t>
            </a:r>
          </a:p>
          <a:p>
            <a:pPr algn="l" marL="1036333" indent="-345444" lvl="2">
              <a:lnSpc>
                <a:spcPts val="4464"/>
              </a:lnSpc>
              <a:buAutoNum type="alphaLcPeriod" startAt="1"/>
            </a:pPr>
            <a:r>
              <a:rPr lang="en-US" sz="2400">
                <a:solidFill>
                  <a:srgbClr val="FFFFFF"/>
                </a:solidFill>
                <a:latin typeface="DM Sans"/>
                <a:ea typeface="DM Sans"/>
                <a:cs typeface="DM Sans"/>
                <a:sym typeface="DM Sans"/>
              </a:rPr>
              <a:t>(credential screening)</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Passwordless = Win</a:t>
            </a:r>
          </a:p>
          <a:p>
            <a:pPr algn="l" marL="690882" indent="-345441" lvl="1">
              <a:lnSpc>
                <a:spcPts val="5952"/>
              </a:lnSpc>
              <a:buAutoNum type="arabicPeriod" startAt="1"/>
            </a:pPr>
            <a:r>
              <a:rPr lang="en-US" sz="3200">
                <a:solidFill>
                  <a:srgbClr val="FFFFFF"/>
                </a:solidFill>
                <a:latin typeface="DM Sans"/>
                <a:ea typeface="DM Sans"/>
                <a:cs typeface="DM Sans"/>
                <a:sym typeface="DM Sans"/>
              </a:rPr>
              <a:t>Forced Expiration = Not Win</a:t>
            </a:r>
          </a:p>
          <a:p>
            <a:pPr algn="l">
              <a:lnSpc>
                <a:spcPts val="3720"/>
              </a:lnSpc>
            </a:pPr>
            <a:r>
              <a:rPr lang="en-US" sz="2000">
                <a:solidFill>
                  <a:srgbClr val="2F7BD1"/>
                </a:solidFill>
                <a:latin typeface="DM Sans"/>
                <a:ea typeface="DM Sans"/>
                <a:cs typeface="DM Sans"/>
                <a:sym typeface="DM Sans"/>
              </a:rPr>
              <a:t>https://pages.nist.gov/800-63-3/sp800-63b.html</a:t>
            </a:r>
          </a:p>
        </p:txBody>
      </p:sp>
      <p:sp>
        <p:nvSpPr>
          <p:cNvPr name="AutoShape 7" id="7"/>
          <p:cNvSpPr/>
          <p:nvPr/>
        </p:nvSpPr>
        <p:spPr>
          <a:xfrm>
            <a:off x="0" y="9652029"/>
            <a:ext cx="18288000" cy="0"/>
          </a:xfrm>
          <a:prstGeom prst="line">
            <a:avLst/>
          </a:prstGeom>
          <a:ln cap="flat" w="38100">
            <a:solidFill>
              <a:srgbClr val="38B6FF"/>
            </a:solidFill>
            <a:prstDash val="solid"/>
            <a:headEnd type="none" len="sm" w="sm"/>
            <a:tailEnd type="none" len="sm" w="sm"/>
          </a:ln>
        </p:spPr>
      </p:sp>
    </p:spTree>
  </p:cSld>
  <p:clrMapOvr>
    <a:masterClrMapping/>
  </p:clrMapOvr>
</p:sld>
</file>

<file path=ppt/slides/slide42.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BAD PASSWORD LISTS</a:t>
            </a:r>
          </a:p>
        </p:txBody>
      </p:sp>
      <p:sp>
        <p:nvSpPr>
          <p:cNvPr name="TextBox 6" id="6"/>
          <p:cNvSpPr txBox="true"/>
          <p:nvPr/>
        </p:nvSpPr>
        <p:spPr>
          <a:xfrm rot="0">
            <a:off x="1474092" y="2349516"/>
            <a:ext cx="8842353" cy="1297799"/>
          </a:xfrm>
          <a:prstGeom prst="rect">
            <a:avLst/>
          </a:prstGeom>
        </p:spPr>
        <p:txBody>
          <a:bodyPr anchor="t" rtlCol="false" tIns="0" lIns="0" bIns="0" rIns="0">
            <a:spAutoFit/>
          </a:bodyPr>
          <a:lstStyle/>
          <a:p>
            <a:pPr algn="l">
              <a:lnSpc>
                <a:spcPts val="4565"/>
              </a:lnSpc>
            </a:pPr>
            <a:r>
              <a:rPr lang="en-US" sz="3261" b="true">
                <a:solidFill>
                  <a:srgbClr val="FFFFFF"/>
                </a:solidFill>
                <a:latin typeface="DM Sans Bold"/>
                <a:ea typeface="DM Sans Bold"/>
                <a:cs typeface="DM Sans Bold"/>
                <a:sym typeface="DM Sans Bold"/>
              </a:rPr>
              <a:t>Microsoft has had them forever</a:t>
            </a:r>
          </a:p>
          <a:p>
            <a:pPr algn="l">
              <a:lnSpc>
                <a:spcPts val="3359"/>
              </a:lnSpc>
            </a:pPr>
            <a:r>
              <a:rPr lang="en-US" sz="2400" b="true">
                <a:solidFill>
                  <a:srgbClr val="FFFFFF"/>
                </a:solidFill>
                <a:latin typeface="DM Sans Bold"/>
                <a:ea typeface="DM Sans Bold"/>
                <a:cs typeface="DM Sans Bold"/>
                <a:sym typeface="DM Sans Bold"/>
              </a:rPr>
              <a:t>Password Filters</a:t>
            </a:r>
          </a:p>
          <a:p>
            <a:pPr algn="l">
              <a:lnSpc>
                <a:spcPts val="2520"/>
              </a:lnSpc>
              <a:spcBef>
                <a:spcPct val="0"/>
              </a:spcBef>
            </a:pPr>
            <a:r>
              <a:rPr lang="en-US" b="true" sz="1800">
                <a:solidFill>
                  <a:srgbClr val="737373"/>
                </a:solidFill>
                <a:latin typeface="DM Sans Bold"/>
                <a:ea typeface="DM Sans Bold"/>
                <a:cs typeface="DM Sans Bold"/>
                <a:sym typeface="DM Sans Bold"/>
              </a:rPr>
              <a:t>https://learn.microsoft.com/en-us/windows/win32/secmgmt/password-filters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553734" y="455629"/>
            <a:ext cx="6705566" cy="4014958"/>
          </a:xfrm>
          <a:custGeom>
            <a:avLst/>
            <a:gdLst/>
            <a:ahLst/>
            <a:cxnLst/>
            <a:rect r="r" b="b" t="t" l="l"/>
            <a:pathLst>
              <a:path h="4014958" w="6705566">
                <a:moveTo>
                  <a:pt x="0" y="0"/>
                </a:moveTo>
                <a:lnTo>
                  <a:pt x="6705566" y="0"/>
                </a:lnTo>
                <a:lnTo>
                  <a:pt x="6705566" y="4014958"/>
                </a:lnTo>
                <a:lnTo>
                  <a:pt x="0" y="4014958"/>
                </a:lnTo>
                <a:lnTo>
                  <a:pt x="0" y="0"/>
                </a:lnTo>
                <a:close/>
              </a:path>
            </a:pathLst>
          </a:custGeom>
          <a:blipFill>
            <a:blip r:embed="rId3"/>
            <a:stretch>
              <a:fillRect l="0" t="0" r="0" b="0"/>
            </a:stretch>
          </a:blipFill>
          <a:ln w="38100" cap="sq">
            <a:solidFill>
              <a:srgbClr val="2F7BD1"/>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BAD PASSWORD LISTS</a:t>
            </a:r>
          </a:p>
        </p:txBody>
      </p:sp>
      <p:sp>
        <p:nvSpPr>
          <p:cNvPr name="TextBox 7" id="7"/>
          <p:cNvSpPr txBox="true"/>
          <p:nvPr/>
        </p:nvSpPr>
        <p:spPr>
          <a:xfrm rot="0">
            <a:off x="1474092" y="2349516"/>
            <a:ext cx="8842353" cy="1297799"/>
          </a:xfrm>
          <a:prstGeom prst="rect">
            <a:avLst/>
          </a:prstGeom>
        </p:spPr>
        <p:txBody>
          <a:bodyPr anchor="t" rtlCol="false" tIns="0" lIns="0" bIns="0" rIns="0">
            <a:spAutoFit/>
          </a:bodyPr>
          <a:lstStyle/>
          <a:p>
            <a:pPr algn="l">
              <a:lnSpc>
                <a:spcPts val="4565"/>
              </a:lnSpc>
            </a:pPr>
            <a:r>
              <a:rPr lang="en-US" sz="3261" b="true">
                <a:solidFill>
                  <a:srgbClr val="737373"/>
                </a:solidFill>
                <a:latin typeface="DM Sans Bold"/>
                <a:ea typeface="DM Sans Bold"/>
                <a:cs typeface="DM Sans Bold"/>
                <a:sym typeface="DM Sans Bold"/>
              </a:rPr>
              <a:t>Microsoft has had them forever</a:t>
            </a:r>
          </a:p>
          <a:p>
            <a:pPr algn="l">
              <a:lnSpc>
                <a:spcPts val="3359"/>
              </a:lnSpc>
            </a:pPr>
            <a:r>
              <a:rPr lang="en-US" sz="2400" b="true">
                <a:solidFill>
                  <a:srgbClr val="737373"/>
                </a:solidFill>
                <a:latin typeface="DM Sans Bold"/>
                <a:ea typeface="DM Sans Bold"/>
                <a:cs typeface="DM Sans Bold"/>
                <a:sym typeface="DM Sans Bold"/>
              </a:rPr>
              <a:t>Password Filters</a:t>
            </a:r>
          </a:p>
          <a:p>
            <a:pPr algn="l">
              <a:lnSpc>
                <a:spcPts val="2520"/>
              </a:lnSpc>
              <a:spcBef>
                <a:spcPct val="0"/>
              </a:spcBef>
            </a:pPr>
            <a:r>
              <a:rPr lang="en-US" b="true" sz="1800">
                <a:solidFill>
                  <a:srgbClr val="737373"/>
                </a:solidFill>
                <a:latin typeface="DM Sans Bold"/>
                <a:ea typeface="DM Sans Bold"/>
                <a:cs typeface="DM Sans Bold"/>
                <a:sym typeface="DM Sans Bold"/>
              </a:rPr>
              <a:t>https://learn.microsoft.com/en-us/windows/win32/secmgmt/password-filters</a:t>
            </a:r>
          </a:p>
        </p:txBody>
      </p:sp>
      <p:sp>
        <p:nvSpPr>
          <p:cNvPr name="TextBox 8" id="8"/>
          <p:cNvSpPr txBox="true"/>
          <p:nvPr/>
        </p:nvSpPr>
        <p:spPr>
          <a:xfrm rot="0">
            <a:off x="1580754" y="4062483"/>
            <a:ext cx="7080664" cy="2104885"/>
          </a:xfrm>
          <a:prstGeom prst="rect">
            <a:avLst/>
          </a:prstGeom>
        </p:spPr>
        <p:txBody>
          <a:bodyPr anchor="t" rtlCol="false" tIns="0" lIns="0" bIns="0" rIns="0">
            <a:spAutoFit/>
          </a:bodyPr>
          <a:lstStyle/>
          <a:p>
            <a:pPr algn="l">
              <a:lnSpc>
                <a:spcPts val="4565"/>
              </a:lnSpc>
            </a:pPr>
            <a:r>
              <a:rPr lang="en-US" sz="3261" b="true">
                <a:solidFill>
                  <a:srgbClr val="FFFFFF"/>
                </a:solidFill>
                <a:latin typeface="DM Sans Bold"/>
                <a:ea typeface="DM Sans Bold"/>
                <a:cs typeface="DM Sans Bold"/>
                <a:sym typeface="DM Sans Bold"/>
              </a:rPr>
              <a:t>Entra Password Protection (EPP)</a:t>
            </a:r>
          </a:p>
          <a:p>
            <a:pPr algn="l" marL="518160" indent="-259080" lvl="1">
              <a:lnSpc>
                <a:spcPts val="3359"/>
              </a:lnSpc>
              <a:buFont typeface="Arial"/>
              <a:buChar char="•"/>
            </a:pPr>
            <a:r>
              <a:rPr lang="en-US" b="true" sz="2400">
                <a:solidFill>
                  <a:srgbClr val="FFFFFF"/>
                </a:solidFill>
                <a:latin typeface="DM Sans Bold"/>
                <a:ea typeface="DM Sans Bold"/>
                <a:cs typeface="DM Sans Bold"/>
                <a:sym typeface="DM Sans Bold"/>
              </a:rPr>
              <a:t>Cloud Solution + Not Free</a:t>
            </a:r>
          </a:p>
          <a:p>
            <a:pPr algn="l" marL="518160" indent="-259080" lvl="1">
              <a:lnSpc>
                <a:spcPts val="3359"/>
              </a:lnSpc>
              <a:buFont typeface="Arial"/>
              <a:buChar char="•"/>
            </a:pPr>
            <a:r>
              <a:rPr lang="en-US" b="true" sz="2400">
                <a:solidFill>
                  <a:srgbClr val="FFFFFF"/>
                </a:solidFill>
                <a:latin typeface="DM Sans Bold"/>
                <a:ea typeface="DM Sans Bold"/>
                <a:cs typeface="DM Sans Bold"/>
                <a:sym typeface="DM Sans Bold"/>
              </a:rPr>
              <a:t>Formerly Azure Password Protection (APP)</a:t>
            </a:r>
          </a:p>
          <a:p>
            <a:pPr algn="l">
              <a:lnSpc>
                <a:spcPts val="2800"/>
              </a:lnSpc>
              <a:spcBef>
                <a:spcPct val="0"/>
              </a:spcBef>
            </a:pPr>
            <a:r>
              <a:rPr lang="en-US" b="true" sz="2000">
                <a:solidFill>
                  <a:srgbClr val="737373"/>
                </a:solidFill>
                <a:latin typeface="DM Sans Bold"/>
                <a:ea typeface="DM Sans Bold"/>
                <a:cs typeface="DM Sans Bold"/>
                <a:sym typeface="DM Sans Bold"/>
              </a:rPr>
              <a:t>https://learn.microsoft.com/en-us/entra/identity/authentication/concept-password-ban-bad</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553734" y="4774989"/>
            <a:ext cx="2905358" cy="4772662"/>
          </a:xfrm>
          <a:custGeom>
            <a:avLst/>
            <a:gdLst/>
            <a:ahLst/>
            <a:cxnLst/>
            <a:rect r="r" b="b" t="t" l="l"/>
            <a:pathLst>
              <a:path h="4772662" w="2905358">
                <a:moveTo>
                  <a:pt x="0" y="0"/>
                </a:moveTo>
                <a:lnTo>
                  <a:pt x="2905358" y="0"/>
                </a:lnTo>
                <a:lnTo>
                  <a:pt x="2905358" y="4772663"/>
                </a:lnTo>
                <a:lnTo>
                  <a:pt x="0" y="4772663"/>
                </a:lnTo>
                <a:lnTo>
                  <a:pt x="0" y="0"/>
                </a:lnTo>
                <a:close/>
              </a:path>
            </a:pathLst>
          </a:custGeom>
          <a:blipFill>
            <a:blip r:embed="rId3"/>
            <a:stretch>
              <a:fillRect l="0" t="0" r="0" b="0"/>
            </a:stretch>
          </a:blipFill>
          <a:ln w="38100" cap="sq">
            <a:solidFill>
              <a:srgbClr val="38B6FF"/>
            </a:solidFill>
            <a:prstDash val="solid"/>
            <a:miter/>
          </a:ln>
        </p:spPr>
      </p:sp>
      <p:sp>
        <p:nvSpPr>
          <p:cNvPr name="Freeform 4" id="4"/>
          <p:cNvSpPr/>
          <p:nvPr/>
        </p:nvSpPr>
        <p:spPr>
          <a:xfrm flipH="false" flipV="false" rot="0">
            <a:off x="10553734" y="455629"/>
            <a:ext cx="6705566" cy="4014958"/>
          </a:xfrm>
          <a:custGeom>
            <a:avLst/>
            <a:gdLst/>
            <a:ahLst/>
            <a:cxnLst/>
            <a:rect r="r" b="b" t="t" l="l"/>
            <a:pathLst>
              <a:path h="4014958" w="6705566">
                <a:moveTo>
                  <a:pt x="0" y="0"/>
                </a:moveTo>
                <a:lnTo>
                  <a:pt x="6705566" y="0"/>
                </a:lnTo>
                <a:lnTo>
                  <a:pt x="6705566" y="4014958"/>
                </a:lnTo>
                <a:lnTo>
                  <a:pt x="0" y="4014958"/>
                </a:lnTo>
                <a:lnTo>
                  <a:pt x="0" y="0"/>
                </a:lnTo>
                <a:close/>
              </a:path>
            </a:pathLst>
          </a:custGeom>
          <a:blipFill>
            <a:blip r:embed="rId4">
              <a:alphaModFix amt="51000"/>
            </a:blip>
            <a:stretch>
              <a:fillRect l="0" t="0" r="0" b="0"/>
            </a:stretch>
          </a:blipFill>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BAD PASSWORD LISTS</a:t>
            </a:r>
          </a:p>
        </p:txBody>
      </p:sp>
      <p:sp>
        <p:nvSpPr>
          <p:cNvPr name="TextBox 8" id="8"/>
          <p:cNvSpPr txBox="true"/>
          <p:nvPr/>
        </p:nvSpPr>
        <p:spPr>
          <a:xfrm rot="0">
            <a:off x="1474092" y="2349516"/>
            <a:ext cx="8842353" cy="1297799"/>
          </a:xfrm>
          <a:prstGeom prst="rect">
            <a:avLst/>
          </a:prstGeom>
        </p:spPr>
        <p:txBody>
          <a:bodyPr anchor="t" rtlCol="false" tIns="0" lIns="0" bIns="0" rIns="0">
            <a:spAutoFit/>
          </a:bodyPr>
          <a:lstStyle/>
          <a:p>
            <a:pPr algn="l">
              <a:lnSpc>
                <a:spcPts val="4565"/>
              </a:lnSpc>
            </a:pPr>
            <a:r>
              <a:rPr lang="en-US" sz="3261" b="true">
                <a:solidFill>
                  <a:srgbClr val="737373"/>
                </a:solidFill>
                <a:latin typeface="DM Sans Bold"/>
                <a:ea typeface="DM Sans Bold"/>
                <a:cs typeface="DM Sans Bold"/>
                <a:sym typeface="DM Sans Bold"/>
              </a:rPr>
              <a:t>Microsoft has had them forever</a:t>
            </a:r>
          </a:p>
          <a:p>
            <a:pPr algn="l">
              <a:lnSpc>
                <a:spcPts val="3359"/>
              </a:lnSpc>
            </a:pPr>
            <a:r>
              <a:rPr lang="en-US" sz="2400" b="true">
                <a:solidFill>
                  <a:srgbClr val="737373"/>
                </a:solidFill>
                <a:latin typeface="DM Sans Bold"/>
                <a:ea typeface="DM Sans Bold"/>
                <a:cs typeface="DM Sans Bold"/>
                <a:sym typeface="DM Sans Bold"/>
              </a:rPr>
              <a:t>Password Filters</a:t>
            </a:r>
          </a:p>
          <a:p>
            <a:pPr algn="l">
              <a:lnSpc>
                <a:spcPts val="2520"/>
              </a:lnSpc>
              <a:spcBef>
                <a:spcPct val="0"/>
              </a:spcBef>
            </a:pPr>
            <a:r>
              <a:rPr lang="en-US" b="true" sz="1800">
                <a:solidFill>
                  <a:srgbClr val="737373"/>
                </a:solidFill>
                <a:latin typeface="DM Sans Bold"/>
                <a:ea typeface="DM Sans Bold"/>
                <a:cs typeface="DM Sans Bold"/>
                <a:sym typeface="DM Sans Bold"/>
              </a:rPr>
              <a:t>https://learn.microsoft.com/en-us/windows/win32/secmgmt/password-filters</a:t>
            </a:r>
          </a:p>
        </p:txBody>
      </p:sp>
      <p:sp>
        <p:nvSpPr>
          <p:cNvPr name="TextBox 9" id="9"/>
          <p:cNvSpPr txBox="true"/>
          <p:nvPr/>
        </p:nvSpPr>
        <p:spPr>
          <a:xfrm rot="0">
            <a:off x="1580754" y="4062483"/>
            <a:ext cx="7080664" cy="2104885"/>
          </a:xfrm>
          <a:prstGeom prst="rect">
            <a:avLst/>
          </a:prstGeom>
        </p:spPr>
        <p:txBody>
          <a:bodyPr anchor="t" rtlCol="false" tIns="0" lIns="0" bIns="0" rIns="0">
            <a:spAutoFit/>
          </a:bodyPr>
          <a:lstStyle/>
          <a:p>
            <a:pPr algn="l">
              <a:lnSpc>
                <a:spcPts val="4565"/>
              </a:lnSpc>
            </a:pPr>
            <a:r>
              <a:rPr lang="en-US" sz="3261" b="true">
                <a:solidFill>
                  <a:srgbClr val="737373"/>
                </a:solidFill>
                <a:latin typeface="DM Sans Bold"/>
                <a:ea typeface="DM Sans Bold"/>
                <a:cs typeface="DM Sans Bold"/>
                <a:sym typeface="DM Sans Bold"/>
              </a:rPr>
              <a:t>Entra Password Protection (EPP)</a:t>
            </a:r>
          </a:p>
          <a:p>
            <a:pPr algn="l" marL="518160" indent="-259080" lvl="1">
              <a:lnSpc>
                <a:spcPts val="3359"/>
              </a:lnSpc>
              <a:buFont typeface="Arial"/>
              <a:buChar char="•"/>
            </a:pPr>
            <a:r>
              <a:rPr lang="en-US" b="true" sz="2400">
                <a:solidFill>
                  <a:srgbClr val="737373"/>
                </a:solidFill>
                <a:latin typeface="DM Sans Bold"/>
                <a:ea typeface="DM Sans Bold"/>
                <a:cs typeface="DM Sans Bold"/>
                <a:sym typeface="DM Sans Bold"/>
              </a:rPr>
              <a:t>Cloud Solution + Not Free</a:t>
            </a:r>
          </a:p>
          <a:p>
            <a:pPr algn="l" marL="518160" indent="-259080" lvl="1">
              <a:lnSpc>
                <a:spcPts val="3359"/>
              </a:lnSpc>
              <a:buFont typeface="Arial"/>
              <a:buChar char="•"/>
            </a:pPr>
            <a:r>
              <a:rPr lang="en-US" b="true" sz="2400">
                <a:solidFill>
                  <a:srgbClr val="737373"/>
                </a:solidFill>
                <a:latin typeface="DM Sans Bold"/>
                <a:ea typeface="DM Sans Bold"/>
                <a:cs typeface="DM Sans Bold"/>
                <a:sym typeface="DM Sans Bold"/>
              </a:rPr>
              <a:t>Formerly Azure Password Protection (APP)</a:t>
            </a:r>
          </a:p>
          <a:p>
            <a:pPr algn="l">
              <a:lnSpc>
                <a:spcPts val="2800"/>
              </a:lnSpc>
              <a:spcBef>
                <a:spcPct val="0"/>
              </a:spcBef>
            </a:pPr>
            <a:r>
              <a:rPr lang="en-US" b="true" sz="2000">
                <a:solidFill>
                  <a:srgbClr val="737373"/>
                </a:solidFill>
                <a:latin typeface="DM Sans Bold"/>
                <a:ea typeface="DM Sans Bold"/>
                <a:cs typeface="DM Sans Bold"/>
                <a:sym typeface="DM Sans Bold"/>
              </a:rPr>
              <a:t>https://learn.microsoft.com/en-us/entra/identity/authentication/concept-password-ban-bad</a:t>
            </a:r>
          </a:p>
        </p:txBody>
      </p:sp>
      <p:sp>
        <p:nvSpPr>
          <p:cNvPr name="TextBox 10" id="10"/>
          <p:cNvSpPr txBox="true"/>
          <p:nvPr/>
        </p:nvSpPr>
        <p:spPr>
          <a:xfrm rot="0">
            <a:off x="1474092" y="6774752"/>
            <a:ext cx="7080664" cy="2345549"/>
          </a:xfrm>
          <a:prstGeom prst="rect">
            <a:avLst/>
          </a:prstGeom>
        </p:spPr>
        <p:txBody>
          <a:bodyPr anchor="t" rtlCol="false" tIns="0" lIns="0" bIns="0" rIns="0">
            <a:spAutoFit/>
          </a:bodyPr>
          <a:lstStyle/>
          <a:p>
            <a:pPr algn="l">
              <a:lnSpc>
                <a:spcPts val="4565"/>
              </a:lnSpc>
            </a:pPr>
            <a:r>
              <a:rPr lang="en-US" sz="3261" b="true">
                <a:solidFill>
                  <a:srgbClr val="FFFFFF"/>
                </a:solidFill>
                <a:latin typeface="DM Sans Bold"/>
                <a:ea typeface="DM Sans Bold"/>
                <a:cs typeface="DM Sans Bold"/>
                <a:sym typeface="DM Sans Bold"/>
              </a:rPr>
              <a:t>Open Source / Freemium</a:t>
            </a:r>
          </a:p>
          <a:p>
            <a:pPr algn="l" marL="518160" indent="-259080" lvl="1">
              <a:lnSpc>
                <a:spcPts val="3359"/>
              </a:lnSpc>
              <a:buFont typeface="Arial"/>
              <a:buChar char="•"/>
            </a:pPr>
            <a:r>
              <a:rPr lang="en-US" b="true" sz="2400">
                <a:solidFill>
                  <a:srgbClr val="FFFFFF"/>
                </a:solidFill>
                <a:latin typeface="DM Sans Bold"/>
                <a:ea typeface="DM Sans Bold"/>
                <a:cs typeface="DM Sans Bold"/>
                <a:sym typeface="DM Sans Bold"/>
              </a:rPr>
              <a:t>Lithnet Password Protection (freemium)</a:t>
            </a:r>
          </a:p>
          <a:p>
            <a:pPr algn="l" marL="777246" indent="-259082" lvl="2">
              <a:lnSpc>
                <a:spcPts val="2520"/>
              </a:lnSpc>
              <a:buFont typeface="Arial"/>
              <a:buChar char="⚬"/>
            </a:pPr>
            <a:r>
              <a:rPr lang="en-US" b="true" sz="1800">
                <a:solidFill>
                  <a:srgbClr val="737373"/>
                </a:solidFill>
                <a:latin typeface="DM Sans Bold"/>
                <a:ea typeface="DM Sans Bold"/>
                <a:cs typeface="DM Sans Bold"/>
                <a:sym typeface="DM Sans Bold"/>
              </a:rPr>
              <a:t>https://github.com/lithnet/ad-password-protection</a:t>
            </a:r>
          </a:p>
          <a:p>
            <a:pPr algn="l">
              <a:lnSpc>
                <a:spcPts val="2520"/>
              </a:lnSpc>
            </a:pPr>
          </a:p>
          <a:p>
            <a:pPr algn="l" marL="518160" indent="-259080" lvl="1">
              <a:lnSpc>
                <a:spcPts val="3359"/>
              </a:lnSpc>
              <a:buFont typeface="Arial"/>
              <a:buChar char="•"/>
            </a:pPr>
            <a:r>
              <a:rPr lang="en-US" b="true" sz="2400">
                <a:solidFill>
                  <a:srgbClr val="FFFFFF"/>
                </a:solidFill>
                <a:latin typeface="DM Sans Bold"/>
                <a:ea typeface="DM Sans Bold"/>
                <a:cs typeface="DM Sans Bold"/>
                <a:sym typeface="DM Sans Bold"/>
              </a:rPr>
              <a:t>PassFiltEx (FOSS + Expertise)</a:t>
            </a:r>
          </a:p>
          <a:p>
            <a:pPr algn="l" marL="777246" indent="-259082" lvl="2">
              <a:lnSpc>
                <a:spcPts val="2520"/>
              </a:lnSpc>
              <a:spcBef>
                <a:spcPct val="0"/>
              </a:spcBef>
              <a:buFont typeface="Arial"/>
              <a:buChar char="⚬"/>
            </a:pPr>
            <a:r>
              <a:rPr lang="en-US" b="true" sz="1800">
                <a:solidFill>
                  <a:srgbClr val="737373"/>
                </a:solidFill>
                <a:latin typeface="DM Sans Bold"/>
                <a:ea typeface="DM Sans Bold"/>
                <a:cs typeface="DM Sans Bold"/>
                <a:sym typeface="DM Sans Bold"/>
              </a:rPr>
              <a:t>github.com/ryanries/PassFiltEx</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3131764" y="637962"/>
            <a:ext cx="4159616" cy="2695251"/>
          </a:xfrm>
          <a:custGeom>
            <a:avLst/>
            <a:gdLst/>
            <a:ahLst/>
            <a:cxnLst/>
            <a:rect r="r" b="b" t="t" l="l"/>
            <a:pathLst>
              <a:path h="2695251" w="4159616">
                <a:moveTo>
                  <a:pt x="0" y="0"/>
                </a:moveTo>
                <a:lnTo>
                  <a:pt x="4159616" y="0"/>
                </a:lnTo>
                <a:lnTo>
                  <a:pt x="4159616" y="2695251"/>
                </a:lnTo>
                <a:lnTo>
                  <a:pt x="0" y="2695251"/>
                </a:lnTo>
                <a:lnTo>
                  <a:pt x="0" y="0"/>
                </a:lnTo>
                <a:close/>
              </a:path>
            </a:pathLst>
          </a:custGeom>
          <a:blipFill>
            <a:blip r:embed="rId3"/>
            <a:stretch>
              <a:fillRect l="0" t="-45048" r="0" b="0"/>
            </a:stretch>
          </a:blipFill>
          <a:ln w="38100" cap="sq">
            <a:solidFill>
              <a:srgbClr val="38B6FF"/>
            </a:solidFill>
            <a:prstDash val="solid"/>
            <a:miter/>
          </a:ln>
        </p:spPr>
      </p:sp>
      <p:sp>
        <p:nvSpPr>
          <p:cNvPr name="Freeform 4" id="4"/>
          <p:cNvSpPr/>
          <p:nvPr/>
        </p:nvSpPr>
        <p:spPr>
          <a:xfrm flipH="false" flipV="false" rot="0">
            <a:off x="3167991" y="3737422"/>
            <a:ext cx="4123389" cy="5491348"/>
          </a:xfrm>
          <a:custGeom>
            <a:avLst/>
            <a:gdLst/>
            <a:ahLst/>
            <a:cxnLst/>
            <a:rect r="r" b="b" t="t" l="l"/>
            <a:pathLst>
              <a:path h="5491348" w="4123389">
                <a:moveTo>
                  <a:pt x="0" y="0"/>
                </a:moveTo>
                <a:lnTo>
                  <a:pt x="4123389" y="0"/>
                </a:lnTo>
                <a:lnTo>
                  <a:pt x="4123389" y="5491348"/>
                </a:lnTo>
                <a:lnTo>
                  <a:pt x="0" y="5491348"/>
                </a:lnTo>
                <a:lnTo>
                  <a:pt x="0" y="0"/>
                </a:lnTo>
                <a:close/>
              </a:path>
            </a:pathLst>
          </a:custGeom>
          <a:blipFill>
            <a:blip r:embed="rId4"/>
            <a:stretch>
              <a:fillRect l="-28610" t="-8593" r="-25558" b="-7169"/>
            </a:stretch>
          </a:blipFill>
          <a:ln w="38100" cap="sq">
            <a:solidFill>
              <a:srgbClr val="38B6FF"/>
            </a:solidFill>
            <a:prstDash val="solid"/>
            <a:miter/>
          </a:ln>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9550733" y="2881366"/>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MFA / PASSKEYS</a:t>
            </a:r>
          </a:p>
        </p:txBody>
      </p:sp>
      <p:sp>
        <p:nvSpPr>
          <p:cNvPr name="TextBox 8" id="8"/>
          <p:cNvSpPr txBox="true"/>
          <p:nvPr/>
        </p:nvSpPr>
        <p:spPr>
          <a:xfrm rot="0">
            <a:off x="9550733" y="3486820"/>
            <a:ext cx="7077075" cy="2159635"/>
          </a:xfrm>
          <a:prstGeom prst="rect">
            <a:avLst/>
          </a:prstGeom>
        </p:spPr>
        <p:txBody>
          <a:bodyPr anchor="t" rtlCol="false" tIns="0" lIns="0" bIns="0" rIns="0">
            <a:spAutoFit/>
          </a:bodyPr>
          <a:lstStyle/>
          <a:p>
            <a:pPr algn="l" marL="669286" indent="-334643" lvl="1">
              <a:lnSpc>
                <a:spcPts val="4339"/>
              </a:lnSpc>
              <a:buFont typeface="Arial"/>
              <a:buChar char="•"/>
            </a:pPr>
            <a:r>
              <a:rPr lang="en-US" sz="3099">
                <a:solidFill>
                  <a:srgbClr val="FFFFFF"/>
                </a:solidFill>
                <a:latin typeface="DM Sans"/>
                <a:ea typeface="DM Sans"/>
                <a:cs typeface="DM Sans"/>
                <a:sym typeface="DM Sans"/>
              </a:rPr>
              <a:t>MFA is great</a:t>
            </a:r>
          </a:p>
          <a:p>
            <a:pPr algn="l" marL="669286" indent="-334643" lvl="1">
              <a:lnSpc>
                <a:spcPts val="4339"/>
              </a:lnSpc>
              <a:buFont typeface="Arial"/>
              <a:buChar char="•"/>
            </a:pPr>
            <a:r>
              <a:rPr lang="en-US" sz="3099">
                <a:solidFill>
                  <a:srgbClr val="FFFFFF"/>
                </a:solidFill>
                <a:latin typeface="DM Sans"/>
                <a:ea typeface="DM Sans"/>
                <a:cs typeface="DM Sans"/>
                <a:sym typeface="DM Sans"/>
              </a:rPr>
              <a:t>Passkeys are great</a:t>
            </a:r>
            <a:r>
              <a:rPr lang="en-US" sz="3099">
                <a:solidFill>
                  <a:srgbClr val="A6A6A6"/>
                </a:solidFill>
                <a:latin typeface="DM Sans"/>
                <a:ea typeface="DM Sans"/>
                <a:cs typeface="DM Sans"/>
                <a:sym typeface="DM Sans"/>
              </a:rPr>
              <a:t> </a:t>
            </a:r>
            <a:r>
              <a:rPr lang="en-US" sz="3099">
                <a:solidFill>
                  <a:srgbClr val="737373"/>
                </a:solidFill>
                <a:latin typeface="DM Sans"/>
                <a:ea typeface="DM Sans"/>
                <a:cs typeface="DM Sans"/>
                <a:sym typeface="DM Sans"/>
              </a:rPr>
              <a:t>(Not on-prem)</a:t>
            </a:r>
          </a:p>
          <a:p>
            <a:pPr algn="l" marL="669286" indent="-334643" lvl="1">
              <a:lnSpc>
                <a:spcPts val="4339"/>
              </a:lnSpc>
              <a:buFont typeface="Arial"/>
              <a:buChar char="•"/>
            </a:pPr>
            <a:r>
              <a:rPr lang="en-US" sz="3099">
                <a:solidFill>
                  <a:srgbClr val="FFFFFF"/>
                </a:solidFill>
                <a:latin typeface="DM Sans"/>
                <a:ea typeface="DM Sans"/>
                <a:cs typeface="DM Sans"/>
                <a:sym typeface="DM Sans"/>
              </a:rPr>
              <a:t>SmartCard are great </a:t>
            </a:r>
            <a:r>
              <a:rPr lang="en-US" sz="3099">
                <a:solidFill>
                  <a:srgbClr val="767676"/>
                </a:solidFill>
                <a:latin typeface="DM Sans"/>
                <a:ea typeface="DM Sans"/>
                <a:cs typeface="DM Sans"/>
                <a:sym typeface="DM Sans"/>
              </a:rPr>
              <a:t>(Requires PKI) </a:t>
            </a:r>
          </a:p>
          <a:p>
            <a:pPr algn="l">
              <a:lnSpc>
                <a:spcPts val="4339"/>
              </a:lnSpc>
            </a:pPr>
          </a:p>
        </p:txBody>
      </p:sp>
      <p:sp>
        <p:nvSpPr>
          <p:cNvPr name="TextBox 9" id="9"/>
          <p:cNvSpPr txBox="true"/>
          <p:nvPr/>
        </p:nvSpPr>
        <p:spPr>
          <a:xfrm rot="0">
            <a:off x="9550733"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FACT</a:t>
            </a:r>
          </a:p>
        </p:txBody>
      </p:sp>
      <p:sp>
        <p:nvSpPr>
          <p:cNvPr name="TextBox 10" id="10"/>
          <p:cNvSpPr txBox="true"/>
          <p:nvPr/>
        </p:nvSpPr>
        <p:spPr>
          <a:xfrm rot="0">
            <a:off x="9550733" y="1666450"/>
            <a:ext cx="7517289" cy="530860"/>
          </a:xfrm>
          <a:prstGeom prst="rect">
            <a:avLst/>
          </a:prstGeom>
        </p:spPr>
        <p:txBody>
          <a:bodyPr anchor="t" rtlCol="false" tIns="0" lIns="0" bIns="0" rIns="0">
            <a:spAutoFit/>
          </a:bodyPr>
          <a:lstStyle/>
          <a:p>
            <a:pPr algn="l">
              <a:lnSpc>
                <a:spcPts val="4339"/>
              </a:lnSpc>
            </a:pPr>
            <a:r>
              <a:rPr lang="en-US" sz="3099">
                <a:solidFill>
                  <a:srgbClr val="FFFFFF"/>
                </a:solidFill>
                <a:latin typeface="DM Sans"/>
                <a:ea typeface="DM Sans"/>
                <a:cs typeface="DM Sans"/>
                <a:sym typeface="DM Sans"/>
              </a:rPr>
              <a:t>Many on-prem MFA solutions are theatre.</a:t>
            </a:r>
          </a:p>
        </p:txBody>
      </p:sp>
      <p:sp>
        <p:nvSpPr>
          <p:cNvPr name="TextBox 11" id="11"/>
          <p:cNvSpPr txBox="true"/>
          <p:nvPr/>
        </p:nvSpPr>
        <p:spPr>
          <a:xfrm rot="0">
            <a:off x="9550733" y="5846480"/>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OPTIONS?</a:t>
            </a:r>
          </a:p>
        </p:txBody>
      </p:sp>
      <p:sp>
        <p:nvSpPr>
          <p:cNvPr name="TextBox 12" id="12"/>
          <p:cNvSpPr txBox="true"/>
          <p:nvPr/>
        </p:nvSpPr>
        <p:spPr>
          <a:xfrm rot="0">
            <a:off x="9550733" y="6382554"/>
            <a:ext cx="6193600" cy="3245485"/>
          </a:xfrm>
          <a:prstGeom prst="rect">
            <a:avLst/>
          </a:prstGeom>
        </p:spPr>
        <p:txBody>
          <a:bodyPr anchor="t" rtlCol="false" tIns="0" lIns="0" bIns="0" rIns="0">
            <a:spAutoFit/>
          </a:bodyPr>
          <a:lstStyle/>
          <a:p>
            <a:pPr algn="l" marL="669286" indent="-334643" lvl="1">
              <a:lnSpc>
                <a:spcPts val="4339"/>
              </a:lnSpc>
              <a:buFont typeface="Arial"/>
              <a:buChar char="•"/>
            </a:pPr>
            <a:r>
              <a:rPr lang="en-US" sz="3099">
                <a:solidFill>
                  <a:srgbClr val="FFFFFF"/>
                </a:solidFill>
                <a:latin typeface="DM Sans"/>
                <a:ea typeface="DM Sans"/>
                <a:cs typeface="DM Sans"/>
                <a:sym typeface="DM Sans"/>
              </a:rPr>
              <a:t>Duo Free Tier - 5 Accounts</a:t>
            </a:r>
          </a:p>
          <a:p>
            <a:pPr algn="l" marL="669286" indent="-334643" lvl="1">
              <a:lnSpc>
                <a:spcPts val="4339"/>
              </a:lnSpc>
              <a:buFont typeface="Arial"/>
              <a:buChar char="•"/>
            </a:pPr>
            <a:r>
              <a:rPr lang="en-US" sz="3099">
                <a:solidFill>
                  <a:srgbClr val="FFFFFF"/>
                </a:solidFill>
                <a:latin typeface="DM Sans"/>
                <a:ea typeface="DM Sans"/>
                <a:cs typeface="DM Sans"/>
                <a:sym typeface="DM Sans"/>
              </a:rPr>
              <a:t>Entra MFA for Cloud*</a:t>
            </a:r>
          </a:p>
          <a:p>
            <a:pPr algn="l" marL="669286" indent="-334643" lvl="1">
              <a:lnSpc>
                <a:spcPts val="4339"/>
              </a:lnSpc>
              <a:buFont typeface="Arial"/>
              <a:buChar char="•"/>
            </a:pPr>
            <a:r>
              <a:rPr lang="en-US" sz="3099">
                <a:solidFill>
                  <a:srgbClr val="FFFFFF"/>
                </a:solidFill>
                <a:latin typeface="DM Sans"/>
                <a:ea typeface="DM Sans"/>
                <a:cs typeface="DM Sans"/>
                <a:sym typeface="DM Sans"/>
              </a:rPr>
              <a:t>Cert-based Auth</a:t>
            </a:r>
          </a:p>
          <a:p>
            <a:pPr algn="l" marL="1338572" indent="-446191" lvl="2">
              <a:lnSpc>
                <a:spcPts val="4339"/>
              </a:lnSpc>
              <a:buFont typeface="Arial"/>
              <a:buChar char="⚬"/>
            </a:pPr>
            <a:r>
              <a:rPr lang="en-US" sz="3099">
                <a:solidFill>
                  <a:srgbClr val="FFFFFF"/>
                </a:solidFill>
                <a:latin typeface="DM Sans"/>
                <a:ea typeface="DM Sans"/>
                <a:cs typeface="DM Sans"/>
                <a:sym typeface="DM Sans"/>
              </a:rPr>
              <a:t>Smart Cards + PKI</a:t>
            </a:r>
          </a:p>
          <a:p>
            <a:pPr algn="l" marL="669286" indent="-334643" lvl="1">
              <a:lnSpc>
                <a:spcPts val="4339"/>
              </a:lnSpc>
              <a:buFont typeface="Arial"/>
              <a:buChar char="•"/>
            </a:pPr>
            <a:r>
              <a:rPr lang="en-US" sz="3099">
                <a:solidFill>
                  <a:srgbClr val="FFFFFF"/>
                </a:solidFill>
                <a:latin typeface="DM Sans"/>
                <a:ea typeface="DM Sans"/>
                <a:cs typeface="DM Sans"/>
                <a:sym typeface="DM Sans"/>
              </a:rPr>
              <a:t>Windows Hello for Business</a:t>
            </a:r>
          </a:p>
          <a:p>
            <a:pPr algn="l">
              <a:lnSpc>
                <a:spcPts val="4339"/>
              </a:lnSpc>
            </a:pP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6021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FFFFFF"/>
                </a:solidFill>
                <a:latin typeface="DM Sans"/>
                <a:ea typeface="DM Sans"/>
                <a:cs typeface="DM Sans"/>
                <a:sym typeface="DM Sans"/>
              </a:rPr>
              <a:t>Do - Use Fine-Grained Password Policies</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123075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Turn off Password Complexity</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18594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Use 16+ Character Passwords </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31167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Use Password Safes (not picky)</a:t>
            </a:r>
          </a:p>
          <a:p>
            <a:pPr algn="l">
              <a:lnSpc>
                <a:spcPts val="5023"/>
              </a:lnSpc>
            </a:pP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43740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FFFFFF"/>
                </a:solidFill>
                <a:latin typeface="DM Sans"/>
                <a:ea typeface="DM Sans"/>
                <a:cs typeface="DM Sans"/>
                <a:sym typeface="DM Sans"/>
              </a:rPr>
              <a:t>15 Rule</a:t>
            </a:r>
          </a:p>
          <a:p>
            <a:pPr algn="l">
              <a:lnSpc>
                <a:spcPts val="5023"/>
              </a:lnSpc>
            </a:pP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43740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15 Rule</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Deploy a Password Filter Solution</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500265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15 Rule</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Deploy a Password Filter Solution</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Use MFA (dispel the auditors)</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625995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15 Rule</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Deploy a Password Filter Solution</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MFA (dispel the auditors)</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 Look into Passwordless </a:t>
            </a:r>
          </a:p>
          <a:p>
            <a:pPr algn="l" marL="1381751" indent="-460584" lvl="2">
              <a:lnSpc>
                <a:spcPts val="5023"/>
              </a:lnSpc>
              <a:buFont typeface="Arial"/>
              <a:buChar char="⚬"/>
            </a:pPr>
            <a:r>
              <a:rPr lang="en-US" sz="3199">
                <a:solidFill>
                  <a:srgbClr val="FFFFFF"/>
                </a:solidFill>
                <a:latin typeface="DM Sans"/>
                <a:ea typeface="DM Sans"/>
                <a:cs typeface="DM Sans"/>
                <a:sym typeface="DM Sans"/>
              </a:rPr>
              <a:t>(WH/WHfB)</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131262" y="2835798"/>
            <a:ext cx="7128038" cy="4615405"/>
          </a:xfrm>
          <a:custGeom>
            <a:avLst/>
            <a:gdLst/>
            <a:ahLst/>
            <a:cxnLst/>
            <a:rect r="r" b="b" t="t" l="l"/>
            <a:pathLst>
              <a:path h="4615405" w="7128038">
                <a:moveTo>
                  <a:pt x="0" y="0"/>
                </a:moveTo>
                <a:lnTo>
                  <a:pt x="7128038" y="0"/>
                </a:lnTo>
                <a:lnTo>
                  <a:pt x="7128038" y="4615404"/>
                </a:lnTo>
                <a:lnTo>
                  <a:pt x="0" y="4615404"/>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SPEEDY PASSWORD HARDENING</a:t>
            </a:r>
          </a:p>
        </p:txBody>
      </p:sp>
      <p:sp>
        <p:nvSpPr>
          <p:cNvPr name="TextBox 7" id="7"/>
          <p:cNvSpPr txBox="true"/>
          <p:nvPr/>
        </p:nvSpPr>
        <p:spPr>
          <a:xfrm rot="0">
            <a:off x="1028700" y="1637284"/>
            <a:ext cx="8333263" cy="6888608"/>
          </a:xfrm>
          <a:prstGeom prst="rect">
            <a:avLst/>
          </a:prstGeom>
        </p:spPr>
        <p:txBody>
          <a:bodyPr anchor="t" rtlCol="false" tIns="0" lIns="0" bIns="0" rIns="0">
            <a:spAutoFit/>
          </a:bodyPr>
          <a:lstStyle/>
          <a:p>
            <a:pPr algn="l" marL="690876" indent="-345438" lvl="1">
              <a:lnSpc>
                <a:spcPts val="5023"/>
              </a:lnSpc>
              <a:buFont typeface="Arial"/>
              <a:buChar char="•"/>
            </a:pPr>
            <a:r>
              <a:rPr lang="en-US" sz="3199">
                <a:solidFill>
                  <a:srgbClr val="737373"/>
                </a:solidFill>
                <a:latin typeface="DM Sans"/>
                <a:ea typeface="DM Sans"/>
                <a:cs typeface="DM Sans"/>
                <a:sym typeface="DM Sans"/>
              </a:rPr>
              <a:t>Do - Use Fine-Grained Password Policies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Turn off Password Complexity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16+ Character Passwords </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Password Safes (not picky)</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Change your lockout policy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15 Rule</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Deploy a Password Filter Solution</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Use MFA (dispel the auditors)</a:t>
            </a:r>
          </a:p>
          <a:p>
            <a:pPr algn="l" marL="690876" indent="-345438" lvl="1">
              <a:lnSpc>
                <a:spcPts val="5023"/>
              </a:lnSpc>
              <a:buFont typeface="Arial"/>
              <a:buChar char="•"/>
            </a:pPr>
            <a:r>
              <a:rPr lang="en-US" sz="3199">
                <a:solidFill>
                  <a:srgbClr val="737373"/>
                </a:solidFill>
                <a:latin typeface="DM Sans"/>
                <a:ea typeface="DM Sans"/>
                <a:cs typeface="DM Sans"/>
                <a:sym typeface="DM Sans"/>
              </a:rPr>
              <a:t>Do - Look into Passwordless </a:t>
            </a:r>
          </a:p>
          <a:p>
            <a:pPr algn="l" marL="1381751" indent="-460584" lvl="2">
              <a:lnSpc>
                <a:spcPts val="5023"/>
              </a:lnSpc>
              <a:buFont typeface="Arial"/>
              <a:buChar char="⚬"/>
            </a:pPr>
            <a:r>
              <a:rPr lang="en-US" sz="3199">
                <a:solidFill>
                  <a:srgbClr val="737373"/>
                </a:solidFill>
                <a:latin typeface="DM Sans"/>
                <a:ea typeface="DM Sans"/>
                <a:cs typeface="DM Sans"/>
                <a:sym typeface="DM Sans"/>
              </a:rPr>
              <a:t>(WH/WHfB)</a:t>
            </a:r>
          </a:p>
          <a:p>
            <a:pPr algn="l" marL="690876" indent="-345438" lvl="1">
              <a:lnSpc>
                <a:spcPts val="5023"/>
              </a:lnSpc>
              <a:buFont typeface="Arial"/>
              <a:buChar char="•"/>
            </a:pPr>
            <a:r>
              <a:rPr lang="en-US" sz="3199">
                <a:solidFill>
                  <a:srgbClr val="FFFFFF"/>
                </a:solidFill>
                <a:latin typeface="DM Sans"/>
                <a:ea typeface="DM Sans"/>
                <a:cs typeface="DM Sans"/>
                <a:sym typeface="DM Sans"/>
              </a:rPr>
              <a:t>DO NOT - Force Password Expiration</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666" r="0" b="-666"/>
            </a:stretch>
          </a:blipFill>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grpSp>
        <p:nvGrpSpPr>
          <p:cNvPr name="Group 6" id="6"/>
          <p:cNvGrpSpPr/>
          <p:nvPr/>
        </p:nvGrpSpPr>
        <p:grpSpPr>
          <a:xfrm rot="0">
            <a:off x="4211384" y="2415066"/>
            <a:ext cx="9865232" cy="5456868"/>
            <a:chOff x="0" y="0"/>
            <a:chExt cx="13153642" cy="7275824"/>
          </a:xfrm>
        </p:grpSpPr>
        <p:sp>
          <p:nvSpPr>
            <p:cNvPr name="TextBox 7" id="7"/>
            <p:cNvSpPr txBox="true"/>
            <p:nvPr/>
          </p:nvSpPr>
          <p:spPr>
            <a:xfrm rot="0">
              <a:off x="0" y="123825"/>
              <a:ext cx="13153642" cy="4564162"/>
            </a:xfrm>
            <a:prstGeom prst="rect">
              <a:avLst/>
            </a:prstGeom>
          </p:spPr>
          <p:txBody>
            <a:bodyPr anchor="t" rtlCol="false" tIns="0" lIns="0" bIns="0" rIns="0">
              <a:spAutoFit/>
            </a:bodyPr>
            <a:lstStyle/>
            <a:p>
              <a:pPr algn="ctr" marL="0" indent="0" lvl="0">
                <a:lnSpc>
                  <a:spcPts val="8839"/>
                </a:lnSpc>
              </a:pPr>
              <a:r>
                <a:rPr lang="en-US" sz="8499">
                  <a:solidFill>
                    <a:srgbClr val="FFFFFF"/>
                  </a:solidFill>
                  <a:latin typeface="Anton"/>
                  <a:ea typeface="Anton"/>
                  <a:cs typeface="Anton"/>
                  <a:sym typeface="Anton"/>
                </a:rPr>
                <a:t>THE GHOST OF INCOMPLETE ACCESS CONTROLS</a:t>
              </a:r>
            </a:p>
          </p:txBody>
        </p:sp>
        <p:sp>
          <p:nvSpPr>
            <p:cNvPr name="TextBox 8" id="8"/>
            <p:cNvSpPr txBox="true"/>
            <p:nvPr/>
          </p:nvSpPr>
          <p:spPr>
            <a:xfrm rot="0">
              <a:off x="0" y="5200517"/>
              <a:ext cx="13153642" cy="2075308"/>
            </a:xfrm>
            <a:prstGeom prst="rect">
              <a:avLst/>
            </a:prstGeom>
          </p:spPr>
          <p:txBody>
            <a:bodyPr anchor="t" rtlCol="false" tIns="0" lIns="0" bIns="0" rIns="0">
              <a:spAutoFit/>
            </a:bodyPr>
            <a:lstStyle/>
            <a:p>
              <a:pPr algn="ctr">
                <a:lnSpc>
                  <a:spcPts val="5928"/>
                </a:lnSpc>
              </a:pPr>
              <a:r>
                <a:rPr lang="en-US" sz="5700">
                  <a:solidFill>
                    <a:srgbClr val="38B6FF"/>
                  </a:solidFill>
                  <a:latin typeface="DM Sans"/>
                  <a:ea typeface="DM Sans"/>
                  <a:cs typeface="DM Sans"/>
                  <a:sym typeface="DM Sans"/>
                </a:rPr>
                <a:t>Hardening Accounts </a:t>
              </a:r>
            </a:p>
            <a:p>
              <a:pPr algn="ctr" marL="0" indent="0" lvl="0">
                <a:lnSpc>
                  <a:spcPts val="5928"/>
                </a:lnSpc>
              </a:pPr>
              <a:r>
                <a:rPr lang="en-US" sz="5700">
                  <a:solidFill>
                    <a:srgbClr val="38B6FF"/>
                  </a:solidFill>
                  <a:latin typeface="DM Sans"/>
                  <a:ea typeface="DM Sans"/>
                  <a:cs typeface="DM Sans"/>
                  <a:sym typeface="DM Sans"/>
                </a:rPr>
                <a:t>&amp; Access</a:t>
              </a:r>
            </a:p>
          </p:txBody>
        </p:sp>
      </p:gr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8248510"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WHY I’M NOT TALKING A LOT ABOUT TIERING</a:t>
            </a:r>
          </a:p>
        </p:txBody>
      </p:sp>
      <p:sp>
        <p:nvSpPr>
          <p:cNvPr name="TextBox 6" id="6"/>
          <p:cNvSpPr txBox="true"/>
          <p:nvPr/>
        </p:nvSpPr>
        <p:spPr>
          <a:xfrm rot="0">
            <a:off x="1076985" y="1853232"/>
            <a:ext cx="6057741" cy="2702560"/>
          </a:xfrm>
          <a:prstGeom prst="rect">
            <a:avLst/>
          </a:prstGeom>
        </p:spPr>
        <p:txBody>
          <a:bodyPr anchor="t" rtlCol="false" tIns="0" lIns="0" bIns="0" rIns="0">
            <a:spAutoFit/>
          </a:bodyPr>
          <a:lstStyle/>
          <a:p>
            <a:pPr algn="l" marL="669286" indent="-334643" lvl="1">
              <a:lnSpc>
                <a:spcPts val="4339"/>
              </a:lnSpc>
              <a:buFont typeface="Arial"/>
              <a:buChar char="•"/>
            </a:pPr>
            <a:r>
              <a:rPr lang="en-US" sz="3099">
                <a:solidFill>
                  <a:srgbClr val="FFFFFF"/>
                </a:solidFill>
                <a:latin typeface="DM Sans"/>
                <a:ea typeface="DM Sans"/>
                <a:cs typeface="DM Sans"/>
                <a:sym typeface="DM Sans"/>
              </a:rPr>
              <a:t>Tiering = Good</a:t>
            </a:r>
          </a:p>
          <a:p>
            <a:pPr algn="l" marL="669286" indent="-334643" lvl="1">
              <a:lnSpc>
                <a:spcPts val="4339"/>
              </a:lnSpc>
              <a:buFont typeface="Arial"/>
              <a:buChar char="•"/>
            </a:pPr>
            <a:r>
              <a:rPr lang="en-US" sz="3099">
                <a:solidFill>
                  <a:srgbClr val="FFFFFF"/>
                </a:solidFill>
                <a:latin typeface="DM Sans"/>
                <a:ea typeface="DM Sans"/>
                <a:cs typeface="DM Sans"/>
                <a:sym typeface="DM Sans"/>
              </a:rPr>
              <a:t>Everyone talks about it</a:t>
            </a:r>
          </a:p>
          <a:p>
            <a:pPr algn="l" marL="669286" indent="-334643" lvl="1">
              <a:lnSpc>
                <a:spcPts val="4339"/>
              </a:lnSpc>
              <a:buFont typeface="Arial"/>
              <a:buChar char="•"/>
            </a:pPr>
            <a:r>
              <a:rPr lang="en-US" sz="3099">
                <a:solidFill>
                  <a:srgbClr val="FFFFFF"/>
                </a:solidFill>
                <a:latin typeface="DM Sans"/>
                <a:ea typeface="DM Sans"/>
                <a:cs typeface="DM Sans"/>
                <a:sym typeface="DM Sans"/>
              </a:rPr>
              <a:t>No one finishes it</a:t>
            </a:r>
          </a:p>
          <a:p>
            <a:pPr algn="l" marL="669286" indent="-334643" lvl="1">
              <a:lnSpc>
                <a:spcPts val="4339"/>
              </a:lnSpc>
              <a:buFont typeface="Arial"/>
              <a:buChar char="•"/>
            </a:pPr>
            <a:r>
              <a:rPr lang="en-US" sz="3099">
                <a:solidFill>
                  <a:srgbClr val="FFFFFF"/>
                </a:solidFill>
                <a:latin typeface="DM Sans"/>
                <a:ea typeface="DM Sans"/>
                <a:cs typeface="DM Sans"/>
                <a:sym typeface="DM Sans"/>
              </a:rPr>
              <a:t>Environments still vulnerable. </a:t>
            </a:r>
          </a:p>
          <a:p>
            <a:pPr algn="l">
              <a:lnSpc>
                <a:spcPts val="4339"/>
              </a:lnSpc>
              <a:spcBef>
                <a:spcPct val="0"/>
              </a:spcBef>
            </a:pPr>
          </a:p>
        </p:txBody>
      </p:sp>
      <p:sp>
        <p:nvSpPr>
          <p:cNvPr name="TextBox 7" id="7"/>
          <p:cNvSpPr txBox="true"/>
          <p:nvPr/>
        </p:nvSpPr>
        <p:spPr>
          <a:xfrm rot="0">
            <a:off x="1128603" y="4908518"/>
            <a:ext cx="8248510"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MY ADVICE ON TIERING</a:t>
            </a:r>
          </a:p>
        </p:txBody>
      </p:sp>
      <p:sp>
        <p:nvSpPr>
          <p:cNvPr name="TextBox 8" id="8"/>
          <p:cNvSpPr txBox="true"/>
          <p:nvPr/>
        </p:nvSpPr>
        <p:spPr>
          <a:xfrm rot="0">
            <a:off x="1128603" y="5581331"/>
            <a:ext cx="9143841" cy="3245485"/>
          </a:xfrm>
          <a:prstGeom prst="rect">
            <a:avLst/>
          </a:prstGeom>
        </p:spPr>
        <p:txBody>
          <a:bodyPr anchor="t" rtlCol="false" tIns="0" lIns="0" bIns="0" rIns="0">
            <a:spAutoFit/>
          </a:bodyPr>
          <a:lstStyle/>
          <a:p>
            <a:pPr algn="l" marL="669286" indent="-334643" lvl="1">
              <a:lnSpc>
                <a:spcPts val="4339"/>
              </a:lnSpc>
              <a:buFont typeface="Arial"/>
              <a:buChar char="•"/>
            </a:pPr>
            <a:r>
              <a:rPr lang="en-US" sz="3099">
                <a:solidFill>
                  <a:srgbClr val="FFFFFF"/>
                </a:solidFill>
                <a:latin typeface="DM Sans"/>
                <a:ea typeface="DM Sans"/>
                <a:cs typeface="DM Sans"/>
                <a:sym typeface="DM Sans"/>
              </a:rPr>
              <a:t>Tier 0 First</a:t>
            </a:r>
          </a:p>
          <a:p>
            <a:pPr algn="l" marL="1338572" indent="-446191" lvl="2">
              <a:lnSpc>
                <a:spcPts val="4339"/>
              </a:lnSpc>
              <a:buFont typeface="Arial"/>
              <a:buChar char="⚬"/>
            </a:pPr>
            <a:r>
              <a:rPr lang="en-US" sz="3099">
                <a:solidFill>
                  <a:srgbClr val="FFFFFF"/>
                </a:solidFill>
                <a:latin typeface="DM Sans"/>
                <a:ea typeface="DM Sans"/>
                <a:cs typeface="DM Sans"/>
                <a:sym typeface="DM Sans"/>
              </a:rPr>
              <a:t>Domain/Identity Level Administrator Rights</a:t>
            </a:r>
          </a:p>
          <a:p>
            <a:pPr algn="l" marL="1338572" indent="-446191" lvl="2">
              <a:lnSpc>
                <a:spcPts val="4339"/>
              </a:lnSpc>
              <a:buFont typeface="Arial"/>
              <a:buChar char="⚬"/>
            </a:pPr>
            <a:r>
              <a:rPr lang="en-US" sz="3099">
                <a:solidFill>
                  <a:srgbClr val="FFFFFF"/>
                </a:solidFill>
                <a:latin typeface="DM Sans"/>
                <a:ea typeface="DM Sans"/>
                <a:cs typeface="DM Sans"/>
                <a:sym typeface="DM Sans"/>
              </a:rPr>
              <a:t>Environment-wide Administrative Rights</a:t>
            </a:r>
          </a:p>
          <a:p>
            <a:pPr algn="l" marL="669286" indent="-334643" lvl="1">
              <a:lnSpc>
                <a:spcPts val="4339"/>
              </a:lnSpc>
              <a:buFont typeface="Arial"/>
              <a:buChar char="•"/>
            </a:pPr>
            <a:r>
              <a:rPr lang="en-US" sz="3099">
                <a:solidFill>
                  <a:srgbClr val="FFFFFF"/>
                </a:solidFill>
                <a:latin typeface="DM Sans"/>
                <a:ea typeface="DM Sans"/>
                <a:cs typeface="DM Sans"/>
                <a:sym typeface="DM Sans"/>
              </a:rPr>
              <a:t>Isolate and Secure Tier 0 Users</a:t>
            </a:r>
          </a:p>
          <a:p>
            <a:pPr algn="l" marL="669286" indent="-334643" lvl="1">
              <a:lnSpc>
                <a:spcPts val="4339"/>
              </a:lnSpc>
              <a:buFont typeface="Arial"/>
              <a:buChar char="•"/>
            </a:pPr>
            <a:r>
              <a:rPr lang="en-US" sz="3099">
                <a:solidFill>
                  <a:srgbClr val="FFFFFF"/>
                </a:solidFill>
                <a:latin typeface="DM Sans"/>
                <a:ea typeface="DM Sans"/>
                <a:cs typeface="DM Sans"/>
                <a:sym typeface="DM Sans"/>
              </a:rPr>
              <a:t>Isolate and Secure Tier 0 Systems</a:t>
            </a:r>
          </a:p>
          <a:p>
            <a:pPr algn="l" marL="669286" indent="-334643" lvl="1">
              <a:lnSpc>
                <a:spcPts val="4339"/>
              </a:lnSpc>
              <a:spcBef>
                <a:spcPct val="0"/>
              </a:spcBef>
              <a:buFont typeface="Arial"/>
              <a:buChar char="•"/>
            </a:pPr>
            <a:r>
              <a:rPr lang="en-US" sz="3099">
                <a:solidFill>
                  <a:srgbClr val="FFFFFF"/>
                </a:solidFill>
                <a:latin typeface="DM Sans"/>
                <a:ea typeface="DM Sans"/>
                <a:cs typeface="DM Sans"/>
                <a:sym typeface="DM Sans"/>
              </a:rPr>
              <a:t>Identify Tier 0 Dependencies</a:t>
            </a:r>
          </a:p>
        </p:txBody>
      </p:sp>
      <p:grpSp>
        <p:nvGrpSpPr>
          <p:cNvPr name="Group 9" id="9"/>
          <p:cNvGrpSpPr/>
          <p:nvPr/>
        </p:nvGrpSpPr>
        <p:grpSpPr>
          <a:xfrm rot="0">
            <a:off x="11016259" y="2047724"/>
            <a:ext cx="6368876" cy="6193393"/>
            <a:chOff x="0" y="0"/>
            <a:chExt cx="8491835" cy="8257857"/>
          </a:xfrm>
        </p:grpSpPr>
        <p:sp>
          <p:nvSpPr>
            <p:cNvPr name="Freeform 10" id="10"/>
            <p:cNvSpPr/>
            <p:nvPr/>
          </p:nvSpPr>
          <p:spPr>
            <a:xfrm flipH="false" flipV="false" rot="0">
              <a:off x="0" y="0"/>
              <a:ext cx="8491835" cy="8257857"/>
            </a:xfrm>
            <a:custGeom>
              <a:avLst/>
              <a:gdLst/>
              <a:ahLst/>
              <a:cxnLst/>
              <a:rect r="r" b="b" t="t" l="l"/>
              <a:pathLst>
                <a:path h="8257857" w="8491835">
                  <a:moveTo>
                    <a:pt x="0" y="0"/>
                  </a:moveTo>
                  <a:lnTo>
                    <a:pt x="8491835" y="0"/>
                  </a:lnTo>
                  <a:lnTo>
                    <a:pt x="8491835" y="8257857"/>
                  </a:lnTo>
                  <a:lnTo>
                    <a:pt x="0" y="8257857"/>
                  </a:lnTo>
                  <a:lnTo>
                    <a:pt x="0" y="0"/>
                  </a:lnTo>
                  <a:close/>
                </a:path>
              </a:pathLst>
            </a:custGeom>
            <a:blipFill>
              <a:blip r:embed="rId3"/>
              <a:stretch>
                <a:fillRect l="0" t="0" r="-74091" b="0"/>
              </a:stretch>
            </a:blipFill>
            <a:ln w="38100" cap="sq">
              <a:solidFill>
                <a:srgbClr val="2F7BD1"/>
              </a:solidFill>
              <a:prstDash val="solid"/>
              <a:miter/>
            </a:ln>
          </p:spPr>
        </p:sp>
        <p:sp>
          <p:nvSpPr>
            <p:cNvPr name="TextBox 11" id="11"/>
            <p:cNvSpPr txBox="true"/>
            <p:nvPr/>
          </p:nvSpPr>
          <p:spPr>
            <a:xfrm rot="0">
              <a:off x="608202" y="1499887"/>
              <a:ext cx="5324991" cy="412031"/>
            </a:xfrm>
            <a:prstGeom prst="rect">
              <a:avLst/>
            </a:prstGeom>
          </p:spPr>
          <p:txBody>
            <a:bodyPr anchor="t" rtlCol="false" tIns="0" lIns="0" bIns="0" rIns="0">
              <a:spAutoFit/>
            </a:bodyPr>
            <a:lstStyle/>
            <a:p>
              <a:pPr algn="l">
                <a:lnSpc>
                  <a:spcPts val="2288"/>
                </a:lnSpc>
                <a:spcBef>
                  <a:spcPct val="0"/>
                </a:spcBef>
              </a:pPr>
              <a:r>
                <a:rPr lang="en-US" b="true" sz="2200">
                  <a:solidFill>
                    <a:srgbClr val="FFFFFF"/>
                  </a:solidFill>
                  <a:latin typeface="DM Sans Bold"/>
                  <a:ea typeface="DM Sans Bold"/>
                  <a:cs typeface="DM Sans Bold"/>
                  <a:sym typeface="DM Sans Bold"/>
                </a:rPr>
                <a:t>Identity / Cloud Admin</a:t>
              </a:r>
            </a:p>
          </p:txBody>
        </p:sp>
        <p:sp>
          <p:nvSpPr>
            <p:cNvPr name="TextBox 12" id="12"/>
            <p:cNvSpPr txBox="true"/>
            <p:nvPr/>
          </p:nvSpPr>
          <p:spPr>
            <a:xfrm rot="0">
              <a:off x="608202" y="4304311"/>
              <a:ext cx="5324991" cy="412031"/>
            </a:xfrm>
            <a:prstGeom prst="rect">
              <a:avLst/>
            </a:prstGeom>
          </p:spPr>
          <p:txBody>
            <a:bodyPr anchor="t" rtlCol="false" tIns="0" lIns="0" bIns="0" rIns="0">
              <a:spAutoFit/>
            </a:bodyPr>
            <a:lstStyle/>
            <a:p>
              <a:pPr algn="l">
                <a:lnSpc>
                  <a:spcPts val="2288"/>
                </a:lnSpc>
                <a:spcBef>
                  <a:spcPct val="0"/>
                </a:spcBef>
              </a:pPr>
              <a:r>
                <a:rPr lang="en-US" b="true" sz="2200">
                  <a:solidFill>
                    <a:srgbClr val="FFFFFF"/>
                  </a:solidFill>
                  <a:latin typeface="DM Sans Bold"/>
                  <a:ea typeface="DM Sans Bold"/>
                  <a:cs typeface="DM Sans Bold"/>
                  <a:sym typeface="DM Sans Bold"/>
                </a:rPr>
                <a:t>Service/Application Admin</a:t>
              </a:r>
            </a:p>
          </p:txBody>
        </p:sp>
        <p:sp>
          <p:nvSpPr>
            <p:cNvPr name="TextBox 13" id="13"/>
            <p:cNvSpPr txBox="true"/>
            <p:nvPr/>
          </p:nvSpPr>
          <p:spPr>
            <a:xfrm rot="0">
              <a:off x="608202" y="6961291"/>
              <a:ext cx="5324991" cy="412031"/>
            </a:xfrm>
            <a:prstGeom prst="rect">
              <a:avLst/>
            </a:prstGeom>
          </p:spPr>
          <p:txBody>
            <a:bodyPr anchor="t" rtlCol="false" tIns="0" lIns="0" bIns="0" rIns="0">
              <a:spAutoFit/>
            </a:bodyPr>
            <a:lstStyle/>
            <a:p>
              <a:pPr algn="l">
                <a:lnSpc>
                  <a:spcPts val="2288"/>
                </a:lnSpc>
                <a:spcBef>
                  <a:spcPct val="0"/>
                </a:spcBef>
              </a:pPr>
              <a:r>
                <a:rPr lang="en-US" b="true" sz="2200">
                  <a:solidFill>
                    <a:srgbClr val="FFFFFF"/>
                  </a:solidFill>
                  <a:latin typeface="DM Sans Bold"/>
                  <a:ea typeface="DM Sans Bold"/>
                  <a:cs typeface="DM Sans Bold"/>
                  <a:sym typeface="DM Sans Bold"/>
                </a:rPr>
                <a:t>Endpoint Admin</a:t>
              </a:r>
            </a:p>
          </p:txBody>
        </p:sp>
      </p:grpSp>
    </p:spTree>
  </p:cSld>
  <p:clrMapOvr>
    <a:masterClrMapping/>
  </p:clrMapOvr>
</p:sld>
</file>

<file path=ppt/slides/slide57.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490220"/>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AUDIT ACCESS AND ACLS</a:t>
            </a:r>
          </a:p>
        </p:txBody>
      </p:sp>
      <p:sp>
        <p:nvSpPr>
          <p:cNvPr name="TextBox 6" id="6"/>
          <p:cNvSpPr txBox="true"/>
          <p:nvPr/>
        </p:nvSpPr>
        <p:spPr>
          <a:xfrm rot="0">
            <a:off x="1076985" y="1096065"/>
            <a:ext cx="9155086" cy="481330"/>
          </a:xfrm>
          <a:prstGeom prst="rect">
            <a:avLst/>
          </a:prstGeom>
        </p:spPr>
        <p:txBody>
          <a:bodyPr anchor="t" rtlCol="false" tIns="0" lIns="0" bIns="0" rIns="0">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name="TextBox 7" id="7"/>
          <p:cNvSpPr txBox="true"/>
          <p:nvPr/>
        </p:nvSpPr>
        <p:spPr>
          <a:xfrm rot="0">
            <a:off x="1076985" y="1852041"/>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Places to Start</a:t>
            </a:r>
          </a:p>
        </p:txBody>
      </p:sp>
      <p:sp>
        <p:nvSpPr>
          <p:cNvPr name="TextBox 8" id="8"/>
          <p:cNvSpPr txBox="true"/>
          <p:nvPr/>
        </p:nvSpPr>
        <p:spPr>
          <a:xfrm rot="0">
            <a:off x="12169919" y="7135423"/>
            <a:ext cx="4241641" cy="2065020"/>
          </a:xfrm>
          <a:prstGeom prst="rect">
            <a:avLst/>
          </a:prstGeom>
        </p:spPr>
        <p:txBody>
          <a:bodyPr anchor="t" rtlCol="false" tIns="0" lIns="0" bIns="0" rIns="0">
            <a:spAutoFit/>
          </a:bodyPr>
          <a:lstStyle/>
          <a:p>
            <a:pPr algn="l" marL="604518" indent="-302259" lvl="1">
              <a:lnSpc>
                <a:spcPts val="4199"/>
              </a:lnSpc>
              <a:buFont typeface="Arial"/>
              <a:buChar char="•"/>
            </a:pPr>
            <a:r>
              <a:rPr lang="en-US" sz="2799">
                <a:solidFill>
                  <a:srgbClr val="FFFFFF"/>
                </a:solidFill>
                <a:latin typeface="DM Sans"/>
                <a:ea typeface="DM Sans"/>
                <a:cs typeface="DM Sans"/>
                <a:sym typeface="DM Sans"/>
              </a:rPr>
              <a:t>ADDelegator</a:t>
            </a:r>
          </a:p>
          <a:p>
            <a:pPr algn="l" marL="604518" indent="-302259" lvl="1">
              <a:lnSpc>
                <a:spcPts val="4199"/>
              </a:lnSpc>
              <a:buFont typeface="Arial"/>
              <a:buChar char="•"/>
            </a:pPr>
            <a:r>
              <a:rPr lang="en-US" sz="2799">
                <a:solidFill>
                  <a:srgbClr val="FFFFFF"/>
                </a:solidFill>
                <a:latin typeface="DM Sans"/>
                <a:ea typeface="DM Sans"/>
                <a:cs typeface="DM Sans"/>
                <a:sym typeface="DM Sans"/>
              </a:rPr>
              <a:t>AD ACL Scanner</a:t>
            </a:r>
          </a:p>
          <a:p>
            <a:pPr algn="l" marL="604518" indent="-302259" lvl="1">
              <a:lnSpc>
                <a:spcPts val="4199"/>
              </a:lnSpc>
              <a:buFont typeface="Arial"/>
              <a:buChar char="•"/>
            </a:pPr>
            <a:r>
              <a:rPr lang="en-US" sz="2799">
                <a:solidFill>
                  <a:srgbClr val="FFFFFF"/>
                </a:solidFill>
                <a:latin typeface="DM Sans"/>
                <a:ea typeface="DM Sans"/>
                <a:cs typeface="DM Sans"/>
                <a:sym typeface="DM Sans"/>
              </a:rPr>
              <a:t>MS Adv. Audit Policies</a:t>
            </a:r>
          </a:p>
          <a:p>
            <a:pPr algn="l">
              <a:lnSpc>
                <a:spcPts val="4199"/>
              </a:lnSpc>
            </a:pPr>
          </a:p>
        </p:txBody>
      </p:sp>
      <p:sp>
        <p:nvSpPr>
          <p:cNvPr name="TextBox 9" id="9"/>
          <p:cNvSpPr txBox="true"/>
          <p:nvPr/>
        </p:nvSpPr>
        <p:spPr>
          <a:xfrm rot="0">
            <a:off x="12169919" y="6075752"/>
            <a:ext cx="463075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Helpful Tools</a:t>
            </a:r>
          </a:p>
        </p:txBody>
      </p:sp>
      <p:sp>
        <p:nvSpPr>
          <p:cNvPr name="TextBox 10" id="10"/>
          <p:cNvSpPr txBox="true"/>
          <p:nvPr/>
        </p:nvSpPr>
        <p:spPr>
          <a:xfrm rot="0">
            <a:off x="12169919" y="6594547"/>
            <a:ext cx="5089381" cy="380746"/>
          </a:xfrm>
          <a:prstGeom prst="rect">
            <a:avLst/>
          </a:prstGeom>
        </p:spPr>
        <p:txBody>
          <a:bodyPr anchor="t" rtlCol="false" tIns="0" lIns="0" bIns="0" rIns="0">
            <a:spAutoFit/>
          </a:bodyPr>
          <a:lstStyle/>
          <a:p>
            <a:pPr algn="l" marL="0" indent="0" lvl="0">
              <a:lnSpc>
                <a:spcPts val="2912"/>
              </a:lnSpc>
            </a:pPr>
            <a:r>
              <a:rPr lang="en-US" b="true" sz="2800">
                <a:solidFill>
                  <a:srgbClr val="FF3131"/>
                </a:solidFill>
                <a:latin typeface="DM Sans Bold"/>
                <a:ea typeface="DM Sans Bold"/>
                <a:cs typeface="DM Sans Bold"/>
                <a:sym typeface="DM Sans Bold"/>
              </a:rPr>
              <a:t>THESE MAY TRIP EDR/AV</a:t>
            </a:r>
          </a:p>
        </p:txBody>
      </p:sp>
      <p:sp>
        <p:nvSpPr>
          <p:cNvPr name="TextBox 11" id="11"/>
          <p:cNvSpPr txBox="true"/>
          <p:nvPr/>
        </p:nvSpPr>
        <p:spPr>
          <a:xfrm rot="0">
            <a:off x="1076985" y="2370836"/>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Domain Root</a:t>
            </a:r>
          </a:p>
        </p:txBody>
      </p:sp>
      <p:sp>
        <p:nvSpPr>
          <p:cNvPr name="TextBox 12" id="12"/>
          <p:cNvSpPr txBox="true"/>
          <p:nvPr/>
        </p:nvSpPr>
        <p:spPr>
          <a:xfrm rot="0">
            <a:off x="1076985" y="2818257"/>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Domain Controllers</a:t>
            </a:r>
          </a:p>
        </p:txBody>
      </p:sp>
      <p:sp>
        <p:nvSpPr>
          <p:cNvPr name="TextBox 13" id="13"/>
          <p:cNvSpPr txBox="true"/>
          <p:nvPr/>
        </p:nvSpPr>
        <p:spPr>
          <a:xfrm rot="0">
            <a:off x="1076985" y="3237103"/>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Privileged Users OUs</a:t>
            </a:r>
          </a:p>
        </p:txBody>
      </p:sp>
      <p:sp>
        <p:nvSpPr>
          <p:cNvPr name="TextBox 14" id="14"/>
          <p:cNvSpPr txBox="true"/>
          <p:nvPr/>
        </p:nvSpPr>
        <p:spPr>
          <a:xfrm rot="0">
            <a:off x="1076985" y="3655949"/>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Service Accounts OUs</a:t>
            </a:r>
          </a:p>
        </p:txBody>
      </p:sp>
      <p:sp>
        <p:nvSpPr>
          <p:cNvPr name="TextBox 15" id="15"/>
          <p:cNvSpPr txBox="true"/>
          <p:nvPr/>
        </p:nvSpPr>
        <p:spPr>
          <a:xfrm rot="0">
            <a:off x="1076985" y="4074795"/>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Executive Users OUs</a:t>
            </a:r>
          </a:p>
        </p:txBody>
      </p:sp>
      <p:sp>
        <p:nvSpPr>
          <p:cNvPr name="TextBox 16" id="16"/>
          <p:cNvSpPr txBox="true"/>
          <p:nvPr/>
        </p:nvSpPr>
        <p:spPr>
          <a:xfrm rot="0">
            <a:off x="1076985" y="4493641"/>
            <a:ext cx="8067015" cy="649859"/>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AdminSDHolder</a:t>
            </a:r>
          </a:p>
          <a:p>
            <a:pPr algn="l">
              <a:lnSpc>
                <a:spcPts val="2184"/>
              </a:lnSpc>
            </a:pPr>
            <a:r>
              <a:rPr lang="en-US" sz="2100">
                <a:solidFill>
                  <a:srgbClr val="FFFFFF"/>
                </a:solidFill>
                <a:latin typeface="DM Sans"/>
                <a:ea typeface="DM Sans"/>
                <a:cs typeface="DM Sans"/>
                <a:sym typeface="DM Sans"/>
              </a:rPr>
              <a:t>        Domain Root \ System \ AdminSDHolder</a:t>
            </a:r>
          </a:p>
        </p:txBody>
      </p:sp>
      <p:sp>
        <p:nvSpPr>
          <p:cNvPr name="TextBox 17" id="17"/>
          <p:cNvSpPr txBox="true"/>
          <p:nvPr/>
        </p:nvSpPr>
        <p:spPr>
          <a:xfrm rot="0">
            <a:off x="1076985" y="6057900"/>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Permissions to Consider</a:t>
            </a:r>
          </a:p>
        </p:txBody>
      </p:sp>
      <p:sp>
        <p:nvSpPr>
          <p:cNvPr name="TextBox 18" id="18"/>
          <p:cNvSpPr txBox="true"/>
          <p:nvPr/>
        </p:nvSpPr>
        <p:spPr>
          <a:xfrm rot="0">
            <a:off x="1076985" y="6576695"/>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Full Control (Generic All)</a:t>
            </a:r>
          </a:p>
        </p:txBody>
      </p:sp>
      <p:sp>
        <p:nvSpPr>
          <p:cNvPr name="TextBox 19" id="19"/>
          <p:cNvSpPr txBox="true"/>
          <p:nvPr/>
        </p:nvSpPr>
        <p:spPr>
          <a:xfrm rot="0">
            <a:off x="1076985" y="7024116"/>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Control Access (CA)</a:t>
            </a:r>
          </a:p>
        </p:txBody>
      </p:sp>
      <p:sp>
        <p:nvSpPr>
          <p:cNvPr name="TextBox 20" id="20"/>
          <p:cNvSpPr txBox="true"/>
          <p:nvPr/>
        </p:nvSpPr>
        <p:spPr>
          <a:xfrm rot="0">
            <a:off x="1076985" y="7442962"/>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Owner / Change Owner</a:t>
            </a:r>
          </a:p>
        </p:txBody>
      </p:sp>
      <p:sp>
        <p:nvSpPr>
          <p:cNvPr name="TextBox 21" id="21"/>
          <p:cNvSpPr txBox="true"/>
          <p:nvPr/>
        </p:nvSpPr>
        <p:spPr>
          <a:xfrm rot="0">
            <a:off x="1076985" y="7861808"/>
            <a:ext cx="7068808" cy="380746"/>
          </a:xfrm>
          <a:prstGeom prst="rect">
            <a:avLst/>
          </a:prstGeom>
        </p:spPr>
        <p:txBody>
          <a:bodyPr anchor="t" rtlCol="false" tIns="0" lIns="0" bIns="0" rIns="0">
            <a:spAutoFit/>
          </a:bodyPr>
          <a:lstStyle/>
          <a:p>
            <a:pPr algn="l" marL="604519" indent="-302260" lvl="1">
              <a:lnSpc>
                <a:spcPts val="2911"/>
              </a:lnSpc>
              <a:buFont typeface="Arial"/>
              <a:buChar char="•"/>
            </a:pPr>
            <a:r>
              <a:rPr lang="en-US" sz="2799">
                <a:solidFill>
                  <a:srgbClr val="FFFFFF"/>
                </a:solidFill>
                <a:latin typeface="DM Sans"/>
                <a:ea typeface="DM Sans"/>
                <a:cs typeface="DM Sans"/>
                <a:sym typeface="DM Sans"/>
              </a:rPr>
              <a:t>Reset Password</a:t>
            </a:r>
          </a:p>
        </p:txBody>
      </p:sp>
    </p:spTree>
  </p:cSld>
  <p:clrMapOvr>
    <a:masterClrMapping/>
  </p:clrMapOvr>
</p:sld>
</file>

<file path=ppt/slides/slide58.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SERVICE ACCOUNT HARDENING</a:t>
            </a:r>
          </a:p>
        </p:txBody>
      </p:sp>
      <p:sp>
        <p:nvSpPr>
          <p:cNvPr name="TextBox 6" id="6"/>
          <p:cNvSpPr txBox="true"/>
          <p:nvPr/>
        </p:nvSpPr>
        <p:spPr>
          <a:xfrm rot="0">
            <a:off x="1028700" y="2793711"/>
            <a:ext cx="8466267" cy="1806575"/>
          </a:xfrm>
          <a:prstGeom prst="rect">
            <a:avLst/>
          </a:prstGeom>
        </p:spPr>
        <p:txBody>
          <a:bodyPr anchor="t" rtlCol="false" tIns="0" lIns="0" bIns="0" rIns="0">
            <a:spAutoFit/>
          </a:bodyPr>
          <a:lstStyle/>
          <a:p>
            <a:pPr algn="l" marL="604518" indent="-302259" lvl="1">
              <a:lnSpc>
                <a:spcPts val="3919"/>
              </a:lnSpc>
              <a:buFont typeface="Arial"/>
              <a:buChar char="•"/>
            </a:pPr>
            <a:r>
              <a:rPr lang="en-US" sz="2799">
                <a:solidFill>
                  <a:srgbClr val="FFFFFF"/>
                </a:solidFill>
                <a:latin typeface="DM Sans"/>
                <a:ea typeface="DM Sans"/>
                <a:cs typeface="DM Sans"/>
                <a:sym typeface="DM Sans"/>
              </a:rPr>
              <a:t>Any account that runs a service </a:t>
            </a:r>
            <a:r>
              <a:rPr lang="en-US" b="true" sz="2799" u="sng">
                <a:solidFill>
                  <a:srgbClr val="FFFFFF"/>
                </a:solidFill>
                <a:latin typeface="DM Sans Bold"/>
                <a:ea typeface="DM Sans Bold"/>
                <a:cs typeface="DM Sans Bold"/>
                <a:sym typeface="DM Sans Bold"/>
              </a:rPr>
              <a:t>OR </a:t>
            </a:r>
            <a:r>
              <a:rPr lang="en-US" sz="2799">
                <a:solidFill>
                  <a:srgbClr val="FFFFFF"/>
                </a:solidFill>
                <a:latin typeface="DM Sans"/>
                <a:ea typeface="DM Sans"/>
                <a:cs typeface="DM Sans"/>
                <a:sym typeface="DM Sans"/>
              </a:rPr>
              <a:t>has a SPN</a:t>
            </a:r>
          </a:p>
          <a:p>
            <a:pPr algn="l" marL="604518" indent="-302259" lvl="1">
              <a:lnSpc>
                <a:spcPts val="3919"/>
              </a:lnSpc>
              <a:buFont typeface="Arial"/>
              <a:buChar char="•"/>
            </a:pPr>
            <a:r>
              <a:rPr lang="en-US" sz="2799">
                <a:solidFill>
                  <a:srgbClr val="FFFFFF"/>
                </a:solidFill>
                <a:latin typeface="DM Sans"/>
                <a:ea typeface="DM Sans"/>
                <a:cs typeface="DM Sans"/>
                <a:sym typeface="DM Sans"/>
              </a:rPr>
              <a:t>SPN = Service Principal Name</a:t>
            </a:r>
          </a:p>
          <a:p>
            <a:pPr algn="l" marL="863604" indent="-287868" lvl="2">
              <a:lnSpc>
                <a:spcPts val="2800"/>
              </a:lnSpc>
              <a:buFont typeface="Arial"/>
              <a:buChar char="⚬"/>
            </a:pPr>
            <a:r>
              <a:rPr lang="en-US" sz="2000">
                <a:solidFill>
                  <a:srgbClr val="FFFFFF"/>
                </a:solidFill>
                <a:latin typeface="DM Sans"/>
                <a:ea typeface="DM Sans"/>
                <a:cs typeface="DM Sans"/>
                <a:sym typeface="DM Sans"/>
              </a:rPr>
              <a:t>Method Kerberos uses to find services</a:t>
            </a:r>
          </a:p>
          <a:p>
            <a:pPr algn="l">
              <a:lnSpc>
                <a:spcPts val="3779"/>
              </a:lnSpc>
              <a:spcBef>
                <a:spcPct val="0"/>
              </a:spcBef>
            </a:pPr>
          </a:p>
        </p:txBody>
      </p:sp>
      <p:sp>
        <p:nvSpPr>
          <p:cNvPr name="TextBox 7" id="7"/>
          <p:cNvSpPr txBox="true"/>
          <p:nvPr/>
        </p:nvSpPr>
        <p:spPr>
          <a:xfrm rot="0">
            <a:off x="1076985" y="2370166"/>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What is a service account?</a:t>
            </a:r>
          </a:p>
        </p:txBody>
      </p:sp>
    </p:spTree>
  </p:cSld>
  <p:clrMapOvr>
    <a:masterClrMapping/>
  </p:clrMapOvr>
</p:sld>
</file>

<file path=ppt/slides/slide59.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SERVICE ACCOUNT HARDENING</a:t>
            </a:r>
          </a:p>
        </p:txBody>
      </p:sp>
      <p:sp>
        <p:nvSpPr>
          <p:cNvPr name="TextBox 6" id="6"/>
          <p:cNvSpPr txBox="true"/>
          <p:nvPr/>
        </p:nvSpPr>
        <p:spPr>
          <a:xfrm rot="0">
            <a:off x="1028700" y="2793711"/>
            <a:ext cx="8466267" cy="1806575"/>
          </a:xfrm>
          <a:prstGeom prst="rect">
            <a:avLst/>
          </a:prstGeom>
        </p:spPr>
        <p:txBody>
          <a:bodyPr anchor="t" rtlCol="false" tIns="0" lIns="0" bIns="0" rIns="0">
            <a:spAutoFit/>
          </a:bodyPr>
          <a:lstStyle/>
          <a:p>
            <a:pPr algn="l" marL="604518" indent="-302259" lvl="1">
              <a:lnSpc>
                <a:spcPts val="3919"/>
              </a:lnSpc>
              <a:buFont typeface="Arial"/>
              <a:buChar char="•"/>
            </a:pPr>
            <a:r>
              <a:rPr lang="en-US" sz="2799">
                <a:solidFill>
                  <a:srgbClr val="737373"/>
                </a:solidFill>
                <a:latin typeface="DM Sans"/>
                <a:ea typeface="DM Sans"/>
                <a:cs typeface="DM Sans"/>
                <a:sym typeface="DM Sans"/>
              </a:rPr>
              <a:t>Any account that runs a service </a:t>
            </a:r>
            <a:r>
              <a:rPr lang="en-US" b="true" sz="2799" u="sng">
                <a:solidFill>
                  <a:srgbClr val="737373"/>
                </a:solidFill>
                <a:latin typeface="DM Sans Bold"/>
                <a:ea typeface="DM Sans Bold"/>
                <a:cs typeface="DM Sans Bold"/>
                <a:sym typeface="DM Sans Bold"/>
              </a:rPr>
              <a:t>OR </a:t>
            </a:r>
            <a:r>
              <a:rPr lang="en-US" sz="2799">
                <a:solidFill>
                  <a:srgbClr val="737373"/>
                </a:solidFill>
                <a:latin typeface="DM Sans"/>
                <a:ea typeface="DM Sans"/>
                <a:cs typeface="DM Sans"/>
                <a:sym typeface="DM Sans"/>
              </a:rPr>
              <a:t>has a SPN</a:t>
            </a:r>
          </a:p>
          <a:p>
            <a:pPr algn="l" marL="604518" indent="-302259" lvl="1">
              <a:lnSpc>
                <a:spcPts val="3919"/>
              </a:lnSpc>
              <a:buFont typeface="Arial"/>
              <a:buChar char="•"/>
            </a:pPr>
            <a:r>
              <a:rPr lang="en-US" sz="2799">
                <a:solidFill>
                  <a:srgbClr val="737373"/>
                </a:solidFill>
                <a:latin typeface="DM Sans"/>
                <a:ea typeface="DM Sans"/>
                <a:cs typeface="DM Sans"/>
                <a:sym typeface="DM Sans"/>
              </a:rPr>
              <a:t>SPN = Service Principal Name</a:t>
            </a:r>
          </a:p>
          <a:p>
            <a:pPr algn="l" marL="863604" indent="-287868" lvl="2">
              <a:lnSpc>
                <a:spcPts val="2800"/>
              </a:lnSpc>
              <a:buFont typeface="Arial"/>
              <a:buChar char="⚬"/>
            </a:pPr>
            <a:r>
              <a:rPr lang="en-US" sz="2000">
                <a:solidFill>
                  <a:srgbClr val="737373"/>
                </a:solidFill>
                <a:latin typeface="DM Sans"/>
                <a:ea typeface="DM Sans"/>
                <a:cs typeface="DM Sans"/>
                <a:sym typeface="DM Sans"/>
              </a:rPr>
              <a:t>Method Kerberos uses to find services</a:t>
            </a:r>
          </a:p>
          <a:p>
            <a:pPr algn="l">
              <a:lnSpc>
                <a:spcPts val="3779"/>
              </a:lnSpc>
              <a:spcBef>
                <a:spcPct val="0"/>
              </a:spcBef>
            </a:pPr>
          </a:p>
        </p:txBody>
      </p:sp>
      <p:sp>
        <p:nvSpPr>
          <p:cNvPr name="TextBox 7" id="7"/>
          <p:cNvSpPr txBox="true"/>
          <p:nvPr/>
        </p:nvSpPr>
        <p:spPr>
          <a:xfrm rot="0">
            <a:off x="1076985" y="2370166"/>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737373"/>
                </a:solidFill>
                <a:latin typeface="DM Sans Bold"/>
                <a:ea typeface="DM Sans Bold"/>
                <a:cs typeface="DM Sans Bold"/>
                <a:sym typeface="DM Sans Bold"/>
              </a:rPr>
              <a:t>What is a service account?</a:t>
            </a:r>
          </a:p>
        </p:txBody>
      </p:sp>
      <p:sp>
        <p:nvSpPr>
          <p:cNvPr name="TextBox 8" id="8"/>
          <p:cNvSpPr txBox="true"/>
          <p:nvPr/>
        </p:nvSpPr>
        <p:spPr>
          <a:xfrm rot="0">
            <a:off x="1076985" y="5624195"/>
            <a:ext cx="8420635" cy="2891539"/>
          </a:xfrm>
          <a:prstGeom prst="rect">
            <a:avLst/>
          </a:prstGeom>
        </p:spPr>
        <p:txBody>
          <a:bodyPr anchor="t" rtlCol="false" tIns="0" lIns="0" bIns="0" rIns="0">
            <a:spAutoFit/>
          </a:bodyPr>
          <a:lstStyle/>
          <a:p>
            <a:pPr algn="l" marL="601260" indent="-300630" lvl="1">
              <a:lnSpc>
                <a:spcPts val="3898"/>
              </a:lnSpc>
              <a:buFont typeface="Arial"/>
              <a:buChar char="•"/>
            </a:pPr>
            <a:r>
              <a:rPr lang="en-US" sz="2784">
                <a:solidFill>
                  <a:srgbClr val="FFFFFF"/>
                </a:solidFill>
                <a:latin typeface="DM Sans"/>
                <a:ea typeface="DM Sans"/>
                <a:cs typeface="DM Sans"/>
                <a:sym typeface="DM Sans"/>
              </a:rPr>
              <a:t>Replace old Service Account Passwords</a:t>
            </a:r>
          </a:p>
          <a:p>
            <a:pPr algn="l" marL="601260" indent="-300630" lvl="1">
              <a:lnSpc>
                <a:spcPts val="3898"/>
              </a:lnSpc>
              <a:buFont typeface="Arial"/>
              <a:buChar char="•"/>
            </a:pPr>
            <a:r>
              <a:rPr lang="en-US" sz="2784">
                <a:solidFill>
                  <a:srgbClr val="FFFFFF"/>
                </a:solidFill>
                <a:latin typeface="DM Sans"/>
                <a:ea typeface="DM Sans"/>
                <a:cs typeface="DM Sans"/>
                <a:sym typeface="DM Sans"/>
              </a:rPr>
              <a:t>Audit + Remediate Account SPNs. </a:t>
            </a:r>
          </a:p>
          <a:p>
            <a:pPr algn="l" marL="601260" indent="-300630" lvl="1">
              <a:lnSpc>
                <a:spcPts val="3898"/>
              </a:lnSpc>
              <a:buFont typeface="Arial"/>
              <a:buChar char="•"/>
            </a:pPr>
            <a:r>
              <a:rPr lang="en-US" sz="2784">
                <a:solidFill>
                  <a:srgbClr val="FFFFFF"/>
                </a:solidFill>
                <a:latin typeface="DM Sans"/>
                <a:ea typeface="DM Sans"/>
                <a:cs typeface="DM Sans"/>
                <a:sym typeface="DM Sans"/>
              </a:rPr>
              <a:t>Audit Access and Log On As Service Right</a:t>
            </a:r>
          </a:p>
          <a:p>
            <a:pPr algn="l" marL="601260" indent="-300630" lvl="1">
              <a:lnSpc>
                <a:spcPts val="3898"/>
              </a:lnSpc>
              <a:buFont typeface="Arial"/>
              <a:buChar char="•"/>
            </a:pPr>
            <a:r>
              <a:rPr lang="en-US" sz="2784">
                <a:solidFill>
                  <a:srgbClr val="FFFFFF"/>
                </a:solidFill>
                <a:latin typeface="DM Sans"/>
                <a:ea typeface="DM Sans"/>
                <a:cs typeface="DM Sans"/>
                <a:sym typeface="DM Sans"/>
              </a:rPr>
              <a:t>Use MSAs</a:t>
            </a:r>
          </a:p>
          <a:p>
            <a:pPr algn="l">
              <a:lnSpc>
                <a:spcPts val="3898"/>
              </a:lnSpc>
            </a:pPr>
          </a:p>
          <a:p>
            <a:pPr algn="l">
              <a:lnSpc>
                <a:spcPts val="3898"/>
              </a:lnSpc>
              <a:spcBef>
                <a:spcPct val="0"/>
              </a:spcBef>
            </a:pPr>
            <a:r>
              <a:rPr lang="en-US" b="true" sz="2784">
                <a:solidFill>
                  <a:srgbClr val="FFFFFF"/>
                </a:solidFill>
                <a:latin typeface="DM Sans Bold"/>
                <a:ea typeface="DM Sans Bold"/>
                <a:cs typeface="DM Sans Bold"/>
                <a:sym typeface="DM Sans Bold"/>
              </a:rPr>
              <a:t>All reduce Kerberosting Risks</a:t>
            </a:r>
          </a:p>
        </p:txBody>
      </p:sp>
      <p:sp>
        <p:nvSpPr>
          <p:cNvPr name="TextBox 9" id="9"/>
          <p:cNvSpPr txBox="true"/>
          <p:nvPr/>
        </p:nvSpPr>
        <p:spPr>
          <a:xfrm rot="0">
            <a:off x="1125269" y="5191125"/>
            <a:ext cx="7068808" cy="480695"/>
          </a:xfrm>
          <a:prstGeom prst="rect">
            <a:avLst/>
          </a:prstGeom>
        </p:spPr>
        <p:txBody>
          <a:bodyPr anchor="t" rtlCol="false" tIns="0" lIns="0" bIns="0" rIns="0">
            <a:spAutoFit/>
          </a:bodyPr>
          <a:lstStyle/>
          <a:p>
            <a:pPr algn="l" marL="0" indent="0" lvl="0">
              <a:lnSpc>
                <a:spcPts val="3640"/>
              </a:lnSpc>
            </a:pPr>
            <a:r>
              <a:rPr lang="en-US" b="true" sz="3500">
                <a:solidFill>
                  <a:srgbClr val="FFFFFF"/>
                </a:solidFill>
                <a:latin typeface="DM Sans Bold"/>
                <a:ea typeface="DM Sans Bold"/>
                <a:cs typeface="DM Sans Bold"/>
                <a:sym typeface="DM Sans Bold"/>
              </a:rPr>
              <a:t>What do we do?</a:t>
            </a:r>
          </a:p>
        </p:txBody>
      </p:sp>
    </p:spTree>
  </p:cSld>
  <p:clrMapOvr>
    <a:masterClrMapping/>
  </p:clrMapOvr>
</p:sld>
</file>

<file path=ppt/slides/slide60.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MANAGED SERVICE ACCOUNTS</a:t>
            </a:r>
          </a:p>
        </p:txBody>
      </p:sp>
      <p:sp>
        <p:nvSpPr>
          <p:cNvPr name="TextBox 6" id="6"/>
          <p:cNvSpPr txBox="true"/>
          <p:nvPr/>
        </p:nvSpPr>
        <p:spPr>
          <a:xfrm rot="0">
            <a:off x="1076985" y="1698019"/>
            <a:ext cx="8466267" cy="45967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767676"/>
                </a:solidFill>
                <a:latin typeface="DM Sans"/>
                <a:ea typeface="DM Sans"/>
                <a:cs typeface="DM Sans"/>
                <a:sym typeface="DM Sans"/>
              </a:rPr>
              <a:t>sMSAs = Standalone MSAs</a:t>
            </a:r>
          </a:p>
          <a:p>
            <a:pPr algn="l" marL="1036320" indent="-345440" lvl="2">
              <a:lnSpc>
                <a:spcPts val="3359"/>
              </a:lnSpc>
              <a:buFont typeface="Arial"/>
              <a:buChar char="⚬"/>
            </a:pPr>
            <a:r>
              <a:rPr lang="en-US" sz="2400">
                <a:solidFill>
                  <a:srgbClr val="767676"/>
                </a:solidFill>
                <a:latin typeface="DM Sans"/>
                <a:ea typeface="DM Sans"/>
                <a:cs typeface="DM Sans"/>
                <a:sym typeface="DM Sans"/>
              </a:rPr>
              <a:t>Don’t use</a:t>
            </a:r>
          </a:p>
          <a:p>
            <a:pPr algn="l">
              <a:lnSpc>
                <a:spcPts val="3359"/>
              </a:lnSpc>
            </a:pPr>
          </a:p>
          <a:p>
            <a:pPr algn="l" marL="518160" indent="-259080" lvl="1">
              <a:lnSpc>
                <a:spcPts val="3359"/>
              </a:lnSpc>
              <a:buFont typeface="Arial"/>
              <a:buChar char="•"/>
            </a:pPr>
            <a:r>
              <a:rPr lang="en-US" sz="2400">
                <a:solidFill>
                  <a:srgbClr val="FFFFFF"/>
                </a:solidFill>
                <a:latin typeface="DM Sans"/>
                <a:ea typeface="DM Sans"/>
                <a:cs typeface="DM Sans"/>
                <a:sym typeface="DM Sans"/>
              </a:rPr>
              <a:t>gMSAs = Group Managed Service Accounts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Manage their own password + SPN</a:t>
            </a:r>
          </a:p>
          <a:p>
            <a:pPr algn="l" marL="1036320" indent="-345440" lvl="2">
              <a:lnSpc>
                <a:spcPts val="3359"/>
              </a:lnSpc>
              <a:buFont typeface="Arial"/>
              <a:buChar char="⚬"/>
            </a:pPr>
            <a:r>
              <a:rPr lang="en-US" sz="2400">
                <a:solidFill>
                  <a:srgbClr val="FFFFFF"/>
                </a:solidFill>
                <a:latin typeface="DM Sans"/>
                <a:ea typeface="DM Sans"/>
                <a:cs typeface="DM Sans"/>
                <a:sym typeface="DM Sans"/>
              </a:rPr>
              <a:t>Non-Interactive</a:t>
            </a:r>
          </a:p>
          <a:p>
            <a:pPr algn="l" marL="1036320" indent="-345440" lvl="2">
              <a:lnSpc>
                <a:spcPts val="3359"/>
              </a:lnSpc>
              <a:buFont typeface="Arial"/>
              <a:buChar char="⚬"/>
            </a:pPr>
            <a:r>
              <a:rPr lang="en-US" sz="2400">
                <a:solidFill>
                  <a:srgbClr val="FFFFFF"/>
                </a:solidFill>
                <a:latin typeface="DM Sans"/>
                <a:ea typeface="DM Sans"/>
                <a:cs typeface="DM Sans"/>
                <a:sym typeface="DM Sans"/>
              </a:rPr>
              <a:t>Multi-System</a:t>
            </a:r>
          </a:p>
          <a:p>
            <a:pPr algn="l" marL="1036320" indent="-345440" lvl="2">
              <a:lnSpc>
                <a:spcPts val="3359"/>
              </a:lnSpc>
              <a:buFont typeface="Arial"/>
              <a:buChar char="⚬"/>
            </a:pPr>
            <a:r>
              <a:rPr lang="en-US" sz="2400">
                <a:solidFill>
                  <a:srgbClr val="FFFFFF"/>
                </a:solidFill>
                <a:latin typeface="DM Sans"/>
                <a:ea typeface="DM Sans"/>
                <a:cs typeface="DM Sans"/>
                <a:sym typeface="DM Sans"/>
              </a:rPr>
              <a:t>Harder to Kerberost</a:t>
            </a:r>
          </a:p>
          <a:p>
            <a:pPr algn="l" marL="1036320" indent="-345440" lvl="2">
              <a:lnSpc>
                <a:spcPts val="3359"/>
              </a:lnSpc>
              <a:buFont typeface="Arial"/>
              <a:buChar char="⚬"/>
            </a:pPr>
            <a:r>
              <a:rPr lang="en-US" sz="2400">
                <a:solidFill>
                  <a:srgbClr val="FFFFFF"/>
                </a:solidFill>
                <a:latin typeface="DM Sans"/>
                <a:ea typeface="DM Sans"/>
                <a:cs typeface="DM Sans"/>
                <a:sym typeface="DM Sans"/>
              </a:rPr>
              <a:t>Windows Only</a:t>
            </a:r>
          </a:p>
          <a:p>
            <a:pPr algn="l">
              <a:lnSpc>
                <a:spcPts val="3359"/>
              </a:lnSpc>
            </a:pPr>
          </a:p>
          <a:p>
            <a:pPr algn="l">
              <a:lnSpc>
                <a:spcPts val="3359"/>
              </a:lnSpc>
              <a:spcBef>
                <a:spcPct val="0"/>
              </a:spcBef>
            </a:pPr>
          </a:p>
        </p:txBody>
      </p:sp>
    </p:spTree>
  </p:cSld>
  <p:clrMapOvr>
    <a:masterClrMapping/>
  </p:clrMapOvr>
</p:sld>
</file>

<file path=ppt/slides/slide61.xml><?xml version="1.0" encoding="utf-8"?>
<p:sld xmlns:p="http://schemas.openxmlformats.org/presentationml/2006/main" xmlns:a="http://schemas.openxmlformats.org/drawingml/2006/main">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3" id="3"/>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4" id="4"/>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5" id="5"/>
          <p:cNvSpPr txBox="true"/>
          <p:nvPr/>
        </p:nvSpPr>
        <p:spPr>
          <a:xfrm rot="0">
            <a:off x="1076985" y="109537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MANAGED SERVICE ACCOUNTS</a:t>
            </a:r>
          </a:p>
        </p:txBody>
      </p:sp>
      <p:sp>
        <p:nvSpPr>
          <p:cNvPr name="TextBox 6" id="6"/>
          <p:cNvSpPr txBox="true"/>
          <p:nvPr/>
        </p:nvSpPr>
        <p:spPr>
          <a:xfrm rot="0">
            <a:off x="1076985" y="1698019"/>
            <a:ext cx="8466267" cy="71113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737373"/>
                </a:solidFill>
                <a:latin typeface="DM Sans"/>
                <a:ea typeface="DM Sans"/>
                <a:cs typeface="DM Sans"/>
                <a:sym typeface="DM Sans"/>
              </a:rPr>
              <a:t>sMSAs = Standalone MSAs</a:t>
            </a:r>
          </a:p>
          <a:p>
            <a:pPr algn="l" marL="1036320" indent="-345440" lvl="2">
              <a:lnSpc>
                <a:spcPts val="3359"/>
              </a:lnSpc>
              <a:buFont typeface="Arial"/>
              <a:buChar char="⚬"/>
            </a:pPr>
            <a:r>
              <a:rPr lang="en-US" sz="2400">
                <a:solidFill>
                  <a:srgbClr val="737373"/>
                </a:solidFill>
                <a:latin typeface="DM Sans"/>
                <a:ea typeface="DM Sans"/>
                <a:cs typeface="DM Sans"/>
                <a:sym typeface="DM Sans"/>
              </a:rPr>
              <a:t>Don’t use</a:t>
            </a:r>
          </a:p>
          <a:p>
            <a:pPr algn="l">
              <a:lnSpc>
                <a:spcPts val="3359"/>
              </a:lnSpc>
            </a:pPr>
          </a:p>
          <a:p>
            <a:pPr algn="l" marL="518160" indent="-259080" lvl="1">
              <a:lnSpc>
                <a:spcPts val="3359"/>
              </a:lnSpc>
              <a:buFont typeface="Arial"/>
              <a:buChar char="•"/>
            </a:pPr>
            <a:r>
              <a:rPr lang="en-US" sz="2400">
                <a:solidFill>
                  <a:srgbClr val="737373"/>
                </a:solidFill>
                <a:latin typeface="DM Sans"/>
                <a:ea typeface="DM Sans"/>
                <a:cs typeface="DM Sans"/>
                <a:sym typeface="DM Sans"/>
              </a:rPr>
              <a:t>gMSAs = Group Managed Service Accounts</a:t>
            </a:r>
          </a:p>
          <a:p>
            <a:pPr algn="l" marL="1036320" indent="-345440" lvl="2">
              <a:lnSpc>
                <a:spcPts val="3359"/>
              </a:lnSpc>
              <a:buFont typeface="Arial"/>
              <a:buChar char="⚬"/>
            </a:pPr>
            <a:r>
              <a:rPr lang="en-US" sz="2400">
                <a:solidFill>
                  <a:srgbClr val="737373"/>
                </a:solidFill>
                <a:latin typeface="DM Sans"/>
                <a:ea typeface="DM Sans"/>
                <a:cs typeface="DM Sans"/>
                <a:sym typeface="DM Sans"/>
              </a:rPr>
              <a:t>Manage their own password + SPN</a:t>
            </a:r>
          </a:p>
          <a:p>
            <a:pPr algn="l" marL="1036320" indent="-345440" lvl="2">
              <a:lnSpc>
                <a:spcPts val="3359"/>
              </a:lnSpc>
              <a:buFont typeface="Arial"/>
              <a:buChar char="⚬"/>
            </a:pPr>
            <a:r>
              <a:rPr lang="en-US" sz="2400">
                <a:solidFill>
                  <a:srgbClr val="737373"/>
                </a:solidFill>
                <a:latin typeface="DM Sans"/>
                <a:ea typeface="DM Sans"/>
                <a:cs typeface="DM Sans"/>
                <a:sym typeface="DM Sans"/>
              </a:rPr>
              <a:t>Non-Interactive</a:t>
            </a:r>
          </a:p>
          <a:p>
            <a:pPr algn="l" marL="1036320" indent="-345440" lvl="2">
              <a:lnSpc>
                <a:spcPts val="3359"/>
              </a:lnSpc>
              <a:buFont typeface="Arial"/>
              <a:buChar char="⚬"/>
            </a:pPr>
            <a:r>
              <a:rPr lang="en-US" sz="2400">
                <a:solidFill>
                  <a:srgbClr val="737373"/>
                </a:solidFill>
                <a:latin typeface="DM Sans"/>
                <a:ea typeface="DM Sans"/>
                <a:cs typeface="DM Sans"/>
                <a:sym typeface="DM Sans"/>
              </a:rPr>
              <a:t>Multi-System</a:t>
            </a:r>
          </a:p>
          <a:p>
            <a:pPr algn="l" marL="1036320" indent="-345440" lvl="2">
              <a:lnSpc>
                <a:spcPts val="3359"/>
              </a:lnSpc>
              <a:buFont typeface="Arial"/>
              <a:buChar char="⚬"/>
            </a:pPr>
            <a:r>
              <a:rPr lang="en-US" sz="2400">
                <a:solidFill>
                  <a:srgbClr val="737373"/>
                </a:solidFill>
                <a:latin typeface="DM Sans"/>
                <a:ea typeface="DM Sans"/>
                <a:cs typeface="DM Sans"/>
                <a:sym typeface="DM Sans"/>
              </a:rPr>
              <a:t>Harder to Kerberost</a:t>
            </a:r>
          </a:p>
          <a:p>
            <a:pPr algn="l" marL="1036320" indent="-345440" lvl="2">
              <a:lnSpc>
                <a:spcPts val="3359"/>
              </a:lnSpc>
              <a:buFont typeface="Arial"/>
              <a:buChar char="⚬"/>
            </a:pPr>
            <a:r>
              <a:rPr lang="en-US" sz="2400">
                <a:solidFill>
                  <a:srgbClr val="737373"/>
                </a:solidFill>
                <a:latin typeface="DM Sans"/>
                <a:ea typeface="DM Sans"/>
                <a:cs typeface="DM Sans"/>
                <a:sym typeface="DM Sans"/>
              </a:rPr>
              <a:t>Windows Only</a:t>
            </a:r>
          </a:p>
          <a:p>
            <a:pPr algn="l">
              <a:lnSpc>
                <a:spcPts val="3359"/>
              </a:lnSpc>
            </a:pPr>
          </a:p>
          <a:p>
            <a:pPr algn="l" marL="518160" indent="-259080" lvl="1">
              <a:lnSpc>
                <a:spcPts val="3359"/>
              </a:lnSpc>
              <a:buFont typeface="Arial"/>
              <a:buChar char="•"/>
            </a:pPr>
            <a:r>
              <a:rPr lang="en-US" sz="2400">
                <a:solidFill>
                  <a:srgbClr val="FFFFFF"/>
                </a:solidFill>
                <a:latin typeface="DM Sans"/>
                <a:ea typeface="DM Sans"/>
                <a:cs typeface="DM Sans"/>
                <a:sym typeface="DM Sans"/>
              </a:rPr>
              <a:t>dMSAs = Delegated Managed Service Accounts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New in 2025</a:t>
            </a:r>
          </a:p>
          <a:p>
            <a:pPr algn="l" marL="1036320" indent="-345440" lvl="2">
              <a:lnSpc>
                <a:spcPts val="3359"/>
              </a:lnSpc>
              <a:buFont typeface="Arial"/>
              <a:buChar char="⚬"/>
            </a:pPr>
            <a:r>
              <a:rPr lang="en-US" sz="2400">
                <a:solidFill>
                  <a:srgbClr val="FFFFFF"/>
                </a:solidFill>
                <a:latin typeface="DM Sans"/>
                <a:ea typeface="DM Sans"/>
                <a:cs typeface="DM Sans"/>
                <a:sym typeface="DM Sans"/>
              </a:rPr>
              <a:t>Link old Service Accounts with dMSA = gMSA for unsupported apps.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BadSuccessor =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Server 2025 = Kind of sketchy still</a:t>
            </a:r>
          </a:p>
          <a:p>
            <a:pPr algn="l">
              <a:lnSpc>
                <a:spcPts val="3359"/>
              </a:lnSpc>
              <a:spcBef>
                <a:spcPct val="0"/>
              </a:spcBef>
            </a:pP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76985" y="2157730"/>
            <a:ext cx="6553430" cy="5122497"/>
          </a:xfrm>
          <a:custGeom>
            <a:avLst/>
            <a:gdLst/>
            <a:ahLst/>
            <a:cxnLst/>
            <a:rect r="r" b="b" t="t" l="l"/>
            <a:pathLst>
              <a:path h="5122497" w="6553430">
                <a:moveTo>
                  <a:pt x="0" y="0"/>
                </a:moveTo>
                <a:lnTo>
                  <a:pt x="6553429" y="0"/>
                </a:lnTo>
                <a:lnTo>
                  <a:pt x="6553429" y="5122498"/>
                </a:lnTo>
                <a:lnTo>
                  <a:pt x="0" y="5122498"/>
                </a:lnTo>
                <a:lnTo>
                  <a:pt x="0" y="0"/>
                </a:lnTo>
                <a:close/>
              </a:path>
            </a:pathLst>
          </a:custGeom>
          <a:blipFill>
            <a:blip r:embed="rId3"/>
            <a:stretch>
              <a:fillRect l="0" t="0" r="0" b="0"/>
            </a:stretch>
          </a:blipFill>
          <a:ln w="38100" cap="sq">
            <a:solidFill>
              <a:srgbClr val="38B6FF"/>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9144000" y="1095375"/>
            <a:ext cx="7068808" cy="1062355"/>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LOCAL ADMINISTRATOR ACCOUNT HARDENING</a:t>
            </a:r>
          </a:p>
        </p:txBody>
      </p:sp>
      <p:sp>
        <p:nvSpPr>
          <p:cNvPr name="TextBox 7" id="7"/>
          <p:cNvSpPr txBox="true"/>
          <p:nvPr/>
        </p:nvSpPr>
        <p:spPr>
          <a:xfrm rot="0">
            <a:off x="9144000" y="2280271"/>
            <a:ext cx="8056463" cy="7111365"/>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DM Sans"/>
                <a:ea typeface="DM Sans"/>
                <a:cs typeface="DM Sans"/>
                <a:sym typeface="DM Sans"/>
              </a:rPr>
              <a:t>LAPS = Local Administrator Password Solution</a:t>
            </a:r>
          </a:p>
          <a:p>
            <a:pPr algn="l" marL="1036320" indent="-345440" lvl="2">
              <a:lnSpc>
                <a:spcPts val="3359"/>
              </a:lnSpc>
              <a:buFont typeface="Arial"/>
              <a:buChar char="⚬"/>
            </a:pPr>
            <a:r>
              <a:rPr lang="en-US" sz="2400">
                <a:solidFill>
                  <a:srgbClr val="FFFFFF"/>
                </a:solidFill>
                <a:latin typeface="DM Sans"/>
                <a:ea typeface="DM Sans"/>
                <a:cs typeface="DM Sans"/>
                <a:sym typeface="DM Sans"/>
              </a:rPr>
              <a:t>Legacy = Okay</a:t>
            </a:r>
          </a:p>
          <a:p>
            <a:pPr algn="l" marL="1036320" indent="-345440" lvl="2">
              <a:lnSpc>
                <a:spcPts val="3359"/>
              </a:lnSpc>
              <a:buFont typeface="Arial"/>
              <a:buChar char="⚬"/>
            </a:pPr>
            <a:r>
              <a:rPr lang="en-US" sz="2400">
                <a:solidFill>
                  <a:srgbClr val="FFFFFF"/>
                </a:solidFill>
                <a:latin typeface="DM Sans"/>
                <a:ea typeface="DM Sans"/>
                <a:cs typeface="DM Sans"/>
                <a:sym typeface="DM Sans"/>
              </a:rPr>
              <a:t>Windows LAPS = Great! (W10/2016+)</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Requires Schema Update (not scary)</a:t>
            </a:r>
          </a:p>
          <a:p>
            <a:pPr algn="l" marL="1036320" indent="-345440" lvl="2">
              <a:lnSpc>
                <a:spcPts val="3359"/>
              </a:lnSpc>
              <a:buFont typeface="Arial"/>
              <a:buChar char="⚬"/>
            </a:pPr>
            <a:r>
              <a:rPr lang="en-US" sz="2400">
                <a:solidFill>
                  <a:srgbClr val="FFFFFF"/>
                </a:solidFill>
                <a:latin typeface="DM Sans"/>
                <a:ea typeface="DM Sans"/>
                <a:cs typeface="DM Sans"/>
                <a:sym typeface="DM Sans"/>
              </a:rPr>
              <a:t>ONLY the SID-500 Administrator</a:t>
            </a:r>
          </a:p>
          <a:p>
            <a:pPr algn="l">
              <a:lnSpc>
                <a:spcPts val="3359"/>
              </a:lnSpc>
            </a:pPr>
          </a:p>
          <a:p>
            <a:pPr algn="l" marL="518160" indent="-259080" lvl="1">
              <a:lnSpc>
                <a:spcPts val="3359"/>
              </a:lnSpc>
              <a:buFont typeface="Arial"/>
              <a:buChar char="•"/>
            </a:pPr>
            <a:r>
              <a:rPr lang="en-US" sz="2400">
                <a:solidFill>
                  <a:srgbClr val="FFFFFF"/>
                </a:solidFill>
                <a:latin typeface="DM Sans"/>
                <a:ea typeface="DM Sans"/>
                <a:cs typeface="DM Sans"/>
                <a:sym typeface="DM Sans"/>
              </a:rPr>
              <a:t>Local Administrator Group Hardening</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Remove Domain Admins and domain BUILTIN\Administrators from local admins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Remove users from Administrators wherever possible.</a:t>
            </a:r>
          </a:p>
          <a:p>
            <a:pPr algn="l" marL="1554480" indent="-388620" lvl="3">
              <a:lnSpc>
                <a:spcPts val="3359"/>
              </a:lnSpc>
              <a:buFont typeface="Arial"/>
              <a:buChar char="￭"/>
            </a:pPr>
            <a:r>
              <a:rPr lang="en-US" sz="2400">
                <a:solidFill>
                  <a:srgbClr val="FFFFFF"/>
                </a:solidFill>
                <a:latin typeface="DM Sans"/>
                <a:ea typeface="DM Sans"/>
                <a:cs typeface="DM Sans"/>
                <a:sym typeface="DM Sans"/>
              </a:rPr>
              <a:t>Hard but worth it.</a:t>
            </a:r>
          </a:p>
          <a:p>
            <a:pPr algn="l">
              <a:lnSpc>
                <a:spcPts val="3359"/>
              </a:lnSpc>
            </a:pPr>
          </a:p>
          <a:p>
            <a:pPr algn="l" marL="518160" indent="-259080" lvl="1">
              <a:lnSpc>
                <a:spcPts val="3359"/>
              </a:lnSpc>
              <a:buFont typeface="Arial"/>
              <a:buChar char="•"/>
            </a:pPr>
            <a:r>
              <a:rPr lang="en-US" sz="2400">
                <a:solidFill>
                  <a:srgbClr val="FFFFFF"/>
                </a:solidFill>
                <a:latin typeface="DM Sans"/>
                <a:ea typeface="DM Sans"/>
                <a:cs typeface="DM Sans"/>
                <a:sym typeface="DM Sans"/>
              </a:rPr>
              <a:t>Lithnet RapidLAPS + Lithnet Access Manager</a:t>
            </a:r>
          </a:p>
          <a:p>
            <a:pPr algn="l" marL="1036320" indent="-345440" lvl="2">
              <a:lnSpc>
                <a:spcPts val="3359"/>
              </a:lnSpc>
              <a:buFont typeface="Arial"/>
              <a:buChar char="⚬"/>
            </a:pPr>
            <a:r>
              <a:rPr lang="en-US" sz="2400">
                <a:solidFill>
                  <a:srgbClr val="FFFFFF"/>
                </a:solidFill>
                <a:latin typeface="DM Sans"/>
                <a:ea typeface="DM Sans"/>
                <a:cs typeface="DM Sans"/>
                <a:sym typeface="DM Sans"/>
              </a:rPr>
              <a:t>Freemium</a:t>
            </a:r>
          </a:p>
          <a:p>
            <a:pPr algn="l" marL="1036320" indent="-345440" lvl="2">
              <a:lnSpc>
                <a:spcPts val="3359"/>
              </a:lnSpc>
              <a:buFont typeface="Arial"/>
              <a:buChar char="⚬"/>
            </a:pPr>
            <a:r>
              <a:rPr lang="en-US" sz="2400">
                <a:solidFill>
                  <a:srgbClr val="FFFFFF"/>
                </a:solidFill>
                <a:latin typeface="DM Sans"/>
                <a:ea typeface="DM Sans"/>
                <a:cs typeface="DM Sans"/>
                <a:sym typeface="DM Sans"/>
              </a:rPr>
              <a:t>Include some features not in Microsoft’s offering</a:t>
            </a:r>
          </a:p>
          <a:p>
            <a:pPr algn="l">
              <a:lnSpc>
                <a:spcPts val="3359"/>
              </a:lnSpc>
              <a:spcBef>
                <a:spcPct val="0"/>
              </a:spcBef>
            </a:pP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907543" y="2700066"/>
            <a:ext cx="5383837" cy="4886868"/>
          </a:xfrm>
          <a:custGeom>
            <a:avLst/>
            <a:gdLst/>
            <a:ahLst/>
            <a:cxnLst/>
            <a:rect r="r" b="b" t="t" l="l"/>
            <a:pathLst>
              <a:path h="4886868" w="5383837">
                <a:moveTo>
                  <a:pt x="0" y="0"/>
                </a:moveTo>
                <a:lnTo>
                  <a:pt x="5383837" y="0"/>
                </a:lnTo>
                <a:lnTo>
                  <a:pt x="5383837" y="4886868"/>
                </a:lnTo>
                <a:lnTo>
                  <a:pt x="0" y="4886868"/>
                </a:lnTo>
                <a:lnTo>
                  <a:pt x="0" y="0"/>
                </a:lnTo>
                <a:close/>
              </a:path>
            </a:pathLst>
          </a:custGeom>
          <a:blipFill>
            <a:blip r:embed="rId3"/>
            <a:stretch>
              <a:fillRect l="0" t="0" r="0" b="0"/>
            </a:stretch>
          </a:blipFill>
          <a:ln w="38100" cap="sq">
            <a:solidFill>
              <a:srgbClr val="2F7BD1"/>
            </a:solidFill>
            <a:prstDash val="solid"/>
            <a:miter/>
          </a:ln>
        </p:spPr>
      </p:sp>
      <p:sp>
        <p:nvSpPr>
          <p:cNvPr name="TextBox 4" id="4"/>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5" id="5"/>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6" id="6"/>
          <p:cNvSpPr txBox="true"/>
          <p:nvPr/>
        </p:nvSpPr>
        <p:spPr>
          <a:xfrm rot="0">
            <a:off x="9202837" y="790455"/>
            <a:ext cx="706880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GETTING STARTED WITH TIERING</a:t>
            </a:r>
          </a:p>
        </p:txBody>
      </p:sp>
      <p:sp>
        <p:nvSpPr>
          <p:cNvPr name="TextBox 7" id="7"/>
          <p:cNvSpPr txBox="true"/>
          <p:nvPr/>
        </p:nvSpPr>
        <p:spPr>
          <a:xfrm rot="0">
            <a:off x="9202837" y="2021431"/>
            <a:ext cx="8056463" cy="7125653"/>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DM Sans"/>
                <a:ea typeface="DM Sans"/>
                <a:cs typeface="DM Sans"/>
                <a:sym typeface="DM Sans"/>
              </a:rPr>
              <a:t>Dedicated Tier 0 / Control Plane Admins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No email. No Web. Just Admin stuff. </a:t>
            </a:r>
          </a:p>
          <a:p>
            <a:pPr algn="l" marL="518160" indent="-259080" lvl="1">
              <a:lnSpc>
                <a:spcPts val="3359"/>
              </a:lnSpc>
              <a:buFont typeface="Arial"/>
              <a:buChar char="•"/>
            </a:pPr>
            <a:r>
              <a:rPr lang="en-US" sz="2400">
                <a:solidFill>
                  <a:srgbClr val="FFFFFF"/>
                </a:solidFill>
                <a:latin typeface="DM Sans"/>
                <a:ea typeface="DM Sans"/>
                <a:cs typeface="DM Sans"/>
                <a:sym typeface="DM Sans"/>
              </a:rPr>
              <a:t>Isolate Tier 0 Systems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Remove dependencies. Remove system and admin access not in Tier 0</a:t>
            </a:r>
          </a:p>
          <a:p>
            <a:pPr algn="l" marL="518160" indent="-259080" lvl="1">
              <a:lnSpc>
                <a:spcPts val="3359"/>
              </a:lnSpc>
              <a:buFont typeface="Arial"/>
              <a:buChar char="•"/>
            </a:pPr>
            <a:r>
              <a:rPr lang="en-US" sz="2400">
                <a:solidFill>
                  <a:srgbClr val="FFFFFF"/>
                </a:solidFill>
                <a:latin typeface="DM Sans"/>
                <a:ea typeface="DM Sans"/>
                <a:cs typeface="DM Sans"/>
                <a:sym typeface="DM Sans"/>
              </a:rPr>
              <a:t>Deploy Secure Jump Hosts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Yes. Jump Hosts.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PAWs = Great + Massive Project</a:t>
            </a:r>
          </a:p>
          <a:p>
            <a:pPr algn="l" marL="1036320" indent="-345440" lvl="2">
              <a:lnSpc>
                <a:spcPts val="3359"/>
              </a:lnSpc>
              <a:buFont typeface="Arial"/>
              <a:buChar char="⚬"/>
            </a:pPr>
            <a:r>
              <a:rPr lang="en-US" sz="2400">
                <a:solidFill>
                  <a:srgbClr val="FFFFFF"/>
                </a:solidFill>
                <a:latin typeface="DM Sans"/>
                <a:ea typeface="DM Sans"/>
                <a:cs typeface="DM Sans"/>
                <a:sym typeface="DM Sans"/>
              </a:rPr>
              <a:t>Start somewhere.</a:t>
            </a:r>
          </a:p>
          <a:p>
            <a:pPr algn="l" marL="518160" indent="-259080" lvl="1">
              <a:lnSpc>
                <a:spcPts val="3359"/>
              </a:lnSpc>
              <a:buFont typeface="Arial"/>
              <a:buChar char="•"/>
            </a:pPr>
            <a:r>
              <a:rPr lang="en-US" sz="2400">
                <a:solidFill>
                  <a:srgbClr val="FFFFFF"/>
                </a:solidFill>
                <a:latin typeface="DM Sans"/>
                <a:ea typeface="DM Sans"/>
                <a:cs typeface="DM Sans"/>
                <a:sym typeface="DM Sans"/>
              </a:rPr>
              <a:t>T0 Admins in Protected Users group</a:t>
            </a:r>
          </a:p>
          <a:p>
            <a:pPr algn="l" marL="1036320" indent="-345440" lvl="2">
              <a:lnSpc>
                <a:spcPts val="3359"/>
              </a:lnSpc>
              <a:buFont typeface="Arial"/>
              <a:buChar char="⚬"/>
            </a:pPr>
            <a:r>
              <a:rPr lang="en-US" sz="2400">
                <a:solidFill>
                  <a:srgbClr val="FFFFFF"/>
                </a:solidFill>
                <a:latin typeface="DM Sans"/>
                <a:ea typeface="DM Sans"/>
                <a:cs typeface="DM Sans"/>
                <a:sym typeface="DM Sans"/>
              </a:rPr>
              <a:t>Lots of security. Some risk.</a:t>
            </a:r>
          </a:p>
          <a:p>
            <a:pPr algn="l" marL="1036320" indent="-345440" lvl="2">
              <a:lnSpc>
                <a:spcPts val="3359"/>
              </a:lnSpc>
              <a:buFont typeface="Arial"/>
              <a:buChar char="⚬"/>
            </a:pPr>
            <a:r>
              <a:rPr lang="en-US" sz="2400">
                <a:solidFill>
                  <a:srgbClr val="FFFFFF"/>
                </a:solidFill>
                <a:latin typeface="DM Sans"/>
                <a:ea typeface="DM Sans"/>
                <a:cs typeface="DM Sans"/>
                <a:sym typeface="DM Sans"/>
              </a:rPr>
              <a:t>Roll out slowly.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No SID-500, Computers, or Services</a:t>
            </a:r>
          </a:p>
          <a:p>
            <a:pPr algn="l" marL="518160" indent="-259080" lvl="1">
              <a:lnSpc>
                <a:spcPts val="3359"/>
              </a:lnSpc>
              <a:buFont typeface="Arial"/>
              <a:buChar char="•"/>
            </a:pPr>
            <a:r>
              <a:rPr lang="en-US" sz="2400">
                <a:solidFill>
                  <a:srgbClr val="FFFFFF"/>
                </a:solidFill>
                <a:latin typeface="DM Sans"/>
                <a:ea typeface="DM Sans"/>
                <a:cs typeface="DM Sans"/>
                <a:sym typeface="DM Sans"/>
              </a:rPr>
              <a:t>T0 Password Policy</a:t>
            </a:r>
          </a:p>
          <a:p>
            <a:pPr algn="l" marL="1036320" indent="-345440" lvl="2">
              <a:lnSpc>
                <a:spcPts val="3359"/>
              </a:lnSpc>
              <a:buFont typeface="Arial"/>
              <a:buChar char="⚬"/>
            </a:pPr>
            <a:r>
              <a:rPr lang="en-US" sz="2400">
                <a:solidFill>
                  <a:srgbClr val="FFFFFF"/>
                </a:solidFill>
                <a:latin typeface="DM Sans"/>
                <a:ea typeface="DM Sans"/>
                <a:cs typeface="DM Sans"/>
                <a:sym typeface="DM Sans"/>
              </a:rPr>
              <a:t>Complexity + Length + MFA (if possible) </a:t>
            </a:r>
          </a:p>
          <a:p>
            <a:pPr algn="l" marL="1036320" indent="-345440" lvl="2">
              <a:lnSpc>
                <a:spcPts val="3359"/>
              </a:lnSpc>
              <a:buFont typeface="Arial"/>
              <a:buChar char="⚬"/>
            </a:pPr>
            <a:r>
              <a:rPr lang="en-US" sz="2400">
                <a:solidFill>
                  <a:srgbClr val="FFFFFF"/>
                </a:solidFill>
                <a:latin typeface="DM Sans"/>
                <a:ea typeface="DM Sans"/>
                <a:cs typeface="DM Sans"/>
                <a:sym typeface="DM Sans"/>
              </a:rPr>
              <a:t>Service Accounts too (no Protected Users)</a:t>
            </a:r>
          </a:p>
          <a:p>
            <a:pPr algn="l" marL="1036320" indent="-345440" lvl="2">
              <a:lnSpc>
                <a:spcPts val="3359"/>
              </a:lnSpc>
              <a:buFont typeface="Arial"/>
              <a:buChar char="⚬"/>
            </a:pPr>
            <a:r>
              <a:rPr lang="en-US" sz="2400">
                <a:solidFill>
                  <a:srgbClr val="FFFFFF"/>
                </a:solidFill>
                <a:latin typeface="DM Sans"/>
                <a:ea typeface="DM Sans"/>
                <a:cs typeface="DM Sans"/>
                <a:sym typeface="DM Sans"/>
              </a:rPr>
              <a:t>180 day password age</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3" id="3"/>
          <p:cNvSpPr/>
          <p:nvPr/>
        </p:nvSpPr>
        <p:spPr>
          <a:xfrm flipH="false" flipV="false" rot="0">
            <a:off x="1028700" y="1028700"/>
            <a:ext cx="8237067" cy="3840533"/>
          </a:xfrm>
          <a:custGeom>
            <a:avLst/>
            <a:gdLst/>
            <a:ahLst/>
            <a:cxnLst/>
            <a:rect r="r" b="b" t="t" l="l"/>
            <a:pathLst>
              <a:path h="3840533" w="8237067">
                <a:moveTo>
                  <a:pt x="0" y="0"/>
                </a:moveTo>
                <a:lnTo>
                  <a:pt x="8237067" y="0"/>
                </a:lnTo>
                <a:lnTo>
                  <a:pt x="8237067" y="3840533"/>
                </a:lnTo>
                <a:lnTo>
                  <a:pt x="0" y="3840533"/>
                </a:lnTo>
                <a:lnTo>
                  <a:pt x="0" y="0"/>
                </a:lnTo>
                <a:close/>
              </a:path>
            </a:pathLst>
          </a:custGeom>
          <a:blipFill>
            <a:blip r:embed="rId3"/>
            <a:stretch>
              <a:fillRect l="0" t="0" r="0" b="0"/>
            </a:stretch>
          </a:blipFill>
        </p:spPr>
      </p:sp>
      <p:sp>
        <p:nvSpPr>
          <p:cNvPr name="Freeform 4" id="4"/>
          <p:cNvSpPr/>
          <p:nvPr/>
        </p:nvSpPr>
        <p:spPr>
          <a:xfrm flipH="false" flipV="false" rot="0">
            <a:off x="1028700" y="5358461"/>
            <a:ext cx="8237067" cy="3639899"/>
          </a:xfrm>
          <a:custGeom>
            <a:avLst/>
            <a:gdLst/>
            <a:ahLst/>
            <a:cxnLst/>
            <a:rect r="r" b="b" t="t" l="l"/>
            <a:pathLst>
              <a:path h="3639899" w="8237067">
                <a:moveTo>
                  <a:pt x="0" y="0"/>
                </a:moveTo>
                <a:lnTo>
                  <a:pt x="8237067" y="0"/>
                </a:lnTo>
                <a:lnTo>
                  <a:pt x="8237067" y="3639900"/>
                </a:lnTo>
                <a:lnTo>
                  <a:pt x="0" y="3639900"/>
                </a:lnTo>
                <a:lnTo>
                  <a:pt x="0" y="0"/>
                </a:lnTo>
                <a:close/>
              </a:path>
            </a:pathLst>
          </a:custGeom>
          <a:blipFill>
            <a:blip r:embed="rId4"/>
            <a:stretch>
              <a:fillRect l="0" t="0" r="0" b="-9189"/>
            </a:stretch>
          </a:blipFill>
        </p:spPr>
      </p:sp>
      <p:sp>
        <p:nvSpPr>
          <p:cNvPr name="TextBox 5" id="5"/>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6" id="6"/>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7" id="7"/>
          <p:cNvSpPr txBox="true"/>
          <p:nvPr/>
        </p:nvSpPr>
        <p:spPr>
          <a:xfrm rot="0">
            <a:off x="10382539" y="1095375"/>
            <a:ext cx="6033728" cy="538480"/>
          </a:xfrm>
          <a:prstGeom prst="rect">
            <a:avLst/>
          </a:prstGeom>
        </p:spPr>
        <p:txBody>
          <a:bodyPr anchor="t" rtlCol="false" tIns="0" lIns="0" bIns="0" rIns="0">
            <a:spAutoFit/>
          </a:bodyPr>
          <a:lstStyle/>
          <a:p>
            <a:pPr algn="l" marL="0" indent="0" lvl="0">
              <a:lnSpc>
                <a:spcPts val="4160"/>
              </a:lnSpc>
            </a:pPr>
            <a:r>
              <a:rPr lang="en-US" sz="4000">
                <a:solidFill>
                  <a:srgbClr val="38B6FF"/>
                </a:solidFill>
                <a:latin typeface="Anton"/>
                <a:ea typeface="Anton"/>
                <a:cs typeface="Anton"/>
                <a:sym typeface="Anton"/>
              </a:rPr>
              <a:t>FINDING TIER 0</a:t>
            </a:r>
          </a:p>
        </p:txBody>
      </p:sp>
      <p:sp>
        <p:nvSpPr>
          <p:cNvPr name="TextBox 8" id="8"/>
          <p:cNvSpPr txBox="true"/>
          <p:nvPr/>
        </p:nvSpPr>
        <p:spPr>
          <a:xfrm rot="0">
            <a:off x="9879199" y="2397683"/>
            <a:ext cx="7718893" cy="5434485"/>
          </a:xfrm>
          <a:prstGeom prst="rect">
            <a:avLst/>
          </a:prstGeom>
        </p:spPr>
        <p:txBody>
          <a:bodyPr anchor="t" rtlCol="false" tIns="0" lIns="0" bIns="0" rIns="0">
            <a:spAutoFit/>
          </a:bodyPr>
          <a:lstStyle/>
          <a:p>
            <a:pPr algn="l" marL="603205" indent="-301602" lvl="1">
              <a:lnSpc>
                <a:spcPts val="3911"/>
              </a:lnSpc>
              <a:buFont typeface="Arial"/>
              <a:buChar char="•"/>
            </a:pPr>
            <a:r>
              <a:rPr lang="en-US" sz="2793">
                <a:solidFill>
                  <a:srgbClr val="FFFFFF"/>
                </a:solidFill>
                <a:latin typeface="DM Sans"/>
                <a:ea typeface="DM Sans"/>
                <a:cs typeface="DM Sans"/>
                <a:sym typeface="DM Sans"/>
              </a:rPr>
              <a:t>Tier 0 Dependency and attack mapping</a:t>
            </a:r>
          </a:p>
          <a:p>
            <a:pPr algn="l" marL="603205" indent="-301602" lvl="1">
              <a:lnSpc>
                <a:spcPts val="3911"/>
              </a:lnSpc>
              <a:buFont typeface="Arial"/>
              <a:buChar char="•"/>
            </a:pPr>
            <a:r>
              <a:rPr lang="en-US" sz="2793">
                <a:solidFill>
                  <a:srgbClr val="FFFFFF"/>
                </a:solidFill>
                <a:latin typeface="DM Sans"/>
                <a:ea typeface="DM Sans"/>
                <a:cs typeface="DM Sans"/>
                <a:sym typeface="DM Sans"/>
              </a:rPr>
              <a:t>Semperis Forest Druid</a:t>
            </a:r>
          </a:p>
          <a:p>
            <a:pPr algn="l" marL="1206409" indent="-402136" lvl="2">
              <a:lnSpc>
                <a:spcPts val="3911"/>
              </a:lnSpc>
              <a:buFont typeface="Arial"/>
              <a:buChar char="⚬"/>
            </a:pPr>
            <a:r>
              <a:rPr lang="en-US" sz="2793">
                <a:solidFill>
                  <a:srgbClr val="FFFFFF"/>
                </a:solidFill>
                <a:latin typeface="DM Sans"/>
                <a:ea typeface="DM Sans"/>
                <a:cs typeface="DM Sans"/>
                <a:sym typeface="DM Sans"/>
              </a:rPr>
              <a:t>Free - Requires email.</a:t>
            </a:r>
          </a:p>
          <a:p>
            <a:pPr algn="l" marL="1206409" indent="-402136" lvl="2">
              <a:lnSpc>
                <a:spcPts val="3911"/>
              </a:lnSpc>
              <a:buFont typeface="Arial"/>
              <a:buChar char="⚬"/>
            </a:pPr>
            <a:r>
              <a:rPr lang="en-US" sz="2793">
                <a:solidFill>
                  <a:srgbClr val="FFFFFF"/>
                </a:solidFill>
                <a:latin typeface="DM Sans"/>
                <a:ea typeface="DM Sans"/>
                <a:cs typeface="DM Sans"/>
                <a:sym typeface="DM Sans"/>
              </a:rPr>
              <a:t>Maps Tier 0 users, groups, etc. </a:t>
            </a:r>
          </a:p>
          <a:p>
            <a:pPr algn="l" marL="1206409" indent="-402136" lvl="2">
              <a:lnSpc>
                <a:spcPts val="3911"/>
              </a:lnSpc>
              <a:buFont typeface="Arial"/>
              <a:buChar char="⚬"/>
            </a:pPr>
            <a:r>
              <a:rPr lang="en-US" sz="2793">
                <a:solidFill>
                  <a:srgbClr val="FFFFFF"/>
                </a:solidFill>
                <a:latin typeface="DM Sans"/>
                <a:ea typeface="DM Sans"/>
                <a:cs typeface="DM Sans"/>
                <a:sym typeface="DM Sans"/>
              </a:rPr>
              <a:t>Kind of clunky. </a:t>
            </a:r>
          </a:p>
          <a:p>
            <a:pPr algn="l">
              <a:lnSpc>
                <a:spcPts val="3911"/>
              </a:lnSpc>
            </a:pPr>
          </a:p>
          <a:p>
            <a:pPr algn="l" marL="603205" indent="-301602" lvl="1">
              <a:lnSpc>
                <a:spcPts val="3911"/>
              </a:lnSpc>
              <a:buFont typeface="Arial"/>
              <a:buChar char="•"/>
            </a:pPr>
            <a:r>
              <a:rPr lang="en-US" sz="2793">
                <a:solidFill>
                  <a:srgbClr val="FFFFFF"/>
                </a:solidFill>
                <a:latin typeface="DM Sans"/>
                <a:ea typeface="DM Sans"/>
                <a:cs typeface="DM Sans"/>
                <a:sym typeface="DM Sans"/>
              </a:rPr>
              <a:t>SpectreOps Bloodhound CE</a:t>
            </a:r>
          </a:p>
          <a:p>
            <a:pPr algn="l" marL="1206409" indent="-402136" lvl="2">
              <a:lnSpc>
                <a:spcPts val="3911"/>
              </a:lnSpc>
              <a:buFont typeface="Arial"/>
              <a:buChar char="⚬"/>
            </a:pPr>
            <a:r>
              <a:rPr lang="en-US" sz="2793">
                <a:solidFill>
                  <a:srgbClr val="FFFFFF"/>
                </a:solidFill>
                <a:latin typeface="DM Sans"/>
                <a:ea typeface="DM Sans"/>
                <a:cs typeface="DM Sans"/>
                <a:sym typeface="DM Sans"/>
              </a:rPr>
              <a:t>WILL TRIP EDR</a:t>
            </a:r>
          </a:p>
          <a:p>
            <a:pPr algn="l" marL="1206409" indent="-402136" lvl="2">
              <a:lnSpc>
                <a:spcPts val="3911"/>
              </a:lnSpc>
              <a:buFont typeface="Arial"/>
              <a:buChar char="⚬"/>
            </a:pPr>
            <a:r>
              <a:rPr lang="en-US" sz="2793">
                <a:solidFill>
                  <a:srgbClr val="FFFFFF"/>
                </a:solidFill>
                <a:latin typeface="DM Sans"/>
                <a:ea typeface="DM Sans"/>
                <a:cs typeface="DM Sans"/>
                <a:sym typeface="DM Sans"/>
              </a:rPr>
              <a:t>The standard T0 Attack Mapping Tool</a:t>
            </a:r>
          </a:p>
          <a:p>
            <a:pPr algn="l" marL="1206409" indent="-402136" lvl="2">
              <a:lnSpc>
                <a:spcPts val="3911"/>
              </a:lnSpc>
              <a:buFont typeface="Arial"/>
              <a:buChar char="⚬"/>
            </a:pPr>
            <a:r>
              <a:rPr lang="en-US" sz="2793">
                <a:solidFill>
                  <a:srgbClr val="FFFFFF"/>
                </a:solidFill>
                <a:latin typeface="DM Sans"/>
                <a:ea typeface="DM Sans"/>
                <a:cs typeface="DM Sans"/>
                <a:sym typeface="DM Sans"/>
              </a:rPr>
              <a:t>CE = Community Edition = Free</a:t>
            </a:r>
          </a:p>
          <a:p>
            <a:pPr algn="l" marL="1206409" indent="-402136" lvl="2">
              <a:lnSpc>
                <a:spcPts val="3911"/>
              </a:lnSpc>
              <a:buFont typeface="Arial"/>
              <a:buChar char="⚬"/>
            </a:pPr>
            <a:r>
              <a:rPr lang="en-US" sz="2793">
                <a:solidFill>
                  <a:srgbClr val="FFFFFF"/>
                </a:solidFill>
                <a:latin typeface="DM Sans"/>
                <a:ea typeface="DM Sans"/>
                <a:cs typeface="DM Sans"/>
                <a:sym typeface="DM Sans"/>
              </a:rPr>
              <a:t>Paid version available</a:t>
            </a:r>
          </a:p>
        </p:txBody>
      </p:sp>
      <p:sp>
        <p:nvSpPr>
          <p:cNvPr name="TextBox 9" id="9"/>
          <p:cNvSpPr txBox="true"/>
          <p:nvPr/>
        </p:nvSpPr>
        <p:spPr>
          <a:xfrm rot="0">
            <a:off x="1283916" y="1154889"/>
            <a:ext cx="2816860" cy="314678"/>
          </a:xfrm>
          <a:prstGeom prst="rect">
            <a:avLst/>
          </a:prstGeom>
        </p:spPr>
        <p:txBody>
          <a:bodyPr anchor="t" rtlCol="false" tIns="0" lIns="0" bIns="0" rIns="0">
            <a:spAutoFit/>
          </a:bodyPr>
          <a:lstStyle/>
          <a:p>
            <a:pPr algn="ctr">
              <a:lnSpc>
                <a:spcPts val="2605"/>
              </a:lnSpc>
              <a:spcBef>
                <a:spcPct val="0"/>
              </a:spcBef>
            </a:pPr>
            <a:r>
              <a:rPr lang="en-US" b="true" sz="1861">
                <a:solidFill>
                  <a:srgbClr val="FFFFFF"/>
                </a:solidFill>
                <a:latin typeface="DM Sans Bold"/>
                <a:ea typeface="DM Sans Bold"/>
                <a:cs typeface="DM Sans Bold"/>
                <a:sym typeface="DM Sans Bold"/>
              </a:rPr>
              <a:t>SEMPERIS FOREST DRUID</a:t>
            </a:r>
          </a:p>
        </p:txBody>
      </p:sp>
      <p:sp>
        <p:nvSpPr>
          <p:cNvPr name="TextBox 10" id="10"/>
          <p:cNvSpPr txBox="true"/>
          <p:nvPr/>
        </p:nvSpPr>
        <p:spPr>
          <a:xfrm rot="0">
            <a:off x="1268698" y="5669711"/>
            <a:ext cx="2027237" cy="314678"/>
          </a:xfrm>
          <a:prstGeom prst="rect">
            <a:avLst/>
          </a:prstGeom>
        </p:spPr>
        <p:txBody>
          <a:bodyPr anchor="t" rtlCol="false" tIns="0" lIns="0" bIns="0" rIns="0">
            <a:spAutoFit/>
          </a:bodyPr>
          <a:lstStyle/>
          <a:p>
            <a:pPr algn="ctr">
              <a:lnSpc>
                <a:spcPts val="2605"/>
              </a:lnSpc>
              <a:spcBef>
                <a:spcPct val="0"/>
              </a:spcBef>
            </a:pPr>
            <a:r>
              <a:rPr lang="en-US" b="true" sz="1861">
                <a:solidFill>
                  <a:srgbClr val="FFFFFF"/>
                </a:solidFill>
                <a:latin typeface="DM Sans Bold"/>
                <a:ea typeface="DM Sans Bold"/>
                <a:cs typeface="DM Sans Bold"/>
                <a:sym typeface="DM Sans Bold"/>
              </a:rPr>
              <a:t>BLOODHOUND CE</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grpSp>
        <p:nvGrpSpPr>
          <p:cNvPr name="Group 2" id="2"/>
          <p:cNvGrpSpPr/>
          <p:nvPr/>
        </p:nvGrpSpPr>
        <p:grpSpPr>
          <a:xfrm rot="0">
            <a:off x="0" y="2280324"/>
            <a:ext cx="7859474" cy="5704859"/>
            <a:chOff x="0" y="0"/>
            <a:chExt cx="659068" cy="478390"/>
          </a:xfrm>
        </p:grpSpPr>
        <p:sp>
          <p:nvSpPr>
            <p:cNvPr name="Freeform 3" id="3"/>
            <p:cNvSpPr/>
            <p:nvPr/>
          </p:nvSpPr>
          <p:spPr>
            <a:xfrm flipH="false" flipV="false" rot="0">
              <a:off x="0" y="0"/>
              <a:ext cx="659068" cy="478390"/>
            </a:xfrm>
            <a:custGeom>
              <a:avLst/>
              <a:gdLst/>
              <a:ahLst/>
              <a:cxnLst/>
              <a:rect r="r" b="b" t="t" l="l"/>
              <a:pathLst>
                <a:path h="478390" w="659068">
                  <a:moveTo>
                    <a:pt x="0" y="0"/>
                  </a:moveTo>
                  <a:lnTo>
                    <a:pt x="659068" y="0"/>
                  </a:lnTo>
                  <a:lnTo>
                    <a:pt x="659068" y="478390"/>
                  </a:lnTo>
                  <a:lnTo>
                    <a:pt x="0" y="478390"/>
                  </a:lnTo>
                  <a:close/>
                </a:path>
              </a:pathLst>
            </a:custGeom>
            <a:blipFill>
              <a:blip r:embed="rId3"/>
              <a:stretch>
                <a:fillRect l="-14520" t="0" r="-14520" b="0"/>
              </a:stretch>
            </a:blipFill>
            <a:ln w="38100" cap="sq">
              <a:solidFill>
                <a:srgbClr val="2F7BD1"/>
              </a:solidFill>
              <a:prstDash val="solid"/>
              <a:miter/>
            </a:ln>
          </p:spPr>
        </p:sp>
      </p:gr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Freeform 5" id="5"/>
          <p:cNvSpPr/>
          <p:nvPr/>
        </p:nvSpPr>
        <p:spPr>
          <a:xfrm flipH="false" flipV="false" rot="0">
            <a:off x="-369332" y="5532946"/>
            <a:ext cx="4445997" cy="2433187"/>
          </a:xfrm>
          <a:custGeom>
            <a:avLst/>
            <a:gdLst/>
            <a:ahLst/>
            <a:cxnLst/>
            <a:rect r="r" b="b" t="t" l="l"/>
            <a:pathLst>
              <a:path h="2433187" w="4445997">
                <a:moveTo>
                  <a:pt x="0" y="0"/>
                </a:moveTo>
                <a:lnTo>
                  <a:pt x="4445997" y="0"/>
                </a:lnTo>
                <a:lnTo>
                  <a:pt x="4445997" y="2433187"/>
                </a:lnTo>
                <a:lnTo>
                  <a:pt x="0" y="2433187"/>
                </a:lnTo>
                <a:lnTo>
                  <a:pt x="0" y="0"/>
                </a:lnTo>
                <a:close/>
              </a:path>
            </a:pathLst>
          </a:custGeom>
          <a:blipFill>
            <a:blip r:embed="rId4"/>
            <a:stretch>
              <a:fillRect l="-34671" t="0" r="0" b="-53797"/>
            </a:stretch>
          </a:blipFill>
        </p:spPr>
      </p:sp>
      <p:sp>
        <p:nvSpPr>
          <p:cNvPr name="TextBox 6" id="6"/>
          <p:cNvSpPr txBox="true"/>
          <p:nvPr/>
        </p:nvSpPr>
        <p:spPr>
          <a:xfrm rot="0">
            <a:off x="8271946" y="741807"/>
            <a:ext cx="9278888" cy="649986"/>
          </a:xfrm>
          <a:prstGeom prst="rect">
            <a:avLst/>
          </a:prstGeom>
        </p:spPr>
        <p:txBody>
          <a:bodyPr anchor="t" rtlCol="false" tIns="0" lIns="0" bIns="0" rIns="0">
            <a:spAutoFit/>
          </a:bodyPr>
          <a:lstStyle/>
          <a:p>
            <a:pPr algn="l" marL="0" indent="0" lvl="0">
              <a:lnSpc>
                <a:spcPts val="4992"/>
              </a:lnSpc>
            </a:pPr>
            <a:r>
              <a:rPr lang="en-US" sz="4800">
                <a:solidFill>
                  <a:srgbClr val="38B6FF"/>
                </a:solidFill>
                <a:latin typeface="Anton"/>
                <a:ea typeface="Anton"/>
                <a:cs typeface="Anton"/>
                <a:sym typeface="Anton"/>
              </a:rPr>
              <a:t>ACTION PLAN + IMPLEMENTATION</a:t>
            </a:r>
          </a:p>
        </p:txBody>
      </p:sp>
      <p:sp>
        <p:nvSpPr>
          <p:cNvPr name="TextBox 7" id="7"/>
          <p:cNvSpPr txBox="true"/>
          <p:nvPr/>
        </p:nvSpPr>
        <p:spPr>
          <a:xfrm rot="0">
            <a:off x="8271946" y="2887194"/>
            <a:ext cx="8987354" cy="4348245"/>
          </a:xfrm>
          <a:prstGeom prst="rect">
            <a:avLst/>
          </a:prstGeom>
        </p:spPr>
        <p:txBody>
          <a:bodyPr anchor="t" rtlCol="false" tIns="0" lIns="0" bIns="0" rIns="0">
            <a:spAutoFit/>
          </a:bodyPr>
          <a:lstStyle/>
          <a:p>
            <a:pPr algn="l" marL="614455" indent="-307228" lvl="1">
              <a:lnSpc>
                <a:spcPts val="4952"/>
              </a:lnSpc>
              <a:buAutoNum type="arabicPeriod" startAt="1"/>
            </a:pPr>
            <a:r>
              <a:rPr lang="en-US" sz="2846">
                <a:solidFill>
                  <a:srgbClr val="FFFFFF"/>
                </a:solidFill>
                <a:latin typeface="DM Sans"/>
                <a:ea typeface="DM Sans"/>
                <a:cs typeface="DM Sans"/>
                <a:sym typeface="DM Sans"/>
              </a:rPr>
              <a:t>Backups - Get them now. </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Baselines - Start with low impact</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Harden Tier 0 Admins - Prot Users, Isolation, etc.</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Reset Old Passwords - 365 days+ </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Harden Users with SPNs - Fix or harden.</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Deploy LAPS</a:t>
            </a:r>
          </a:p>
          <a:p>
            <a:pPr algn="l" marL="614455" indent="-307228" lvl="1">
              <a:lnSpc>
                <a:spcPts val="4952"/>
              </a:lnSpc>
              <a:buAutoNum type="arabicPeriod" startAt="1"/>
            </a:pPr>
            <a:r>
              <a:rPr lang="en-US" sz="2846">
                <a:solidFill>
                  <a:srgbClr val="FFFFFF"/>
                </a:solidFill>
                <a:latin typeface="DM Sans"/>
                <a:ea typeface="DM Sans"/>
                <a:cs typeface="DM Sans"/>
                <a:sym typeface="DM Sans"/>
              </a:rPr>
              <a:t>Audit Policies + Start ACL Audits</a:t>
            </a:r>
          </a:p>
        </p:txBody>
      </p:sp>
      <p:sp>
        <p:nvSpPr>
          <p:cNvPr name="TextBox 8" id="8"/>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9" id="9"/>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10" id="10"/>
          <p:cNvSpPr txBox="true"/>
          <p:nvPr/>
        </p:nvSpPr>
        <p:spPr>
          <a:xfrm rot="0">
            <a:off x="8271946" y="1429893"/>
            <a:ext cx="8217052" cy="446025"/>
          </a:xfrm>
          <a:prstGeom prst="rect">
            <a:avLst/>
          </a:prstGeom>
        </p:spPr>
        <p:txBody>
          <a:bodyPr anchor="t" rtlCol="false" tIns="0" lIns="0" bIns="0" rIns="0">
            <a:spAutoFit/>
          </a:bodyPr>
          <a:lstStyle/>
          <a:p>
            <a:pPr algn="l" marL="0" indent="0" lvl="0">
              <a:lnSpc>
                <a:spcPts val="3328"/>
              </a:lnSpc>
            </a:pPr>
            <a:r>
              <a:rPr lang="en-US" sz="3200" strike="sngStrike">
                <a:solidFill>
                  <a:srgbClr val="FFFFFF"/>
                </a:solidFill>
                <a:latin typeface="DM Sans"/>
                <a:ea typeface="DM Sans"/>
                <a:cs typeface="DM Sans"/>
                <a:sym typeface="DM Sans"/>
              </a:rPr>
              <a:t>Dave Ramsey</a:t>
            </a:r>
            <a:r>
              <a:rPr lang="en-US" sz="3200">
                <a:solidFill>
                  <a:srgbClr val="FFFFFF"/>
                </a:solidFill>
                <a:latin typeface="DM Sans"/>
                <a:ea typeface="DM Sans"/>
                <a:cs typeface="DM Sans"/>
                <a:sym typeface="DM Sans"/>
              </a:rPr>
              <a:t> Scrooge McDuck Approach</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grpSp>
        <p:nvGrpSpPr>
          <p:cNvPr name="Group 2" id="2"/>
          <p:cNvGrpSpPr/>
          <p:nvPr/>
        </p:nvGrpSpPr>
        <p:grpSpPr>
          <a:xfrm rot="0">
            <a:off x="10428526" y="2280324"/>
            <a:ext cx="7859474" cy="5704859"/>
            <a:chOff x="0" y="0"/>
            <a:chExt cx="659068" cy="478390"/>
          </a:xfrm>
        </p:grpSpPr>
        <p:sp>
          <p:nvSpPr>
            <p:cNvPr name="Freeform 3" id="3"/>
            <p:cNvSpPr/>
            <p:nvPr/>
          </p:nvSpPr>
          <p:spPr>
            <a:xfrm flipH="false" flipV="false" rot="0">
              <a:off x="0" y="0"/>
              <a:ext cx="659068" cy="478390"/>
            </a:xfrm>
            <a:custGeom>
              <a:avLst/>
              <a:gdLst/>
              <a:ahLst/>
              <a:cxnLst/>
              <a:rect r="r" b="b" t="t" l="l"/>
              <a:pathLst>
                <a:path h="478390" w="659068">
                  <a:moveTo>
                    <a:pt x="0" y="0"/>
                  </a:moveTo>
                  <a:lnTo>
                    <a:pt x="659068" y="0"/>
                  </a:lnTo>
                  <a:lnTo>
                    <a:pt x="659068" y="478390"/>
                  </a:lnTo>
                  <a:lnTo>
                    <a:pt x="0" y="478390"/>
                  </a:lnTo>
                  <a:close/>
                </a:path>
              </a:pathLst>
            </a:custGeom>
            <a:blipFill>
              <a:blip r:embed="rId3"/>
              <a:stretch>
                <a:fillRect l="0" t="-2237" r="0" b="-2237"/>
              </a:stretch>
            </a:blipFill>
            <a:ln w="38100" cap="sq">
              <a:solidFill>
                <a:srgbClr val="2F7BD1"/>
              </a:solidFill>
              <a:prstDash val="solid"/>
              <a:miter/>
            </a:ln>
          </p:spPr>
        </p:sp>
      </p:grpSp>
      <p:sp>
        <p:nvSpPr>
          <p:cNvPr name="AutoShape 4" id="4"/>
          <p:cNvSpPr/>
          <p:nvPr/>
        </p:nvSpPr>
        <p:spPr>
          <a:xfrm>
            <a:off x="0" y="9652029"/>
            <a:ext cx="18288000" cy="0"/>
          </a:xfrm>
          <a:prstGeom prst="line">
            <a:avLst/>
          </a:prstGeom>
          <a:ln cap="flat" w="38100">
            <a:solidFill>
              <a:srgbClr val="38B6FF"/>
            </a:solidFill>
            <a:prstDash val="solid"/>
            <a:headEnd type="none" len="sm" w="sm"/>
            <a:tailEnd type="none" len="sm" w="sm"/>
          </a:ln>
        </p:spPr>
      </p:sp>
      <p:sp>
        <p:nvSpPr>
          <p:cNvPr name="TextBox 5" id="5"/>
          <p:cNvSpPr txBox="true"/>
          <p:nvPr/>
        </p:nvSpPr>
        <p:spPr>
          <a:xfrm rot="0">
            <a:off x="1028700" y="1104900"/>
            <a:ext cx="9278888" cy="649986"/>
          </a:xfrm>
          <a:prstGeom prst="rect">
            <a:avLst/>
          </a:prstGeom>
        </p:spPr>
        <p:txBody>
          <a:bodyPr anchor="t" rtlCol="false" tIns="0" lIns="0" bIns="0" rIns="0">
            <a:spAutoFit/>
          </a:bodyPr>
          <a:lstStyle/>
          <a:p>
            <a:pPr algn="l" marL="0" indent="0" lvl="0">
              <a:lnSpc>
                <a:spcPts val="4992"/>
              </a:lnSpc>
            </a:pPr>
            <a:r>
              <a:rPr lang="en-US" sz="4800">
                <a:solidFill>
                  <a:srgbClr val="38B6FF"/>
                </a:solidFill>
                <a:latin typeface="Anton"/>
                <a:ea typeface="Anton"/>
                <a:cs typeface="Anton"/>
                <a:sym typeface="Anton"/>
              </a:rPr>
              <a:t>NEXT STEPS</a:t>
            </a:r>
          </a:p>
        </p:txBody>
      </p:sp>
      <p:sp>
        <p:nvSpPr>
          <p:cNvPr name="TextBox 6" id="6"/>
          <p:cNvSpPr txBox="true"/>
          <p:nvPr/>
        </p:nvSpPr>
        <p:spPr>
          <a:xfrm rot="0">
            <a:off x="1028700" y="2423610"/>
            <a:ext cx="8987354" cy="6243720"/>
          </a:xfrm>
          <a:prstGeom prst="rect">
            <a:avLst/>
          </a:prstGeom>
        </p:spPr>
        <p:txBody>
          <a:bodyPr anchor="t" rtlCol="false" tIns="0" lIns="0" bIns="0" rIns="0">
            <a:spAutoFit/>
          </a:bodyPr>
          <a:lstStyle/>
          <a:p>
            <a:pPr algn="l" marL="614455" indent="-307228" lvl="1">
              <a:lnSpc>
                <a:spcPts val="4952"/>
              </a:lnSpc>
              <a:buFont typeface="Arial"/>
              <a:buChar char="•"/>
            </a:pPr>
            <a:r>
              <a:rPr lang="en-US" sz="2846">
                <a:solidFill>
                  <a:srgbClr val="FFFFFF"/>
                </a:solidFill>
                <a:latin typeface="DM Sans"/>
                <a:ea typeface="DM Sans"/>
                <a:cs typeface="DM Sans"/>
                <a:sym typeface="DM Sans"/>
              </a:rPr>
              <a:t>Run Purple Knight or Ping Castle + Do Fixes</a:t>
            </a:r>
          </a:p>
          <a:p>
            <a:pPr algn="l" marL="614455" indent="-307228" lvl="1">
              <a:lnSpc>
                <a:spcPts val="4952"/>
              </a:lnSpc>
              <a:buFont typeface="Arial"/>
              <a:buChar char="•"/>
            </a:pPr>
            <a:r>
              <a:rPr lang="en-US" sz="2846">
                <a:solidFill>
                  <a:srgbClr val="FFFFFF"/>
                </a:solidFill>
                <a:latin typeface="DM Sans"/>
                <a:ea typeface="DM Sans"/>
                <a:cs typeface="DM Sans"/>
                <a:sym typeface="DM Sans"/>
              </a:rPr>
              <a:t>If running AD CS, run Locksmith.</a:t>
            </a:r>
          </a:p>
          <a:p>
            <a:pPr algn="l" marL="614455" indent="-307228" lvl="1">
              <a:lnSpc>
                <a:spcPts val="4952"/>
              </a:lnSpc>
              <a:buFont typeface="Arial"/>
              <a:buChar char="•"/>
            </a:pPr>
            <a:r>
              <a:rPr lang="en-US" sz="2846">
                <a:solidFill>
                  <a:srgbClr val="FFFFFF"/>
                </a:solidFill>
                <a:latin typeface="DM Sans"/>
                <a:ea typeface="DM Sans"/>
                <a:cs typeface="DM Sans"/>
                <a:sym typeface="DM Sans"/>
              </a:rPr>
              <a:t>Automate SCAP Scans + Remediate.</a:t>
            </a:r>
          </a:p>
          <a:p>
            <a:pPr algn="l" marL="614455" indent="-307228" lvl="1">
              <a:lnSpc>
                <a:spcPts val="4952"/>
              </a:lnSpc>
              <a:buFont typeface="Arial"/>
              <a:buChar char="•"/>
            </a:pPr>
            <a:r>
              <a:rPr lang="en-US" sz="2846">
                <a:solidFill>
                  <a:srgbClr val="FFFFFF"/>
                </a:solidFill>
                <a:latin typeface="DM Sans"/>
                <a:ea typeface="DM Sans"/>
                <a:cs typeface="DM Sans"/>
                <a:sym typeface="DM Sans"/>
              </a:rPr>
              <a:t>Review Backups + Improve.</a:t>
            </a:r>
          </a:p>
          <a:p>
            <a:pPr algn="l" marL="614455" indent="-307228" lvl="1">
              <a:lnSpc>
                <a:spcPts val="4952"/>
              </a:lnSpc>
              <a:buFont typeface="Arial"/>
              <a:buChar char="•"/>
            </a:pPr>
            <a:r>
              <a:rPr lang="en-US" sz="2846">
                <a:solidFill>
                  <a:srgbClr val="FFFFFF"/>
                </a:solidFill>
                <a:latin typeface="DM Sans"/>
                <a:ea typeface="DM Sans"/>
                <a:cs typeface="DM Sans"/>
                <a:sym typeface="DM Sans"/>
              </a:rPr>
              <a:t>Bigger Projects</a:t>
            </a:r>
          </a:p>
          <a:p>
            <a:pPr algn="l" marL="1228910" indent="-409637" lvl="2">
              <a:lnSpc>
                <a:spcPts val="4952"/>
              </a:lnSpc>
              <a:buFont typeface="Arial"/>
              <a:buChar char="⚬"/>
            </a:pPr>
            <a:r>
              <a:rPr lang="en-US" sz="2846">
                <a:solidFill>
                  <a:srgbClr val="FFFFFF"/>
                </a:solidFill>
                <a:latin typeface="DM Sans"/>
                <a:ea typeface="DM Sans"/>
                <a:cs typeface="DM Sans"/>
                <a:sym typeface="DM Sans"/>
              </a:rPr>
              <a:t>More Tiering</a:t>
            </a:r>
          </a:p>
          <a:p>
            <a:pPr algn="l" marL="1228910" indent="-409637" lvl="2">
              <a:lnSpc>
                <a:spcPts val="4952"/>
              </a:lnSpc>
              <a:buFont typeface="Arial"/>
              <a:buChar char="⚬"/>
            </a:pPr>
            <a:r>
              <a:rPr lang="en-US" sz="2846">
                <a:solidFill>
                  <a:srgbClr val="FFFFFF"/>
                </a:solidFill>
                <a:latin typeface="DM Sans"/>
                <a:ea typeface="DM Sans"/>
                <a:cs typeface="DM Sans"/>
                <a:sym typeface="DM Sans"/>
              </a:rPr>
              <a:t>More Baseline Settings (Higher Impact)</a:t>
            </a:r>
          </a:p>
          <a:p>
            <a:pPr algn="l" marL="1228910" indent="-409637" lvl="2">
              <a:lnSpc>
                <a:spcPts val="4952"/>
              </a:lnSpc>
              <a:buFont typeface="Arial"/>
              <a:buChar char="⚬"/>
            </a:pPr>
            <a:r>
              <a:rPr lang="en-US" sz="2846">
                <a:solidFill>
                  <a:srgbClr val="FFFFFF"/>
                </a:solidFill>
                <a:latin typeface="DM Sans"/>
                <a:ea typeface="DM Sans"/>
                <a:cs typeface="DM Sans"/>
                <a:sym typeface="DM Sans"/>
              </a:rPr>
              <a:t>PAWs Project</a:t>
            </a:r>
          </a:p>
          <a:p>
            <a:pPr algn="l" marL="1228910" indent="-409637" lvl="2">
              <a:lnSpc>
                <a:spcPts val="4952"/>
              </a:lnSpc>
              <a:buFont typeface="Arial"/>
              <a:buChar char="⚬"/>
            </a:pPr>
            <a:r>
              <a:rPr lang="en-US" sz="2846">
                <a:solidFill>
                  <a:srgbClr val="FFFFFF"/>
                </a:solidFill>
                <a:latin typeface="DM Sans"/>
                <a:ea typeface="DM Sans"/>
                <a:cs typeface="DM Sans"/>
                <a:sym typeface="DM Sans"/>
              </a:rPr>
              <a:t>PAM Solutions (not Miser-friendly)</a:t>
            </a:r>
          </a:p>
          <a:p>
            <a:pPr algn="l" marL="1228910" indent="-409637" lvl="2">
              <a:lnSpc>
                <a:spcPts val="4952"/>
              </a:lnSpc>
              <a:buFont typeface="Arial"/>
              <a:buChar char="⚬"/>
            </a:pPr>
            <a:r>
              <a:rPr lang="en-US" sz="2846">
                <a:solidFill>
                  <a:srgbClr val="FFFFFF"/>
                </a:solidFill>
                <a:latin typeface="DM Sans"/>
                <a:ea typeface="DM Sans"/>
                <a:cs typeface="DM Sans"/>
                <a:sym typeface="DM Sans"/>
              </a:rPr>
              <a:t>...</a:t>
            </a:r>
          </a:p>
        </p:txBody>
      </p:sp>
      <p:sp>
        <p:nvSpPr>
          <p:cNvPr name="TextBox 7" id="7"/>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8" id="8"/>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9" id="9"/>
          <p:cNvSpPr txBox="true"/>
          <p:nvPr/>
        </p:nvSpPr>
        <p:spPr>
          <a:xfrm rot="0">
            <a:off x="1028700" y="1792986"/>
            <a:ext cx="8217052" cy="446025"/>
          </a:xfrm>
          <a:prstGeom prst="rect">
            <a:avLst/>
          </a:prstGeom>
        </p:spPr>
        <p:txBody>
          <a:bodyPr anchor="t" rtlCol="false" tIns="0" lIns="0" bIns="0" rIns="0">
            <a:spAutoFit/>
          </a:bodyPr>
          <a:lstStyle/>
          <a:p>
            <a:pPr algn="l" marL="0" indent="0" lvl="0">
              <a:lnSpc>
                <a:spcPts val="3328"/>
              </a:lnSpc>
            </a:pPr>
            <a:r>
              <a:rPr lang="en-US" b="true" sz="3200">
                <a:solidFill>
                  <a:srgbClr val="FFFFFF"/>
                </a:solidFill>
                <a:latin typeface="DM Sans Bold"/>
                <a:ea typeface="DM Sans Bold"/>
                <a:cs typeface="DM Sans Bold"/>
                <a:sym typeface="DM Sans Bold"/>
              </a:rPr>
              <a:t>Action Plan Done. Now what?</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bg>
      <p:bgPr>
        <a:solidFill>
          <a:srgbClr val="0B2132"/>
        </a:solidFill>
      </p:bgPr>
    </p:bg>
    <p:spTree>
      <p:nvGrpSpPr>
        <p:cNvPr id="1" name=""/>
        <p:cNvGrpSpPr/>
        <p:nvPr/>
      </p:nvGrpSpPr>
      <p:grpSpPr>
        <a:xfrm>
          <a:off x="0" y="0"/>
          <a:ext cx="0" cy="0"/>
          <a:chOff x="0" y="0"/>
          <a:chExt cx="0" cy="0"/>
        </a:xfrm>
      </p:grpSpPr>
      <p:sp>
        <p:nvSpPr>
          <p:cNvPr name="AutoShape 2" id="2"/>
          <p:cNvSpPr/>
          <p:nvPr/>
        </p:nvSpPr>
        <p:spPr>
          <a:xfrm>
            <a:off x="0" y="9652029"/>
            <a:ext cx="18288000" cy="0"/>
          </a:xfrm>
          <a:prstGeom prst="line">
            <a:avLst/>
          </a:prstGeom>
          <a:ln cap="flat" w="38100">
            <a:solidFill>
              <a:srgbClr val="38B6FF"/>
            </a:solidFill>
            <a:prstDash val="solid"/>
            <a:headEnd type="none" len="sm" w="sm"/>
            <a:tailEnd type="none" len="sm" w="sm"/>
          </a:ln>
        </p:spPr>
      </p:sp>
      <p:grpSp>
        <p:nvGrpSpPr>
          <p:cNvPr name="Group 3" id="3"/>
          <p:cNvGrpSpPr/>
          <p:nvPr/>
        </p:nvGrpSpPr>
        <p:grpSpPr>
          <a:xfrm rot="0">
            <a:off x="12385627" y="752652"/>
            <a:ext cx="3966686" cy="4129759"/>
            <a:chOff x="0" y="0"/>
            <a:chExt cx="5288915" cy="5506345"/>
          </a:xfrm>
        </p:grpSpPr>
        <p:sp>
          <p:nvSpPr>
            <p:cNvPr name="Freeform 4" id="4"/>
            <p:cNvSpPr/>
            <p:nvPr/>
          </p:nvSpPr>
          <p:spPr>
            <a:xfrm flipH="false" flipV="false" rot="0">
              <a:off x="330189" y="738514"/>
              <a:ext cx="4786852" cy="4767831"/>
            </a:xfrm>
            <a:custGeom>
              <a:avLst/>
              <a:gdLst/>
              <a:ahLst/>
              <a:cxnLst/>
              <a:rect r="r" b="b" t="t" l="l"/>
              <a:pathLst>
                <a:path h="4767831" w="4786852">
                  <a:moveTo>
                    <a:pt x="0" y="0"/>
                  </a:moveTo>
                  <a:lnTo>
                    <a:pt x="4786852" y="0"/>
                  </a:lnTo>
                  <a:lnTo>
                    <a:pt x="4786852" y="4767831"/>
                  </a:lnTo>
                  <a:lnTo>
                    <a:pt x="0" y="4767831"/>
                  </a:lnTo>
                  <a:lnTo>
                    <a:pt x="0" y="0"/>
                  </a:lnTo>
                  <a:close/>
                </a:path>
              </a:pathLst>
            </a:custGeom>
            <a:blipFill>
              <a:blip r:embed="rId3"/>
              <a:stretch>
                <a:fillRect l="0" t="0" r="0" b="0"/>
              </a:stretch>
            </a:blipFill>
          </p:spPr>
        </p:sp>
        <p:sp>
          <p:nvSpPr>
            <p:cNvPr name="TextBox 5" id="5"/>
            <p:cNvSpPr txBox="true"/>
            <p:nvPr/>
          </p:nvSpPr>
          <p:spPr>
            <a:xfrm rot="0">
              <a:off x="0" y="-76200"/>
              <a:ext cx="5288915" cy="957582"/>
            </a:xfrm>
            <a:prstGeom prst="rect">
              <a:avLst/>
            </a:prstGeom>
          </p:spPr>
          <p:txBody>
            <a:bodyPr anchor="t" rtlCol="false" tIns="0" lIns="0" bIns="0" rIns="0">
              <a:spAutoFit/>
            </a:bodyPr>
            <a:lstStyle/>
            <a:p>
              <a:pPr algn="ctr">
                <a:lnSpc>
                  <a:spcPts val="6089"/>
                </a:lnSpc>
                <a:spcBef>
                  <a:spcPct val="0"/>
                </a:spcBef>
              </a:pPr>
              <a:r>
                <a:rPr lang="en-US" b="true" sz="4349">
                  <a:solidFill>
                    <a:srgbClr val="FFFFFF"/>
                  </a:solidFill>
                  <a:latin typeface="DM Sans Bold"/>
                  <a:ea typeface="DM Sans Bold"/>
                  <a:cs typeface="DM Sans Bold"/>
                  <a:sym typeface="DM Sans Bold"/>
                </a:rPr>
                <a:t>QUESTIONS???</a:t>
              </a:r>
            </a:p>
          </p:txBody>
        </p:sp>
      </p:grpSp>
      <p:sp>
        <p:nvSpPr>
          <p:cNvPr name="Freeform 6" id="6"/>
          <p:cNvSpPr/>
          <p:nvPr/>
        </p:nvSpPr>
        <p:spPr>
          <a:xfrm flipH="false" flipV="false" rot="0">
            <a:off x="7291380" y="569284"/>
            <a:ext cx="3042538" cy="3042538"/>
          </a:xfrm>
          <a:custGeom>
            <a:avLst/>
            <a:gdLst/>
            <a:ahLst/>
            <a:cxnLst/>
            <a:rect r="r" b="b" t="t" l="l"/>
            <a:pathLst>
              <a:path h="3042538" w="3042538">
                <a:moveTo>
                  <a:pt x="0" y="0"/>
                </a:moveTo>
                <a:lnTo>
                  <a:pt x="3042538" y="0"/>
                </a:lnTo>
                <a:lnTo>
                  <a:pt x="3042538" y="3042538"/>
                </a:lnTo>
                <a:lnTo>
                  <a:pt x="0" y="3042538"/>
                </a:lnTo>
                <a:lnTo>
                  <a:pt x="0" y="0"/>
                </a:lnTo>
                <a:close/>
              </a:path>
            </a:pathLst>
          </a:custGeom>
          <a:blipFill>
            <a:blip r:embed="rId4"/>
            <a:stretch>
              <a:fillRect l="0" t="0" r="0" b="0"/>
            </a:stretch>
          </a:blipFill>
        </p:spPr>
      </p:sp>
      <p:sp>
        <p:nvSpPr>
          <p:cNvPr name="TextBox 7" id="7"/>
          <p:cNvSpPr txBox="true"/>
          <p:nvPr/>
        </p:nvSpPr>
        <p:spPr>
          <a:xfrm rot="0">
            <a:off x="467667" y="521659"/>
            <a:ext cx="3989146" cy="414361"/>
          </a:xfrm>
          <a:prstGeom prst="rect">
            <a:avLst/>
          </a:prstGeom>
        </p:spPr>
        <p:txBody>
          <a:bodyPr anchor="t" rtlCol="false" tIns="0" lIns="0" bIns="0" rIns="0">
            <a:spAutoFit/>
          </a:bodyPr>
          <a:lstStyle/>
          <a:p>
            <a:pPr algn="l" marL="0" indent="0" lvl="0">
              <a:lnSpc>
                <a:spcPts val="3411"/>
              </a:lnSpc>
              <a:spcBef>
                <a:spcPct val="0"/>
              </a:spcBef>
            </a:pPr>
            <a:r>
              <a:rPr lang="en-US" b="true" sz="2436">
                <a:solidFill>
                  <a:srgbClr val="38B6FF"/>
                </a:solidFill>
                <a:latin typeface="DM Sans Bold"/>
                <a:ea typeface="DM Sans Bold"/>
                <a:cs typeface="DM Sans Bold"/>
                <a:sym typeface="DM Sans Bold"/>
              </a:rPr>
              <a:t>Wrap Up</a:t>
            </a:r>
          </a:p>
        </p:txBody>
      </p:sp>
      <p:sp>
        <p:nvSpPr>
          <p:cNvPr name="TextBox 8" id="8"/>
          <p:cNvSpPr txBox="true"/>
          <p:nvPr/>
        </p:nvSpPr>
        <p:spPr>
          <a:xfrm rot="0">
            <a:off x="467667" y="2775323"/>
            <a:ext cx="6651330" cy="114681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DM Sans"/>
                <a:ea typeface="DM Sans"/>
                <a:cs typeface="DM Sans"/>
                <a:sym typeface="DM Sans"/>
              </a:rPr>
              <a:t>Deck will be on Github soon</a:t>
            </a:r>
          </a:p>
          <a:p>
            <a:pPr algn="l" marL="518160" indent="-259080" lvl="1">
              <a:lnSpc>
                <a:spcPts val="3359"/>
              </a:lnSpc>
              <a:buFont typeface="Arial"/>
              <a:buChar char="•"/>
            </a:pPr>
            <a:r>
              <a:rPr lang="en-US" sz="2400">
                <a:solidFill>
                  <a:srgbClr val="FFFFFF"/>
                </a:solidFill>
                <a:latin typeface="DM Sans"/>
                <a:ea typeface="DM Sans"/>
                <a:cs typeface="DM Sans"/>
                <a:sym typeface="DM Sans"/>
              </a:rPr>
              <a:t>r/ActiveDirectory Wiki</a:t>
            </a:r>
          </a:p>
          <a:p>
            <a:pPr algn="l">
              <a:lnSpc>
                <a:spcPts val="2520"/>
              </a:lnSpc>
            </a:pPr>
            <a:r>
              <a:rPr lang="en-US" sz="1800">
                <a:solidFill>
                  <a:srgbClr val="737373"/>
                </a:solidFill>
                <a:latin typeface="DM Sans"/>
                <a:ea typeface="DM Sans"/>
                <a:cs typeface="DM Sans"/>
                <a:sym typeface="DM Sans"/>
              </a:rPr>
              <a:t>         </a:t>
            </a:r>
            <a:r>
              <a:rPr lang="en-US" sz="1800">
                <a:solidFill>
                  <a:srgbClr val="737373"/>
                </a:solidFill>
                <a:latin typeface="DM Sans"/>
                <a:ea typeface="DM Sans"/>
                <a:cs typeface="DM Sans"/>
                <a:sym typeface="DM Sans"/>
              </a:rPr>
              <a:t>https://www.reddit.com/r/ActiveDirectory/wiki</a:t>
            </a:r>
          </a:p>
        </p:txBody>
      </p:sp>
      <p:sp>
        <p:nvSpPr>
          <p:cNvPr name="TextBox 9" id="9"/>
          <p:cNvSpPr txBox="true"/>
          <p:nvPr/>
        </p:nvSpPr>
        <p:spPr>
          <a:xfrm rot="0">
            <a:off x="1076985" y="9823479"/>
            <a:ext cx="2410664"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BSIDESKC 2026</a:t>
            </a:r>
          </a:p>
        </p:txBody>
      </p:sp>
      <p:sp>
        <p:nvSpPr>
          <p:cNvPr name="TextBox 10" id="10"/>
          <p:cNvSpPr txBox="true"/>
          <p:nvPr/>
        </p:nvSpPr>
        <p:spPr>
          <a:xfrm rot="0">
            <a:off x="7291380" y="9823479"/>
            <a:ext cx="3407597" cy="248638"/>
          </a:xfrm>
          <a:prstGeom prst="rect">
            <a:avLst/>
          </a:prstGeom>
        </p:spPr>
        <p:txBody>
          <a:bodyPr anchor="t" rtlCol="false" tIns="0" lIns="0" bIns="0" rIns="0">
            <a:spAutoFit/>
          </a:bodyPr>
          <a:lstStyle/>
          <a:p>
            <a:pPr algn="l" marL="0" indent="0" lvl="0">
              <a:lnSpc>
                <a:spcPts val="2045"/>
              </a:lnSpc>
              <a:spcBef>
                <a:spcPct val="0"/>
              </a:spcBef>
            </a:pPr>
            <a:r>
              <a:rPr lang="en-US" b="true" sz="1461">
                <a:solidFill>
                  <a:srgbClr val="FFFFFF"/>
                </a:solidFill>
                <a:latin typeface="DM Sans Bold"/>
                <a:ea typeface="DM Sans Bold"/>
                <a:cs typeface="DM Sans Bold"/>
                <a:sym typeface="DM Sans Bold"/>
              </a:rPr>
              <a:t>TYLER JACOBS | POOLMANJIM</a:t>
            </a:r>
          </a:p>
        </p:txBody>
      </p:sp>
      <p:sp>
        <p:nvSpPr>
          <p:cNvPr name="TextBox 11" id="11"/>
          <p:cNvSpPr txBox="true"/>
          <p:nvPr/>
        </p:nvSpPr>
        <p:spPr>
          <a:xfrm rot="0">
            <a:off x="467667" y="2408588"/>
            <a:ext cx="3989146" cy="414361"/>
          </a:xfrm>
          <a:prstGeom prst="rect">
            <a:avLst/>
          </a:prstGeom>
        </p:spPr>
        <p:txBody>
          <a:bodyPr anchor="t" rtlCol="false" tIns="0" lIns="0" bIns="0" rIns="0">
            <a:spAutoFit/>
          </a:bodyPr>
          <a:lstStyle/>
          <a:p>
            <a:pPr algn="l" marL="0" indent="0" lvl="0">
              <a:lnSpc>
                <a:spcPts val="3411"/>
              </a:lnSpc>
              <a:spcBef>
                <a:spcPct val="0"/>
              </a:spcBef>
            </a:pPr>
            <a:r>
              <a:rPr lang="en-US" b="true" sz="2436">
                <a:solidFill>
                  <a:srgbClr val="38B6FF"/>
                </a:solidFill>
                <a:latin typeface="DM Sans Bold"/>
                <a:ea typeface="DM Sans Bold"/>
                <a:cs typeface="DM Sans Bold"/>
                <a:sym typeface="DM Sans Bold"/>
              </a:rPr>
              <a:t>Resources + Links</a:t>
            </a:r>
          </a:p>
        </p:txBody>
      </p:sp>
      <p:sp>
        <p:nvSpPr>
          <p:cNvPr name="TextBox 12" id="12"/>
          <p:cNvSpPr txBox="true"/>
          <p:nvPr/>
        </p:nvSpPr>
        <p:spPr>
          <a:xfrm rot="0">
            <a:off x="715309" y="1156911"/>
            <a:ext cx="5306899" cy="842364"/>
          </a:xfrm>
          <a:prstGeom prst="rect">
            <a:avLst/>
          </a:prstGeom>
        </p:spPr>
        <p:txBody>
          <a:bodyPr anchor="t" rtlCol="false" tIns="0" lIns="0" bIns="0" rIns="0">
            <a:spAutoFit/>
          </a:bodyPr>
          <a:lstStyle/>
          <a:p>
            <a:pPr algn="ctr">
              <a:lnSpc>
                <a:spcPts val="3445"/>
              </a:lnSpc>
              <a:spcBef>
                <a:spcPct val="0"/>
              </a:spcBef>
            </a:pPr>
            <a:r>
              <a:rPr lang="en-US" sz="2461">
                <a:solidFill>
                  <a:srgbClr val="FFFFFF"/>
                </a:solidFill>
                <a:latin typeface="DM Sans"/>
                <a:ea typeface="DM Sans"/>
                <a:cs typeface="DM Sans"/>
                <a:sym typeface="DM Sans"/>
              </a:rPr>
              <a:t>It’s okay to feel overwhelmed. Pick one item and work it at a time. </a:t>
            </a:r>
          </a:p>
        </p:txBody>
      </p:sp>
      <p:sp>
        <p:nvSpPr>
          <p:cNvPr name="TextBox 13" id="13"/>
          <p:cNvSpPr txBox="true"/>
          <p:nvPr/>
        </p:nvSpPr>
        <p:spPr>
          <a:xfrm rot="0">
            <a:off x="467667" y="4438804"/>
            <a:ext cx="3989146" cy="414361"/>
          </a:xfrm>
          <a:prstGeom prst="rect">
            <a:avLst/>
          </a:prstGeom>
        </p:spPr>
        <p:txBody>
          <a:bodyPr anchor="t" rtlCol="false" tIns="0" lIns="0" bIns="0" rIns="0">
            <a:spAutoFit/>
          </a:bodyPr>
          <a:lstStyle/>
          <a:p>
            <a:pPr algn="l" marL="0" indent="0" lvl="0">
              <a:lnSpc>
                <a:spcPts val="3411"/>
              </a:lnSpc>
              <a:spcBef>
                <a:spcPct val="0"/>
              </a:spcBef>
            </a:pPr>
            <a:r>
              <a:rPr lang="en-US" b="true" sz="2436">
                <a:solidFill>
                  <a:srgbClr val="38B6FF"/>
                </a:solidFill>
                <a:latin typeface="DM Sans Bold"/>
                <a:ea typeface="DM Sans Bold"/>
                <a:cs typeface="DM Sans Bold"/>
                <a:sym typeface="DM Sans Bold"/>
              </a:rPr>
              <a:t>Connect with Me</a:t>
            </a:r>
          </a:p>
        </p:txBody>
      </p:sp>
      <p:sp>
        <p:nvSpPr>
          <p:cNvPr name="TextBox 14" id="14"/>
          <p:cNvSpPr txBox="true"/>
          <p:nvPr/>
        </p:nvSpPr>
        <p:spPr>
          <a:xfrm rot="0">
            <a:off x="467667" y="4919839"/>
            <a:ext cx="6651330" cy="3629501"/>
          </a:xfrm>
          <a:prstGeom prst="rect">
            <a:avLst/>
          </a:prstGeom>
        </p:spPr>
        <p:txBody>
          <a:bodyPr anchor="t" rtlCol="false" tIns="0" lIns="0" bIns="0" rIns="0">
            <a:spAutoFit/>
          </a:bodyPr>
          <a:lstStyle/>
          <a:p>
            <a:pPr algn="l" marL="517854" indent="-258927" lvl="1">
              <a:lnSpc>
                <a:spcPts val="4149"/>
              </a:lnSpc>
              <a:buFont typeface="Arial"/>
              <a:buChar char="•"/>
            </a:pPr>
            <a:r>
              <a:rPr lang="en-US" sz="2398">
                <a:solidFill>
                  <a:srgbClr val="FFFFFF"/>
                </a:solidFill>
                <a:latin typeface="DM Sans"/>
                <a:ea typeface="DM Sans"/>
                <a:cs typeface="DM Sans"/>
                <a:sym typeface="DM Sans"/>
              </a:rPr>
              <a:t>Discord: @Poolmanjim</a:t>
            </a:r>
          </a:p>
          <a:p>
            <a:pPr algn="l" marL="517854" indent="-258927" lvl="1">
              <a:lnSpc>
                <a:spcPts val="4149"/>
              </a:lnSpc>
              <a:buFont typeface="Arial"/>
              <a:buChar char="•"/>
            </a:pPr>
            <a:r>
              <a:rPr lang="en-US" sz="2398">
                <a:solidFill>
                  <a:srgbClr val="FFFFFF"/>
                </a:solidFill>
                <a:latin typeface="DM Sans"/>
                <a:ea typeface="DM Sans"/>
                <a:cs typeface="DM Sans"/>
                <a:sym typeface="DM Sans"/>
              </a:rPr>
              <a:t>Reddit: </a:t>
            </a:r>
            <a:r>
              <a:rPr lang="en-US" sz="2398" u="sng">
                <a:solidFill>
                  <a:srgbClr val="FFFFFF"/>
                </a:solidFill>
                <a:latin typeface="DM Sans"/>
                <a:ea typeface="DM Sans"/>
                <a:cs typeface="DM Sans"/>
                <a:sym typeface="DM Sans"/>
                <a:hlinkClick r:id="rId5" tooltip="https://reddit.com/u/poolmanjim"/>
              </a:rPr>
              <a:t>u/Poolmanjim</a:t>
            </a:r>
          </a:p>
          <a:p>
            <a:pPr algn="l" marL="517854" indent="-258927" lvl="1">
              <a:lnSpc>
                <a:spcPts val="4149"/>
              </a:lnSpc>
              <a:buFont typeface="Arial"/>
              <a:buChar char="•"/>
            </a:pPr>
            <a:r>
              <a:rPr lang="en-US" sz="2398">
                <a:solidFill>
                  <a:srgbClr val="FFFFFF"/>
                </a:solidFill>
                <a:latin typeface="DM Sans"/>
                <a:ea typeface="DM Sans"/>
                <a:cs typeface="DM Sans"/>
                <a:sym typeface="DM Sans"/>
              </a:rPr>
              <a:t>LinkedIn: linkedin.com/in/thetylerjacobs</a:t>
            </a:r>
          </a:p>
          <a:p>
            <a:pPr algn="l" marL="517854" indent="-258927" lvl="1">
              <a:lnSpc>
                <a:spcPts val="4149"/>
              </a:lnSpc>
              <a:buFont typeface="Arial"/>
              <a:buChar char="•"/>
            </a:pPr>
            <a:r>
              <a:rPr lang="en-US" sz="2398">
                <a:solidFill>
                  <a:srgbClr val="FFFFFF"/>
                </a:solidFill>
                <a:latin typeface="DM Sans"/>
                <a:ea typeface="DM Sans"/>
                <a:cs typeface="DM Sans"/>
                <a:sym typeface="DM Sans"/>
              </a:rPr>
              <a:t>Blog: activedirectorykc.net</a:t>
            </a:r>
          </a:p>
          <a:p>
            <a:pPr algn="l" marL="517854" indent="-258927" lvl="1">
              <a:lnSpc>
                <a:spcPts val="4149"/>
              </a:lnSpc>
              <a:buFont typeface="Arial"/>
              <a:buChar char="•"/>
            </a:pPr>
            <a:r>
              <a:rPr lang="en-US" sz="2398">
                <a:solidFill>
                  <a:srgbClr val="FFFFFF"/>
                </a:solidFill>
                <a:latin typeface="DM Sans"/>
                <a:ea typeface="DM Sans"/>
                <a:cs typeface="DM Sans"/>
                <a:sym typeface="DM Sans"/>
              </a:rPr>
              <a:t>Github: github/activedirectorykc</a:t>
            </a:r>
          </a:p>
          <a:p>
            <a:pPr algn="l" marL="517854" indent="-258927" lvl="1">
              <a:lnSpc>
                <a:spcPts val="4149"/>
              </a:lnSpc>
              <a:buFont typeface="Arial"/>
              <a:buChar char="•"/>
            </a:pPr>
            <a:r>
              <a:rPr lang="en-US" sz="2398">
                <a:solidFill>
                  <a:srgbClr val="FFFFFF"/>
                </a:solidFill>
                <a:latin typeface="DM Sans"/>
                <a:ea typeface="DM Sans"/>
                <a:cs typeface="DM Sans"/>
                <a:sym typeface="DM Sans"/>
              </a:rPr>
              <a:t>Email: </a:t>
            </a:r>
            <a:r>
              <a:rPr lang="en-US" b="true" sz="2398">
                <a:solidFill>
                  <a:srgbClr val="FFFFFF"/>
                </a:solidFill>
                <a:latin typeface="DM Sans Bold"/>
                <a:ea typeface="DM Sans Bold"/>
                <a:cs typeface="DM Sans Bold"/>
                <a:sym typeface="DM Sans Bold"/>
              </a:rPr>
              <a:t>CLASSIFIED</a:t>
            </a:r>
          </a:p>
          <a:p>
            <a:pPr algn="l" marL="517854" indent="-258927" lvl="1">
              <a:lnSpc>
                <a:spcPts val="4149"/>
              </a:lnSpc>
              <a:buFont typeface="Arial"/>
              <a:buChar char="•"/>
            </a:pPr>
            <a:r>
              <a:rPr lang="en-US" sz="2398">
                <a:solidFill>
                  <a:srgbClr val="FFFFFF"/>
                </a:solidFill>
                <a:latin typeface="DM Sans"/>
                <a:ea typeface="DM Sans"/>
                <a:cs typeface="DM Sans"/>
                <a:sym typeface="DM Sans"/>
              </a:rPr>
              <a:t>I’ll be over there - With some stickers</a:t>
            </a:r>
          </a:p>
        </p:txBody>
      </p:sp>
      <p:sp>
        <p:nvSpPr>
          <p:cNvPr name="TextBox 15" id="15"/>
          <p:cNvSpPr txBox="true"/>
          <p:nvPr/>
        </p:nvSpPr>
        <p:spPr>
          <a:xfrm rot="0">
            <a:off x="12385627" y="5559903"/>
            <a:ext cx="3989146" cy="414361"/>
          </a:xfrm>
          <a:prstGeom prst="rect">
            <a:avLst/>
          </a:prstGeom>
        </p:spPr>
        <p:txBody>
          <a:bodyPr anchor="t" rtlCol="false" tIns="0" lIns="0" bIns="0" rIns="0">
            <a:spAutoFit/>
          </a:bodyPr>
          <a:lstStyle/>
          <a:p>
            <a:pPr algn="l" marL="0" indent="0" lvl="0">
              <a:lnSpc>
                <a:spcPts val="3411"/>
              </a:lnSpc>
              <a:spcBef>
                <a:spcPct val="0"/>
              </a:spcBef>
            </a:pPr>
            <a:r>
              <a:rPr lang="en-US" b="true" sz="2436">
                <a:solidFill>
                  <a:srgbClr val="38B6FF"/>
                </a:solidFill>
                <a:latin typeface="DM Sans Bold"/>
                <a:ea typeface="DM Sans Bold"/>
                <a:cs typeface="DM Sans Bold"/>
                <a:sym typeface="DM Sans Bold"/>
              </a:rPr>
              <a:t>Do Some Good</a:t>
            </a:r>
          </a:p>
        </p:txBody>
      </p:sp>
      <p:sp>
        <p:nvSpPr>
          <p:cNvPr name="TextBox 16" id="16"/>
          <p:cNvSpPr txBox="true"/>
          <p:nvPr/>
        </p:nvSpPr>
        <p:spPr>
          <a:xfrm rot="0">
            <a:off x="12633269" y="6195154"/>
            <a:ext cx="5306899" cy="1699614"/>
          </a:xfrm>
          <a:prstGeom prst="rect">
            <a:avLst/>
          </a:prstGeom>
        </p:spPr>
        <p:txBody>
          <a:bodyPr anchor="t" rtlCol="false" tIns="0" lIns="0" bIns="0" rIns="0">
            <a:spAutoFit/>
          </a:bodyPr>
          <a:lstStyle/>
          <a:p>
            <a:pPr algn="l" marL="531346" indent="-265673" lvl="1">
              <a:lnSpc>
                <a:spcPts val="3445"/>
              </a:lnSpc>
              <a:buFont typeface="Arial"/>
              <a:buChar char="•"/>
            </a:pPr>
            <a:r>
              <a:rPr lang="en-US" sz="2461">
                <a:solidFill>
                  <a:srgbClr val="FFFFFF"/>
                </a:solidFill>
                <a:latin typeface="DM Sans"/>
                <a:ea typeface="DM Sans"/>
                <a:cs typeface="DM Sans"/>
                <a:sym typeface="DM Sans"/>
              </a:rPr>
              <a:t> Change the world one day and one person at a time. </a:t>
            </a:r>
          </a:p>
          <a:p>
            <a:pPr algn="l" marL="531346" indent="-265673" lvl="1">
              <a:lnSpc>
                <a:spcPts val="3445"/>
              </a:lnSpc>
              <a:buFont typeface="Arial"/>
              <a:buChar char="•"/>
            </a:pPr>
            <a:r>
              <a:rPr lang="en-US" sz="2461">
                <a:solidFill>
                  <a:srgbClr val="FFFFFF"/>
                </a:solidFill>
                <a:latin typeface="DM Sans"/>
                <a:ea typeface="DM Sans"/>
                <a:cs typeface="DM Sans"/>
                <a:sym typeface="DM Sans"/>
              </a:rPr>
              <a:t>Something that matters - Sign up to be a bone marrow donor. </a:t>
            </a:r>
          </a:p>
        </p:txBody>
      </p:sp>
      <p:sp>
        <p:nvSpPr>
          <p:cNvPr name="TextBox 17" id="17"/>
          <p:cNvSpPr txBox="true"/>
          <p:nvPr/>
        </p:nvSpPr>
        <p:spPr>
          <a:xfrm rot="0">
            <a:off x="6499708" y="3755884"/>
            <a:ext cx="4990941"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DM Sans Bold"/>
                <a:ea typeface="DM Sans Bold"/>
                <a:cs typeface="DM Sans Bold"/>
                <a:sym typeface="DM Sans Bold"/>
              </a:rPr>
              <a:t>HTTPS://LINKEDIN.COM/IN/THETYLERJACOBS</a:t>
            </a:r>
          </a:p>
        </p:txBody>
      </p:sp>
      <p:sp>
        <p:nvSpPr>
          <p:cNvPr name="Freeform 18" id="18"/>
          <p:cNvSpPr/>
          <p:nvPr/>
        </p:nvSpPr>
        <p:spPr>
          <a:xfrm flipH="false" flipV="false" rot="0">
            <a:off x="7295663" y="5836119"/>
            <a:ext cx="3038255" cy="3038255"/>
          </a:xfrm>
          <a:custGeom>
            <a:avLst/>
            <a:gdLst/>
            <a:ahLst/>
            <a:cxnLst/>
            <a:rect r="r" b="b" t="t" l="l"/>
            <a:pathLst>
              <a:path h="3038255" w="3038255">
                <a:moveTo>
                  <a:pt x="0" y="0"/>
                </a:moveTo>
                <a:lnTo>
                  <a:pt x="3038255" y="0"/>
                </a:lnTo>
                <a:lnTo>
                  <a:pt x="3038255" y="3038255"/>
                </a:lnTo>
                <a:lnTo>
                  <a:pt x="0" y="3038255"/>
                </a:lnTo>
                <a:lnTo>
                  <a:pt x="0" y="0"/>
                </a:lnTo>
                <a:close/>
              </a:path>
            </a:pathLst>
          </a:custGeom>
          <a:blipFill>
            <a:blip r:embed="rId6"/>
            <a:stretch>
              <a:fillRect l="0" t="0" r="0" b="0"/>
            </a:stretch>
          </a:blipFill>
        </p:spPr>
      </p:sp>
      <p:sp>
        <p:nvSpPr>
          <p:cNvPr name="TextBox 19" id="19"/>
          <p:cNvSpPr txBox="true"/>
          <p:nvPr/>
        </p:nvSpPr>
        <p:spPr>
          <a:xfrm rot="0">
            <a:off x="6409331" y="9026774"/>
            <a:ext cx="4810919" cy="306705"/>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DM Sans Bold"/>
                <a:ea typeface="DM Sans Bold"/>
                <a:cs typeface="DM Sans Bold"/>
                <a:sym typeface="DM Sans Bold"/>
              </a:rPr>
              <a:t>HTTPS://GITHUB.COM/ACTIVEDIRECTORYKC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DAHGUlBaNLw</dc:identifier>
  <dcterms:modified xsi:type="dcterms:W3CDTF">2011-08-01T06:04:30Z</dcterms:modified>
  <cp:revision>1</cp:revision>
  <dc:title>BSidesKC2026 - A Miser's Guide to Hardening Active Directory 2026-04</dc:title>
</cp:coreProperties>
</file>