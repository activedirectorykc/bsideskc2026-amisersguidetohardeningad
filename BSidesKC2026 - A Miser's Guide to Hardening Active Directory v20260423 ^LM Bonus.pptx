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94"/>
  </p:notesMasterIdLst>
  <p:sldIdLst>
    <p:sldId id="256" r:id="rId2"/>
    <p:sldId id="257" r:id="rId3"/>
    <p:sldId id="258" r:id="rId4"/>
    <p:sldId id="259" r:id="rId5"/>
    <p:sldId id="260" r:id="rId6"/>
    <p:sldId id="261" r:id="rId7"/>
    <p:sldId id="262" r:id="rId8"/>
    <p:sldId id="263" r:id="rId9"/>
    <p:sldId id="264" r:id="rId10"/>
    <p:sldId id="265" r:id="rId11"/>
    <p:sldId id="344" r:id="rId12"/>
    <p:sldId id="345" r:id="rId13"/>
    <p:sldId id="266" r:id="rId14"/>
    <p:sldId id="267" r:id="rId15"/>
    <p:sldId id="268" r:id="rId16"/>
    <p:sldId id="269" r:id="rId17"/>
    <p:sldId id="270" r:id="rId18"/>
    <p:sldId id="343" r:id="rId19"/>
    <p:sldId id="349" r:id="rId20"/>
    <p:sldId id="271" r:id="rId21"/>
    <p:sldId id="275" r:id="rId22"/>
    <p:sldId id="276" r:id="rId23"/>
    <p:sldId id="348" r:id="rId24"/>
    <p:sldId id="347"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2" r:id="rId50"/>
    <p:sldId id="303" r:id="rId51"/>
    <p:sldId id="304" r:id="rId52"/>
    <p:sldId id="305" r:id="rId53"/>
    <p:sldId id="306" r:id="rId54"/>
    <p:sldId id="307" r:id="rId55"/>
    <p:sldId id="308" r:id="rId56"/>
    <p:sldId id="309" r:id="rId57"/>
    <p:sldId id="310" r:id="rId58"/>
    <p:sldId id="354" r:id="rId59"/>
    <p:sldId id="311" r:id="rId60"/>
    <p:sldId id="312" r:id="rId61"/>
    <p:sldId id="340" r:id="rId62"/>
    <p:sldId id="341" r:id="rId63"/>
    <p:sldId id="313" r:id="rId64"/>
    <p:sldId id="317" r:id="rId65"/>
    <p:sldId id="314" r:id="rId66"/>
    <p:sldId id="315" r:id="rId67"/>
    <p:sldId id="316" r:id="rId68"/>
    <p:sldId id="318" r:id="rId69"/>
    <p:sldId id="319" r:id="rId70"/>
    <p:sldId id="320" r:id="rId71"/>
    <p:sldId id="321" r:id="rId72"/>
    <p:sldId id="322" r:id="rId73"/>
    <p:sldId id="323" r:id="rId74"/>
    <p:sldId id="334" r:id="rId75"/>
    <p:sldId id="335" r:id="rId76"/>
    <p:sldId id="339" r:id="rId77"/>
    <p:sldId id="325" r:id="rId78"/>
    <p:sldId id="350" r:id="rId79"/>
    <p:sldId id="351" r:id="rId80"/>
    <p:sldId id="326" r:id="rId81"/>
    <p:sldId id="327" r:id="rId82"/>
    <p:sldId id="328" r:id="rId83"/>
    <p:sldId id="329" r:id="rId84"/>
    <p:sldId id="330" r:id="rId85"/>
    <p:sldId id="352" r:id="rId86"/>
    <p:sldId id="353" r:id="rId87"/>
    <p:sldId id="331" r:id="rId88"/>
    <p:sldId id="332" r:id="rId89"/>
    <p:sldId id="333" r:id="rId90"/>
    <p:sldId id="336" r:id="rId91"/>
    <p:sldId id="337" r:id="rId92"/>
    <p:sldId id="338" r:id="rId93"/>
  </p:sldIdLst>
  <p:sldSz cx="18288000" cy="10287000"/>
  <p:notesSz cx="6858000" cy="9144000"/>
  <p:embeddedFontLst>
    <p:embeddedFont>
      <p:font typeface="Anton" pitchFamily="2" charset="0"/>
      <p:regular r:id="rId95"/>
    </p:embeddedFont>
    <p:embeddedFont>
      <p:font typeface="Arial Black" panose="020B0A04020102020204" pitchFamily="34" charset="0"/>
      <p:bold r:id="rId96"/>
    </p:embeddedFont>
    <p:embeddedFont>
      <p:font typeface="Canva Student Font" panose="020B0604020202020204" charset="0"/>
      <p:regular r:id="rId97"/>
    </p:embeddedFont>
    <p:embeddedFont>
      <p:font typeface="DM Sans" pitchFamily="2" charset="0"/>
      <p:regular r:id="rId98"/>
      <p:bold r:id="rId99"/>
      <p:italic r:id="rId100"/>
      <p:boldItalic r:id="rId101"/>
    </p:embeddedFont>
    <p:embeddedFont>
      <p:font typeface="DM Sans Bold" charset="0"/>
      <p:regular r:id="rId102"/>
    </p:embeddedFont>
    <p:embeddedFont>
      <p:font typeface="DM Sans Italics" panose="020B0604020202020204" charset="0"/>
      <p:regular r:id="rId10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67676"/>
    <a:srgbClr val="38B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073665-E4C2-41EB-B676-08253E9333E2}" v="4353" dt="2026-04-24T02:54:04.289"/>
    <p1510:client id="{CE4EFBB6-1ED8-4D55-902C-8BF9FC728557}" v="88" dt="2026-04-22T17:04:55.2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403" autoAdjust="0"/>
    <p:restoredTop sz="62474" autoAdjust="0"/>
  </p:normalViewPr>
  <p:slideViewPr>
    <p:cSldViewPr snapToGrid="0">
      <p:cViewPr varScale="1">
        <p:scale>
          <a:sx n="46" d="100"/>
          <a:sy n="46" d="100"/>
        </p:scale>
        <p:origin x="1476" y="4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ableStyles" Target="tableStyle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font" Target="fonts/font8.fntdata"/><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font" Target="fonts/font1.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font" Target="fonts/font9.fntdata"/><Relationship Id="rId108"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99" Type="http://schemas.openxmlformats.org/officeDocument/2006/relationships/font" Target="fonts/font5.fntdata"/><Relationship Id="rId10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3.fntdata"/><Relationship Id="rId10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font" Target="fonts/font6.fntdata"/><Relationship Id="rId105"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font" Target="fonts/font4.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22.04.2026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learn.microsoft.com/en-us/windows-server/identity/ad-ds/manage/forest-recovery-guide/ad-forest-recovery-backing-up-a-full-server" TargetMode="External"/><Relationship Id="rId2" Type="http://schemas.openxmlformats.org/officeDocument/2006/relationships/slide" Target="../slides/slide11.xml"/><Relationship Id="rId1" Type="http://schemas.openxmlformats.org/officeDocument/2006/relationships/notesMaster" Target="../notesMasters/notesMaster1.xml"/><Relationship Id="rId5" Type="http://schemas.openxmlformats.org/officeDocument/2006/relationships/hyperlink" Target="https://learn.microsoft.com/en-us/windows-server/identity/ad-ds/manage/forest-recovery-guide/ad-forest-recovery-determine-how-to-recover" TargetMode="External"/><Relationship Id="rId4" Type="http://schemas.openxmlformats.org/officeDocument/2006/relationships/hyperlink" Target="https://learn.microsoft.com/en-us/windows-server/identity/ad-ds/manage/forest-recovery-guide/ad-forest-recovery-guide" TargetMode="Externa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learn.microsoft.com/en-us/windows-server/identity/ad-ds/manage/forest-recovery-guide/ad-forest-recovery-backing-up-a-full-server" TargetMode="External"/><Relationship Id="rId2" Type="http://schemas.openxmlformats.org/officeDocument/2006/relationships/slide" Target="../slides/slide12.xml"/><Relationship Id="rId1" Type="http://schemas.openxmlformats.org/officeDocument/2006/relationships/notesMaster" Target="../notesMasters/notesMaster1.xml"/><Relationship Id="rId5" Type="http://schemas.openxmlformats.org/officeDocument/2006/relationships/hyperlink" Target="https://learn.microsoft.com/en-us/windows-server/identity/ad-ds/manage/forest-recovery-guide/ad-forest-recovery-determine-how-to-recover" TargetMode="External"/><Relationship Id="rId4" Type="http://schemas.openxmlformats.org/officeDocument/2006/relationships/hyperlink" Target="https://learn.microsoft.com/en-us/windows-server/identity/ad-ds/manage/forest-recovery-guide/ad-forest-recovery-guide" TargetMode="Externa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8" Type="http://schemas.openxmlformats.org/officeDocument/2006/relationships/hyperlink" Target="https://petri.com/how-to-enable-windows-hello-for-business/" TargetMode="External"/><Relationship Id="rId3" Type="http://schemas.openxmlformats.org/officeDocument/2006/relationships/hyperlink" Target="https://learn.microsoft.com/en-us/windows/security/identity-protection/hello-for-business/how-it-works" TargetMode="External"/><Relationship Id="rId7" Type="http://schemas.openxmlformats.org/officeDocument/2006/relationships/hyperlink" Target="http://www.getsupport.co.uk/blog/2025-03/the-plain-english-guide-to-windows-hello-for-business/" TargetMode="External"/><Relationship Id="rId2" Type="http://schemas.openxmlformats.org/officeDocument/2006/relationships/slide" Target="../slides/slide57.xml"/><Relationship Id="rId1" Type="http://schemas.openxmlformats.org/officeDocument/2006/relationships/notesMaster" Target="../notesMasters/notesMaster1.xml"/><Relationship Id="rId6" Type="http://schemas.openxmlformats.org/officeDocument/2006/relationships/hyperlink" Target="https://support.microsoft.com/en-us/windows/using-third-party-fingerprint-readers-and-cameras-with-windows-hello-f53ccc2d-db6e-44ed-99c8-e5b031f27fd8" TargetMode="External"/><Relationship Id="rId5" Type="http://schemas.openxmlformats.org/officeDocument/2006/relationships/hyperlink" Target="https://learn.microsoft.com/en-us/windows/security/identity-protection/hello-for-business/deploy/" TargetMode="External"/><Relationship Id="rId4" Type="http://schemas.openxmlformats.org/officeDocument/2006/relationships/hyperlink" Target="https://windowsforum.com/threads/windows-hello-for-business-the-ultimate-guide-to-enterprise-authentication-security.369347/" TargetMode="Externa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Good afternoon and thanks for coming to this talk.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I'll be giving a Miser's Guide to Hardening Active Directory. If you're here for something else, you're in the wrong room.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my first conference talk, and I got a C+ in Public Speaking so you're all in for a treat! And I have ADHD so you're in for a ride!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Who am I? </a:t>
            </a:r>
          </a:p>
          <a:p>
            <a:endParaRPr lang="en-US"/>
          </a:p>
          <a:p>
            <a:r>
              <a:rPr lang="en-US"/>
              <a:t>I'm Tyler. Otherwise known as </a:t>
            </a:r>
            <a:r>
              <a:rPr lang="en-US" err="1"/>
              <a:t>Poolmanjim</a:t>
            </a:r>
            <a:r>
              <a:rPr lang="en-US"/>
              <a:t> in most of my online circles. I am from the KCK area, so this is my hometown con!</a:t>
            </a:r>
          </a:p>
          <a:p>
            <a:endParaRPr lang="en-US"/>
          </a:p>
          <a:p>
            <a:r>
              <a:rPr lang="en-US"/>
              <a:t>I have been doing IT since I got the chance and been focused on identity for a good chunk of that now. </a:t>
            </a:r>
          </a:p>
          <a:p>
            <a:endParaRPr lang="en-US"/>
          </a:p>
          <a:p>
            <a:r>
              <a:rPr lang="en-US"/>
              <a:t>I work for a large healthcare organization as effectively the Principal Engineer for Identity.  I'm not naming them here because I don't want to be openly linked to them, but it isn't a secret. </a:t>
            </a:r>
          </a:p>
          <a:p>
            <a:endParaRPr lang="en-US"/>
          </a:p>
          <a:p>
            <a:r>
              <a:rPr lang="en-US"/>
              <a:t>I'm very much an on-prem guy still who embraces the cloud but wants to use it sensibly. I'm also super sketchy of AI.</a:t>
            </a:r>
          </a:p>
          <a:p>
            <a:endParaRPr lang="en-US" b="1"/>
          </a:p>
          <a:p>
            <a:r>
              <a:rPr lang="en-US"/>
              <a:t>I'm one of the mods for r/</a:t>
            </a:r>
            <a:r>
              <a:rPr lang="en-US" err="1"/>
              <a:t>ActiveDirectory</a:t>
            </a:r>
            <a:r>
              <a:rPr lang="en-US"/>
              <a:t> and enjoy participating there when time allows. I encourage you to check it out, but especially check out the wiki there because we have tons of links and resources around identity and AD. </a:t>
            </a:r>
          </a:p>
          <a:p>
            <a:endParaRPr lang="en-US"/>
          </a:p>
          <a:p>
            <a:r>
              <a:rPr lang="en-US"/>
              <a:t>My contact details on are screen, but they'll be at the end too. </a:t>
            </a:r>
          </a:p>
          <a:p>
            <a:endParaRPr lang="en-US"/>
          </a:p>
          <a:p>
            <a:r>
              <a:rPr lang="en-US"/>
              <a:t>I have a family, a wife and two young boys. That's fun and for fun I like tinkering with my lab, playing games, especially D&amp;D, but I'm not picky about the game. No I probably haven't played the game your thinking of.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Show of hands: Who in here expects AD to not be a thing anymore in 10 years? </a:t>
            </a:r>
          </a:p>
          <a:p>
            <a:endParaRPr lang="en-US"/>
          </a:p>
          <a:p>
            <a:r>
              <a:rPr lang="en-US"/>
              <a:t>[RESPOND]</a:t>
            </a:r>
          </a:p>
          <a:p>
            <a:r>
              <a:rPr lang="en-US"/>
              <a:t>[slide]</a:t>
            </a:r>
          </a:p>
          <a:p>
            <a:endParaRPr lang="en-US"/>
          </a:p>
          <a:p>
            <a:r>
              <a:rPr lang="en-US"/>
              <a:t>Most organizations that have Active Directory aren't expecting to get rid of it any time soon, so we have to support it. [slide]</a:t>
            </a:r>
          </a:p>
          <a:p>
            <a:endParaRPr lang="en-US"/>
          </a:p>
          <a:p>
            <a:r>
              <a:rPr lang="en-US"/>
              <a:t>A challenge we experience is that maintaining and securing a system both have costs and they may be competing. [slide]</a:t>
            </a:r>
          </a:p>
          <a:p>
            <a:endParaRPr lang="en-US"/>
          </a:p>
          <a:p>
            <a:r>
              <a:rPr lang="en-US"/>
              <a:t>It exists and we have to secure it, but security isn't free. So what do we do. [slide]</a:t>
            </a:r>
          </a:p>
          <a:p>
            <a:endParaRPr lang="en-US"/>
          </a:p>
          <a:p>
            <a:r>
              <a:rPr lang="en-US"/>
              <a:t>The whole motto of this talk is simple: "The hardest part of any important task is getting started on it in the first place. ." </a:t>
            </a:r>
          </a:p>
          <a:p>
            <a:endParaRPr lang="en-US"/>
          </a:p>
          <a:p>
            <a:r>
              <a:rPr lang="en-US"/>
              <a:t>The plan is to give some rough steps, not the details, but places to start and actions to take that will get you started making your AD better. </a:t>
            </a:r>
          </a:p>
          <a:p>
            <a:endParaRPr lang="en-US"/>
          </a:p>
          <a:p>
            <a:r>
              <a:rPr lang="en-US"/>
              <a:t>The goal is to give you mostly affordable, or outright free options, that will keep the gold in Scrooge's vault. [slide]</a:t>
            </a:r>
          </a:p>
          <a:p>
            <a:endParaRPr lang="en-US"/>
          </a:p>
          <a:p>
            <a:r>
              <a:rPr lang="en-US"/>
              <a:t>Action matters. Rather than focusing on projects that will languish for years, the elements I'll cover are pointed and actionable to get real gains in the real world.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Disclaimers first.</a:t>
            </a:r>
          </a:p>
          <a:p>
            <a:endParaRPr lang="en-US"/>
          </a:p>
          <a:p>
            <a:r>
              <a:rPr lang="en-US"/>
              <a:t>[slide]</a:t>
            </a:r>
          </a:p>
          <a:p>
            <a:endParaRPr lang="en-US"/>
          </a:p>
          <a:p>
            <a:r>
              <a:rPr lang="en-US"/>
              <a:t>The tools, scripts, and applications I mention are tools that tend to overlap with redteamers/bad guys. There is a chance they'll trip EDR and monitoring. Make sure you coordinate with your SOC </a:t>
            </a:r>
          </a:p>
          <a:p>
            <a:endParaRPr lang="en-US"/>
          </a:p>
          <a:p>
            <a:r>
              <a:rPr lang="en-US"/>
              <a:t>[slide]</a:t>
            </a:r>
          </a:p>
          <a:p>
            <a:endParaRPr lang="en-US"/>
          </a:p>
          <a:p>
            <a:r>
              <a:rPr lang="en-US"/>
              <a:t>I don't work for any of these tools or vendors. Most of the tools are free, some aren't as free. Point is. They're not my work just things that have stood out to me over the years. </a:t>
            </a:r>
          </a:p>
          <a:p>
            <a:endParaRPr lang="en-US"/>
          </a:p>
          <a:p>
            <a:r>
              <a:rPr lang="en-US"/>
              <a:t>[slide] </a:t>
            </a:r>
          </a:p>
          <a:p>
            <a:endParaRPr lang="en-US"/>
          </a:p>
          <a:p>
            <a:r>
              <a:rPr lang="en-US"/>
              <a:t>Tools may ask for emails. You can get around that using the temp email tools. It's up to you. If i can I provide email-free links. </a:t>
            </a:r>
          </a:p>
          <a:p>
            <a:endParaRPr lang="en-US"/>
          </a:p>
          <a:p>
            <a:r>
              <a:rPr lang="en-US"/>
              <a:t>[slide] </a:t>
            </a:r>
          </a:p>
          <a:p>
            <a:endParaRPr lang="en-US"/>
          </a:p>
          <a:p>
            <a:r>
              <a:rPr lang="en-US"/>
              <a:t>Any opinions here are mine. My employer had nothing to do with this so blame me not them. </a:t>
            </a:r>
          </a:p>
          <a:p>
            <a:endParaRPr lang="en-US"/>
          </a:p>
          <a:p>
            <a:r>
              <a:rPr lang="en-US"/>
              <a:t>[slide]</a:t>
            </a:r>
          </a:p>
          <a:p>
            <a:endParaRPr lang="en-US"/>
          </a:p>
          <a:p>
            <a:r>
              <a:rPr lang="en-US"/>
              <a:t>This is not an exhaustive list. I could spend weeks talking about AD Hardening. I have 50 minutes. I have lots of notes and bonus slides in the deck to help more.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Let's see hands: Who here has backups? </a:t>
            </a:r>
          </a:p>
          <a:p>
            <a:endParaRPr lang="en-US"/>
          </a:p>
          <a:p>
            <a:r>
              <a:rPr lang="en-US"/>
              <a:t>Okay, who here has tested and validated a full forest recovery in the last year? </a:t>
            </a:r>
          </a:p>
          <a:p>
            <a:endParaRPr lang="en-US"/>
          </a:p>
          <a:p>
            <a:r>
              <a:rPr lang="en-US"/>
              <a:t>Yeah get on that. </a:t>
            </a:r>
          </a:p>
          <a:p>
            <a:endParaRPr lang="en-US"/>
          </a:p>
          <a:p>
            <a:r>
              <a:rPr lang="en-US"/>
              <a:t>BCDR is kind of boring. That's probably the reason it doesn't get a lot of love at talks. </a:t>
            </a:r>
          </a:p>
          <a:p>
            <a:endParaRPr lang="en-US"/>
          </a:p>
          <a:p>
            <a:r>
              <a:rPr lang="en-US"/>
              <a:t>You get backups. If you're smart you test backups. You forget you have backups. Maybe your org does yearly tabletops. </a:t>
            </a:r>
          </a:p>
          <a:p>
            <a:endParaRPr lang="en-US"/>
          </a:p>
          <a:p>
            <a:r>
              <a:rPr lang="en-US"/>
              <a:t>They're not shiny or cool. But they are essential. This section may be my most important for that reason alone!</a:t>
            </a:r>
          </a:p>
          <a:p>
            <a:endParaRPr lang="en-US"/>
          </a:p>
          <a:p>
            <a:r>
              <a:rPr lang="en-US"/>
              <a:t>-- REFERENCES --</a:t>
            </a:r>
          </a:p>
          <a:p>
            <a:r>
              <a:rPr lang="en-US"/>
              <a:t>https://learn.microsoft.com/en-us/windows-server/identity/ad-ds/manage/forest-recovery-guide/ad-forest-recovery-guide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Why are backups important?</a:t>
            </a:r>
          </a:p>
          <a:p>
            <a:endParaRPr lang="en-US"/>
          </a:p>
          <a:p>
            <a:r>
              <a:rPr lang="en-US"/>
              <a:t>[slide]</a:t>
            </a:r>
          </a:p>
          <a:p>
            <a:endParaRPr lang="en-US"/>
          </a:p>
          <a:p>
            <a:r>
              <a:rPr lang="en-US"/>
              <a:t>They get you from "Oh crap!" to "Okay".  </a:t>
            </a:r>
          </a:p>
          <a:p>
            <a:endParaRPr lang="en-US"/>
          </a:p>
          <a:p>
            <a:r>
              <a:rPr lang="en-US"/>
              <a:t>[slide]</a:t>
            </a:r>
          </a:p>
          <a:p>
            <a:endParaRPr lang="en-US"/>
          </a:p>
          <a:p>
            <a:r>
              <a:rPr lang="en-US"/>
              <a:t>We often think of BCDR like this. A building burns down, a comet hits the building, etc. In fact most organizations are fairly well prepared for those contingencies. Insurance companies are prepared for those. </a:t>
            </a:r>
          </a:p>
          <a:p>
            <a:endParaRPr lang="en-US"/>
          </a:p>
          <a:p>
            <a:r>
              <a:rPr lang="en-US"/>
              <a:t>[slide]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What happens if you log in and see this screen on your systems? Worse what if you see it on your domain controllers?</a:t>
            </a:r>
          </a:p>
          <a:p>
            <a:endParaRPr lang="en-US"/>
          </a:p>
          <a:p>
            <a:r>
              <a:rPr lang="en-US"/>
              <a:t>Where do you go from there? </a:t>
            </a:r>
          </a:p>
          <a:p>
            <a:endParaRPr lang="en-US"/>
          </a:p>
          <a:p>
            <a:r>
              <a:rPr lang="en-US"/>
              <a:t>I can tell you that your EDR may not stop this from happening.</a:t>
            </a:r>
          </a:p>
          <a:p>
            <a:endParaRPr lang="en-US"/>
          </a:p>
          <a:p>
            <a:r>
              <a:rPr lang="en-US"/>
              <a:t>There are not any guarantees on this red screen. It's not like the malware guys sign up for the BBB.</a:t>
            </a:r>
          </a:p>
          <a:p>
            <a:endParaRPr lang="en-US"/>
          </a:p>
          <a:p>
            <a:r>
              <a:rPr lang="en-US"/>
              <a:t>Think about this: If the entire identity system is down, what can you do? No email. No teams. Phones may not work. What do you do? </a:t>
            </a:r>
          </a:p>
          <a:p>
            <a:endParaRPr lang="en-US"/>
          </a:p>
          <a:p>
            <a:r>
              <a:rPr lang="en-US"/>
              <a:t>You have to have options.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When talking about options, there is some bad news. Good backups cost. Backups have to be good, and they have to be fast, which means they're going to cost. </a:t>
            </a:r>
          </a:p>
          <a:p>
            <a:endParaRPr lang="en-US" dirty="0"/>
          </a:p>
          <a:p>
            <a:r>
              <a:rPr lang="en-US" dirty="0"/>
              <a:t>[slide]</a:t>
            </a:r>
          </a:p>
          <a:p>
            <a:endParaRPr lang="en-US" dirty="0"/>
          </a:p>
          <a:p>
            <a:r>
              <a:rPr lang="en-US" dirty="0"/>
              <a:t>Is the cost of your entire IT budget for that year worth it?</a:t>
            </a:r>
          </a:p>
          <a:p>
            <a:endParaRPr lang="en-US" dirty="0"/>
          </a:p>
          <a:p>
            <a:r>
              <a:rPr lang="en-US" dirty="0"/>
              <a:t>[slide]</a:t>
            </a:r>
          </a:p>
          <a:p>
            <a:endParaRPr lang="en-US" dirty="0"/>
          </a:p>
          <a:p>
            <a:r>
              <a:rPr lang="en-US" dirty="0"/>
              <a:t>100%. Yes. Absolutely!</a:t>
            </a:r>
          </a:p>
          <a:p>
            <a:endParaRPr lang="en-US" dirty="0"/>
          </a:p>
          <a:p>
            <a:endParaRPr lang="en-US" dirty="0"/>
          </a:p>
          <a:p>
            <a:r>
              <a:rPr lang="en-US" dirty="0"/>
              <a:t>The main reason for this is the first bullet. </a:t>
            </a:r>
          </a:p>
          <a:p>
            <a:endParaRPr lang="en-US" dirty="0"/>
          </a:p>
          <a:p>
            <a:r>
              <a:rPr lang="en-US" dirty="0"/>
              <a:t>SUPPORT! </a:t>
            </a:r>
          </a:p>
          <a:p>
            <a:endParaRPr lang="en-US" dirty="0"/>
          </a:p>
          <a:p>
            <a:r>
              <a:rPr lang="en-US" dirty="0"/>
              <a:t>When you're down, your job is on the line, everyone's yelling, etc. it is crucial to be able to offload some of that stress. Having a vendor to call to help you will make the whole process go faster! </a:t>
            </a:r>
          </a:p>
          <a:p>
            <a:endParaRPr lang="en-US" dirty="0"/>
          </a:p>
          <a:p>
            <a:r>
              <a:rPr lang="en-US" dirty="0"/>
              <a:t>There are other benefits, you have the insurance that someone else did some of the work and you get features which most free tools don't have, but support is your win with BCDR. </a:t>
            </a:r>
          </a:p>
          <a:p>
            <a:endParaRPr lang="en-US" dirty="0"/>
          </a:p>
          <a:p>
            <a:r>
              <a:rPr lang="en-US" dirty="0"/>
              <a:t>The tool is important. You want your BCDR tool to be usable, but that is actually not the most important reason to buy a solution. </a:t>
            </a:r>
          </a:p>
          <a:p>
            <a:endParaRPr lang="en-US" dirty="0"/>
          </a:p>
          <a:p>
            <a:r>
              <a:rPr lang="en-US" dirty="0"/>
              <a:t>Don't get me wrong, there are workable cheaper/free options. I argue this is the hill worth dying on.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When thinking about solutions remember that VM snapshots are not backups. </a:t>
            </a:r>
          </a:p>
          <a:p>
            <a:endParaRPr lang="en-US" dirty="0"/>
          </a:p>
          <a:p>
            <a:r>
              <a:rPr lang="en-US" dirty="0"/>
              <a:t>VM snapshots can supplement traditional backups, but they should not be the core component of the backups.</a:t>
            </a:r>
          </a:p>
          <a:p>
            <a:endParaRPr lang="en-US" dirty="0"/>
          </a:p>
          <a:p>
            <a:r>
              <a:rPr lang="en-US" dirty="0"/>
              <a:t>The biggest risk with VM snapshots is that there is a hardware dependency tied to the snapshot and it is usually on the same storage as the VMs themselves. If one is compromised the other is too. </a:t>
            </a:r>
          </a:p>
          <a:p>
            <a:endParaRPr lang="en-US" dirty="0"/>
          </a:p>
          <a:p>
            <a:r>
              <a:rPr lang="en-US" dirty="0"/>
              <a:t>Snapshots also have the issue of having dormant malware that was kept from the </a:t>
            </a:r>
            <a:r>
              <a:rPr lang="en-US" dirty="0" err="1"/>
              <a:t>os</a:t>
            </a:r>
            <a:r>
              <a:rPr lang="en-US" dirty="0"/>
              <a:t> during the snapshot. </a:t>
            </a:r>
          </a:p>
          <a:p>
            <a:endParaRPr lang="en-US" dirty="0"/>
          </a:p>
          <a:p>
            <a:endParaRPr lang="en-US" dirty="0"/>
          </a:p>
          <a:p>
            <a:r>
              <a:rPr lang="en-US" dirty="0"/>
              <a:t>-- References --</a:t>
            </a:r>
          </a:p>
          <a:p>
            <a:r>
              <a:rPr lang="en-US" dirty="0"/>
              <a:t>https://www.veeam.com/blog/ransomware-recovery-what-you-need-to-know.html</a:t>
            </a:r>
          </a:p>
          <a:p>
            <a:r>
              <a:rPr lang="en-US" dirty="0"/>
              <a:t>https://helpdesk.kaseya.com/hc/en-gb/articles/4403440684689-Important-Notice-August-4th-2021</a:t>
            </a:r>
          </a:p>
          <a:p>
            <a:r>
              <a:rPr lang="en-US" dirty="0"/>
              <a:t>https://www.semperis.com/blog/hypervisor-dc-snapshots-are-no-substitute-for-proper-active-directory-backups/</a:t>
            </a:r>
          </a:p>
          <a:p>
            <a:r>
              <a:rPr lang="en-US" dirty="0"/>
              <a:t>https://www.veeam.com/blog/why-snapshots-alone-are-not-backups.html</a:t>
            </a:r>
          </a:p>
          <a:p>
            <a:r>
              <a:rPr lang="en-US" dirty="0"/>
              <a:t>https://www.veeam.com/blog/backing-up-domain-controller-best-practices-for-ad-protection.html</a:t>
            </a:r>
          </a:p>
          <a:p>
            <a:r>
              <a:rPr lang="en-US" dirty="0"/>
              <a:t>https://www.semperis.com/active-directory-forest-recovery/</a:t>
            </a:r>
          </a:p>
          <a:p>
            <a:r>
              <a:rPr lang="en-US" dirty="0"/>
              <a:t>https://www.semperis.com/semperis-faq/</a:t>
            </a:r>
          </a:p>
          <a:p>
            <a:pPr marL="0" indent="0">
              <a:buFontTx/>
              <a:buNone/>
            </a:pP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en-US"/>
              <a:t>BONUS – AD and Snapshots</a:t>
            </a:r>
          </a:p>
          <a:p>
            <a:endParaRPr lang="en-US"/>
          </a:p>
          <a:p>
            <a:r>
              <a:rPr lang="en-US"/>
              <a:t>I said earlier that Active Directory doesn’t like snapshots. What did I mean? </a:t>
            </a:r>
          </a:p>
          <a:p>
            <a:endParaRPr lang="en-US"/>
          </a:p>
          <a:p>
            <a:r>
              <a:rPr lang="en-US" b="1" u="sng"/>
              <a:t>Quick View of AD Replication Consistency</a:t>
            </a:r>
          </a:p>
          <a:p>
            <a:r>
              <a:rPr lang="en-US"/>
              <a:t>AD is a replicated database and normally domain controllers are writable copies of this database. The only exception to this is Read-Only Domain Controllers (RODCs) which aren’t in scope for this. </a:t>
            </a:r>
          </a:p>
          <a:p>
            <a:endParaRPr lang="en-US"/>
          </a:p>
          <a:p>
            <a:r>
              <a:rPr lang="en-US"/>
              <a:t>AD maintains consistency of this replication through an attribute attached to every object and attribute in Active Directory. This is called the update sequence number (USN). Each domain controller maintains its own USN and as they replicate, they share their highest committed USN with each other which is then stored. When a change is made on one domain controller it advertises this change (via a process called Change Notification) to nearby domain controllers (There is more to it than that, but we’re simplifying). The receiving, or replica, domain controllers check against USNs they’ve received. If it is newer, the DC will say “send me the changes since </a:t>
            </a:r>
            <a:r>
              <a:rPr lang="en-US" err="1"/>
              <a:t>xyz</a:t>
            </a:r>
            <a:r>
              <a:rPr lang="en-US"/>
              <a:t>” and replication happens. If it is the same, the receiving DC doesn’t ask for anything.</a:t>
            </a:r>
          </a:p>
          <a:p>
            <a:endParaRPr lang="en-US"/>
          </a:p>
          <a:p>
            <a:r>
              <a:rPr lang="en-US"/>
              <a:t>The USN value should </a:t>
            </a:r>
            <a:r>
              <a:rPr lang="en-US" b="1"/>
              <a:t>NEVER</a:t>
            </a:r>
            <a:r>
              <a:rPr lang="en-US"/>
              <a:t> go down. It should only ever go up. The only way it can go down is if the Active Directory database is reset somehow. </a:t>
            </a:r>
          </a:p>
          <a:p>
            <a:endParaRPr lang="en-US"/>
          </a:p>
          <a:p>
            <a:endParaRPr lang="en-US"/>
          </a:p>
          <a:p>
            <a:r>
              <a:rPr lang="en-US" b="1" u="sng"/>
              <a:t>Snapshots and USN Rollbacks</a:t>
            </a:r>
          </a:p>
          <a:p>
            <a:r>
              <a:rPr lang="en-US"/>
              <a:t>Snapshots capture a moment in time. When you roll back a snapshot, you roll back to a moment in time. If there were pending replications or new changes after the snapshot rollback. the originating DC would send information about these changes to the replica DCs they talk to. These replicas would immediately recognize that the USN rolled back, and they would stop all replication from that DC. This can cause a ripple in the domain that leads to a total replication stoppage and requires significant work to remedy. </a:t>
            </a:r>
          </a:p>
          <a:p>
            <a:endParaRPr lang="en-US"/>
          </a:p>
          <a:p>
            <a:endParaRPr lang="en-US"/>
          </a:p>
          <a:p>
            <a:r>
              <a:rPr lang="en-US" b="1" u="sng"/>
              <a:t>Restoring AD Conventionally</a:t>
            </a:r>
          </a:p>
          <a:p>
            <a:r>
              <a:rPr lang="en-US"/>
              <a:t>But wait, if I restore from backup doesn’t that trigger a USN rollback?  No. </a:t>
            </a:r>
          </a:p>
          <a:p>
            <a:endParaRPr lang="en-US"/>
          </a:p>
          <a:p>
            <a:r>
              <a:rPr lang="en-US"/>
              <a:t>Firstly, restoring from a backup does not include any pending replications. </a:t>
            </a:r>
          </a:p>
          <a:p>
            <a:endParaRPr lang="en-US"/>
          </a:p>
          <a:p>
            <a:r>
              <a:rPr lang="en-US"/>
              <a:t>Second, when a backup is restored, AD detects this (if it is done using the proper methods) and changes the AD Database Invocation ID which is its way of tagging the database for consistency. This effectively changes how the USNs are calculated and new USNs will be issued from that DC for its changes going forward. This avoids the USN rollback situation.</a:t>
            </a:r>
          </a:p>
          <a:p>
            <a:endParaRPr lang="en-US"/>
          </a:p>
          <a:p>
            <a:endParaRPr lang="en-US"/>
          </a:p>
          <a:p>
            <a:r>
              <a:rPr lang="en-US" b="1" u="sng"/>
              <a:t>AD and Snapshots</a:t>
            </a:r>
          </a:p>
          <a:p>
            <a:r>
              <a:rPr lang="en-US"/>
              <a:t>In Server 2012 Active Directory did introduce a change to how it handles all of this. If it is a virtual domain controller on a supported hypervisor the domain controller also tracks something called a VM Generation ID. This value is unique to the hypervisor + domain controller combo. If you snap DCs on a supported hypervisor and restore that snap, that generation ID is passed along and used to alter the database invocation ID and thus USN rollback is avoided.</a:t>
            </a:r>
          </a:p>
          <a:p>
            <a:endParaRPr lang="en-US"/>
          </a:p>
          <a:p>
            <a:r>
              <a:rPr lang="en-US"/>
              <a:t>Most mainstream hypervisors support VM Generation ID, but some smaller ones don’t. So, keep an eye on that. Hyper-V and VMWare 100% do. I believe </a:t>
            </a:r>
            <a:r>
              <a:rPr lang="en-US" err="1"/>
              <a:t>Proxmox</a:t>
            </a:r>
            <a:r>
              <a:rPr lang="en-US"/>
              <a:t> and Nutanix do. The others I cannot be sure about. </a:t>
            </a:r>
          </a:p>
          <a:p>
            <a:endParaRPr lang="en-US"/>
          </a:p>
          <a:p>
            <a:r>
              <a:rPr lang="en-US"/>
              <a:t>The only other supported scenario with snapshots is if you were to snap all the domain controllers at the same time and restore from the same snaps all at once if you needed to roll back. Otherwise, you could risk USN rollback.</a:t>
            </a:r>
          </a:p>
          <a:p>
            <a:endParaRPr lang="en-US"/>
          </a:p>
          <a:p>
            <a:r>
              <a:rPr lang="en-US"/>
              <a:t>Because of this weirdness, it is a general recommendation of mine to avoid snapshotting domain controllers in production. There are too many risks for it to be worth it. This is also why your backup solution needs to be AD-aware — a generic file or block backup that doesn't trigger the proper restore path won't get the Invocation ID reset, and you're back to the same USN rollback problem.</a:t>
            </a:r>
          </a:p>
          <a:p>
            <a:endParaRPr lang="en-US"/>
          </a:p>
          <a:p>
            <a:r>
              <a:rPr lang="en-US"/>
              <a:t>-- REFERENCES --</a:t>
            </a:r>
          </a:p>
          <a:p>
            <a:r>
              <a:rPr lang="en-US"/>
              <a:t>https://learn.microsoft.com/en-us/windows-server/identity/ad-ds/get-started/replication/active-directory-replication-concepts</a:t>
            </a:r>
          </a:p>
          <a:p>
            <a:r>
              <a:rPr lang="en-US"/>
              <a:t>https://learn.microsoft.com/en-us/windows-server/identity/ad-ds/manage/powershell/introduction-to-active-directory-replication-and-topology-management-using-windows-powershell--level-100-</a:t>
            </a:r>
          </a:p>
          <a:p>
            <a:r>
              <a:rPr lang="en-US"/>
              <a:t>https://learn.microsoft.com/en-us/troubleshoot/windows-server/active-directory/detect-and-recover-from-usn-rollback</a:t>
            </a:r>
          </a:p>
          <a:p>
            <a:r>
              <a:rPr lang="en-US"/>
              <a:t>https://adsecurity.org/?p=515</a:t>
            </a:r>
          </a:p>
          <a:p>
            <a:r>
              <a:rPr lang="en-US"/>
              <a:t>https://learn.microsoft.com/en-us/archive/blogs/reference_point/usn-rollback-virtualized-dcs-and-improvements-on-windows-server-2012</a:t>
            </a:r>
          </a:p>
          <a:p>
            <a:endParaRPr lang="en-US"/>
          </a:p>
          <a:p>
            <a:endParaRPr lang="en-US"/>
          </a:p>
          <a:p>
            <a:endParaRPr lang="en-US"/>
          </a:p>
        </p:txBody>
      </p:sp>
      <p:sp>
        <p:nvSpPr>
          <p:cNvPr id="4" name="Slide Number Placeholder 3"/>
          <p:cNvSpPr>
            <a:spLocks noGrp="1"/>
          </p:cNvSpPr>
          <p:nvPr>
            <p:ph type="sldNum" sz="quarter" idx="5"/>
          </p:nvPr>
        </p:nvSpPr>
        <p:spPr/>
        <p:txBody>
          <a:bodyPr/>
          <a:lstStyle/>
          <a:p>
            <a:fld id="{871B2431-D351-4C6E-A3CF-9DFAC0E3E050}" type="slidenum">
              <a:rPr lang="cs-CZ" smtClean="0"/>
              <a:t>10</a:t>
            </a:fld>
            <a:endParaRPr lang="cs-CZ"/>
          </a:p>
        </p:txBody>
      </p:sp>
    </p:spTree>
    <p:extLst>
      <p:ext uri="{BB962C8B-B14F-4D97-AF65-F5344CB8AC3E}">
        <p14:creationId xmlns:p14="http://schemas.microsoft.com/office/powerpoint/2010/main" val="1829238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8A540-257D-46D5-5A64-015EBD1AC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57F1AA-0093-EBB8-692C-987B3BBB354B}"/>
              </a:ext>
            </a:extLst>
          </p:cNvPr>
          <p:cNvSpPr>
            <a:spLocks noGrp="1" noRot="1" noChangeAspect="1"/>
          </p:cNvSpPr>
          <p:nvPr>
            <p:ph type="sldImg"/>
          </p:nvPr>
        </p:nvSpPr>
        <p:spPr>
          <a:xfrm>
            <a:off x="2290763" y="512763"/>
            <a:ext cx="4562475" cy="2566987"/>
          </a:xfrm>
        </p:spPr>
      </p:sp>
      <p:sp>
        <p:nvSpPr>
          <p:cNvPr id="3" name="Notes Placeholder 2">
            <a:extLst>
              <a:ext uri="{FF2B5EF4-FFF2-40B4-BE49-F238E27FC236}">
                <a16:creationId xmlns:a16="http://schemas.microsoft.com/office/drawing/2014/main" id="{D1EF0C2C-FF56-5209-B20F-ABCD626EA183}"/>
              </a:ext>
            </a:extLst>
          </p:cNvPr>
          <p:cNvSpPr>
            <a:spLocks noGrp="1"/>
          </p:cNvSpPr>
          <p:nvPr>
            <p:ph type="body" idx="1"/>
          </p:nvPr>
        </p:nvSpPr>
        <p:spPr/>
        <p:txBody>
          <a:bodyPr/>
          <a:lstStyle/>
          <a:p>
            <a:r>
              <a:rPr lang="en-US" dirty="0"/>
              <a:t>BONUS – Backups 101</a:t>
            </a:r>
          </a:p>
          <a:p>
            <a:endParaRPr lang="en-US" dirty="0"/>
          </a:p>
          <a:p>
            <a:r>
              <a:rPr lang="en-US" dirty="0"/>
              <a:t>This slide is jus some quick guides to some of the terms used with backups. It is not intended to be a full slide to be presented. </a:t>
            </a:r>
          </a:p>
          <a:p>
            <a:endParaRPr lang="en-US" dirty="0"/>
          </a:p>
          <a:p>
            <a:r>
              <a:rPr lang="en-US" dirty="0"/>
              <a:t>Backup Types</a:t>
            </a:r>
          </a:p>
          <a:p>
            <a:pPr marL="171450" indent="-171450">
              <a:buFontTx/>
              <a:buChar char="-"/>
            </a:pPr>
            <a:r>
              <a:rPr lang="en-US" dirty="0"/>
              <a:t>Bare Metal Recovery (BMR).</a:t>
            </a:r>
          </a:p>
          <a:p>
            <a:pPr marL="0" indent="0">
              <a:buFontTx/>
              <a:buNone/>
            </a:pPr>
            <a:r>
              <a:rPr lang="en-US" dirty="0"/>
              <a:t>This is a complete copy or clone of the system disks at the block/sector level. This is a nothing shared backup. The idea here is you capture everything. </a:t>
            </a:r>
          </a:p>
          <a:p>
            <a:pPr marL="0" indent="0">
              <a:buFontTx/>
              <a:buNone/>
            </a:pPr>
            <a:r>
              <a:rPr lang="en-US" dirty="0"/>
              <a:t>These can usually be used to restore from catastrophe and for AD have been the go-to backup solution as they allow for full loss to be restored from. </a:t>
            </a:r>
          </a:p>
          <a:p>
            <a:pPr marL="0" indent="0">
              <a:buFontTx/>
              <a:buNone/>
            </a:pPr>
            <a:r>
              <a:rPr lang="en-US" dirty="0"/>
              <a:t>The downside is that being a full disk-level copy is that any embedded or hidden malware will be captured and restored. This can lead to re-infection if not careful. </a:t>
            </a:r>
          </a:p>
          <a:p>
            <a:pPr marL="0" indent="0">
              <a:buFontTx/>
              <a:buNone/>
            </a:pPr>
            <a:r>
              <a:rPr lang="en-US" dirty="0"/>
              <a:t>Until modern, IFM-based, backups this was the only way to do a full end-to-end forest recovery.</a:t>
            </a:r>
          </a:p>
          <a:p>
            <a:pPr marL="0" indent="0">
              <a:buFontTx/>
              <a:buNone/>
            </a:pPr>
            <a:endParaRPr lang="en-US" dirty="0"/>
          </a:p>
          <a:p>
            <a:pPr marL="171450" indent="-171450">
              <a:buFontTx/>
              <a:buChar char="-"/>
            </a:pPr>
            <a:r>
              <a:rPr lang="en-US" dirty="0"/>
              <a:t>System State (SS)</a:t>
            </a:r>
          </a:p>
          <a:p>
            <a:pPr marL="0" indent="0">
              <a:buFontTx/>
              <a:buNone/>
            </a:pPr>
            <a:r>
              <a:rPr lang="en-US" dirty="0"/>
              <a:t>System State Backups are more just copies of the OS information and critical data. They don’t include all the files and applications and focus on “important” elements.</a:t>
            </a:r>
          </a:p>
          <a:p>
            <a:pPr marL="0" indent="0">
              <a:buFontTx/>
              <a:buNone/>
            </a:pPr>
            <a:r>
              <a:rPr lang="en-US" dirty="0"/>
              <a:t>The downside is they don’t capture the full system information so you cannot easily restore system state backups onto a new VM image. It requires a “surviving” VM to restore to. </a:t>
            </a:r>
          </a:p>
          <a:p>
            <a:pPr marL="0" indent="0">
              <a:buFontTx/>
              <a:buNone/>
            </a:pPr>
            <a:r>
              <a:rPr lang="en-US" dirty="0"/>
              <a:t>Another downside is they still have the possibility of embedded malware and reinfection.</a:t>
            </a:r>
          </a:p>
          <a:p>
            <a:pPr marL="0" indent="0">
              <a:buFontTx/>
              <a:buNone/>
            </a:pPr>
            <a:r>
              <a:rPr lang="en-US" dirty="0"/>
              <a:t>The biggest advantage is they are smaller in size than BMR. </a:t>
            </a:r>
          </a:p>
          <a:p>
            <a:pPr marL="0" indent="0">
              <a:buFontTx/>
              <a:buNone/>
            </a:pPr>
            <a:r>
              <a:rPr lang="en-US" dirty="0"/>
              <a:t>Ultimately, on their own they are not a true BCDR solution for AD. </a:t>
            </a:r>
          </a:p>
          <a:p>
            <a:pPr marL="0" indent="0">
              <a:buFontTx/>
              <a:buNone/>
            </a:pPr>
            <a:endParaRPr lang="en-US" dirty="0"/>
          </a:p>
          <a:p>
            <a:pPr marL="0" indent="0">
              <a:buFontTx/>
              <a:buNone/>
            </a:pPr>
            <a:endParaRPr lang="en-US" dirty="0"/>
          </a:p>
          <a:p>
            <a:pPr marL="0" indent="0">
              <a:buFontTx/>
              <a:buNone/>
            </a:pPr>
            <a:r>
              <a:rPr lang="en-US" dirty="0"/>
              <a:t>Backup Methods</a:t>
            </a:r>
          </a:p>
          <a:p>
            <a:pPr marL="171450" indent="-171450">
              <a:buFontTx/>
              <a:buChar char="-"/>
            </a:pPr>
            <a:r>
              <a:rPr lang="en-US" dirty="0"/>
              <a:t>Full Backup. </a:t>
            </a:r>
          </a:p>
          <a:p>
            <a:pPr marL="0" indent="0">
              <a:buFontTx/>
              <a:buNone/>
            </a:pPr>
            <a:r>
              <a:rPr lang="en-US" dirty="0"/>
              <a:t>This is a complete BMR or SS backup job. This has all the files for the job and is a full version of what was supposed to be backed up.</a:t>
            </a:r>
          </a:p>
          <a:p>
            <a:pPr marL="0" indent="0">
              <a:buFontTx/>
              <a:buNone/>
            </a:pPr>
            <a:r>
              <a:rPr lang="en-US" dirty="0"/>
              <a:t>Most backups are Full backups.</a:t>
            </a:r>
          </a:p>
          <a:p>
            <a:pPr marL="0" indent="0">
              <a:buFontTx/>
              <a:buNone/>
            </a:pPr>
            <a:r>
              <a:rPr lang="en-US" dirty="0"/>
              <a:t>Use these kinds of backups whenever possible. </a:t>
            </a:r>
          </a:p>
          <a:p>
            <a:pPr marL="0" indent="0">
              <a:buFontTx/>
              <a:buNone/>
            </a:pPr>
            <a:endParaRPr lang="en-US" dirty="0"/>
          </a:p>
          <a:p>
            <a:pPr marL="171450" indent="-171450">
              <a:buFontTx/>
              <a:buChar char="-"/>
            </a:pPr>
            <a:r>
              <a:rPr lang="en-US" dirty="0"/>
              <a:t>Incremental Backups</a:t>
            </a:r>
          </a:p>
          <a:p>
            <a:pPr marL="0" indent="0">
              <a:buFontTx/>
              <a:buNone/>
            </a:pPr>
            <a:r>
              <a:rPr lang="en-US" dirty="0"/>
              <a:t>These are delta backups that are linked to a full backup. The full backup runs say once a week and the incremental runs every day. </a:t>
            </a:r>
          </a:p>
          <a:p>
            <a:pPr marL="0" indent="0">
              <a:buFontTx/>
              <a:buNone/>
            </a:pPr>
            <a:r>
              <a:rPr lang="en-US" dirty="0"/>
              <a:t>The idea is that this reduces the storage demand as the incremental only capture what’s changed.</a:t>
            </a:r>
          </a:p>
          <a:p>
            <a:pPr marL="0" indent="0">
              <a:buFontTx/>
              <a:buNone/>
            </a:pPr>
            <a:r>
              <a:rPr lang="en-US" dirty="0"/>
              <a:t>The challenge is this introduces dependencies and you must have every backup in the chain to recover in a lot of situations. </a:t>
            </a:r>
          </a:p>
          <a:p>
            <a:pPr marL="0" indent="0">
              <a:buFontTx/>
              <a:buNone/>
            </a:pPr>
            <a:r>
              <a:rPr lang="en-US" dirty="0"/>
              <a:t>Not generally recommended.</a:t>
            </a:r>
          </a:p>
          <a:p>
            <a:pPr marL="0" indent="0">
              <a:buFontTx/>
              <a:buNone/>
            </a:pPr>
            <a:endParaRPr lang="en-US" dirty="0"/>
          </a:p>
          <a:p>
            <a:pPr marL="171450" indent="-171450">
              <a:buFontTx/>
              <a:buChar char="-"/>
            </a:pPr>
            <a:r>
              <a:rPr lang="en-US" dirty="0"/>
              <a:t>Differential backups</a:t>
            </a:r>
          </a:p>
          <a:p>
            <a:pPr marL="0" indent="0">
              <a:buFontTx/>
              <a:buNone/>
            </a:pPr>
            <a:r>
              <a:rPr lang="en-US" dirty="0"/>
              <a:t>Very similar to Incremental.</a:t>
            </a:r>
          </a:p>
          <a:p>
            <a:pPr marL="0" indent="0">
              <a:buFontTx/>
              <a:buNone/>
            </a:pPr>
            <a:r>
              <a:rPr lang="en-US" dirty="0"/>
              <a:t>Difference is incremental can chain off each other where differential ties back to a full backup.</a:t>
            </a:r>
          </a:p>
          <a:p>
            <a:pPr marL="0" indent="0">
              <a:buFontTx/>
              <a:buNone/>
            </a:pPr>
            <a:r>
              <a:rPr lang="en-US" dirty="0"/>
              <a:t>Has the same challenge as incremental and only is slightly better. </a:t>
            </a:r>
          </a:p>
          <a:p>
            <a:pPr marL="0" indent="0">
              <a:buFontTx/>
              <a:buNone/>
            </a:pPr>
            <a:r>
              <a:rPr lang="en-US" dirty="0"/>
              <a:t>Still not recommended.</a:t>
            </a:r>
          </a:p>
          <a:p>
            <a:endParaRPr lang="en-US" dirty="0"/>
          </a:p>
          <a:p>
            <a:r>
              <a:rPr lang="en-US" dirty="0"/>
              <a:t>-- REFERENCES --</a:t>
            </a:r>
          </a:p>
          <a:p>
            <a:r>
              <a:rPr lang="en-US" dirty="0"/>
              <a:t>https://learn.microsoft.com/en-us/azure/backup/backup-mabs-system-state-and-bmr</a:t>
            </a:r>
          </a:p>
          <a:p>
            <a:r>
              <a:rPr lang="en-US" dirty="0">
                <a:hlinkClick r:id="rId3"/>
              </a:rPr>
              <a:t>https://learn.microsoft.com/en-us/windows-server/identity/ad-ds/manage/forest-recovery-guide/ad-forest-recovery-backing-up-a-full-server</a:t>
            </a:r>
            <a:r>
              <a:rPr lang="en-US" dirty="0"/>
              <a:t> </a:t>
            </a:r>
          </a:p>
          <a:p>
            <a:r>
              <a:rPr lang="en-US" dirty="0">
                <a:hlinkClick r:id="rId4"/>
              </a:rPr>
              <a:t>https://learn.microsoft.com/en-us/windows-server/identity/ad-ds/manage/forest-recovery-guide/ad-forest-recovery-guide</a:t>
            </a:r>
            <a:r>
              <a:rPr lang="en-US" dirty="0"/>
              <a:t> </a:t>
            </a:r>
          </a:p>
          <a:p>
            <a:r>
              <a:rPr lang="en-US" dirty="0">
                <a:hlinkClick r:id="rId5"/>
              </a:rPr>
              <a:t>https://learn.microsoft.com/en-us/windows-server/identity/ad-ds/manage/forest-recovery-guide/ad-forest-recovery-determine-how-to-recover</a:t>
            </a:r>
            <a:endParaRPr lang="en-US" dirty="0"/>
          </a:p>
          <a:p>
            <a:r>
              <a:rPr lang="en-US" dirty="0"/>
              <a:t>https://www.semperis.com/blog/best-practices-active-directory-backup/</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EA095FCC-351A-6F94-FE9A-C1CA350CA5B8}"/>
              </a:ext>
            </a:extLst>
          </p:cNvPr>
          <p:cNvSpPr>
            <a:spLocks noGrp="1"/>
          </p:cNvSpPr>
          <p:nvPr>
            <p:ph type="sldNum" sz="quarter" idx="5"/>
          </p:nvPr>
        </p:nvSpPr>
        <p:spPr/>
        <p:txBody>
          <a:bodyPr/>
          <a:lstStyle/>
          <a:p>
            <a:fld id="{871B2431-D351-4C6E-A3CF-9DFAC0E3E050}" type="slidenum">
              <a:rPr lang="cs-CZ" smtClean="0"/>
              <a:t>11</a:t>
            </a:fld>
            <a:endParaRPr lang="cs-CZ"/>
          </a:p>
        </p:txBody>
      </p:sp>
    </p:spTree>
    <p:extLst>
      <p:ext uri="{BB962C8B-B14F-4D97-AF65-F5344CB8AC3E}">
        <p14:creationId xmlns:p14="http://schemas.microsoft.com/office/powerpoint/2010/main" val="13390368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8BB77-2101-ED12-9432-675A35A0C3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18950C-5067-17FF-C4C2-30AC3F739256}"/>
              </a:ext>
            </a:extLst>
          </p:cNvPr>
          <p:cNvSpPr>
            <a:spLocks noGrp="1" noRot="1" noChangeAspect="1"/>
          </p:cNvSpPr>
          <p:nvPr>
            <p:ph type="sldImg"/>
          </p:nvPr>
        </p:nvSpPr>
        <p:spPr>
          <a:xfrm>
            <a:off x="2290763" y="512763"/>
            <a:ext cx="4562475" cy="2566987"/>
          </a:xfrm>
        </p:spPr>
      </p:sp>
      <p:sp>
        <p:nvSpPr>
          <p:cNvPr id="3" name="Notes Placeholder 2">
            <a:extLst>
              <a:ext uri="{FF2B5EF4-FFF2-40B4-BE49-F238E27FC236}">
                <a16:creationId xmlns:a16="http://schemas.microsoft.com/office/drawing/2014/main" id="{3FEFAA8E-075F-2A6A-EDAC-81795400EBA7}"/>
              </a:ext>
            </a:extLst>
          </p:cNvPr>
          <p:cNvSpPr>
            <a:spLocks noGrp="1"/>
          </p:cNvSpPr>
          <p:nvPr>
            <p:ph type="body" idx="1"/>
          </p:nvPr>
        </p:nvSpPr>
        <p:spPr/>
        <p:txBody>
          <a:bodyPr/>
          <a:lstStyle/>
          <a:p>
            <a:r>
              <a:rPr lang="en-US" dirty="0"/>
              <a:t>BONUS – Backups 101</a:t>
            </a:r>
          </a:p>
          <a:p>
            <a:endParaRPr lang="en-US" dirty="0"/>
          </a:p>
          <a:p>
            <a:r>
              <a:rPr lang="en-US" dirty="0"/>
              <a:t>This slide is jus some quick guides to some of the terms used with backups. It is not intended to be a full slide to be presented. </a:t>
            </a:r>
          </a:p>
          <a:p>
            <a:endParaRPr lang="en-US" dirty="0"/>
          </a:p>
          <a:p>
            <a:r>
              <a:rPr lang="en-US" dirty="0"/>
              <a:t>Backup Types</a:t>
            </a:r>
          </a:p>
          <a:p>
            <a:pPr marL="171450" indent="-171450">
              <a:buFontTx/>
              <a:buChar char="-"/>
            </a:pPr>
            <a:r>
              <a:rPr lang="en-US" dirty="0"/>
              <a:t>Bare Metal Recovery (BMR).</a:t>
            </a:r>
          </a:p>
          <a:p>
            <a:pPr marL="0" indent="0">
              <a:buFontTx/>
              <a:buNone/>
            </a:pPr>
            <a:r>
              <a:rPr lang="en-US" dirty="0"/>
              <a:t>This is a complete copy or clone of the system disks at the block/sector level. This is a nothing shared backup. The idea here is you capture everything. </a:t>
            </a:r>
          </a:p>
          <a:p>
            <a:pPr marL="0" indent="0">
              <a:buFontTx/>
              <a:buNone/>
            </a:pPr>
            <a:r>
              <a:rPr lang="en-US" dirty="0"/>
              <a:t>These can usually be used to restore from catastrophe and for AD have been the go-to backup solution as they allow for full loss to be restored from. </a:t>
            </a:r>
          </a:p>
          <a:p>
            <a:pPr marL="0" indent="0">
              <a:buFontTx/>
              <a:buNone/>
            </a:pPr>
            <a:r>
              <a:rPr lang="en-US" dirty="0"/>
              <a:t>The downside is that being a full disk-level copy is that any embedded or hidden malware will be captured and restored. This can lead to re-infection if not careful. </a:t>
            </a:r>
          </a:p>
          <a:p>
            <a:pPr marL="0" indent="0">
              <a:buFontTx/>
              <a:buNone/>
            </a:pPr>
            <a:r>
              <a:rPr lang="en-US" dirty="0"/>
              <a:t>Until modern, IFM-based, backups this was the only way to do a full end-to-end forest recovery.</a:t>
            </a:r>
          </a:p>
          <a:p>
            <a:pPr marL="0" indent="0">
              <a:buFontTx/>
              <a:buNone/>
            </a:pPr>
            <a:endParaRPr lang="en-US" dirty="0"/>
          </a:p>
          <a:p>
            <a:pPr marL="171450" indent="-171450">
              <a:buFontTx/>
              <a:buChar char="-"/>
            </a:pPr>
            <a:r>
              <a:rPr lang="en-US" dirty="0"/>
              <a:t>System State (SS)</a:t>
            </a:r>
          </a:p>
          <a:p>
            <a:pPr marL="0" indent="0">
              <a:buFontTx/>
              <a:buNone/>
            </a:pPr>
            <a:r>
              <a:rPr lang="en-US" dirty="0"/>
              <a:t>System State Backups are more just copies of the OS information and critical data. They don’t include all the files and applications and focus on “important” elements.</a:t>
            </a:r>
          </a:p>
          <a:p>
            <a:pPr marL="0" indent="0">
              <a:buFontTx/>
              <a:buNone/>
            </a:pPr>
            <a:r>
              <a:rPr lang="en-US" dirty="0"/>
              <a:t>The downside is they don’t capture the full system information so you cannot easily restore system state backups onto a new VM image. It requires a “surviving” VM to restore to. </a:t>
            </a:r>
          </a:p>
          <a:p>
            <a:pPr marL="0" indent="0">
              <a:buFontTx/>
              <a:buNone/>
            </a:pPr>
            <a:r>
              <a:rPr lang="en-US" dirty="0"/>
              <a:t>Another downside is they still have the possibility of embedded malware and reinfection.</a:t>
            </a:r>
          </a:p>
          <a:p>
            <a:pPr marL="0" indent="0">
              <a:buFontTx/>
              <a:buNone/>
            </a:pPr>
            <a:r>
              <a:rPr lang="en-US" dirty="0"/>
              <a:t>The biggest advantage is they are smaller in size than BMR. </a:t>
            </a:r>
          </a:p>
          <a:p>
            <a:pPr marL="0" indent="0">
              <a:buFontTx/>
              <a:buNone/>
            </a:pPr>
            <a:r>
              <a:rPr lang="en-US" dirty="0"/>
              <a:t>Ultimately, on their own they are not a true BCDR solution for AD. </a:t>
            </a:r>
          </a:p>
          <a:p>
            <a:pPr marL="0" indent="0">
              <a:buFontTx/>
              <a:buNone/>
            </a:pPr>
            <a:endParaRPr lang="en-US" dirty="0"/>
          </a:p>
          <a:p>
            <a:pPr marL="0" indent="0">
              <a:buFontTx/>
              <a:buNone/>
            </a:pPr>
            <a:endParaRPr lang="en-US" dirty="0"/>
          </a:p>
          <a:p>
            <a:pPr marL="0" indent="0">
              <a:buFontTx/>
              <a:buNone/>
            </a:pPr>
            <a:r>
              <a:rPr lang="en-US" dirty="0"/>
              <a:t>Backup Methods</a:t>
            </a:r>
          </a:p>
          <a:p>
            <a:pPr marL="171450" indent="-171450">
              <a:buFontTx/>
              <a:buChar char="-"/>
            </a:pPr>
            <a:r>
              <a:rPr lang="en-US" dirty="0"/>
              <a:t>Full Backup. </a:t>
            </a:r>
          </a:p>
          <a:p>
            <a:pPr marL="0" indent="0">
              <a:buFontTx/>
              <a:buNone/>
            </a:pPr>
            <a:r>
              <a:rPr lang="en-US" dirty="0"/>
              <a:t>This is a complete BMR or SS backup job. This has all the files for the job and is a full version of what was supposed to be backed up.</a:t>
            </a:r>
          </a:p>
          <a:p>
            <a:pPr marL="0" indent="0">
              <a:buFontTx/>
              <a:buNone/>
            </a:pPr>
            <a:r>
              <a:rPr lang="en-US" dirty="0"/>
              <a:t>Most backups are Full backups.</a:t>
            </a:r>
          </a:p>
          <a:p>
            <a:pPr marL="0" indent="0">
              <a:buFontTx/>
              <a:buNone/>
            </a:pPr>
            <a:r>
              <a:rPr lang="en-US" dirty="0"/>
              <a:t>Use these kinds of backups whenever possible. </a:t>
            </a:r>
          </a:p>
          <a:p>
            <a:pPr marL="0" indent="0">
              <a:buFontTx/>
              <a:buNone/>
            </a:pPr>
            <a:endParaRPr lang="en-US" dirty="0"/>
          </a:p>
          <a:p>
            <a:pPr marL="171450" indent="-171450">
              <a:buFontTx/>
              <a:buChar char="-"/>
            </a:pPr>
            <a:r>
              <a:rPr lang="en-US" dirty="0"/>
              <a:t>Incremental Backups</a:t>
            </a:r>
          </a:p>
          <a:p>
            <a:pPr marL="0" indent="0">
              <a:buFontTx/>
              <a:buNone/>
            </a:pPr>
            <a:r>
              <a:rPr lang="en-US" dirty="0"/>
              <a:t>These are delta backups that are linked to a full backup. The full backup runs say once a week and the incremental runs every day. </a:t>
            </a:r>
          </a:p>
          <a:p>
            <a:pPr marL="0" indent="0">
              <a:buFontTx/>
              <a:buNone/>
            </a:pPr>
            <a:r>
              <a:rPr lang="en-US" dirty="0"/>
              <a:t>The idea is that this reduces the storage demand as the incremental only capture what’s changed.</a:t>
            </a:r>
          </a:p>
          <a:p>
            <a:pPr marL="0" indent="0">
              <a:buFontTx/>
              <a:buNone/>
            </a:pPr>
            <a:r>
              <a:rPr lang="en-US" dirty="0"/>
              <a:t>The challenge is this introduces dependencies and you must have every backup in the chain to recover in a lot of situations. </a:t>
            </a:r>
          </a:p>
          <a:p>
            <a:pPr marL="0" indent="0">
              <a:buFontTx/>
              <a:buNone/>
            </a:pPr>
            <a:r>
              <a:rPr lang="en-US" dirty="0"/>
              <a:t>Not generally recommended.</a:t>
            </a:r>
          </a:p>
          <a:p>
            <a:pPr marL="0" indent="0">
              <a:buFontTx/>
              <a:buNone/>
            </a:pPr>
            <a:endParaRPr lang="en-US" dirty="0"/>
          </a:p>
          <a:p>
            <a:pPr marL="171450" indent="-171450">
              <a:buFontTx/>
              <a:buChar char="-"/>
            </a:pPr>
            <a:r>
              <a:rPr lang="en-US" dirty="0"/>
              <a:t>Differential backups</a:t>
            </a:r>
          </a:p>
          <a:p>
            <a:pPr marL="0" indent="0">
              <a:buFontTx/>
              <a:buNone/>
            </a:pPr>
            <a:r>
              <a:rPr lang="en-US" dirty="0"/>
              <a:t>Very similar to Incremental.</a:t>
            </a:r>
          </a:p>
          <a:p>
            <a:pPr marL="0" indent="0">
              <a:buFontTx/>
              <a:buNone/>
            </a:pPr>
            <a:r>
              <a:rPr lang="en-US" dirty="0"/>
              <a:t>Difference is incremental can chain off each other where differential ties back to a full backup.</a:t>
            </a:r>
          </a:p>
          <a:p>
            <a:pPr marL="0" indent="0">
              <a:buFontTx/>
              <a:buNone/>
            </a:pPr>
            <a:r>
              <a:rPr lang="en-US" dirty="0"/>
              <a:t>Has the same challenge as incremental and only is slightly better. </a:t>
            </a:r>
          </a:p>
          <a:p>
            <a:pPr marL="0" indent="0">
              <a:buFontTx/>
              <a:buNone/>
            </a:pPr>
            <a:r>
              <a:rPr lang="en-US" dirty="0"/>
              <a:t>Still not recommended.</a:t>
            </a:r>
          </a:p>
          <a:p>
            <a:endParaRPr lang="en-US" dirty="0"/>
          </a:p>
          <a:p>
            <a:r>
              <a:rPr lang="en-US" dirty="0"/>
              <a:t>-- REFERENCES --</a:t>
            </a:r>
          </a:p>
          <a:p>
            <a:r>
              <a:rPr lang="en-US" dirty="0"/>
              <a:t>https://learn.microsoft.com/en-us/azure/backup/backup-mabs-system-state-and-bmr</a:t>
            </a:r>
          </a:p>
          <a:p>
            <a:r>
              <a:rPr lang="en-US" dirty="0">
                <a:hlinkClick r:id="rId3"/>
              </a:rPr>
              <a:t>https://learn.microsoft.com/en-us/windows-server/identity/ad-ds/manage/forest-recovery-guide/ad-forest-recovery-backing-up-a-full-server</a:t>
            </a:r>
            <a:r>
              <a:rPr lang="en-US" dirty="0"/>
              <a:t> </a:t>
            </a:r>
          </a:p>
          <a:p>
            <a:r>
              <a:rPr lang="en-US" dirty="0">
                <a:hlinkClick r:id="rId4"/>
              </a:rPr>
              <a:t>https://learn.microsoft.com/en-us/windows-server/identity/ad-ds/manage/forest-recovery-guide/ad-forest-recovery-guide</a:t>
            </a:r>
            <a:r>
              <a:rPr lang="en-US" dirty="0"/>
              <a:t> </a:t>
            </a:r>
          </a:p>
          <a:p>
            <a:r>
              <a:rPr lang="en-US" dirty="0">
                <a:hlinkClick r:id="rId5"/>
              </a:rPr>
              <a:t>https://learn.microsoft.com/en-us/windows-server/identity/ad-ds/manage/forest-recovery-guide/ad-forest-recovery-determine-how-to-recover</a:t>
            </a:r>
            <a:endParaRPr lang="en-US" dirty="0"/>
          </a:p>
          <a:p>
            <a:r>
              <a:rPr lang="en-US" dirty="0"/>
              <a:t>https://www.semperis.com/blog/best-practices-active-directory-backup/</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B30EBAF8-08E6-9312-1BFD-F76E55117E83}"/>
              </a:ext>
            </a:extLst>
          </p:cNvPr>
          <p:cNvSpPr>
            <a:spLocks noGrp="1"/>
          </p:cNvSpPr>
          <p:nvPr>
            <p:ph type="sldNum" sz="quarter" idx="5"/>
          </p:nvPr>
        </p:nvSpPr>
        <p:spPr/>
        <p:txBody>
          <a:bodyPr/>
          <a:lstStyle/>
          <a:p>
            <a:fld id="{871B2431-D351-4C6E-A3CF-9DFAC0E3E050}" type="slidenum">
              <a:rPr lang="cs-CZ" smtClean="0"/>
              <a:t>12</a:t>
            </a:fld>
            <a:endParaRPr lang="cs-CZ"/>
          </a:p>
        </p:txBody>
      </p:sp>
    </p:spTree>
    <p:extLst>
      <p:ext uri="{BB962C8B-B14F-4D97-AF65-F5344CB8AC3E}">
        <p14:creationId xmlns:p14="http://schemas.microsoft.com/office/powerpoint/2010/main" val="2591321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need a target; some goals.</a:t>
            </a:r>
          </a:p>
          <a:p>
            <a:endParaRPr lang="en-US"/>
          </a:p>
          <a:p>
            <a:r>
              <a:rPr lang="en-US"/>
              <a:t>What is the business need? Too many orgs go into BCDR forgetting that they need to know how far back to keep backups or what a reasonable amount of downtime looks like.</a:t>
            </a:r>
          </a:p>
          <a:p>
            <a:endParaRPr lang="en-US"/>
          </a:p>
          <a:p>
            <a:r>
              <a:rPr lang="en-US"/>
              <a:t>Execs love to say "Zero downtime" which is a great thing to say in the mirror. It's not realistic when thinking of BCDR. </a:t>
            </a:r>
          </a:p>
          <a:p>
            <a:endParaRPr lang="en-US"/>
          </a:p>
          <a:p>
            <a:r>
              <a:rPr lang="en-US"/>
              <a:t>What are we protecting against?  This focuses on what events and impacts are being considered. </a:t>
            </a:r>
          </a:p>
          <a:p>
            <a:endParaRPr lang="en-US"/>
          </a:p>
          <a:p>
            <a:r>
              <a:rPr lang="en-US"/>
              <a:t>Flooding? Fire? Malware? </a:t>
            </a:r>
          </a:p>
          <a:p>
            <a:endParaRPr lang="en-US"/>
          </a:p>
          <a:p>
            <a:r>
              <a:rPr lang="en-US"/>
              <a:t>But don't forget the human and technical elements. People make mistakes. Hard drives go bad. Ransomware gives you the red screen of "eff". </a:t>
            </a:r>
          </a:p>
          <a:p>
            <a:endParaRPr lang="en-US"/>
          </a:p>
          <a:p>
            <a:r>
              <a:rPr lang="en-US"/>
              <a:t>[slide]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Thinking of technical. </a:t>
            </a:r>
          </a:p>
          <a:p>
            <a:endParaRPr lang="en-US" dirty="0"/>
          </a:p>
          <a:p>
            <a:r>
              <a:rPr lang="en-US" dirty="0"/>
              <a:t>The solution has to be able to restore, specifically in this case it has to be able to restore AD safely and reliably.</a:t>
            </a:r>
          </a:p>
          <a:p>
            <a:endParaRPr lang="en-US" dirty="0"/>
          </a:p>
          <a:p>
            <a:r>
              <a:rPr lang="en-US" dirty="0"/>
              <a:t>AD is kind of a snowflake in how it likes to be restored, so the products need to actually be able to handle those quirks. Were not just file servers over here! </a:t>
            </a:r>
          </a:p>
          <a:p>
            <a:endParaRPr lang="en-US" dirty="0"/>
          </a:p>
          <a:p>
            <a:r>
              <a:rPr lang="en-US" dirty="0"/>
              <a:t>If you can't restore your target, what's the point?</a:t>
            </a:r>
          </a:p>
          <a:p>
            <a:endParaRPr lang="en-US" dirty="0"/>
          </a:p>
          <a:p>
            <a:r>
              <a:rPr lang="en-US" dirty="0"/>
              <a:t>Also, this is a good place to mention, make sure when you are backing up AD that you’re backing up multiple domain controllers. </a:t>
            </a:r>
          </a:p>
          <a:p>
            <a:endParaRPr lang="en-US" dirty="0"/>
          </a:p>
          <a:p>
            <a:r>
              <a:rPr lang="en-US" dirty="0"/>
              <a:t>[slide]</a:t>
            </a:r>
          </a:p>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What does the security model of the solution look like? Is it encrypted at rest? If backups are replicated, are they encrypted in transit? Do they have an RBAC model? </a:t>
            </a:r>
          </a:p>
          <a:p>
            <a:endParaRPr lang="en-US" dirty="0"/>
          </a:p>
          <a:p>
            <a:r>
              <a:rPr lang="en-US" dirty="0"/>
              <a:t>The goal here is to ensure the backups are protected. Make sure that you look at that with the solution and develop it. Remember these backups are literally copies of the AD database which means all the passwords. We have to keep the bad guys and the riff-raff out. </a:t>
            </a:r>
          </a:p>
          <a:p>
            <a:endParaRPr lang="en-US" dirty="0"/>
          </a:p>
          <a:p>
            <a:pPr marL="171450" indent="-171450">
              <a:buFontTx/>
              <a:buChar char="-"/>
            </a:pPr>
            <a:r>
              <a:rPr lang="en-US" dirty="0"/>
              <a:t>Encrypted at rest.</a:t>
            </a:r>
          </a:p>
          <a:p>
            <a:pPr marL="171450" indent="-171450">
              <a:buFontTx/>
              <a:buChar char="-"/>
            </a:pPr>
            <a:r>
              <a:rPr lang="en-US" dirty="0"/>
              <a:t>Encrypted in transit</a:t>
            </a:r>
          </a:p>
          <a:p>
            <a:pPr marL="171450" indent="-171450">
              <a:buFontTx/>
              <a:buChar char="-"/>
            </a:pPr>
            <a:r>
              <a:rPr lang="en-US" dirty="0"/>
              <a:t>Role-based access controls</a:t>
            </a:r>
          </a:p>
          <a:p>
            <a:endParaRPr lang="en-US" dirty="0"/>
          </a:p>
          <a:p>
            <a:r>
              <a:rPr lang="en-US" dirty="0"/>
              <a:t>[slide]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Support. I've mentioned that before. It has to be supportable by the vendor. </a:t>
            </a:r>
          </a:p>
          <a:p>
            <a:endParaRPr lang="en-US"/>
          </a:p>
          <a:p>
            <a:r>
              <a:rPr lang="en-US"/>
              <a:t>[slide]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Resilience is a big part of BCDR. What if the malware goes after my backups? Does my solution, not just the product but my solution, have planned resiliency? </a:t>
            </a:r>
          </a:p>
          <a:p>
            <a:endParaRPr lang="en-US"/>
          </a:p>
          <a:p>
            <a:r>
              <a:rPr lang="en-US"/>
              <a:t>Does my BCDR depend on AD to restore AD, because that isn’t going to work?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65039-993A-5069-B623-B4C2FBF0EC5D}"/>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97730D79-18DE-580D-9063-B33CFB6381E8}"/>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6E43FD5E-E8D0-BA0A-F230-CB7F5807BA43}"/>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1BA90735-B743-9ACE-6E4F-40AAE0390C53}"/>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61E1B1F7-4535-A409-5511-B42A3F6986FD}"/>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Part of the “Is It Resilient” discussion is the 3-2-1 rule.</a:t>
            </a:r>
          </a:p>
          <a:p>
            <a:pPr marL="171450" indent="-171450">
              <a:buFontTx/>
              <a:buChar char="-"/>
            </a:pPr>
            <a:r>
              <a:rPr lang="en-US" dirty="0"/>
              <a:t>You want 3 copies of your data</a:t>
            </a:r>
          </a:p>
          <a:p>
            <a:pPr marL="171450" indent="-171450">
              <a:buFontTx/>
              <a:buChar char="-"/>
            </a:pPr>
            <a:r>
              <a:rPr lang="en-US" dirty="0"/>
              <a:t>Use 2 different media types.</a:t>
            </a:r>
          </a:p>
          <a:p>
            <a:pPr marL="628650" lvl="1" indent="-171450">
              <a:buFontTx/>
              <a:buChar char="-"/>
            </a:pPr>
            <a:r>
              <a:rPr lang="en-US" dirty="0"/>
              <a:t>Personally, on-prem and cloud count as two different media types. </a:t>
            </a:r>
          </a:p>
          <a:p>
            <a:pPr marL="171450" indent="-171450">
              <a:buFontTx/>
              <a:buChar char="-"/>
            </a:pPr>
            <a:r>
              <a:rPr lang="en-US" dirty="0"/>
              <a:t>1 of those copies should be offline</a:t>
            </a:r>
          </a:p>
          <a:p>
            <a:pPr marL="628650" lvl="1" indent="-171450">
              <a:buFontTx/>
              <a:buChar char="-"/>
            </a:pPr>
            <a:r>
              <a:rPr lang="en-US" dirty="0"/>
              <a:t>Cloud is kind offline in this sense, but not 100%. </a:t>
            </a:r>
          </a:p>
          <a:p>
            <a:pPr marL="628650" lvl="1" indent="-171450">
              <a:buFontTx/>
              <a:buChar char="-"/>
            </a:pPr>
            <a:r>
              <a:rPr lang="en-US" dirty="0"/>
              <a:t>It is better than nothing, but with all the connections cross dependencies, it isn’t really offline. </a:t>
            </a:r>
          </a:p>
          <a:p>
            <a:pPr marL="171450" indent="-171450">
              <a:buFontTx/>
              <a:buChar char="-"/>
            </a:pPr>
            <a:endParaRPr lang="en-US" dirty="0"/>
          </a:p>
          <a:p>
            <a:pPr marL="0" indent="0">
              <a:buFontTx/>
              <a:buNone/>
            </a:pPr>
            <a:r>
              <a:rPr lang="en-US" dirty="0"/>
              <a:t>In the last few years there has been the +1 tossed to end which represents at least one of those copies should be on immutable/write-protected storage. </a:t>
            </a:r>
          </a:p>
        </p:txBody>
      </p:sp>
      <p:sp>
        <p:nvSpPr>
          <p:cNvPr id="6" name="Footer Placeholder 5">
            <a:extLst>
              <a:ext uri="{FF2B5EF4-FFF2-40B4-BE49-F238E27FC236}">
                <a16:creationId xmlns:a16="http://schemas.microsoft.com/office/drawing/2014/main" id="{60710915-2E53-D9A0-C7DA-433A1BA6F04A}"/>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C66FF922-AFA4-8F2D-8A75-E948439F896F}"/>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439179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654A5-C910-6AA5-8172-B82DB6FA5BB9}"/>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2FC6E9F3-9A8F-B9C2-551A-1875B5C1D667}"/>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DF607ABD-81CB-671F-A3DE-BB64D6B0F738}"/>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E0BB3615-49DA-3C50-A637-7504EFB342C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DF5EE912-7ADE-6A0B-AB42-3159A6C5A988}"/>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There are a lot of layers to a good backup test. I wasn’t kidding when I said this could be a talk on its own.</a:t>
            </a:r>
          </a:p>
          <a:p>
            <a:endParaRPr lang="en-US" dirty="0"/>
          </a:p>
          <a:p>
            <a:r>
              <a:rPr lang="en-US" dirty="0"/>
              <a:t>Why is testing important?</a:t>
            </a:r>
          </a:p>
          <a:p>
            <a:pPr marL="171450" indent="-171450">
              <a:buFontTx/>
              <a:buChar char="-"/>
            </a:pPr>
            <a:r>
              <a:rPr lang="en-US" dirty="0"/>
              <a:t>Backups can still have issues. Even if it shows “successful” it isn’t really successful until it is used. There can be hidden dependencies, etc. </a:t>
            </a:r>
          </a:p>
          <a:p>
            <a:pPr marL="171450" indent="-171450">
              <a:buFontTx/>
              <a:buChar char="-"/>
            </a:pPr>
            <a:r>
              <a:rPr lang="en-US" dirty="0"/>
              <a:t>Testing trains memory and checks for hidden dependencies – Especially with manual recoveries. The AD forest recovery guide is complex. No one can remember all the steps. Testing helps develop the memory and skills needed to actually do this life if the day comes. </a:t>
            </a:r>
          </a:p>
          <a:p>
            <a:pPr marL="171450" indent="-171450">
              <a:buFontTx/>
              <a:buChar char="-"/>
            </a:pPr>
            <a:r>
              <a:rPr lang="en-US" dirty="0"/>
              <a:t>Pay attention to the tombstone lifetime. This is how far back backups and be retained so it ensures you’re not invalid. </a:t>
            </a:r>
          </a:p>
          <a:p>
            <a:pPr marL="171450" indent="-171450">
              <a:buFontTx/>
              <a:buChar char="-"/>
            </a:pPr>
            <a:endParaRPr lang="en-US" dirty="0"/>
          </a:p>
          <a:p>
            <a:pPr marL="171450" indent="-171450">
              <a:buFontTx/>
              <a:buChar char="-"/>
            </a:pPr>
            <a:endParaRPr lang="en-US" dirty="0"/>
          </a:p>
          <a:p>
            <a:pPr marL="0" indent="0">
              <a:buFontTx/>
              <a:buNone/>
            </a:pPr>
            <a:r>
              <a:rPr lang="en-US" dirty="0"/>
              <a:t>Test Environment Requirements</a:t>
            </a:r>
          </a:p>
          <a:p>
            <a:pPr marL="171450" indent="-171450">
              <a:buFontTx/>
              <a:buChar char="-"/>
            </a:pPr>
            <a:r>
              <a:rPr lang="en-US" dirty="0"/>
              <a:t>Always restore to a test/isolated environment. If you have two DCs on the network, it could really screw up replication and other issues. Double check this before proceeding.</a:t>
            </a:r>
          </a:p>
          <a:p>
            <a:pPr marL="171450" indent="-171450">
              <a:buFontTx/>
              <a:buChar char="-"/>
            </a:pPr>
            <a:r>
              <a:rPr lang="en-US" dirty="0"/>
              <a:t>Make sure you’re restoring full copies of functioning systems. Anything less isn’t valid. This is why the isolation is important.</a:t>
            </a:r>
          </a:p>
          <a:p>
            <a:pPr marL="171450" indent="-171450">
              <a:buFontTx/>
              <a:buChar char="-"/>
            </a:pPr>
            <a:r>
              <a:rPr lang="en-US" dirty="0"/>
              <a:t>When building the test environment CPU and Memory can be lower. Generally, disk should be the same or greater due to how backups work. </a:t>
            </a:r>
          </a:p>
          <a:p>
            <a:pPr marL="171450" indent="-171450">
              <a:buFontTx/>
              <a:buChar char="-"/>
            </a:pPr>
            <a:endParaRPr lang="en-US" dirty="0"/>
          </a:p>
          <a:p>
            <a:pPr marL="171450" indent="-171450">
              <a:buFontTx/>
              <a:buChar char="-"/>
            </a:pPr>
            <a:endParaRPr lang="en-US" dirty="0"/>
          </a:p>
          <a:p>
            <a:pPr marL="0" indent="0">
              <a:buFontTx/>
              <a:buNone/>
            </a:pPr>
            <a:r>
              <a:rPr lang="en-US" dirty="0"/>
              <a:t>Verification of Backups</a:t>
            </a:r>
          </a:p>
          <a:p>
            <a:pPr marL="171450" indent="-171450">
              <a:buFontTx/>
              <a:buChar char="-"/>
            </a:pPr>
            <a:r>
              <a:rPr lang="en-US" dirty="0"/>
              <a:t>Check for objects, groups, etc. and ensure they exist as expected. </a:t>
            </a:r>
          </a:p>
          <a:p>
            <a:pPr marL="171450" indent="-171450">
              <a:buFontTx/>
              <a:buChar char="-"/>
            </a:pPr>
            <a:r>
              <a:rPr lang="en-US" dirty="0"/>
              <a:t>Check if you can actually authenticate to the environment using expected credentials.</a:t>
            </a:r>
          </a:p>
          <a:p>
            <a:pPr marL="171450" indent="-171450">
              <a:buFontTx/>
              <a:buChar char="-"/>
            </a:pPr>
            <a:r>
              <a:rPr lang="en-US" dirty="0"/>
              <a:t>Check the system/domain health. Replication will be messed up if you only restore one domain controller, that’s okay.</a:t>
            </a:r>
          </a:p>
          <a:p>
            <a:pPr marL="171450" indent="-171450">
              <a:buFontTx/>
              <a:buChar char="-"/>
            </a:pPr>
            <a:r>
              <a:rPr lang="en-US" dirty="0"/>
              <a:t>Run the following command to check database integrity to ensure there aren’t hidden issues. </a:t>
            </a:r>
          </a:p>
          <a:p>
            <a:pPr marL="0" indent="0">
              <a:buFontTx/>
              <a:buNone/>
            </a:pPr>
            <a:r>
              <a:rPr lang="fr-FR" dirty="0" err="1"/>
              <a:t>ntdsutil</a:t>
            </a:r>
            <a:r>
              <a:rPr lang="fr-FR" dirty="0"/>
              <a:t> "</a:t>
            </a:r>
            <a:r>
              <a:rPr lang="fr-FR" dirty="0" err="1"/>
              <a:t>activate</a:t>
            </a:r>
            <a:r>
              <a:rPr lang="fr-FR" dirty="0"/>
              <a:t> instance </a:t>
            </a:r>
            <a:r>
              <a:rPr lang="fr-FR" dirty="0" err="1"/>
              <a:t>ntds</a:t>
            </a:r>
            <a:r>
              <a:rPr lang="fr-FR" dirty="0"/>
              <a:t>" "files" "</a:t>
            </a:r>
            <a:r>
              <a:rPr lang="fr-FR" dirty="0" err="1"/>
              <a:t>integrity</a:t>
            </a:r>
            <a:r>
              <a:rPr lang="fr-FR" dirty="0"/>
              <a:t>" </a:t>
            </a:r>
            <a:r>
              <a:rPr lang="fr-FR" dirty="0" err="1"/>
              <a:t>quit</a:t>
            </a:r>
            <a:r>
              <a:rPr lang="fr-FR" dirty="0"/>
              <a:t> </a:t>
            </a:r>
            <a:r>
              <a:rPr lang="fr-FR" dirty="0" err="1"/>
              <a:t>quit</a:t>
            </a:r>
            <a:endParaRPr lang="fr-FR" dirty="0"/>
          </a:p>
          <a:p>
            <a:pPr marL="0" indent="0">
              <a:buFontTx/>
              <a:buNone/>
            </a:pPr>
            <a:endParaRPr lang="fr-FR" dirty="0"/>
          </a:p>
          <a:p>
            <a:pPr marL="0" indent="0">
              <a:buFontTx/>
              <a:buNone/>
            </a:pPr>
            <a:r>
              <a:rPr lang="fr-FR" dirty="0"/>
              <a:t>DOCUMENT</a:t>
            </a:r>
          </a:p>
          <a:p>
            <a:pPr marL="0" indent="0">
              <a:buFontTx/>
              <a:buNone/>
            </a:pPr>
            <a:r>
              <a:rPr lang="fr-FR" dirty="0"/>
              <a:t>- This process </a:t>
            </a:r>
            <a:r>
              <a:rPr lang="fr-FR" dirty="0" err="1"/>
              <a:t>needs</a:t>
            </a:r>
            <a:r>
              <a:rPr lang="fr-FR" dirty="0"/>
              <a:t> to </a:t>
            </a:r>
            <a:r>
              <a:rPr lang="fr-FR" dirty="0" err="1"/>
              <a:t>be</a:t>
            </a:r>
            <a:r>
              <a:rPr lang="fr-FR" dirty="0"/>
              <a:t> </a:t>
            </a:r>
            <a:r>
              <a:rPr lang="fr-FR" dirty="0" err="1"/>
              <a:t>documented</a:t>
            </a:r>
            <a:r>
              <a:rPr lang="fr-FR" dirty="0"/>
              <a:t>. This </a:t>
            </a:r>
            <a:r>
              <a:rPr lang="fr-FR" dirty="0" err="1"/>
              <a:t>true</a:t>
            </a:r>
            <a:r>
              <a:rPr lang="fr-FR" dirty="0"/>
              <a:t> </a:t>
            </a:r>
            <a:r>
              <a:rPr lang="fr-FR" dirty="0" err="1"/>
              <a:t>even</a:t>
            </a:r>
            <a:r>
              <a:rPr lang="fr-FR" dirty="0"/>
              <a:t> if </a:t>
            </a:r>
            <a:r>
              <a:rPr lang="fr-FR" dirty="0" err="1"/>
              <a:t>using</a:t>
            </a:r>
            <a:r>
              <a:rPr lang="fr-FR" dirty="0"/>
              <a:t> an </a:t>
            </a:r>
            <a:r>
              <a:rPr lang="fr-FR" dirty="0" err="1"/>
              <a:t>automated</a:t>
            </a:r>
            <a:r>
              <a:rPr lang="fr-FR" dirty="0"/>
              <a:t> solution to do the restores and backups.</a:t>
            </a:r>
          </a:p>
          <a:p>
            <a:pPr marL="0" indent="0">
              <a:buFontTx/>
              <a:buNone/>
            </a:pPr>
            <a:endParaRPr lang="fr-FR" dirty="0"/>
          </a:p>
          <a:p>
            <a:pPr marL="0" indent="0">
              <a:buFontTx/>
              <a:buNone/>
            </a:pPr>
            <a:endParaRPr lang="fr-FR" dirty="0"/>
          </a:p>
          <a:p>
            <a:pPr marL="0" indent="0">
              <a:buFontTx/>
              <a:buNone/>
            </a:pPr>
            <a:r>
              <a:rPr lang="fr-FR" dirty="0"/>
              <a:t>-- REFERENCES --</a:t>
            </a:r>
          </a:p>
          <a:p>
            <a:pPr marL="0" indent="0">
              <a:buFontTx/>
              <a:buNone/>
            </a:pPr>
            <a:r>
              <a:rPr lang="en-US" dirty="0"/>
              <a:t>https://www.semperis.com/blog/best-practices-active-directory-backup/</a:t>
            </a:r>
          </a:p>
          <a:p>
            <a:pPr marL="0" indent="0">
              <a:buFontTx/>
              <a:buNone/>
            </a:pPr>
            <a:r>
              <a:rPr lang="en-US" dirty="0"/>
              <a:t>https://netwrix.com/en/resources/blog/how-to-backup-active-directory/</a:t>
            </a:r>
          </a:p>
          <a:p>
            <a:pPr marL="0" indent="0">
              <a:buFontTx/>
              <a:buNone/>
            </a:pPr>
            <a:r>
              <a:rPr lang="en-US" dirty="0"/>
              <a:t>https://www.ninjaone.com/blog/active-directory-backup-overview-with-examples/</a:t>
            </a:r>
          </a:p>
          <a:p>
            <a:pPr marL="0" indent="0">
              <a:buFontTx/>
              <a:buNone/>
            </a:pPr>
            <a:r>
              <a:rPr lang="en-US" dirty="0"/>
              <a:t>https://bp.veeam.com/vbr/4_Operations/O_Restores/ActiveDirectory.html</a:t>
            </a:r>
          </a:p>
          <a:p>
            <a:pPr marL="171450" indent="-171450">
              <a:buFontTx/>
              <a:buChar char="-"/>
            </a:pPr>
            <a:endParaRPr lang="en-US" dirty="0"/>
          </a:p>
        </p:txBody>
      </p:sp>
      <p:sp>
        <p:nvSpPr>
          <p:cNvPr id="6" name="Footer Placeholder 5">
            <a:extLst>
              <a:ext uri="{FF2B5EF4-FFF2-40B4-BE49-F238E27FC236}">
                <a16:creationId xmlns:a16="http://schemas.microsoft.com/office/drawing/2014/main" id="{A6ADD393-5C28-9716-5B34-D7CE082FC8AC}"/>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CEA08601-0BEE-675A-09E3-4E63296B7313}"/>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7655468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This is a process I’ve used to test backups before. It works well. The steps aren’t 100% comprehensive but it should be a place to start. </a:t>
            </a:r>
          </a:p>
          <a:p>
            <a:endParaRPr lang="en-US" dirty="0"/>
          </a:p>
          <a:p>
            <a:r>
              <a:rPr lang="en-US" dirty="0"/>
              <a:t>Here's my process.</a:t>
            </a:r>
          </a:p>
          <a:p>
            <a:pPr marL="228600" indent="-228600">
              <a:buAutoNum type="arabicPeriod"/>
            </a:pPr>
            <a:r>
              <a:rPr lang="en-US" dirty="0"/>
              <a:t>Encrypt the backups if they're not already encrypted. </a:t>
            </a:r>
          </a:p>
          <a:p>
            <a:pPr marL="171450" indent="-171450">
              <a:buFontTx/>
              <a:buChar char="-"/>
            </a:pPr>
            <a:r>
              <a:rPr lang="en-US" dirty="0"/>
              <a:t>If you have an enterprise solution they **should** encrypt already.</a:t>
            </a:r>
          </a:p>
          <a:p>
            <a:pPr marL="171450" indent="-171450">
              <a:buFontTx/>
              <a:buChar char="-"/>
            </a:pPr>
            <a:r>
              <a:rPr lang="en-US" dirty="0"/>
              <a:t>Otherwise, create a VHD on the system with the backups using Disk Management.</a:t>
            </a:r>
          </a:p>
          <a:p>
            <a:pPr marL="171450" indent="-171450">
              <a:buFontTx/>
              <a:buChar char="-"/>
            </a:pPr>
            <a:r>
              <a:rPr lang="en-US" dirty="0"/>
              <a:t>Attach the VHD and copy the backups to it. </a:t>
            </a:r>
          </a:p>
          <a:p>
            <a:pPr marL="171450" indent="-171450">
              <a:buFontTx/>
              <a:buChar char="-"/>
            </a:pPr>
            <a:r>
              <a:rPr lang="en-US" dirty="0"/>
              <a:t>Use BitLocker to Encrypt the Drive. Store the password somewhere secure. </a:t>
            </a:r>
            <a:br>
              <a:rPr lang="en-US" dirty="0"/>
            </a:br>
            <a:r>
              <a:rPr lang="en-US" dirty="0"/>
              <a:t>Enable-BitLocker –</a:t>
            </a:r>
            <a:r>
              <a:rPr lang="en-US" dirty="0" err="1"/>
              <a:t>MountPoint</a:t>
            </a:r>
            <a:r>
              <a:rPr lang="en-US" dirty="0"/>
              <a:t> &lt;</a:t>
            </a:r>
            <a:r>
              <a:rPr lang="en-US" dirty="0" err="1"/>
              <a:t>DiskPath</a:t>
            </a:r>
            <a:r>
              <a:rPr lang="en-US" dirty="0"/>
              <a:t>&gt;</a:t>
            </a:r>
          </a:p>
          <a:p>
            <a:pPr marL="0" indent="0">
              <a:buFontTx/>
              <a:buNone/>
            </a:pPr>
            <a:endParaRPr lang="en-US" dirty="0"/>
          </a:p>
          <a:p>
            <a:r>
              <a:rPr lang="en-US" dirty="0"/>
              <a:t>2. Create a Hyper-V Instance.</a:t>
            </a:r>
          </a:p>
          <a:p>
            <a:pPr marL="171450" indent="-171450">
              <a:buFontTx/>
              <a:buChar char="-"/>
            </a:pPr>
            <a:r>
              <a:rPr lang="en-US" dirty="0"/>
              <a:t>This can be on-prem or in Azure. It just needs to be isolated on the network. </a:t>
            </a:r>
          </a:p>
          <a:p>
            <a:pPr marL="171450" indent="-171450">
              <a:buFontTx/>
              <a:buChar char="-"/>
            </a:pPr>
            <a:r>
              <a:rPr lang="en-US" dirty="0"/>
              <a:t>Create a private switch on the Hyper-V system.</a:t>
            </a:r>
          </a:p>
          <a:p>
            <a:pPr marL="171450" indent="-171450">
              <a:buFontTx/>
              <a:buChar char="-"/>
            </a:pPr>
            <a:r>
              <a:rPr lang="en-US" dirty="0"/>
              <a:t>Ensure there is enough storage and resources to run 1 DC per domain and handle the restored DCs disk. </a:t>
            </a:r>
          </a:p>
          <a:p>
            <a:endParaRPr lang="en-US" dirty="0"/>
          </a:p>
          <a:p>
            <a:r>
              <a:rPr lang="en-US" dirty="0"/>
              <a:t>3. Upload your backup file to the Hyper-V host.</a:t>
            </a:r>
          </a:p>
          <a:p>
            <a:endParaRPr lang="en-US" dirty="0"/>
          </a:p>
          <a:p>
            <a:r>
              <a:rPr lang="en-US" dirty="0"/>
              <a:t>4. Create VMs on the Hyper-V host that match the disk configuration of your backups (CPU and memory can be as low as windows will tolerate).</a:t>
            </a:r>
          </a:p>
          <a:p>
            <a:pPr marL="171450" indent="-171450">
              <a:buFontTx/>
              <a:buChar char="-"/>
            </a:pPr>
            <a:r>
              <a:rPr lang="en-US" dirty="0"/>
              <a:t>Resources can be lower barring disk which the backup will need to be pretty close. </a:t>
            </a:r>
          </a:p>
          <a:p>
            <a:pPr marL="171450" indent="-171450">
              <a:buFontTx/>
              <a:buChar char="-"/>
            </a:pPr>
            <a:r>
              <a:rPr lang="en-US" dirty="0"/>
              <a:t>You can use differencing disks as long as their max size is compatible (storage overprovisioning).</a:t>
            </a:r>
          </a:p>
          <a:p>
            <a:pPr marL="171450" indent="-171450">
              <a:buFontTx/>
              <a:buChar char="-"/>
            </a:pPr>
            <a:r>
              <a:rPr lang="en-US" dirty="0"/>
              <a:t>Ensure the VMs are on the private </a:t>
            </a:r>
            <a:r>
              <a:rPr lang="en-US" dirty="0" err="1"/>
              <a:t>vSwtich</a:t>
            </a:r>
            <a:endParaRPr lang="en-US" dirty="0"/>
          </a:p>
          <a:p>
            <a:pPr marL="171450" indent="-171450">
              <a:buFontTx/>
              <a:buChar char="-"/>
            </a:pPr>
            <a:r>
              <a:rPr lang="en-US" dirty="0"/>
              <a:t>You can create a template VM and </a:t>
            </a:r>
            <a:r>
              <a:rPr lang="en-US" dirty="0" err="1"/>
              <a:t>sysprep</a:t>
            </a:r>
            <a:r>
              <a:rPr lang="en-US" dirty="0"/>
              <a:t> it. Delete the VM but keep the disk. Put this disk somewhere and create differencing disks off of it which allows for saving storage and spinning up VMs much faster. </a:t>
            </a:r>
          </a:p>
          <a:p>
            <a:pPr marL="171450" indent="-171450">
              <a:buFontTx/>
              <a:buChar char="-"/>
            </a:pPr>
            <a:r>
              <a:rPr lang="en-US" dirty="0"/>
              <a:t>- This may slow restores some. </a:t>
            </a:r>
          </a:p>
          <a:p>
            <a:pPr marL="171450" indent="-171450">
              <a:buFontTx/>
              <a:buChar char="-"/>
            </a:pPr>
            <a:r>
              <a:rPr lang="en-US" dirty="0"/>
              <a:t>Configure IP information accordingly so the restored VMs can communicate with each other. </a:t>
            </a:r>
          </a:p>
          <a:p>
            <a:endParaRPr lang="en-US" dirty="0"/>
          </a:p>
          <a:p>
            <a:r>
              <a:rPr lang="en-US" dirty="0"/>
              <a:t>5. Restore the backups on the Hyper-V VMs. </a:t>
            </a:r>
          </a:p>
          <a:p>
            <a:pPr marL="171450" indent="-171450">
              <a:buFontTx/>
              <a:buChar char="-"/>
            </a:pPr>
            <a:r>
              <a:rPr lang="en-US" dirty="0"/>
              <a:t>Attach the backup disk (you will need to turn off BL)</a:t>
            </a:r>
          </a:p>
          <a:p>
            <a:pPr marL="171450" indent="-171450">
              <a:buFontTx/>
              <a:buChar char="-"/>
            </a:pPr>
            <a:r>
              <a:rPr lang="en-US" dirty="0"/>
              <a:t>Boot into Windows Recovery on the target VM</a:t>
            </a:r>
          </a:p>
          <a:p>
            <a:pPr marL="171450" indent="-171450">
              <a:buFontTx/>
              <a:buChar char="-"/>
            </a:pPr>
            <a:r>
              <a:rPr lang="en-US" dirty="0"/>
              <a:t>Restore the backup</a:t>
            </a:r>
          </a:p>
          <a:p>
            <a:pPr marL="171450" indent="-171450">
              <a:buFontTx/>
              <a:buChar char="-"/>
            </a:pPr>
            <a:r>
              <a:rPr lang="en-US" dirty="0"/>
              <a:t>Follow the Forest Recovery Guide</a:t>
            </a:r>
          </a:p>
          <a:p>
            <a:pPr marL="171450" indent="-171450">
              <a:buFontTx/>
              <a:buChar char="-"/>
            </a:pPr>
            <a:r>
              <a:rPr lang="en-US" dirty="0"/>
              <a:t>Validate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Let’s talk about Windows Server Backup. It doesn’t get a lot of love. I wouldn’t even call it good. It is, however, something you already have with Windows Server. It can take backups. It can recover. And it is supported by Microsoft. Trust me. I just had an engagement about it.</a:t>
            </a:r>
          </a:p>
          <a:p>
            <a:endParaRPr lang="en-US" dirty="0"/>
          </a:p>
          <a:p>
            <a:r>
              <a:rPr lang="en-US" dirty="0"/>
              <a:t>WSB backups still suffer from the same issue as pretty much all major backups -- both BMR and System State still suffer from the possibly of malware dormancy.</a:t>
            </a:r>
          </a:p>
          <a:p>
            <a:endParaRPr lang="en-US" dirty="0"/>
          </a:p>
          <a:p>
            <a:r>
              <a:rPr lang="en-US" dirty="0"/>
              <a:t>Along with WSB, don’t forget about using nearly any off-the-shelf NAS solution or appliance to store the backups. Just make sure they support either immutable or Write-Once storage. Pretty much all the big names do this. The thing here is that the root or SYSTEM account will have right to change them so make sure that is hardened. </a:t>
            </a:r>
          </a:p>
          <a:p>
            <a:endParaRPr lang="en-US" dirty="0"/>
          </a:p>
          <a:p>
            <a:endParaRPr lang="en-US" dirty="0"/>
          </a:p>
          <a:p>
            <a:r>
              <a:rPr lang="en-US" dirty="0"/>
              <a:t>If you’re in the cloud running IaaS DCs, Azure Backups are another option. There is often lots of connectivity between on-prem and the cloud, so the isolation aspect is in question. There are also access issues as most Entra and Azure setups are as disorganized as AD tends to be. There is also the fact that Azure Backups restore model leaves a lot to be desired. But it is an affordable option in lieu of others. </a:t>
            </a:r>
          </a:p>
          <a:p>
            <a:endParaRPr lang="en-US" dirty="0"/>
          </a:p>
          <a:p>
            <a:r>
              <a:rPr lang="en-US" dirty="0"/>
              <a:t>[slide]</a:t>
            </a:r>
          </a:p>
          <a:p>
            <a:endParaRPr lang="en-US" dirty="0"/>
          </a:p>
          <a:p>
            <a:r>
              <a:rPr lang="en-US" dirty="0"/>
              <a:t>-- REFERENCES --</a:t>
            </a:r>
          </a:p>
          <a:p>
            <a:r>
              <a:rPr lang="en-US" dirty="0"/>
              <a:t>https://learn.microsoft.com/en-us/previous-versions/windows/it-pro/windows-server-2012-r2-and-2012/jj614621(v=ws.11)</a:t>
            </a:r>
          </a:p>
          <a:p>
            <a:r>
              <a:rPr lang="en-US" dirty="0"/>
              <a:t>https://learn.microsoft.com/en-us/troubleshoot/windows-server/backup-and-storage/backup-and-storage-overview</a:t>
            </a:r>
          </a:p>
          <a:p>
            <a:r>
              <a:rPr lang="en-US" dirty="0"/>
              <a:t>https://learn.microsoft.com/en-us/azure/backup/backup-overview</a:t>
            </a:r>
          </a:p>
          <a:p>
            <a:r>
              <a:rPr lang="en-US" dirty="0"/>
              <a:t>https://docs.azure.cn/en-us/backup/backup-overview</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IFM = Install From Media. This is a technique used to more quickly deploy domain controllers by </a:t>
            </a:r>
            <a:r>
              <a:rPr lang="en-US" dirty="0" err="1"/>
              <a:t>preseeding</a:t>
            </a:r>
            <a:r>
              <a:rPr lang="en-US" dirty="0"/>
              <a:t> the AD database to new domain controllers before promotion. It is really only a copy of the AD Database (</a:t>
            </a:r>
            <a:r>
              <a:rPr lang="en-US" dirty="0" err="1"/>
              <a:t>NTDS.dit</a:t>
            </a:r>
            <a:r>
              <a:rPr lang="en-US" dirty="0"/>
              <a:t>), the SYSVOL, and some registry items. This is a full, unencrypted copy of AD so it needs secured appropriately. </a:t>
            </a:r>
          </a:p>
          <a:p>
            <a:endParaRPr lang="en-US" dirty="0"/>
          </a:p>
          <a:p>
            <a:r>
              <a:rPr lang="en-US" dirty="0" err="1"/>
              <a:t>DSInternals</a:t>
            </a:r>
            <a:r>
              <a:rPr lang="en-US" dirty="0"/>
              <a:t> is a toolset by a guy name Michael and it is amazing. It is also detected by EDR because hackers ruin everything. This toolset does a lot but specifically I’m talking about a function where it can create a AD restore script from an IFM backup. This restore is a nothing-shared restore and will even resume the name and the machine SID, etc. Its very </a:t>
            </a:r>
            <a:r>
              <a:rPr lang="en-US" dirty="0" err="1"/>
              <a:t>very</a:t>
            </a:r>
            <a:r>
              <a:rPr lang="en-US" dirty="0"/>
              <a:t> neat. It’s also not fully supported and not automated for full restores. </a:t>
            </a:r>
          </a:p>
          <a:p>
            <a:endParaRPr lang="en-US" dirty="0"/>
          </a:p>
          <a:p>
            <a:r>
              <a:rPr lang="en-US" dirty="0"/>
              <a:t>(NOTE: Fun fact: Any enterprise tool that has a "clean </a:t>
            </a:r>
            <a:r>
              <a:rPr lang="en-US" dirty="0" err="1"/>
              <a:t>os</a:t>
            </a:r>
            <a:r>
              <a:rPr lang="en-US" dirty="0"/>
              <a:t>" option or similar, is likely using this behind the scenes.)</a:t>
            </a:r>
          </a:p>
          <a:p>
            <a:endParaRPr lang="en-US" dirty="0"/>
          </a:p>
          <a:p>
            <a:r>
              <a:rPr lang="en-US" dirty="0"/>
              <a:t>To that end I'm working on a collection scripts and stuff to smooth over the IFM + </a:t>
            </a:r>
            <a:r>
              <a:rPr lang="en-US" dirty="0" err="1"/>
              <a:t>DSInternals</a:t>
            </a:r>
            <a:r>
              <a:rPr lang="en-US" dirty="0"/>
              <a:t> process to create a backup solution gives some more flexibility. Keep an eye on my </a:t>
            </a:r>
            <a:r>
              <a:rPr lang="en-US" dirty="0" err="1"/>
              <a:t>github</a:t>
            </a:r>
            <a:r>
              <a:rPr lang="en-US" dirty="0"/>
              <a:t> for that. </a:t>
            </a:r>
          </a:p>
          <a:p>
            <a:endParaRPr lang="en-US" dirty="0"/>
          </a:p>
          <a:p>
            <a:endParaRPr lang="en-US" dirty="0"/>
          </a:p>
          <a:p>
            <a:r>
              <a:rPr lang="en-US" dirty="0"/>
              <a:t>-- REFERENCES --</a:t>
            </a:r>
          </a:p>
          <a:p>
            <a:r>
              <a:rPr lang="en-US" dirty="0"/>
              <a:t>https://learn.microsoft.com/en-us/previous-versions/windows/it-pro/windows-server-2012-r2-and-2012/cc732530(v=ws.11)</a:t>
            </a:r>
          </a:p>
          <a:p>
            <a:r>
              <a:rPr lang="en-US" dirty="0"/>
              <a:t>https://learn.microsoft.com/en-us/previous-versions/windows/it-pro/windows-server-2008-R2-and-2008/cc816722(v=ws.10)</a:t>
            </a:r>
          </a:p>
          <a:p>
            <a:r>
              <a:rPr lang="en-US" dirty="0"/>
              <a:t>https://github.com/MichaelGrafnetter/DSInternals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10E6F-9665-514F-BB94-1CB872F5275A}"/>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557516DE-137E-E6E1-410D-B0AB379B1F8C}"/>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1D02495C-898D-55EE-FFBD-C347DF4F4AA8}"/>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38E8BB25-40EB-0C0F-B9F0-85129118147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7F580135-42F9-DC87-14F7-13147AFAF72A}"/>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IFM = Install From Media. </a:t>
            </a:r>
          </a:p>
          <a:p>
            <a:r>
              <a:rPr lang="en-US" dirty="0"/>
              <a:t>This is a tool in AD that creates a snapshot, or really a copy, of the AD database, SYSVOL, and some registry times that can be used to </a:t>
            </a:r>
            <a:r>
              <a:rPr lang="en-US" dirty="0" err="1"/>
              <a:t>preseed</a:t>
            </a:r>
            <a:r>
              <a:rPr lang="en-US" dirty="0"/>
              <a:t> the AD database to new domain controllers to speed up replication time on promotion. </a:t>
            </a:r>
          </a:p>
          <a:p>
            <a:endParaRPr lang="en-US" dirty="0"/>
          </a:p>
          <a:p>
            <a:r>
              <a:rPr lang="en-US" dirty="0"/>
              <a:t>Prerequisites</a:t>
            </a:r>
          </a:p>
          <a:p>
            <a:pPr marL="171450" indent="-171450">
              <a:buFontTx/>
              <a:buChar char="-"/>
            </a:pPr>
            <a:r>
              <a:rPr lang="en-US" dirty="0"/>
              <a:t>To build fully writable DC, you need a fully writable copy. RODCs can use either a RODC </a:t>
            </a:r>
            <a:r>
              <a:rPr lang="en-US" dirty="0" err="1"/>
              <a:t>ifm</a:t>
            </a:r>
            <a:r>
              <a:rPr lang="en-US" dirty="0"/>
              <a:t> or their own. </a:t>
            </a:r>
          </a:p>
          <a:p>
            <a:pPr marL="171450" indent="-171450">
              <a:buFontTx/>
              <a:buChar char="-"/>
            </a:pPr>
            <a:r>
              <a:rPr lang="en-US" dirty="0"/>
              <a:t>At least 100% of the NTDS.DIT size is required free in the %</a:t>
            </a:r>
            <a:r>
              <a:rPr lang="en-US" dirty="0" err="1"/>
              <a:t>tmp</a:t>
            </a:r>
            <a:r>
              <a:rPr lang="en-US" dirty="0"/>
              <a:t>% directory. </a:t>
            </a:r>
          </a:p>
          <a:p>
            <a:pPr marL="171450" indent="-171450">
              <a:buFontTx/>
              <a:buChar char="-"/>
            </a:pPr>
            <a:r>
              <a:rPr lang="en-US" dirty="0"/>
              <a:t>Cannot be used to create the first DC in a domain.</a:t>
            </a:r>
          </a:p>
          <a:p>
            <a:pPr marL="171450" indent="-171450">
              <a:buFontTx/>
              <a:buChar char="-"/>
            </a:pPr>
            <a:r>
              <a:rPr lang="en-US" dirty="0"/>
              <a:t>Per-domain specific. </a:t>
            </a:r>
          </a:p>
          <a:p>
            <a:pPr marL="171450" indent="-171450">
              <a:buFontTx/>
              <a:buChar char="-"/>
            </a:pPr>
            <a:endParaRPr lang="en-US" dirty="0"/>
          </a:p>
          <a:p>
            <a:pPr marL="0" indent="0">
              <a:buFontTx/>
              <a:buNone/>
            </a:pPr>
            <a:r>
              <a:rPr lang="en-US" dirty="0"/>
              <a:t>Run the following commands from an elevated command prompt. Note, this sometimes makes EDR angry.</a:t>
            </a:r>
          </a:p>
          <a:p>
            <a:pPr marL="0" indent="0">
              <a:buFontTx/>
              <a:buNone/>
            </a:pPr>
            <a:r>
              <a:rPr lang="en-US" dirty="0" err="1"/>
              <a:t>ntdsutil</a:t>
            </a:r>
            <a:r>
              <a:rPr lang="en-US" dirty="0"/>
              <a:t> </a:t>
            </a:r>
          </a:p>
          <a:p>
            <a:pPr marL="0" indent="0">
              <a:buFontTx/>
              <a:buNone/>
            </a:pPr>
            <a:r>
              <a:rPr lang="en-US" dirty="0"/>
              <a:t>activate instance </a:t>
            </a:r>
            <a:r>
              <a:rPr lang="en-US" dirty="0" err="1"/>
              <a:t>ntds</a:t>
            </a:r>
            <a:r>
              <a:rPr lang="en-US" dirty="0"/>
              <a:t> </a:t>
            </a:r>
          </a:p>
          <a:p>
            <a:pPr marL="0" indent="0">
              <a:buFontTx/>
              <a:buNone/>
            </a:pPr>
            <a:r>
              <a:rPr lang="en-US" dirty="0" err="1"/>
              <a:t>ifm</a:t>
            </a:r>
            <a:r>
              <a:rPr lang="en-US" dirty="0"/>
              <a:t> </a:t>
            </a:r>
          </a:p>
          <a:p>
            <a:pPr marL="0" indent="0">
              <a:buFontTx/>
              <a:buNone/>
            </a:pPr>
            <a:endParaRPr lang="en-US" dirty="0"/>
          </a:p>
          <a:p>
            <a:pPr marL="0" indent="0">
              <a:buFontTx/>
              <a:buNone/>
            </a:pPr>
            <a:r>
              <a:rPr lang="en-US" dirty="0"/>
              <a:t>At the IFM prompt, you can use one of the following to create different IFM types</a:t>
            </a:r>
          </a:p>
          <a:p>
            <a:pPr marL="0" indent="0">
              <a:buFontTx/>
              <a:buNone/>
            </a:pPr>
            <a:endParaRPr lang="en-US" dirty="0"/>
          </a:p>
          <a:p>
            <a:pPr marL="0" indent="0">
              <a:buFontTx/>
              <a:buNone/>
            </a:pPr>
            <a:r>
              <a:rPr lang="en-US" dirty="0"/>
              <a:t>create </a:t>
            </a:r>
            <a:r>
              <a:rPr lang="en-US" dirty="0" err="1"/>
              <a:t>sysvol</a:t>
            </a:r>
            <a:r>
              <a:rPr lang="en-US" dirty="0"/>
              <a:t> full C:\IFM</a:t>
            </a:r>
          </a:p>
          <a:p>
            <a:pPr marL="0" indent="0">
              <a:buFontTx/>
              <a:buNone/>
            </a:pPr>
            <a:r>
              <a:rPr lang="en-US" dirty="0"/>
              <a:t> # writable DC with SYSVOL (recommended) </a:t>
            </a:r>
          </a:p>
          <a:p>
            <a:pPr marL="0" indent="0">
              <a:buFontTx/>
              <a:buNone/>
            </a:pPr>
            <a:endParaRPr lang="en-US" dirty="0"/>
          </a:p>
          <a:p>
            <a:pPr marL="0" indent="0">
              <a:buFontTx/>
              <a:buNone/>
            </a:pPr>
            <a:r>
              <a:rPr lang="en-US" dirty="0"/>
              <a:t>create full C:\IFM </a:t>
            </a:r>
          </a:p>
          <a:p>
            <a:pPr marL="0" indent="0">
              <a:buFontTx/>
              <a:buNone/>
            </a:pPr>
            <a:r>
              <a:rPr lang="en-US" dirty="0"/>
              <a:t># writable DC without SYSVOL </a:t>
            </a:r>
          </a:p>
          <a:p>
            <a:pPr marL="0" indent="0">
              <a:buFontTx/>
              <a:buNone/>
            </a:pPr>
            <a:endParaRPr lang="en-US" dirty="0"/>
          </a:p>
          <a:p>
            <a:pPr marL="0" indent="0">
              <a:buFontTx/>
              <a:buNone/>
            </a:pPr>
            <a:r>
              <a:rPr lang="en-US" dirty="0"/>
              <a:t>create </a:t>
            </a:r>
            <a:r>
              <a:rPr lang="en-US" dirty="0" err="1"/>
              <a:t>sysvol</a:t>
            </a:r>
            <a:r>
              <a:rPr lang="en-US" dirty="0"/>
              <a:t> </a:t>
            </a:r>
            <a:r>
              <a:rPr lang="en-US" dirty="0" err="1"/>
              <a:t>rodc</a:t>
            </a:r>
            <a:r>
              <a:rPr lang="en-US" dirty="0"/>
              <a:t> C:\IFM </a:t>
            </a:r>
          </a:p>
          <a:p>
            <a:pPr marL="0" indent="0">
              <a:buFontTx/>
              <a:buNone/>
            </a:pPr>
            <a:r>
              <a:rPr lang="en-US" dirty="0"/>
              <a:t># RODC with SYSVOL </a:t>
            </a:r>
          </a:p>
          <a:p>
            <a:pPr marL="0" indent="0">
              <a:buFontTx/>
              <a:buNone/>
            </a:pPr>
            <a:endParaRPr lang="en-US" dirty="0"/>
          </a:p>
          <a:p>
            <a:pPr marL="0" indent="0">
              <a:buFontTx/>
              <a:buNone/>
            </a:pPr>
            <a:r>
              <a:rPr lang="en-US" dirty="0"/>
              <a:t>create </a:t>
            </a:r>
            <a:r>
              <a:rPr lang="en-US" dirty="0" err="1"/>
              <a:t>rodc</a:t>
            </a:r>
            <a:r>
              <a:rPr lang="en-US" dirty="0"/>
              <a:t> C:\IFM </a:t>
            </a:r>
          </a:p>
          <a:p>
            <a:pPr marL="0" indent="0">
              <a:buFontTx/>
              <a:buNone/>
            </a:pPr>
            <a:r>
              <a:rPr lang="en-US" dirty="0"/>
              <a:t># RODC without SYSVOL </a:t>
            </a:r>
          </a:p>
          <a:p>
            <a:pPr marL="0" indent="0">
              <a:buFontTx/>
              <a:buNone/>
            </a:pPr>
            <a:endParaRPr lang="en-US" dirty="0"/>
          </a:p>
          <a:p>
            <a:pPr marL="0" indent="0">
              <a:buFontTx/>
              <a:buNone/>
            </a:pPr>
            <a:r>
              <a:rPr lang="en-US" dirty="0"/>
              <a:t>Once done, do quit twice. </a:t>
            </a:r>
          </a:p>
          <a:p>
            <a:pPr marL="0" indent="0">
              <a:buFontTx/>
              <a:buNone/>
            </a:pPr>
            <a:r>
              <a:rPr lang="en-US" dirty="0"/>
              <a:t>quit </a:t>
            </a:r>
            <a:r>
              <a:rPr lang="en-US" dirty="0" err="1"/>
              <a:t>quit</a:t>
            </a:r>
            <a:endParaRPr lang="en-US" dirty="0"/>
          </a:p>
          <a:p>
            <a:endParaRPr lang="en-US" dirty="0"/>
          </a:p>
          <a:p>
            <a:r>
              <a:rPr lang="en-US" dirty="0"/>
              <a:t>-- REFERENCES --</a:t>
            </a:r>
          </a:p>
          <a:p>
            <a:r>
              <a:rPr lang="en-US" dirty="0"/>
              <a:t>https://learn.microsoft.com/en-us/previous-versions/windows/it-pro/windows-server-2012-r2-and-2012/cc732530(v=ws.11)</a:t>
            </a:r>
          </a:p>
          <a:p>
            <a:r>
              <a:rPr lang="en-US" dirty="0"/>
              <a:t>https://learn.microsoft.com/en-us/previous-versions/windows/it-pro/windows-server-2008-R2-and-2008/cc816574(v=ws.10)</a:t>
            </a:r>
          </a:p>
          <a:p>
            <a:r>
              <a:rPr lang="en-US" dirty="0"/>
              <a:t>https://learn.microsoft.com/en-us/previous-versions/windows/it-pro/windows-server-2008-R2-and-2008/cc816722(v=ws.10)</a:t>
            </a:r>
          </a:p>
        </p:txBody>
      </p:sp>
      <p:sp>
        <p:nvSpPr>
          <p:cNvPr id="6" name="Footer Placeholder 5">
            <a:extLst>
              <a:ext uri="{FF2B5EF4-FFF2-40B4-BE49-F238E27FC236}">
                <a16:creationId xmlns:a16="http://schemas.microsoft.com/office/drawing/2014/main" id="{20FDFA85-69F5-499C-D552-07C240F76060}"/>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60616652-8C0E-3C8D-D0EE-DCD166B80011}"/>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926172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A516A-A9D7-4696-049B-746707A797FF}"/>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C15230EC-BFFE-6EEF-9FC8-9D987F34F950}"/>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14C36387-B366-C5E8-65D6-FE5B7A9712E9}"/>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D3F2FC19-9EA9-E756-C7DD-D6083981F09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3A3FB180-352D-FD67-F87E-A4E2B3D98685}"/>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I could talk all day about backups, but I can’t. So as a quick recap and next steps. </a:t>
            </a:r>
          </a:p>
          <a:p>
            <a:endParaRPr lang="en-US" dirty="0"/>
          </a:p>
          <a:p>
            <a:pPr marL="228600" indent="-228600">
              <a:buAutoNum type="arabicPeriod"/>
            </a:pPr>
            <a:r>
              <a:rPr lang="en-US" dirty="0"/>
              <a:t>If you don’t have a backup solution, get one. </a:t>
            </a:r>
          </a:p>
          <a:p>
            <a:pPr marL="228600" indent="-228600">
              <a:buAutoNum type="arabicPeriod"/>
            </a:pPr>
            <a:r>
              <a:rPr lang="en-US" dirty="0"/>
              <a:t>Make sure the solution supports AD and allows for a full forest upgrade. </a:t>
            </a:r>
          </a:p>
          <a:p>
            <a:pPr marL="228600" indent="-228600">
              <a:buAutoNum type="arabicPeriod"/>
            </a:pPr>
            <a:r>
              <a:rPr lang="en-US" dirty="0"/>
              <a:t>Make sure the backups are secured and duplicated: 3-2-1+1 rule</a:t>
            </a:r>
          </a:p>
          <a:p>
            <a:pPr marL="228600" indent="-228600">
              <a:buAutoNum type="arabicPeriod"/>
            </a:pPr>
            <a:r>
              <a:rPr lang="en-US" dirty="0"/>
              <a:t>Make sure that you’re not just using snapshots/checkpoints. Those aren’t backups.</a:t>
            </a:r>
          </a:p>
          <a:p>
            <a:pPr marL="228600" indent="-228600">
              <a:buAutoNum type="arabicPeriod"/>
            </a:pPr>
            <a:r>
              <a:rPr lang="en-US" dirty="0"/>
              <a:t>Make sure you’re backing up multiple domain controllers.</a:t>
            </a:r>
          </a:p>
          <a:p>
            <a:pPr marL="228600" indent="-228600">
              <a:buAutoNum type="arabicPeriod"/>
            </a:pPr>
            <a:r>
              <a:rPr lang="en-US" dirty="0"/>
              <a:t>Test your backups. </a:t>
            </a:r>
          </a:p>
          <a:p>
            <a:pPr marL="228600" indent="-228600">
              <a:buAutoNum type="arabicPeriod"/>
            </a:pPr>
            <a:endParaRPr lang="en-US" dirty="0"/>
          </a:p>
        </p:txBody>
      </p:sp>
      <p:sp>
        <p:nvSpPr>
          <p:cNvPr id="6" name="Footer Placeholder 5">
            <a:extLst>
              <a:ext uri="{FF2B5EF4-FFF2-40B4-BE49-F238E27FC236}">
                <a16:creationId xmlns:a16="http://schemas.microsoft.com/office/drawing/2014/main" id="{DC0765F1-BEB6-6751-5258-D1362603F17A}"/>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90F3E050-29E7-9FB5-FB91-4B1B5891E82D}"/>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9581038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 love this slide. I intentionally broke all the rules. </a:t>
            </a:r>
          </a:p>
          <a:p>
            <a:endParaRPr lang="en-US"/>
          </a:p>
          <a:p>
            <a:r>
              <a:rPr lang="en-US"/>
              <a:t>"Limit all the words on your slides". Nah. I'll use all the words!</a:t>
            </a:r>
          </a:p>
          <a:p>
            <a:endParaRPr lang="en-US"/>
          </a:p>
          <a:p>
            <a:endParaRPr lang="en-US"/>
          </a:p>
          <a:p>
            <a:r>
              <a:rPr lang="en-US"/>
              <a:t>There are uncountable tools for cybersecurity and identity management. I guarantee you this is not comprehensive. </a:t>
            </a:r>
          </a:p>
          <a:p>
            <a:endParaRPr lang="en-US"/>
          </a:p>
          <a:p>
            <a:r>
              <a:rPr lang="en-US"/>
              <a:t>Toss in the new AI tools and we have even more. It's too much for any one person to know and keep track of. </a:t>
            </a:r>
          </a:p>
          <a:p>
            <a:endParaRPr lang="en-US"/>
          </a:p>
          <a:p>
            <a:r>
              <a:rPr lang="en-US"/>
              <a:t>What often happens is the company buys one tool, uses half (at best) of its capabilities, and forgets about it. A few years later a new C-suite pops in and buys their tool of choice and the cycle repeats. </a:t>
            </a:r>
          </a:p>
          <a:p>
            <a:endParaRPr lang="en-US"/>
          </a:p>
          <a:p>
            <a:r>
              <a:rPr lang="en-US"/>
              <a:t>Don't chase shiny, new, buzzwordy solutions. Look at what is already deployed and make that work for you if it can. </a:t>
            </a:r>
          </a:p>
          <a:p>
            <a:endParaRPr lang="en-US"/>
          </a:p>
          <a:p>
            <a:r>
              <a:rPr lang="en-US"/>
              <a:t>The vendors don't help much. If they can they'll sell you the Nile, the Pyramids and the Sphynx's nose. It's their job. Make sure you know what you're getting into with any tools. </a:t>
            </a:r>
          </a:p>
          <a:p>
            <a:endParaRPr lang="en-US"/>
          </a:p>
          <a:p>
            <a:r>
              <a:rPr lang="en-US"/>
              <a:t>Also pay attention to these tool's permissions. I've seen too many of them want domain admin rights, local admin rights, or SYSTEM rights on a DC.</a:t>
            </a:r>
          </a:p>
          <a:p>
            <a:endParaRPr lang="en-US"/>
          </a:p>
          <a:p>
            <a:r>
              <a:rPr lang="en-US"/>
              <a:t>If the tools require those rights, let's make sure they have separate instances with separate creds or move the existing instances to be more secure. If you have an agent running SYSTEM on a DC, what can it do? EVERYTHING.</a:t>
            </a:r>
          </a:p>
          <a:p>
            <a:endParaRPr lang="en-US"/>
          </a:p>
          <a:p>
            <a:r>
              <a:rPr lang="en-US"/>
              <a:t>Cyber teams, your tools are cool and great but ask the question: What if my tool is the tool that gets compromised? All the analytics in the word don't make the side channel attacks against your tool non-</a:t>
            </a:r>
            <a:r>
              <a:rPr lang="en-US" err="1"/>
              <a:t>existant</a:t>
            </a:r>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If someone were to ask me whether I would have a killer vulnerability scanning tool or a monitoring tool for AD, I'd answer monitoring. I don't mean security monitoring either. I mean simple system performance monitoring. </a:t>
            </a:r>
          </a:p>
          <a:p>
            <a:endParaRPr lang="en-US"/>
          </a:p>
          <a:p>
            <a:r>
              <a:rPr lang="en-US"/>
              <a:t>Why?</a:t>
            </a:r>
          </a:p>
          <a:p>
            <a:endParaRPr lang="en-US"/>
          </a:p>
          <a:p>
            <a:r>
              <a:rPr lang="en-US"/>
              <a:t>Because Operational Risk is still risk! </a:t>
            </a:r>
          </a:p>
          <a:p>
            <a:endParaRPr lang="en-US"/>
          </a:p>
          <a:p>
            <a:r>
              <a:rPr lang="en-US"/>
              <a:t>Our responsibility as administrators are to ensure that the business services stay available and online. The moment that is not longer true, the calculus falls a part and the "value" goes away. </a:t>
            </a:r>
          </a:p>
          <a:p>
            <a:endParaRPr lang="en-US"/>
          </a:p>
          <a:p>
            <a:r>
              <a:rPr lang="en-US"/>
              <a:t>Vuln scanners are cool. SIEMs are necessary. Are either more important than knowing if the services we offer are healthy? </a:t>
            </a:r>
          </a:p>
          <a:p>
            <a:endParaRPr lang="en-US"/>
          </a:p>
          <a:p>
            <a:r>
              <a:rPr lang="en-US"/>
              <a:t>A downed system is no better than a compromised system when you talk with business leaders. </a:t>
            </a:r>
          </a:p>
          <a:p>
            <a:endParaRPr lang="en-US"/>
          </a:p>
          <a:p>
            <a:r>
              <a:rPr lang="en-US"/>
              <a:t>If your bank is offline, how much money is lost? If your healthcare system is down what is the cost there? Think about it.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has been mentioned before, but the first thing to consider is what tools you may already have. Are they perfect? Maybe not, but they're a hell of a lot cheaper than buying something else. </a:t>
            </a:r>
          </a:p>
          <a:p>
            <a:endParaRPr lang="en-US"/>
          </a:p>
          <a:p>
            <a:r>
              <a:rPr lang="en-US"/>
              <a:t>I'm also obliged to say that I'm almost 100% going to not mention the tool(s) you're thinking of here. There are some many in this space. I picked what I know. If it works, it's not stupid. </a:t>
            </a:r>
          </a:p>
          <a:p>
            <a:endParaRPr lang="en-US"/>
          </a:p>
          <a:p>
            <a:r>
              <a:rPr lang="en-US"/>
              <a:t>[slide]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Speaking of obliged tools. There is a solid chance you have SCOM. If you have the system center suite, you have SCOM. </a:t>
            </a:r>
          </a:p>
          <a:p>
            <a:endParaRPr lang="en-US"/>
          </a:p>
          <a:p>
            <a:r>
              <a:rPr lang="en-US"/>
              <a:t>Personally, I hate SCOM. I hate almost everything about it, but it is there for most places. </a:t>
            </a:r>
          </a:p>
          <a:p>
            <a:endParaRPr lang="en-US"/>
          </a:p>
          <a:p>
            <a:r>
              <a:rPr lang="en-US"/>
              <a:t>[slide]</a:t>
            </a:r>
          </a:p>
          <a:p>
            <a:endParaRPr lang="en-US"/>
          </a:p>
          <a:p>
            <a:r>
              <a:rPr lang="en-US"/>
              <a:t>-- REFERENCE --</a:t>
            </a:r>
          </a:p>
          <a:p>
            <a:r>
              <a:rPr lang="en-US"/>
              <a:t>kevinholman.com/2016/12/22/mp-update-totally-new-active-directory-mp-for-windows-server-2012-and-2016/</a:t>
            </a:r>
          </a:p>
          <a:p>
            <a:endParaRPr lang="en-US"/>
          </a:p>
          <a:p>
            <a:r>
              <a:rPr lang="en-US"/>
              <a:t>https://github.com/MicrosoftDocs/SystemCenterDocs/blob/main/SystemCenterDocs/scom/manage-ad-integration-agent-assignment.md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Azure Monitor is actually a very solid tool. You can build neat dashboards that execs love but also do stuff engineers care about.</a:t>
            </a:r>
          </a:p>
          <a:p>
            <a:endParaRPr lang="en-US"/>
          </a:p>
          <a:p>
            <a:r>
              <a:rPr lang="en-US"/>
              <a:t>The biggest downside with Azure Monitor are that it uses Log Analytics as a data source and if you haven't used Log Analytics, they can get VERY expensive very quickly. This requires lots of attention to refine.</a:t>
            </a:r>
          </a:p>
          <a:p>
            <a:endParaRPr lang="en-US"/>
          </a:p>
          <a:p>
            <a:r>
              <a:rPr lang="en-US"/>
              <a:t>I suggest starting with low retention and only a few things ingested and work up.</a:t>
            </a:r>
          </a:p>
          <a:p>
            <a:endParaRPr lang="en-US"/>
          </a:p>
          <a:p>
            <a:r>
              <a:rPr lang="en-US"/>
              <a:t>With Azure Monitor you can find free workbooks online to help setup the dashboards and what not. </a:t>
            </a:r>
          </a:p>
          <a:p>
            <a:endParaRPr lang="en-US"/>
          </a:p>
          <a:p>
            <a:r>
              <a:rPr lang="en-US"/>
              <a:t>References and Resources:</a:t>
            </a:r>
          </a:p>
          <a:p>
            <a:r>
              <a:rPr lang="en-US"/>
              <a:t>- https://github.com/dmrellan/Active-Directory-Performance-Assessment-with-Azure-Monitor-workbook</a:t>
            </a:r>
          </a:p>
          <a:p>
            <a:endParaRPr lang="en-US"/>
          </a:p>
          <a:p>
            <a:r>
              <a:rPr lang="en-US"/>
              <a:t>- https://github.com/microsoft/AzureMonitorCommunity</a:t>
            </a:r>
          </a:p>
          <a:p>
            <a:endParaRPr lang="en-US"/>
          </a:p>
          <a:p>
            <a:r>
              <a:rPr lang="en-US"/>
              <a:t>- https://www.zabbix.com/documentation/7.0/en/manual/installation/getting_zabbix</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My personal favorite tool on the list is Zabbix. Sure there are others but I've used this the most in labs and it works really good.</a:t>
            </a:r>
          </a:p>
          <a:p>
            <a:endParaRPr lang="en-US"/>
          </a:p>
          <a:p>
            <a:r>
              <a:rPr lang="en-US"/>
              <a:t>The biggest disadvantages to Zabbix is that is a bit confusing out of the box and it doesn't have super great Windows support. They support Windows but it almost always seems like an after thought. </a:t>
            </a:r>
          </a:p>
          <a:p>
            <a:endParaRPr lang="en-US"/>
          </a:p>
          <a:p>
            <a:r>
              <a:rPr lang="en-US"/>
              <a:t>The good news is that I put a AD-specific template for Zabbix on my github as a starting point for anyone going down that road. I encourage you to give that a look if you're interested in Zabbix. </a:t>
            </a:r>
          </a:p>
          <a:p>
            <a:endParaRPr lang="en-US"/>
          </a:p>
          <a:p>
            <a:r>
              <a:rPr lang="en-US"/>
              <a:t>-- REFERENCES --</a:t>
            </a:r>
          </a:p>
          <a:p>
            <a:r>
              <a:rPr lang="en-US"/>
              <a:t>https://www.zabbix.com/manuals</a:t>
            </a:r>
          </a:p>
          <a:p>
            <a:endParaRPr lang="en-US"/>
          </a:p>
          <a:p>
            <a:r>
              <a:rPr lang="en-US"/>
              <a:t>https://github.com/ActiveDirectoryKC/Zabbix-AD-Health-Monitors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Time: 1 minute</a:t>
            </a:r>
          </a:p>
          <a:p>
            <a:endParaRPr lang="en-US"/>
          </a:p>
          <a:p>
            <a:r>
              <a:rPr lang="en-US"/>
              <a:t>ELK stands for "Elastic", "LogBeat", and "Kibana".</a:t>
            </a:r>
          </a:p>
          <a:p>
            <a:endParaRPr lang="en-US"/>
          </a:p>
          <a:p>
            <a:r>
              <a:rPr lang="en-US"/>
              <a:t>Note: WinLogBeat is what we'd need. </a:t>
            </a:r>
          </a:p>
          <a:p>
            <a:endParaRPr lang="en-US"/>
          </a:p>
          <a:p>
            <a:r>
              <a:rPr lang="en-US"/>
              <a:t>The ELK stack is another tool set I've played with some. Like Zabbix Windows almost seems to be an after thought, but it has a lot of features that actually go beyond the performance and monitoring aspect. </a:t>
            </a:r>
          </a:p>
          <a:p>
            <a:endParaRPr lang="en-US"/>
          </a:p>
          <a:p>
            <a:r>
              <a:rPr lang="en-US"/>
              <a:t>The big thing with ELK stack is that it is cumbersome to setup. It requires a lot to get it off the ground but and it didn't like AD CS certs much (Layer 8 issue).</a:t>
            </a:r>
          </a:p>
          <a:p>
            <a:endParaRPr lang="en-US"/>
          </a:p>
          <a:p>
            <a:r>
              <a:rPr lang="en-US"/>
              <a:t>It is absurdly powerful and useful and has tons of features. </a:t>
            </a:r>
          </a:p>
          <a:p>
            <a:endParaRPr lang="en-US"/>
          </a:p>
          <a:p>
            <a:r>
              <a:rPr lang="en-US"/>
              <a:t>Resources and References:</a:t>
            </a:r>
          </a:p>
          <a:p>
            <a:r>
              <a:rPr lang="en-US"/>
              <a:t>- https://www.elastic.co/elastic-stack/</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a:p>
          <a:p>
            <a:r>
              <a:rPr lang="en-US"/>
              <a:t>How do you keep track of changes in AD?</a:t>
            </a:r>
          </a:p>
          <a:p>
            <a:endParaRPr lang="en-US"/>
          </a:p>
          <a:p>
            <a:r>
              <a:rPr lang="en-US"/>
              <a:t>The starting point is configuring Microsoft's Advanced Audit Settings in Group Policy and rolling them out. These generate a lot of event IDs that matter.</a:t>
            </a:r>
          </a:p>
          <a:p>
            <a:endParaRPr lang="en-US"/>
          </a:p>
          <a:p>
            <a:r>
              <a:rPr lang="en-US"/>
              <a:t>Microsoft even has published a list of event IDs that are "signs of compromise" so that gives some filtering.</a:t>
            </a:r>
          </a:p>
          <a:p>
            <a:r>
              <a:rPr lang="en-US"/>
              <a:t>- </a:t>
            </a:r>
          </a:p>
          <a:p>
            <a:endParaRPr lang="en-US"/>
          </a:p>
          <a:p>
            <a:endParaRPr lang="en-US"/>
          </a:p>
          <a:p>
            <a:r>
              <a:rPr lang="en-US"/>
              <a:t>myADMonitor is a free tool that displays current AD Replication changes. It isn't intended to be run for long periods.</a:t>
            </a:r>
          </a:p>
          <a:p>
            <a:endParaRPr lang="en-US"/>
          </a:p>
          <a:p>
            <a:r>
              <a:rPr lang="en-US"/>
              <a:t>If you need some retention, there aren't a lot of free tools so Cayosoft Guardian would be my initial recommendation. It is a trial that evolves into a limited free version that keeps 7 days of change activity. </a:t>
            </a:r>
          </a:p>
          <a:p>
            <a:endParaRPr lang="en-US"/>
          </a:p>
          <a:p>
            <a:r>
              <a:rPr lang="en-US"/>
              <a:t>Resources and References</a:t>
            </a:r>
          </a:p>
          <a:p>
            <a:r>
              <a:rPr lang="en-US"/>
              <a:t>- https://learn.microsoft.com/en-us/windows-server/identity/ad-ds/plan/security-best-practices/advanced-audit-policy-configuration</a:t>
            </a:r>
          </a:p>
          <a:p>
            <a:endParaRPr lang="en-US"/>
          </a:p>
          <a:p>
            <a:r>
              <a:rPr lang="en-US"/>
              <a:t>- https://learn.microsoft.com/en-us/windows-server/identity/ad-ds/plan/security-best-practices/monitoring-active-directory-for-signs-of-compromise</a:t>
            </a:r>
          </a:p>
          <a:p>
            <a:endParaRPr lang="en-US"/>
          </a:p>
          <a:p>
            <a:r>
              <a:rPr lang="en-US"/>
              <a:t>- https://github.com/mihemihe/myADMonitor</a:t>
            </a:r>
          </a:p>
          <a:p>
            <a:endParaRPr lang="en-US"/>
          </a:p>
          <a:p>
            <a:r>
              <a:rPr lang="en-US"/>
              <a:t>- https://www.cayosoft.com/products/guardian/guardian-protector/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How do we get started with monitoring? </a:t>
            </a:r>
          </a:p>
          <a:p>
            <a:endParaRPr lang="en-US"/>
          </a:p>
          <a:p>
            <a:r>
              <a:rPr lang="en-US"/>
              <a:t>[slide] </a:t>
            </a:r>
          </a:p>
          <a:p>
            <a:endParaRPr lang="en-US"/>
          </a:p>
          <a:p>
            <a:r>
              <a:rPr lang="en-US"/>
              <a:t>Start with Advanced Audit Policies. Do not confuse these with traditional audit policies. The two are incompatible. </a:t>
            </a:r>
          </a:p>
          <a:p>
            <a:endParaRPr lang="en-US"/>
          </a:p>
          <a:p>
            <a:r>
              <a:rPr lang="en-US"/>
              <a:t>You can get very granular with what you're reporting on with these and it is important to set them up right (details later). </a:t>
            </a:r>
          </a:p>
          <a:p>
            <a:endParaRPr lang="en-US"/>
          </a:p>
          <a:p>
            <a:r>
              <a:rPr lang="en-US"/>
              <a:t>[slide] </a:t>
            </a:r>
          </a:p>
          <a:p>
            <a:endParaRPr lang="en-US"/>
          </a:p>
          <a:p>
            <a:r>
              <a:rPr lang="en-US"/>
              <a:t>-- REFERENCES --</a:t>
            </a:r>
          </a:p>
          <a:p>
            <a:r>
              <a:rPr lang="en-US"/>
              <a:t>https://learn.microsoft.com/en-us/windows-server/identity/ad-ds/plan/security-best-practices/advanced-audit-policy-configuration</a:t>
            </a:r>
          </a:p>
          <a:p>
            <a:endParaRPr lang="en-US"/>
          </a:p>
          <a:p>
            <a:r>
              <a:rPr lang="en-US"/>
              <a:t>https://learn.microsoft.com/en-us/previous-versions/windows/it-pro/windows-10/security/threat-protection/auditing/advanced-security-audit-policy-settings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Data Collector Sets don't get tons of love. They are kind of clunky but they are a good means gathering period views of the performance on a system. They can be scheduled and do get a lot of information. I recommend looking into them if you haven't.</a:t>
            </a:r>
          </a:p>
          <a:p>
            <a:endParaRPr lang="en-US"/>
          </a:p>
          <a:p>
            <a:r>
              <a:rPr lang="en-US"/>
              <a:t>[slide]</a:t>
            </a:r>
          </a:p>
          <a:p>
            <a:endParaRPr lang="en-US"/>
          </a:p>
          <a:p>
            <a:r>
              <a:rPr lang="en-US"/>
              <a:t>-- REFERENCES --</a:t>
            </a:r>
          </a:p>
          <a:p>
            <a:r>
              <a:rPr lang="en-US"/>
              <a:t>https://learn.microsoft.com/en-us/dynamics365/business-central/dev-itpro/administration/monitor-work-with-data-collector-sets</a:t>
            </a:r>
          </a:p>
          <a:p>
            <a:endParaRPr lang="en-US"/>
          </a:p>
          <a:p>
            <a:r>
              <a:rPr lang="en-US"/>
              <a:t>https://learn.microsoft.com/en-us/previous-versions/windows/it-pro/windows-server-2008-R2-and-2008/cc749337(v=ws.11)</a:t>
            </a:r>
          </a:p>
          <a:p>
            <a:endParaRPr lang="en-US"/>
          </a:p>
          <a:p>
            <a:r>
              <a:rPr lang="en-US"/>
              <a:t>https://techcommunity.microsoft.com/blog/coreinfrastructureandsecurityblog/taming-perfmon-data-collector-sets/255521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Get an actual monitoring/alerting tool, set it up, and configure it to alert. </a:t>
            </a:r>
          </a:p>
          <a:p>
            <a:endParaRPr lang="en-US"/>
          </a:p>
          <a:p>
            <a:r>
              <a:rPr lang="en-US"/>
              <a:t>My recommendation is, of course, Zabbix, but use what makes sense to you. Just make sure you're using it. </a:t>
            </a:r>
          </a:p>
          <a:p>
            <a:endParaRPr lang="en-US"/>
          </a:p>
          <a:p>
            <a:r>
              <a:rPr lang="en-US"/>
              <a:t>[slide]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(+Notes from preceding slides)</a:t>
            </a:r>
          </a:p>
          <a:p>
            <a:r>
              <a:rPr lang="en-US"/>
              <a:t>How do we get started with monitoring? </a:t>
            </a:r>
          </a:p>
          <a:p>
            <a:endParaRPr lang="en-US"/>
          </a:p>
          <a:p>
            <a:r>
              <a:rPr lang="en-US"/>
              <a:t>[slide] </a:t>
            </a:r>
          </a:p>
          <a:p>
            <a:endParaRPr lang="en-US"/>
          </a:p>
          <a:p>
            <a:r>
              <a:rPr lang="en-US"/>
              <a:t>Start with Advanced Audit Policies. Do not confuse these with traditional audit policies. The two are incompatible. </a:t>
            </a:r>
          </a:p>
          <a:p>
            <a:endParaRPr lang="en-US"/>
          </a:p>
          <a:p>
            <a:r>
              <a:rPr lang="en-US"/>
              <a:t>You can get very granular with what you're reporting on with these and it is important to set them up right (details later). </a:t>
            </a:r>
          </a:p>
          <a:p>
            <a:endParaRPr lang="en-US"/>
          </a:p>
          <a:p>
            <a:r>
              <a:rPr lang="en-US"/>
              <a:t>[slide] </a:t>
            </a:r>
          </a:p>
          <a:p>
            <a:endParaRPr lang="en-US"/>
          </a:p>
          <a:p>
            <a:r>
              <a:rPr lang="en-US"/>
              <a:t>Data Collector Sets don't get tons of love. They are kind of clunky but they are a good means gathering period views of the performance on a system. They can be scheduled and do get a lot of information. I recommend looking into them if you haven't.</a:t>
            </a:r>
          </a:p>
          <a:p>
            <a:endParaRPr lang="en-US"/>
          </a:p>
          <a:p>
            <a:r>
              <a:rPr lang="en-US"/>
              <a:t>[slide]</a:t>
            </a:r>
          </a:p>
          <a:p>
            <a:endParaRPr lang="en-US"/>
          </a:p>
          <a:p>
            <a:r>
              <a:rPr lang="en-US"/>
              <a:t>Get an actual monitoring/alerting tool, set it up, and configure it to alert. </a:t>
            </a:r>
          </a:p>
          <a:p>
            <a:endParaRPr lang="en-US"/>
          </a:p>
          <a:p>
            <a:r>
              <a:rPr lang="en-US"/>
              <a:t>Start with general performance items: CPU, Memory, and disk. Define thresholds for those that correspond to your environment and build your alerting around those. </a:t>
            </a:r>
          </a:p>
          <a:p>
            <a:endParaRPr lang="en-US"/>
          </a:p>
          <a:p>
            <a:r>
              <a:rPr lang="en-US"/>
              <a:t>For the AD items, I recommend looking through the Data Collector set for Active Directory and start sorting through them. I also have some notes on that in the deck.</a:t>
            </a:r>
          </a:p>
          <a:p>
            <a:endParaRPr lang="en-US"/>
          </a:p>
          <a:p>
            <a:r>
              <a:rPr lang="en-US"/>
              <a:t>[slide]</a:t>
            </a:r>
          </a:p>
          <a:p>
            <a:endParaRPr lang="en-US"/>
          </a:p>
          <a:p>
            <a:r>
              <a:rPr lang="en-US"/>
              <a:t>None of this makes any sense if you don't use it. Make sure someone looks at the data and is assessing reliability and responding to alerts coming out of this. </a:t>
            </a:r>
          </a:p>
          <a:p>
            <a:endParaRPr lang="en-US"/>
          </a:p>
          <a:p>
            <a:r>
              <a:rPr lang="en-US"/>
              <a:t>You should also check to ensure you're receiving the data you expect.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When doing detailed performance monitoring with AD, the goal is to find performance bottlenecks, detect authentication stress or overload conditions, and identify replication delays. Additionally, this information can be used to augment other vulnerability and compliance monitoring by tracking insecure or deprecated tools, methods, etc.</a:t>
            </a:r>
          </a:p>
          <a:p>
            <a:endParaRPr lang="en-US" dirty="0"/>
          </a:p>
          <a:p>
            <a:r>
              <a:rPr lang="en-US" dirty="0"/>
              <a:t>General Procedural Guidelines</a:t>
            </a:r>
          </a:p>
          <a:p>
            <a:pPr marL="171450" indent="-171450">
              <a:buFontTx/>
              <a:buChar char="-"/>
            </a:pPr>
            <a:r>
              <a:rPr lang="en-US" dirty="0"/>
              <a:t>Collect data in 15-minute intervals. Do not do less. </a:t>
            </a:r>
          </a:p>
          <a:p>
            <a:pPr marL="171450" indent="-171450">
              <a:buFontTx/>
              <a:buChar char="-"/>
            </a:pPr>
            <a:r>
              <a:rPr lang="en-US" dirty="0"/>
              <a:t>- 1-minute intervals leads to a lot of noise. 15-minute intervals shows you more of an average over time. </a:t>
            </a:r>
          </a:p>
          <a:p>
            <a:pPr marL="171450" indent="-171450">
              <a:buFontTx/>
              <a:buChar char="-"/>
            </a:pPr>
            <a:r>
              <a:rPr lang="en-US" dirty="0"/>
              <a:t>- Technically you respond slower, yes, but the data is richer so you’re responding when you need to. </a:t>
            </a:r>
          </a:p>
          <a:p>
            <a:pPr marL="171450" indent="-171450">
              <a:buFontTx/>
              <a:buChar char="-"/>
            </a:pPr>
            <a:r>
              <a:rPr lang="en-US" dirty="0"/>
              <a:t>Attempt to average the data monthly (normalize)</a:t>
            </a:r>
          </a:p>
          <a:p>
            <a:pPr marL="171450" indent="-171450">
              <a:buFontTx/>
              <a:buChar char="-"/>
            </a:pPr>
            <a:r>
              <a:rPr lang="en-US" dirty="0"/>
              <a:t>- This reduces noise some and shows trends better. </a:t>
            </a:r>
          </a:p>
          <a:p>
            <a:pPr marL="171450" indent="-171450">
              <a:buFontTx/>
              <a:buChar char="-"/>
            </a:pPr>
            <a:r>
              <a:rPr lang="en-US" dirty="0"/>
              <a:t>Capture highs and lows too. These can show you spikes and drops which can indicate issues. </a:t>
            </a:r>
          </a:p>
          <a:p>
            <a:pPr marL="171450" indent="-171450">
              <a:buFontTx/>
              <a:buChar char="-"/>
            </a:pPr>
            <a:r>
              <a:rPr lang="en-US" dirty="0"/>
              <a:t>Raw counters don’t need normalized as much they just count up. </a:t>
            </a:r>
          </a:p>
          <a:p>
            <a:pPr marL="171450" indent="-171450">
              <a:buFontTx/>
              <a:buChar char="-"/>
            </a:pPr>
            <a:r>
              <a:rPr lang="en-US" dirty="0"/>
              <a:t>Define thresholds. When do you send notifications? Alerts? Page outs? Etc. </a:t>
            </a:r>
          </a:p>
          <a:p>
            <a:pPr marL="171450" indent="-171450">
              <a:buFontTx/>
              <a:buChar char="-"/>
            </a:pPr>
            <a:endParaRPr lang="en-US" dirty="0"/>
          </a:p>
          <a:p>
            <a:pPr marL="0" indent="0">
              <a:buFontTx/>
              <a:buNone/>
            </a:pPr>
            <a:r>
              <a:rPr lang="en-US" dirty="0"/>
              <a:t>Metrics/Counters to Track</a:t>
            </a:r>
          </a:p>
          <a:p>
            <a:pPr marL="171450" indent="-171450">
              <a:buFontTx/>
              <a:buChar char="-"/>
            </a:pPr>
            <a:r>
              <a:rPr lang="en-US" dirty="0"/>
              <a:t>ATQ Estimated Queue Delay – This should be as low as possible. </a:t>
            </a:r>
          </a:p>
          <a:p>
            <a:pPr marL="171450" indent="-171450">
              <a:buFontTx/>
              <a:buChar char="-"/>
            </a:pPr>
            <a:r>
              <a:rPr lang="en-US" dirty="0"/>
              <a:t>ATQ Request Latency – This should be as low as possible. </a:t>
            </a:r>
          </a:p>
          <a:p>
            <a:pPr marL="171450" indent="-171450">
              <a:buFontTx/>
              <a:buChar char="-"/>
            </a:pPr>
            <a:r>
              <a:rPr lang="en-US" dirty="0"/>
              <a:t>ATQ Outstanding Queued Requests – As low as possible.</a:t>
            </a:r>
          </a:p>
          <a:p>
            <a:pPr marL="171450" indent="-171450">
              <a:buFontTx/>
              <a:buChar char="-"/>
            </a:pPr>
            <a:r>
              <a:rPr lang="en-US" dirty="0"/>
              <a:t>DRA Pending Replication Syncs – As low as possible. </a:t>
            </a:r>
          </a:p>
          <a:p>
            <a:pPr marL="171450" indent="-171450">
              <a:buFontTx/>
              <a:buChar char="-"/>
            </a:pPr>
            <a:r>
              <a:rPr lang="en-US" dirty="0"/>
              <a:t>Page File &amp; Usage – Windows always uses the page file. If this starts going crazy, it could be a sign of memory issues.</a:t>
            </a:r>
          </a:p>
          <a:p>
            <a:pPr marL="171450" indent="-171450">
              <a:buFontTx/>
              <a:buChar char="-"/>
            </a:pPr>
            <a:r>
              <a:rPr lang="en-US" dirty="0"/>
              <a:t>Pages /sec – Same as above. </a:t>
            </a:r>
          </a:p>
          <a:p>
            <a:pPr marL="171450" indent="-171450">
              <a:buFontTx/>
              <a:buChar char="-"/>
            </a:pPr>
            <a:r>
              <a:rPr lang="en-US" dirty="0"/>
              <a:t>Disk I/O Latency – Can indicate the disk isn’t keep up. </a:t>
            </a:r>
          </a:p>
          <a:p>
            <a:pPr marL="171450" indent="-171450">
              <a:buFontTx/>
              <a:buChar char="-"/>
            </a:pPr>
            <a:r>
              <a:rPr lang="en-US" dirty="0"/>
              <a:t>LDAP Bind Time, LDAP Searches / sec, Client Sessions – These are all correlative metrics. If these spike and other stuff spikes, it can give you lots of good information. </a:t>
            </a:r>
          </a:p>
          <a:p>
            <a:pPr marL="171450" indent="-171450">
              <a:buFontTx/>
              <a:buChar char="-"/>
            </a:pPr>
            <a:r>
              <a:rPr lang="en-US" dirty="0"/>
              <a:t>ATQ Thread (Total, LDAP, Other) – If these exceed the maximum, </a:t>
            </a:r>
            <a:r>
              <a:rPr lang="en-US" dirty="0" err="1"/>
              <a:t>auths</a:t>
            </a:r>
            <a:r>
              <a:rPr lang="en-US" dirty="0"/>
              <a:t> will start queuing. Default maximum is 4x the number of CPU cores on the domain controller. </a:t>
            </a:r>
          </a:p>
          <a:p>
            <a:pPr marL="171450" indent="-171450">
              <a:buFontTx/>
              <a:buChar char="-"/>
            </a:pPr>
            <a:endParaRPr lang="en-US" dirty="0"/>
          </a:p>
          <a:p>
            <a:pPr marL="0" indent="0">
              <a:buFontTx/>
              <a:buNone/>
            </a:pPr>
            <a:r>
              <a:rPr lang="en-US" dirty="0"/>
              <a:t>Risk Indicators</a:t>
            </a:r>
          </a:p>
          <a:p>
            <a:pPr marL="171450" indent="-171450">
              <a:buFontTx/>
              <a:buChar char="-"/>
            </a:pPr>
            <a:r>
              <a:rPr lang="en-US" dirty="0"/>
              <a:t>LDAP Simple Binds /sec – These are plain text password authentications. Big risks.</a:t>
            </a:r>
          </a:p>
          <a:p>
            <a:pPr marL="171450" indent="-171450">
              <a:buFontTx/>
              <a:buChar char="-"/>
            </a:pPr>
            <a:r>
              <a:rPr lang="en-US" dirty="0"/>
              <a:t>NTLM binds /sec – Microsoft is trying to nuke NTLM this will tell you how much is being used. </a:t>
            </a:r>
          </a:p>
          <a:p>
            <a:pPr marL="171450" indent="-171450">
              <a:buFontTx/>
              <a:buChar char="-"/>
            </a:pPr>
            <a:r>
              <a:rPr lang="en-US" dirty="0"/>
              <a:t>NTLM Authentications – This is a counter. Should trend downward. </a:t>
            </a:r>
          </a:p>
          <a:p>
            <a:pPr marL="171450" indent="-171450">
              <a:buFontTx/>
              <a:buChar char="-"/>
            </a:pPr>
            <a:r>
              <a:rPr lang="en-US" dirty="0"/>
              <a:t>Digest Authentications – This a counter. Should trend downward. </a:t>
            </a:r>
          </a:p>
          <a:p>
            <a:pPr marL="171450" indent="-171450">
              <a:buFontTx/>
              <a:buChar char="-"/>
            </a:pPr>
            <a:endParaRPr lang="en-US" dirty="0"/>
          </a:p>
          <a:p>
            <a:pPr marL="0" indent="0">
              <a:buFontTx/>
              <a:buNone/>
            </a:pP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Best practices are always a nebulous concept. Whose best practices are we using? Why do they get to decide? </a:t>
            </a:r>
          </a:p>
          <a:p>
            <a:endParaRPr lang="en-US"/>
          </a:p>
          <a:p>
            <a:r>
              <a:rPr lang="en-US"/>
              <a:t>The industry standard on this is baselines and benchmarks. They're co developed with the vendors with the various bodies who issue them.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 most places, start with the Microsoft Baselines. It's a free download and a little clunky to use, but it will help you get a good start. With the download you'll get "drop in" GPO templates and there are a couple of tools: Policy Analyzer, which can compare what you have currently versus the baseline; and LGPO which can be used to audit and edit local group policy. </a:t>
            </a:r>
          </a:p>
          <a:p>
            <a:endParaRPr lang="en-US"/>
          </a:p>
          <a:p>
            <a:r>
              <a:rPr lang="en-US"/>
              <a:t>There is one other thing that these include that has been a game changer for me so far. The download includes a download of a collection of excel spreadsheets that include the mappings for most Group Policy settings to their corresponding Registry Keys. This applies to most policies, but not any of the "Security Options" since those aren't registry settings. This spreadsheet is a really good resource. I even I have it pinned in excel and use it often. </a:t>
            </a:r>
          </a:p>
          <a:p>
            <a:endParaRPr lang="en-US"/>
          </a:p>
          <a:p>
            <a:r>
              <a:rPr lang="en-US"/>
              <a:t>The downsides to MS Security Baselines are they are Windows-only, but you're in an Active Directory hardening talk. If you were expecting Linux hardening tips see me after and tell you to ask someone else. The other disadvantage is they are somewhat limited. If you compare them to the other two I'm going to talk about, they are not as comprehensive. But remember "Perfect is the enemy of good". </a:t>
            </a:r>
          </a:p>
          <a:p>
            <a:endParaRPr lang="en-US"/>
          </a:p>
          <a:p>
            <a:r>
              <a:rPr lang="en-US"/>
              <a:t>Windows Admin Center supports deploying baselines from the interface.</a:t>
            </a:r>
          </a:p>
          <a:p>
            <a:endParaRPr lang="en-US"/>
          </a:p>
          <a:p>
            <a:r>
              <a:rPr lang="en-US"/>
              <a:t>Resources and References:</a:t>
            </a:r>
          </a:p>
          <a:p>
            <a:r>
              <a:rPr lang="en-US"/>
              <a:t>- https://www.microsoft.com/en-us/download/details.aspx?id=55319</a:t>
            </a:r>
          </a:p>
          <a:p>
            <a:endParaRPr lang="en-US"/>
          </a:p>
          <a:p>
            <a:r>
              <a:rPr lang="en-US"/>
              <a:t>- https://learn.microsoft.com/en-us/windows/security/operating-system-security/device-management/windows-security-configuration-framework/windows-security-baselines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https://learn.microsoft.com/en-us/windows/security/operating-system-security/device-management/windows-security-configuration-framework/windows-security-baselines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 could ask anyone who's used these raise their hands but this is not a game of Spot the Fed. </a:t>
            </a:r>
          </a:p>
          <a:p>
            <a:endParaRPr lang="en-US"/>
          </a:p>
          <a:p>
            <a:r>
              <a:rPr lang="en-US"/>
              <a:t>DISA STIGs are a type of benchmarking that is put out by the US Government for the US Government. I know that inspires tons of confidence, but give them a chance here. </a:t>
            </a:r>
          </a:p>
          <a:p>
            <a:endParaRPr lang="en-US"/>
          </a:p>
          <a:p>
            <a:r>
              <a:rPr lang="en-US"/>
              <a:t>The cool thing is there are STIGs for lots of different things, including lots outside of Microsoft. </a:t>
            </a:r>
          </a:p>
          <a:p>
            <a:endParaRPr lang="en-US"/>
          </a:p>
          <a:p>
            <a:r>
              <a:rPr lang="en-US"/>
              <a:t>For Microsoft they include drop-in GPO policy templates and even Ansible-based options. </a:t>
            </a:r>
          </a:p>
          <a:p>
            <a:endParaRPr lang="en-US"/>
          </a:p>
          <a:p>
            <a:r>
              <a:rPr lang="en-US"/>
              <a:t>STIGs tend to be more comprehensive than the Microsoft Baselines. My favorite thing about STIGs is the SCAP tool. This is a free download and it will do local or remote scanning of systems based on the specified STIG benchmark you included with the scan. The usual scan permissions apply, but it really can get you a good picture of the compliance. </a:t>
            </a:r>
          </a:p>
          <a:p>
            <a:endParaRPr lang="en-US"/>
          </a:p>
          <a:p>
            <a:r>
              <a:rPr lang="en-US"/>
              <a:t>The big downside of STIGs is that they are very, very, very much focused on the US Government, specifically the Department of Defense. If you look there are settings that really only apply to the US Government. The two I always remember are the requirement to use US Government Root CAs and to use US Government Time Servers. You can obviously ignore those specific findings and use that more as a reminder or a template for making sure you have your own secured Root CA and a known good time source. </a:t>
            </a:r>
          </a:p>
          <a:p>
            <a:endParaRPr lang="en-US"/>
          </a:p>
          <a:p>
            <a:r>
              <a:rPr lang="en-US"/>
              <a:t>You're all doing those things right?</a:t>
            </a:r>
          </a:p>
          <a:p>
            <a:endParaRPr lang="en-US"/>
          </a:p>
          <a:p>
            <a:r>
              <a:rPr lang="en-US"/>
              <a:t>I recommend using these because of the scanner and the increased coverage over MS Baselines. They're probably my favorite long term option because of how simple the SCAP tool is. </a:t>
            </a:r>
          </a:p>
          <a:p>
            <a:endParaRPr lang="en-US"/>
          </a:p>
          <a:p>
            <a:r>
              <a:rPr lang="en-US"/>
              <a:t>ADHD tangent: The format for the SCAP tool scans is kind of wierd. I looked at it a long time ago and decided it wasn't worth my time. I have it on good authority that you can use your LLM of choice to make your own SCAP Benchmarks. </a:t>
            </a:r>
          </a:p>
          <a:p>
            <a:endParaRPr lang="en-US"/>
          </a:p>
          <a:p>
            <a:r>
              <a:rPr lang="en-US"/>
              <a:t>Resources and References:</a:t>
            </a:r>
          </a:p>
          <a:p>
            <a:r>
              <a:rPr lang="en-US"/>
              <a:t>- https://www.cyber.mil/stigs/</a:t>
            </a:r>
          </a:p>
          <a:p>
            <a:r>
              <a:rPr lang="en-US"/>
              <a:t>- https://cyber.trackr.live/stig</a:t>
            </a:r>
          </a:p>
          <a:p>
            <a:endParaRPr lang="en-US"/>
          </a:p>
          <a:p>
            <a:r>
              <a:rPr lang="en-US"/>
              <a:t>Cyber.Trackr is a good quick viewer for STIG settings.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CIS Benchmarks compare a lot to DISA STIGs. The big difference are CIS Benchmarks can go down some rabbit holes and can be super comprehensive. They are, admittedly, the ones I'm least familiar with. </a:t>
            </a:r>
          </a:p>
          <a:p>
            <a:endParaRPr lang="en-US"/>
          </a:p>
          <a:p>
            <a:r>
              <a:rPr lang="en-US"/>
              <a:t>They're not bad and they are more universal than DISA STIGS so there aren't any "US Government" items in them, and they offer solid guidelines for the items instead. My biggest dislike of CIS Benchmarks are that they 1) require an email to download the PDF guides and 2) they require you to pay for their scanning tool. Compliance checks depend on either their paid tool or third parties. </a:t>
            </a:r>
          </a:p>
          <a:p>
            <a:endParaRPr lang="en-US"/>
          </a:p>
          <a:p>
            <a:r>
              <a:rPr lang="en-US"/>
              <a:t>CIS will show up in pretty much any non-US Government compliance lists. </a:t>
            </a:r>
          </a:p>
          <a:p>
            <a:endParaRPr lang="en-US"/>
          </a:p>
          <a:p>
            <a:r>
              <a:rPr lang="en-US"/>
              <a:t>Resources and References:</a:t>
            </a:r>
          </a:p>
          <a:p>
            <a:r>
              <a:rPr lang="en-US"/>
              <a:t>- https://downloads.cisecurity.org/#/</a:t>
            </a:r>
          </a:p>
          <a:p>
            <a:r>
              <a:rPr lang="en-US"/>
              <a:t>- https://learn.cisecurity.org/cis-cat-lite</a:t>
            </a:r>
          </a:p>
          <a:p>
            <a:endParaRPr lang="en-US"/>
          </a:p>
          <a:p>
            <a:r>
              <a:rPr lang="en-US"/>
              <a:t>- https://www.huntress.com/cybersecurity-101/topic/what-are-cis-benchmarks</a:t>
            </a:r>
          </a:p>
          <a:p>
            <a:r>
              <a:rPr lang="en-US"/>
              <a:t>- https://netwrix.com/en/resources/blog/cis-security-benchmarks/</a:t>
            </a:r>
          </a:p>
          <a:p>
            <a:endParaRPr lang="en-US"/>
          </a:p>
          <a:p>
            <a:endParaRPr lang="en-US"/>
          </a:p>
          <a:p>
            <a:r>
              <a:rPr lang="en-US"/>
              <a:t> Other tools with CIS Scanning </a:t>
            </a:r>
          </a:p>
          <a:p>
            <a:r>
              <a:rPr lang="en-US"/>
              <a:t>- https://wazuh.com/</a:t>
            </a:r>
          </a:p>
          <a:p>
            <a:r>
              <a:rPr lang="en-US"/>
              <a:t>- https://github.com/scipag/HardeningKitty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There are literally hundreds of security settings, and it is impossible to call out all the meaningful ones here. Instead, I chose some that are either a really big deal or have a gotcha associated.</a:t>
            </a:r>
          </a:p>
          <a:p>
            <a:endParaRPr lang="en-US"/>
          </a:p>
          <a:p>
            <a:r>
              <a:rPr lang="en-US"/>
              <a:t>LDAP signing is one of the easier ones to get in. There are two ways to do it, you can use LDAP Signing (no CA), or you can do LDAPS which requires a CA and has broader support in my experience. Either satisfy.</a:t>
            </a:r>
          </a:p>
          <a:p>
            <a:endParaRPr lang="en-US"/>
          </a:p>
          <a:p>
            <a:endParaRPr lang="en-US"/>
          </a:p>
          <a:p>
            <a:endParaRPr lang="en-US"/>
          </a:p>
          <a:p>
            <a:endParaRPr lang="en-US"/>
          </a:p>
          <a:p>
            <a:r>
              <a:rPr lang="en-US"/>
              <a:t>-- References</a:t>
            </a:r>
          </a:p>
          <a:p>
            <a:r>
              <a:rPr lang="en-US"/>
              <a:t>LDAP References</a:t>
            </a:r>
          </a:p>
          <a:p>
            <a:r>
              <a:rPr lang="en-US"/>
              <a:t>- https://learn.microsoft.com/en-us/windows-server/identity/ad-ds/ldap-signing</a:t>
            </a:r>
          </a:p>
          <a:p>
            <a:r>
              <a:rPr lang="en-US"/>
              <a:t>- https://support.microsoft.com/en-us/topic/2020-2023-and-2024-ldap-channel-binding-and-ldap-signing-requirements-for-windows-kb4520412-ef185fb8-00f7-167d-744c-f299a66fc00a</a:t>
            </a:r>
          </a:p>
          <a:p>
            <a:r>
              <a:rPr lang="en-US"/>
              <a:t>-https://learn.microsoft.com/</a:t>
            </a:r>
            <a:r>
              <a:rPr lang="en-US" err="1"/>
              <a:t>en</a:t>
            </a:r>
            <a:r>
              <a:rPr lang="en-US"/>
              <a:t>-us/windows-server/identity/ad-ds/</a:t>
            </a:r>
            <a:r>
              <a:rPr lang="en-US" err="1"/>
              <a:t>ldap</a:t>
            </a:r>
            <a:r>
              <a:rPr lang="en-US"/>
              <a:t>-client-performance-counters</a:t>
            </a:r>
          </a:p>
          <a:p>
            <a:r>
              <a:rPr lang="en-US"/>
              <a:t>- learn.microsoft.com/</a:t>
            </a:r>
            <a:r>
              <a:rPr lang="en-US" err="1"/>
              <a:t>en</a:t>
            </a:r>
            <a:r>
              <a:rPr lang="en-US"/>
              <a:t>-us/windows-server/identity/ad-ds/</a:t>
            </a:r>
            <a:r>
              <a:rPr lang="en-US" err="1"/>
              <a:t>configure-ldap-signing-certificates?tabs</a:t>
            </a:r>
            <a:r>
              <a:rPr lang="en-US"/>
              <a:t>=</a:t>
            </a:r>
            <a:r>
              <a:rPr lang="en-US" err="1"/>
              <a:t>microsoft</a:t>
            </a:r>
            <a:r>
              <a:rPr lang="en-US"/>
              <a:t>-enterprise-ca</a:t>
            </a:r>
          </a:p>
          <a:p>
            <a:r>
              <a:rPr lang="en-US"/>
              <a:t>- https://learn.microsoft.com/en-us/windows-server/identity/manage-ldap-signing-group-policy?tabs=windows-server-2025</a:t>
            </a:r>
          </a:p>
          <a:p>
            <a:r>
              <a:rPr lang="en-US"/>
              <a:t>- https://support.microsoft.com/en-us/topic/kb4034879-use-the-ldapenforcechannelbinding-registry-entry-to-make-ldap-authentication-over-ssl-tls-more-secure-e9ecfa27-5e57-8519-6ba3-d2c06b21812e</a:t>
            </a:r>
          </a:p>
          <a:p>
            <a:endParaRPr lang="en-US"/>
          </a:p>
          <a:p>
            <a:r>
              <a:rPr lang="en-US"/>
              <a:t>SMB</a:t>
            </a:r>
          </a:p>
          <a:p>
            <a:r>
              <a:rPr lang="en-US"/>
              <a:t>- https://learn.microsoft.com/en-us/windows-server/storage/file-server/smb-signing-overview</a:t>
            </a:r>
          </a:p>
          <a:p>
            <a:endParaRPr lang="en-US"/>
          </a:p>
          <a:p>
            <a:r>
              <a:rPr lang="en-US"/>
              <a:t>NTLM </a:t>
            </a:r>
          </a:p>
          <a:p>
            <a:r>
              <a:rPr lang="en-US"/>
              <a:t>- https://syfuhs.net/deprecating-ntlm-is-easy-and-other-lies-we-tell-ourselves</a:t>
            </a:r>
          </a:p>
          <a:p>
            <a:r>
              <a:rPr lang="en-US"/>
              <a:t>- https://techcommunity.microsoft.com/blog/windows-itpro-blog/advancing-windows-security-disabling-ntlm-by-default/4489526</a:t>
            </a:r>
          </a:p>
          <a:p>
            <a:r>
              <a:rPr lang="en-US"/>
              <a:t>- https://support.microsoft.com/en-us/topic/overview-of-ntlm-auditing-enhancements-in-windows-11-version-24h2-and-windows-server-2025-b7ead732-6fc5-46a3-a943-27a4571d9e7b</a:t>
            </a:r>
          </a:p>
          <a:p>
            <a:r>
              <a:rPr lang="en-US"/>
              <a:t>- https://support.microsoft.com/en-us/topic/upcoming-changes-to-ntlmv1-in-windows-11-version-24h2-and-windows-server-2025-c0554217-cdbc-420f-b47c-e02b2db49b2e</a:t>
            </a:r>
          </a:p>
          <a:p>
            <a:endParaRPr lang="en-US"/>
          </a:p>
          <a:p>
            <a:r>
              <a:rPr lang="en-US"/>
              <a:t>Kerberos Delegation</a:t>
            </a:r>
          </a:p>
          <a:p>
            <a:r>
              <a:rPr lang="en-US"/>
              <a:t>- https://learn.microsoft.com/en-us/windows-server/security/kerberos/kerberos-constrained-delegation-overview</a:t>
            </a:r>
          </a:p>
          <a:p>
            <a:r>
              <a:rPr lang="en-US"/>
              <a:t>- https://learn.microsoft.com/en-us/archive/blogs/poshchap/security-focus-analysing-account-is-sensitive-and-cannot-be-delegated-for-privileged-accounts</a:t>
            </a:r>
          </a:p>
          <a:p>
            <a:r>
              <a:rPr lang="en-US"/>
              <a:t>- https://learn.microsoft.com/en-us/previous-versions/tn-archive/cc995228(v=technet.10)?redirectedfrom=MSDN</a:t>
            </a:r>
          </a:p>
          <a:p>
            <a:r>
              <a:rPr lang="en-US"/>
              <a:t>- https://syfuhs.net/understanding-identity-delegation</a:t>
            </a:r>
          </a:p>
          <a:p>
            <a:endParaRPr lang="en-US"/>
          </a:p>
          <a:p>
            <a:r>
              <a:rPr lang="en-US"/>
              <a:t>Kerberos Encryption</a:t>
            </a:r>
          </a:p>
          <a:p>
            <a:r>
              <a:rPr lang="en-US"/>
              <a:t>- https://syfuhs.net/lessons-in-disabling-rc4-in-active-directory</a:t>
            </a:r>
          </a:p>
          <a:p>
            <a:r>
              <a:rPr lang="en-US"/>
              <a:t>- https://www.microsoft.com/en-us/windows-server/blog/2025/12/03/beyond-rc4-for-windows-authentication/</a:t>
            </a:r>
          </a:p>
          <a:p>
            <a:r>
              <a:rPr lang="en-US"/>
              <a:t>- https://support.microsoft.com/en-us/topic/how-to-manage-kerberos-kdc-usage-of-rc4-for-service-account-ticket-issuance-changes-related-to-cve-2026-20833-1ebcda33-720a-4da8-93c1-b0496e1910dc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LDAP Channel Binding is useful as it prevents some MITM attacks. The challenge here is poorly supported by older OSes, particularly older Linux. </a:t>
            </a:r>
          </a:p>
          <a:p>
            <a:endParaRPr lang="en-US"/>
          </a:p>
          <a:p>
            <a:r>
              <a:rPr lang="en-US"/>
              <a:t>For both of these there are audit policies, configure those.</a:t>
            </a:r>
          </a:p>
          <a:p>
            <a:r>
              <a:rPr lang="en-US"/>
              <a:t>(References below)</a:t>
            </a:r>
          </a:p>
          <a:p>
            <a:endParaRPr lang="en-US"/>
          </a:p>
          <a:p>
            <a:r>
              <a:rPr lang="en-US"/>
              <a:t>-- References</a:t>
            </a:r>
          </a:p>
          <a:p>
            <a:r>
              <a:rPr lang="en-US"/>
              <a:t>LDAP References</a:t>
            </a:r>
          </a:p>
          <a:p>
            <a:r>
              <a:rPr lang="en-US"/>
              <a:t>- https://learn.microsoft.com/en-us/windows-server/identity/ad-ds/ldap-signing</a:t>
            </a:r>
          </a:p>
          <a:p>
            <a:r>
              <a:rPr lang="en-US"/>
              <a:t>- https://support.microsoft.com/en-us/topic/2020-2023-and-2024-ldap-channel-binding-and-ldap-signing-requirements-for-windows-kb4520412-ef185fb8-00f7-167d-744c-f299a66fc00a</a:t>
            </a:r>
          </a:p>
          <a:p>
            <a:r>
              <a:rPr lang="en-US"/>
              <a:t>-https://learn.microsoft.com/en-us/windows-server/identity/ad-ds/ldap-client-performance-counters</a:t>
            </a:r>
          </a:p>
          <a:p>
            <a:r>
              <a:rPr lang="en-US"/>
              <a:t>- learn.microsoft.com/en-us/windows-server/identity/ad-ds/configure-ldap-signing-certificates?tabs=microsoft-enterprise-ca</a:t>
            </a:r>
          </a:p>
          <a:p>
            <a:r>
              <a:rPr lang="en-US"/>
              <a:t>- https://learn.microsoft.com/en-us/windows-server/identity/manage-ldap-signing-group-policy?tabs=windows-server-2025</a:t>
            </a:r>
          </a:p>
          <a:p>
            <a:r>
              <a:rPr lang="en-US"/>
              <a:t>- https://support.microsoft.com/en-us/topic/kb4034879-use-the-ldapenforcechannelbinding-registry-entry-to-make-ldap-authentication-over-ssl-tls-more-secure-e9ecfa27-5e57-8519-6ba3-d2c06b21812e</a:t>
            </a:r>
          </a:p>
          <a:p>
            <a:endParaRPr lang="en-US"/>
          </a:p>
          <a:p>
            <a:r>
              <a:rPr lang="en-US"/>
              <a:t>SMB</a:t>
            </a:r>
          </a:p>
          <a:p>
            <a:r>
              <a:rPr lang="en-US"/>
              <a:t>- https://learn.microsoft.com/en-us/windows-server/storage/file-server/smb-signing-overview</a:t>
            </a:r>
          </a:p>
          <a:p>
            <a:endParaRPr lang="en-US"/>
          </a:p>
          <a:p>
            <a:r>
              <a:rPr lang="en-US"/>
              <a:t>NTLM </a:t>
            </a:r>
          </a:p>
          <a:p>
            <a:r>
              <a:rPr lang="en-US"/>
              <a:t>- https://syfuhs.net/deprecating-ntlm-is-easy-and-other-lies-we-tell-ourselves</a:t>
            </a:r>
          </a:p>
          <a:p>
            <a:r>
              <a:rPr lang="en-US"/>
              <a:t>- https://techcommunity.microsoft.com/blog/windows-itpro-blog/advancing-windows-security-disabling-ntlm-by-default/4489526</a:t>
            </a:r>
          </a:p>
          <a:p>
            <a:r>
              <a:rPr lang="en-US"/>
              <a:t>- https://support.microsoft.com/en-us/topic/overview-of-ntlm-auditing-enhancements-in-windows-11-version-24h2-and-windows-server-2025-b7ead732-6fc5-46a3-a943-27a4571d9e7b</a:t>
            </a:r>
          </a:p>
          <a:p>
            <a:r>
              <a:rPr lang="en-US"/>
              <a:t>- https://support.microsoft.com/en-us/topic/upcoming-changes-to-ntlmv1-in-windows-11-version-24h2-and-windows-server-2025-c0554217-cdbc-420f-b47c-e02b2db49b2e</a:t>
            </a:r>
          </a:p>
          <a:p>
            <a:endParaRPr lang="en-US"/>
          </a:p>
          <a:p>
            <a:r>
              <a:rPr lang="en-US"/>
              <a:t>Kerberos Delegation</a:t>
            </a:r>
          </a:p>
          <a:p>
            <a:r>
              <a:rPr lang="en-US"/>
              <a:t>- https://learn.microsoft.com/en-us/windows-server/security/kerberos/kerberos-constrained-delegation-overview</a:t>
            </a:r>
          </a:p>
          <a:p>
            <a:r>
              <a:rPr lang="en-US"/>
              <a:t>- https://learn.microsoft.com/en-us/archive/blogs/poshchap/security-focus-analysing-account-is-sensitive-and-cannot-be-delegated-for-privileged-accounts</a:t>
            </a:r>
          </a:p>
          <a:p>
            <a:r>
              <a:rPr lang="en-US"/>
              <a:t>- https://learn.microsoft.com/en-us/previous-versions/tn-archive/cc995228(v=technet.10)?redirectedfrom=MSDN</a:t>
            </a:r>
          </a:p>
          <a:p>
            <a:r>
              <a:rPr lang="en-US"/>
              <a:t>- https://syfuhs.net/understanding-identity-delegation</a:t>
            </a:r>
          </a:p>
          <a:p>
            <a:endParaRPr lang="en-US"/>
          </a:p>
          <a:p>
            <a:r>
              <a:rPr lang="en-US"/>
              <a:t>Kerberos Encryption</a:t>
            </a:r>
          </a:p>
          <a:p>
            <a:r>
              <a:rPr lang="en-US"/>
              <a:t>- https://syfuhs.net/lessons-in-disabling-rc4-in-active-directory</a:t>
            </a:r>
          </a:p>
          <a:p>
            <a:r>
              <a:rPr lang="en-US"/>
              <a:t>- https://www.microsoft.com/en-us/windows-server/blog/2025/12/03/beyond-rc4-for-windows-authentication/</a:t>
            </a:r>
          </a:p>
          <a:p>
            <a:r>
              <a:rPr lang="en-US"/>
              <a:t>- https://support.microsoft.com/en-us/topic/how-to-manage-kerberos-kdc-usage-of-rc4-for-service-account-ticket-issuance-changes-related-to-cve-2026-20833-1ebcda33-720a-4da8-93c1-b0496e1910dc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SMB Signing</a:t>
            </a:r>
          </a:p>
          <a:p>
            <a:r>
              <a:rPr lang="en-US"/>
              <a:t>- This is an easy one to get enabled and protects against several attacks. I've not seen much stuff have issues with it these days. </a:t>
            </a:r>
          </a:p>
          <a:p>
            <a:endParaRPr lang="en-US"/>
          </a:p>
          <a:p>
            <a:endParaRPr lang="en-US"/>
          </a:p>
          <a:p>
            <a:r>
              <a:rPr lang="en-US"/>
              <a:t>-- References</a:t>
            </a:r>
          </a:p>
          <a:p>
            <a:r>
              <a:rPr lang="en-US"/>
              <a:t>LDAP References</a:t>
            </a:r>
          </a:p>
          <a:p>
            <a:r>
              <a:rPr lang="en-US"/>
              <a:t>- https://learn.microsoft.com/en-us/windows-server/identity/ad-ds/ldap-signing</a:t>
            </a:r>
          </a:p>
          <a:p>
            <a:r>
              <a:rPr lang="en-US"/>
              <a:t>- https://support.microsoft.com/en-us/topic/2020-2023-and-2024-ldap-channel-binding-and-ldap-signing-requirements-for-windows-kb4520412-ef185fb8-00f7-167d-744c-f299a66fc00a</a:t>
            </a:r>
          </a:p>
          <a:p>
            <a:r>
              <a:rPr lang="en-US"/>
              <a:t>-https://learn.microsoft.com/en-us/windows-server/identity/ad-ds/ldap-client-performance-counters</a:t>
            </a:r>
          </a:p>
          <a:p>
            <a:r>
              <a:rPr lang="en-US"/>
              <a:t>- learn.microsoft.com/en-us/windows-server/identity/ad-ds/configure-ldap-signing-certificates?tabs=microsoft-enterprise-ca</a:t>
            </a:r>
          </a:p>
          <a:p>
            <a:r>
              <a:rPr lang="en-US"/>
              <a:t>- https://learn.microsoft.com/en-us/windows-server/identity/manage-ldap-signing-group-policy?tabs=windows-server-2025</a:t>
            </a:r>
          </a:p>
          <a:p>
            <a:r>
              <a:rPr lang="en-US"/>
              <a:t>- https://support.microsoft.com/en-us/topic/kb4034879-use-the-ldapenforcechannelbinding-registry-entry-to-make-ldap-authentication-over-ssl-tls-more-secure-e9ecfa27-5e57-8519-6ba3-d2c06b21812e</a:t>
            </a:r>
          </a:p>
          <a:p>
            <a:endParaRPr lang="en-US"/>
          </a:p>
          <a:p>
            <a:r>
              <a:rPr lang="en-US"/>
              <a:t>SMB</a:t>
            </a:r>
          </a:p>
          <a:p>
            <a:r>
              <a:rPr lang="en-US"/>
              <a:t>- https://learn.microsoft.com/en-us/windows-server/storage/file-server/smb-signing-overview</a:t>
            </a:r>
          </a:p>
          <a:p>
            <a:endParaRPr lang="en-US"/>
          </a:p>
          <a:p>
            <a:r>
              <a:rPr lang="en-US"/>
              <a:t>NTLM </a:t>
            </a:r>
          </a:p>
          <a:p>
            <a:r>
              <a:rPr lang="en-US"/>
              <a:t>- https://syfuhs.net/deprecating-ntlm-is-easy-and-other-lies-we-tell-ourselves</a:t>
            </a:r>
          </a:p>
          <a:p>
            <a:r>
              <a:rPr lang="en-US"/>
              <a:t>- https://techcommunity.microsoft.com/blog/windows-itpro-blog/advancing-windows-security-disabling-ntlm-by-default/4489526</a:t>
            </a:r>
          </a:p>
          <a:p>
            <a:r>
              <a:rPr lang="en-US"/>
              <a:t>- https://support.microsoft.com/en-us/topic/overview-of-ntlm-auditing-enhancements-in-windows-11-version-24h2-and-windows-server-2025-b7ead732-6fc5-46a3-a943-27a4571d9e7b</a:t>
            </a:r>
          </a:p>
          <a:p>
            <a:r>
              <a:rPr lang="en-US"/>
              <a:t>- https://support.microsoft.com/en-us/topic/upcoming-changes-to-ntlmv1-in-windows-11-version-24h2-and-windows-server-2025-c0554217-cdbc-420f-b47c-e02b2db49b2e</a:t>
            </a:r>
          </a:p>
          <a:p>
            <a:endParaRPr lang="en-US"/>
          </a:p>
          <a:p>
            <a:r>
              <a:rPr lang="en-US"/>
              <a:t>Kerberos Delegation</a:t>
            </a:r>
          </a:p>
          <a:p>
            <a:r>
              <a:rPr lang="en-US"/>
              <a:t>- https://learn.microsoft.com/en-us/windows-server/security/kerberos/kerberos-constrained-delegation-overview</a:t>
            </a:r>
          </a:p>
          <a:p>
            <a:r>
              <a:rPr lang="en-US"/>
              <a:t>- https://learn.microsoft.com/en-us/archive/blogs/poshchap/security-focus-analysing-account-is-sensitive-and-cannot-be-delegated-for-privileged-accounts</a:t>
            </a:r>
          </a:p>
          <a:p>
            <a:r>
              <a:rPr lang="en-US"/>
              <a:t>- https://learn.microsoft.com/en-us/previous-versions/tn-archive/cc995228(v=technet.10)?redirectedfrom=MSDN</a:t>
            </a:r>
          </a:p>
          <a:p>
            <a:r>
              <a:rPr lang="en-US"/>
              <a:t>- https://syfuhs.net/understanding-identity-delegation</a:t>
            </a:r>
          </a:p>
          <a:p>
            <a:endParaRPr lang="en-US"/>
          </a:p>
          <a:p>
            <a:r>
              <a:rPr lang="en-US"/>
              <a:t>Kerberos Encryption</a:t>
            </a:r>
          </a:p>
          <a:p>
            <a:r>
              <a:rPr lang="en-US"/>
              <a:t>- https://syfuhs.net/lessons-in-disabling-rc4-in-active-directory</a:t>
            </a:r>
          </a:p>
          <a:p>
            <a:r>
              <a:rPr lang="en-US"/>
              <a:t>- https://www.microsoft.com/en-us/windows-server/blog/2025/12/03/beyond-rc4-for-windows-authentication/</a:t>
            </a:r>
          </a:p>
          <a:p>
            <a:r>
              <a:rPr lang="en-US"/>
              <a:t>- https://support.microsoft.com/en-us/topic/how-to-manage-kerberos-kdc-usage-of-rc4-for-service-account-ticket-issuance-changes-related-to-cve-2026-20833-1ebcda33-720a-4da8-93c1-b0496e1910dc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NTLM Hardening</a:t>
            </a:r>
          </a:p>
          <a:p>
            <a:r>
              <a:rPr lang="en-US"/>
              <a:t>- This covers the Microsoft push to end NTLM. </a:t>
            </a:r>
          </a:p>
          <a:p>
            <a:r>
              <a:rPr lang="en-US"/>
              <a:t>- There are two types of NTLM: v1 and v2. v1 needs to die in fire so if you're using it, get rid of it. </a:t>
            </a:r>
          </a:p>
          <a:p>
            <a:r>
              <a:rPr lang="en-US"/>
              <a:t>- v2 is old and needs to go, but it is still needed by a lot of apps. </a:t>
            </a:r>
          </a:p>
          <a:p>
            <a:r>
              <a:rPr lang="en-US"/>
              <a:t>- There are audit policies to nail these down. </a:t>
            </a:r>
          </a:p>
          <a:p>
            <a:endParaRPr lang="en-US"/>
          </a:p>
          <a:p>
            <a:endParaRPr lang="en-US"/>
          </a:p>
          <a:p>
            <a:r>
              <a:rPr lang="en-US"/>
              <a:t>-- References</a:t>
            </a:r>
          </a:p>
          <a:p>
            <a:r>
              <a:rPr lang="en-US"/>
              <a:t>LDAP References</a:t>
            </a:r>
          </a:p>
          <a:p>
            <a:r>
              <a:rPr lang="en-US"/>
              <a:t>- https://learn.microsoft.com/en-us/windows-server/identity/ad-ds/ldap-signing</a:t>
            </a:r>
          </a:p>
          <a:p>
            <a:r>
              <a:rPr lang="en-US"/>
              <a:t>- https://support.microsoft.com/en-us/topic/2020-2023-and-2024-ldap-channel-binding-and-ldap-signing-requirements-for-windows-kb4520412-ef185fb8-00f7-167d-744c-f299a66fc00a</a:t>
            </a:r>
          </a:p>
          <a:p>
            <a:r>
              <a:rPr lang="en-US"/>
              <a:t>-https://learn.microsoft.com/en-us/windows-server/identity/ad-ds/ldap-client-performance-counters</a:t>
            </a:r>
          </a:p>
          <a:p>
            <a:r>
              <a:rPr lang="en-US"/>
              <a:t>- learn.microsoft.com/en-us/windows-server/identity/ad-ds/configure-ldap-signing-certificates?tabs=microsoft-enterprise-ca</a:t>
            </a:r>
          </a:p>
          <a:p>
            <a:r>
              <a:rPr lang="en-US"/>
              <a:t>- https://learn.microsoft.com/en-us/windows-server/identity/manage-ldap-signing-group-policy?tabs=windows-server-2025</a:t>
            </a:r>
          </a:p>
          <a:p>
            <a:r>
              <a:rPr lang="en-US"/>
              <a:t>- https://support.microsoft.com/en-us/topic/kb4034879-use-the-ldapenforcechannelbinding-registry-entry-to-make-ldap-authentication-over-ssl-tls-more-secure-e9ecfa27-5e57-8519-6ba3-d2c06b21812e</a:t>
            </a:r>
          </a:p>
          <a:p>
            <a:endParaRPr lang="en-US"/>
          </a:p>
          <a:p>
            <a:r>
              <a:rPr lang="en-US"/>
              <a:t>SMB</a:t>
            </a:r>
          </a:p>
          <a:p>
            <a:r>
              <a:rPr lang="en-US"/>
              <a:t>- https://learn.microsoft.com/en-us/windows-server/storage/file-server/smb-signing-overview</a:t>
            </a:r>
          </a:p>
          <a:p>
            <a:endParaRPr lang="en-US"/>
          </a:p>
          <a:p>
            <a:r>
              <a:rPr lang="en-US"/>
              <a:t>NTLM </a:t>
            </a:r>
          </a:p>
          <a:p>
            <a:r>
              <a:rPr lang="en-US"/>
              <a:t>- https://syfuhs.net/deprecating-ntlm-is-easy-and-other-lies-we-tell-ourselves</a:t>
            </a:r>
          </a:p>
          <a:p>
            <a:r>
              <a:rPr lang="en-US"/>
              <a:t>- https://techcommunity.microsoft.com/blog/windows-itpro-blog/advancing-windows-security-disabling-ntlm-by-default/4489526</a:t>
            </a:r>
          </a:p>
          <a:p>
            <a:r>
              <a:rPr lang="en-US"/>
              <a:t>- https://support.microsoft.com/en-us/topic/overview-of-ntlm-auditing-enhancements-in-windows-11-version-24h2-and-windows-server-2025-b7ead732-6fc5-46a3-a943-27a4571d9e7b</a:t>
            </a:r>
          </a:p>
          <a:p>
            <a:r>
              <a:rPr lang="en-US"/>
              <a:t>- https://support.microsoft.com/en-us/topic/upcoming-changes-to-ntlmv1-in-windows-11-version-24h2-and-windows-server-2025-c0554217-cdbc-420f-b47c-e02b2db49b2e</a:t>
            </a:r>
          </a:p>
          <a:p>
            <a:endParaRPr lang="en-US"/>
          </a:p>
          <a:p>
            <a:r>
              <a:rPr lang="en-US"/>
              <a:t>Kerberos Delegation</a:t>
            </a:r>
          </a:p>
          <a:p>
            <a:r>
              <a:rPr lang="en-US"/>
              <a:t>- https://learn.microsoft.com/en-us/windows-server/security/kerberos/kerberos-constrained-delegation-overview</a:t>
            </a:r>
          </a:p>
          <a:p>
            <a:r>
              <a:rPr lang="en-US"/>
              <a:t>- https://learn.microsoft.com/en-us/archive/blogs/poshchap/security-focus-analysing-account-is-sensitive-and-cannot-be-delegated-for-privileged-accounts</a:t>
            </a:r>
          </a:p>
          <a:p>
            <a:r>
              <a:rPr lang="en-US"/>
              <a:t>- https://learn.microsoft.com/en-us/previous-versions/tn-archive/cc995228(v=technet.10)?redirectedfrom=MSDN</a:t>
            </a:r>
          </a:p>
          <a:p>
            <a:r>
              <a:rPr lang="en-US"/>
              <a:t>- https://syfuhs.net/understanding-identity-delegation</a:t>
            </a:r>
          </a:p>
          <a:p>
            <a:endParaRPr lang="en-US"/>
          </a:p>
          <a:p>
            <a:r>
              <a:rPr lang="en-US"/>
              <a:t>Kerberos Encryption</a:t>
            </a:r>
          </a:p>
          <a:p>
            <a:r>
              <a:rPr lang="en-US"/>
              <a:t>- https://syfuhs.net/lessons-in-disabling-rc4-in-active-directory</a:t>
            </a:r>
          </a:p>
          <a:p>
            <a:r>
              <a:rPr lang="en-US"/>
              <a:t>- https://www.microsoft.com/en-us/windows-server/blog/2025/12/03/beyond-rc4-for-windows-authentication/</a:t>
            </a:r>
          </a:p>
          <a:p>
            <a:r>
              <a:rPr lang="en-US"/>
              <a:t>- https://support.microsoft.com/en-us/topic/how-to-manage-kerberos-kdc-usage-of-rc4-for-service-account-ticket-issuance-changes-related-to-cve-2026-20833-1ebcda33-720a-4da8-93c1-b0496e1910dc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a:p>
          <a:p>
            <a:r>
              <a:rPr lang="en-US"/>
              <a:t>Kerberos Encryption Types</a:t>
            </a:r>
          </a:p>
          <a:p>
            <a:r>
              <a:rPr lang="en-US"/>
              <a:t>- Microsoft has gone to town on these lately with the demise of RC4. If you're still using it, get off it.</a:t>
            </a:r>
          </a:p>
          <a:p>
            <a:r>
              <a:rPr lang="en-US"/>
              <a:t>- At a minimum start finding RC4 stuff and rooting it out and make sure AES is enabled wherever possible. </a:t>
            </a:r>
          </a:p>
          <a:p>
            <a:endParaRPr lang="en-US"/>
          </a:p>
          <a:p>
            <a:endParaRPr lang="en-US"/>
          </a:p>
          <a:p>
            <a:r>
              <a:rPr lang="en-US"/>
              <a:t>-- References</a:t>
            </a:r>
          </a:p>
          <a:p>
            <a:r>
              <a:rPr lang="en-US"/>
              <a:t>LDAP References</a:t>
            </a:r>
          </a:p>
          <a:p>
            <a:r>
              <a:rPr lang="en-US"/>
              <a:t>- https://learn.microsoft.com/en-us/windows-server/identity/ad-ds/ldap-signing</a:t>
            </a:r>
          </a:p>
          <a:p>
            <a:r>
              <a:rPr lang="en-US"/>
              <a:t>- https://support.microsoft.com/en-us/topic/2020-2023-and-2024-ldap-channel-binding-and-ldap-signing-requirements-for-windows-kb4520412-ef185fb8-00f7-167d-744c-f299a66fc00a</a:t>
            </a:r>
          </a:p>
          <a:p>
            <a:r>
              <a:rPr lang="en-US"/>
              <a:t>-https://learn.microsoft.com/en-us/windows-server/identity/ad-ds/ldap-client-performance-counters</a:t>
            </a:r>
          </a:p>
          <a:p>
            <a:r>
              <a:rPr lang="en-US"/>
              <a:t>- learn.microsoft.com/en-us/windows-server/identity/ad-ds/configure-ldap-signing-certificates?tabs=microsoft-enterprise-ca</a:t>
            </a:r>
          </a:p>
          <a:p>
            <a:r>
              <a:rPr lang="en-US"/>
              <a:t>- https://learn.microsoft.com/en-us/windows-server/identity/manage-ldap-signing-group-policy?tabs=windows-server-2025</a:t>
            </a:r>
          </a:p>
          <a:p>
            <a:r>
              <a:rPr lang="en-US"/>
              <a:t>- https://support.microsoft.com/en-us/topic/kb4034879-use-the-ldapenforcechannelbinding-registry-entry-to-make-ldap-authentication-over-ssl-tls-more-secure-e9ecfa27-5e57-8519-6ba3-d2c06b21812e</a:t>
            </a:r>
          </a:p>
          <a:p>
            <a:endParaRPr lang="en-US"/>
          </a:p>
          <a:p>
            <a:r>
              <a:rPr lang="en-US"/>
              <a:t>SMB</a:t>
            </a:r>
          </a:p>
          <a:p>
            <a:r>
              <a:rPr lang="en-US"/>
              <a:t>- https://learn.microsoft.com/en-us/windows-server/storage/file-server/smb-signing-overview</a:t>
            </a:r>
          </a:p>
          <a:p>
            <a:endParaRPr lang="en-US"/>
          </a:p>
          <a:p>
            <a:r>
              <a:rPr lang="en-US"/>
              <a:t>NTLM </a:t>
            </a:r>
          </a:p>
          <a:p>
            <a:r>
              <a:rPr lang="en-US"/>
              <a:t>- https://syfuhs.net/deprecating-ntlm-is-easy-and-other-lies-we-tell-ourselves</a:t>
            </a:r>
          </a:p>
          <a:p>
            <a:r>
              <a:rPr lang="en-US"/>
              <a:t>- https://techcommunity.microsoft.com/blog/windows-itpro-blog/advancing-windows-security-disabling-ntlm-by-default/4489526</a:t>
            </a:r>
          </a:p>
          <a:p>
            <a:r>
              <a:rPr lang="en-US"/>
              <a:t>- https://support.microsoft.com/en-us/topic/overview-of-ntlm-auditing-enhancements-in-windows-11-version-24h2-and-windows-server-2025-b7ead732-6fc5-46a3-a943-27a4571d9e7b</a:t>
            </a:r>
          </a:p>
          <a:p>
            <a:r>
              <a:rPr lang="en-US"/>
              <a:t>- https://support.microsoft.com/en-us/topic/upcoming-changes-to-ntlmv1-in-windows-11-version-24h2-and-windows-server-2025-c0554217-cdbc-420f-b47c-e02b2db49b2e</a:t>
            </a:r>
          </a:p>
          <a:p>
            <a:endParaRPr lang="en-US"/>
          </a:p>
          <a:p>
            <a:r>
              <a:rPr lang="en-US"/>
              <a:t>Kerberos Delegation</a:t>
            </a:r>
          </a:p>
          <a:p>
            <a:r>
              <a:rPr lang="en-US"/>
              <a:t>- https://learn.microsoft.com/en-us/windows-server/security/kerberos/kerberos-constrained-delegation-overview</a:t>
            </a:r>
          </a:p>
          <a:p>
            <a:r>
              <a:rPr lang="en-US"/>
              <a:t>- https://learn.microsoft.com/en-us/archive/blogs/poshchap/security-focus-analysing-account-is-sensitive-and-cannot-be-delegated-for-privileged-accounts</a:t>
            </a:r>
          </a:p>
          <a:p>
            <a:r>
              <a:rPr lang="en-US"/>
              <a:t>- https://learn.microsoft.com/en-us/previous-versions/tn-archive/cc995228(v=technet.10)?redirectedfrom=MSDN</a:t>
            </a:r>
          </a:p>
          <a:p>
            <a:r>
              <a:rPr lang="en-US"/>
              <a:t>- https://syfuhs.net/understanding-identity-delegation</a:t>
            </a:r>
          </a:p>
          <a:p>
            <a:endParaRPr lang="en-US"/>
          </a:p>
          <a:p>
            <a:r>
              <a:rPr lang="en-US"/>
              <a:t>Kerberos Encryption</a:t>
            </a:r>
          </a:p>
          <a:p>
            <a:r>
              <a:rPr lang="en-US"/>
              <a:t>- https://syfuhs.net/lessons-in-disabling-rc4-in-active-directory</a:t>
            </a:r>
          </a:p>
          <a:p>
            <a:r>
              <a:rPr lang="en-US"/>
              <a:t>- https://www.microsoft.com/en-us/windows-server/blog/2025/12/03/beyond-rc4-for-windows-authentication/</a:t>
            </a:r>
          </a:p>
          <a:p>
            <a:r>
              <a:rPr lang="en-US"/>
              <a:t>- https://support.microsoft.com/en-us/topic/how-to-manage-kerberos-kdc-usage-of-rc4-for-service-account-ticket-issuance-changes-related-to-cve-2026-20833-1ebcda33-720a-4da8-93c1-b0496e1910dc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Kerberos Delegations</a:t>
            </a:r>
          </a:p>
          <a:p>
            <a:r>
              <a:rPr lang="en-US"/>
              <a:t>- Kerberos Delegation is impersonation and it by itself isn't bad, but has options that are horrifying. </a:t>
            </a:r>
          </a:p>
          <a:p>
            <a:r>
              <a:rPr lang="en-US"/>
              <a:t>- Basically, find anything running unconstrained delegation or protocol translation.</a:t>
            </a:r>
          </a:p>
          <a:p>
            <a:endParaRPr lang="en-US"/>
          </a:p>
          <a:p>
            <a:endParaRPr lang="en-US"/>
          </a:p>
          <a:p>
            <a:r>
              <a:rPr lang="en-US"/>
              <a:t>-- References</a:t>
            </a:r>
          </a:p>
          <a:p>
            <a:r>
              <a:rPr lang="en-US"/>
              <a:t>LDAP References</a:t>
            </a:r>
          </a:p>
          <a:p>
            <a:r>
              <a:rPr lang="en-US"/>
              <a:t>- https://learn.microsoft.com/en-us/windows-server/identity/ad-ds/ldap-signing</a:t>
            </a:r>
          </a:p>
          <a:p>
            <a:r>
              <a:rPr lang="en-US"/>
              <a:t>- https://support.microsoft.com/en-us/topic/2020-2023-and-2024-ldap-channel-binding-and-ldap-signing-requirements-for-windows-kb4520412-ef185fb8-00f7-167d-744c-f299a66fc00a</a:t>
            </a:r>
          </a:p>
          <a:p>
            <a:r>
              <a:rPr lang="en-US"/>
              <a:t>-https://learn.microsoft.com/en-us/windows-server/identity/ad-ds/ldap-client-performance-counters</a:t>
            </a:r>
          </a:p>
          <a:p>
            <a:r>
              <a:rPr lang="en-US"/>
              <a:t>- learn.microsoft.com/en-us/windows-server/identity/ad-ds/configure-ldap-signing-certificates?tabs=microsoft-enterprise-ca</a:t>
            </a:r>
          </a:p>
          <a:p>
            <a:r>
              <a:rPr lang="en-US"/>
              <a:t>- https://learn.microsoft.com/en-us/windows-server/identity/manage-ldap-signing-group-policy?tabs=windows-server-2025</a:t>
            </a:r>
          </a:p>
          <a:p>
            <a:r>
              <a:rPr lang="en-US"/>
              <a:t>- https://support.microsoft.com/en-us/topic/kb4034879-use-the-ldapenforcechannelbinding-registry-entry-to-make-ldap-authentication-over-ssl-tls-more-secure-e9ecfa27-5e57-8519-6ba3-d2c06b21812e</a:t>
            </a:r>
          </a:p>
          <a:p>
            <a:endParaRPr lang="en-US"/>
          </a:p>
          <a:p>
            <a:r>
              <a:rPr lang="en-US"/>
              <a:t>SMB</a:t>
            </a:r>
          </a:p>
          <a:p>
            <a:r>
              <a:rPr lang="en-US"/>
              <a:t>- https://learn.microsoft.com/en-us/windows-server/storage/file-server/smb-signing-overview</a:t>
            </a:r>
          </a:p>
          <a:p>
            <a:endParaRPr lang="en-US"/>
          </a:p>
          <a:p>
            <a:r>
              <a:rPr lang="en-US"/>
              <a:t>NTLM </a:t>
            </a:r>
          </a:p>
          <a:p>
            <a:r>
              <a:rPr lang="en-US"/>
              <a:t>- https://syfuhs.net/deprecating-ntlm-is-easy-and-other-lies-we-tell-ourselves</a:t>
            </a:r>
          </a:p>
          <a:p>
            <a:r>
              <a:rPr lang="en-US"/>
              <a:t>- https://techcommunity.microsoft.com/blog/windows-itpro-blog/advancing-windows-security-disabling-ntlm-by-default/4489526</a:t>
            </a:r>
          </a:p>
          <a:p>
            <a:r>
              <a:rPr lang="en-US"/>
              <a:t>- https://support.microsoft.com/en-us/topic/overview-of-ntlm-auditing-enhancements-in-windows-11-version-24h2-and-windows-server-2025-b7ead732-6fc5-46a3-a943-27a4571d9e7b</a:t>
            </a:r>
          </a:p>
          <a:p>
            <a:r>
              <a:rPr lang="en-US"/>
              <a:t>- https://support.microsoft.com/en-us/topic/upcoming-changes-to-ntlmv1-in-windows-11-version-24h2-and-windows-server-2025-c0554217-cdbc-420f-b47c-e02b2db49b2e</a:t>
            </a:r>
          </a:p>
          <a:p>
            <a:endParaRPr lang="en-US"/>
          </a:p>
          <a:p>
            <a:r>
              <a:rPr lang="en-US"/>
              <a:t>Kerberos Delegation</a:t>
            </a:r>
          </a:p>
          <a:p>
            <a:r>
              <a:rPr lang="en-US"/>
              <a:t>- https://learn.microsoft.com/en-us/windows-server/security/kerberos/kerberos-constrained-delegation-overview</a:t>
            </a:r>
          </a:p>
          <a:p>
            <a:r>
              <a:rPr lang="en-US"/>
              <a:t>- https://learn.microsoft.com/en-us/archive/blogs/poshchap/security-focus-analysing-account-is-sensitive-and-cannot-be-delegated-for-privileged-accounts</a:t>
            </a:r>
          </a:p>
          <a:p>
            <a:r>
              <a:rPr lang="en-US"/>
              <a:t>- https://learn.microsoft.com/en-us/previous-versions/tn-archive/cc995228(v=technet.10)?redirectedfrom=MSDN</a:t>
            </a:r>
          </a:p>
          <a:p>
            <a:r>
              <a:rPr lang="en-US"/>
              <a:t>- https://syfuhs.net/understanding-identity-delegation</a:t>
            </a:r>
          </a:p>
          <a:p>
            <a:endParaRPr lang="en-US"/>
          </a:p>
          <a:p>
            <a:r>
              <a:rPr lang="en-US"/>
              <a:t>Kerberos Encryption</a:t>
            </a:r>
          </a:p>
          <a:p>
            <a:r>
              <a:rPr lang="en-US"/>
              <a:t>- https://syfuhs.net/lessons-in-disabling-rc4-in-active-directory</a:t>
            </a:r>
          </a:p>
          <a:p>
            <a:r>
              <a:rPr lang="en-US"/>
              <a:t>- https://www.microsoft.com/en-us/windows-server/blog/2025/12/03/beyond-rc4-for-windows-authentication/</a:t>
            </a:r>
          </a:p>
          <a:p>
            <a:r>
              <a:rPr lang="en-US"/>
              <a:t>- https://support.microsoft.com/en-us/topic/how-to-manage-kerberos-kdc-usage-of-rc4-for-service-account-ticket-issuance-changes-related-to-cve-2026-20833-1ebcda33-720a-4da8-93c1-b0496e1910dc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If you don't know where to start, start with MS Baselines. They're fast, their simple. </a:t>
            </a:r>
          </a:p>
          <a:p>
            <a:endParaRPr lang="en-US"/>
          </a:p>
          <a:p>
            <a:r>
              <a:rPr lang="en-US"/>
              <a:t>Regardless of where you start, review the settings and get a rough idea of compliance. If you're looking at STIGs or CIS Benchmarks they're categorized by severity. I recommend reviewing the missing configurations or items and splitting them into three groups: high-impact, moderate-impact, and low-impact. Impact here isn't security risk -- impact is how likely am I to cause an a resume generating event by doing this? I have a list in the slide notes that you can look at later where I make an attempt to do some of this categorization for you, so I encourage you to look at that. Just be careful, what I think is low impact may not be low impact in your environment.</a:t>
            </a:r>
          </a:p>
          <a:p>
            <a:endParaRPr lang="en-US"/>
          </a:p>
          <a:p>
            <a:r>
              <a:rPr lang="en-US"/>
              <a:t>Get projects started and approvals moving for the bigger items and start knocking out the low-impact items. They will move your bar forward and while the gains won't be great, they are a start. Once those start moving you can start focusing on the larger items. </a:t>
            </a:r>
          </a:p>
          <a:p>
            <a:endParaRPr lang="en-US"/>
          </a:p>
          <a:p>
            <a:r>
              <a:rPr lang="en-US"/>
              <a:t>Another thing I tend to do is compare the settings from a couple of the different benchmarks and choose the stricter of the two when they differ. This is particularly useful for audit settings as they vary a lot between the different baselines. </a:t>
            </a:r>
          </a:p>
          <a:p>
            <a:endParaRPr lang="en-US"/>
          </a:p>
          <a:p>
            <a:r>
              <a:rPr lang="en-US"/>
              <a:t>Don't get overwhelmed. From there work through the findings systematically. Anything you can implement easily without taking on too much business risk, do it. Everything else get plans and projects in place to start resolving them over time. If your security team is pushing for things, that helps prioritize.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 few years ago NIST completely overhauled the guidance on passwords and password policies. </a:t>
            </a:r>
          </a:p>
          <a:p>
            <a:endParaRPr lang="en-US"/>
          </a:p>
          <a:p>
            <a:r>
              <a:rPr lang="en-US"/>
              <a:t>One the the challenges I noticed, most solutions to NIST's requirements involve a cost.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Here are NISTs 800-63B controls. </a:t>
            </a:r>
          </a:p>
          <a:p>
            <a:endParaRPr lang="en-US" dirty="0"/>
          </a:p>
          <a:p>
            <a:r>
              <a:rPr lang="en-US" dirty="0"/>
              <a:t>1. Password Length is better than password complexity. </a:t>
            </a:r>
          </a:p>
          <a:p>
            <a:r>
              <a:rPr lang="en-US" dirty="0"/>
              <a:t>2. Use bad password lists to prevent use of known compromised passwords. </a:t>
            </a:r>
          </a:p>
          <a:p>
            <a:r>
              <a:rPr lang="en-US" dirty="0"/>
              <a:t>3. Deploy </a:t>
            </a:r>
            <a:r>
              <a:rPr lang="en-US" dirty="0" err="1"/>
              <a:t>passwordless</a:t>
            </a:r>
            <a:r>
              <a:rPr lang="en-US" dirty="0"/>
              <a:t> solutions wherever possible.</a:t>
            </a:r>
          </a:p>
          <a:p>
            <a:r>
              <a:rPr lang="en-US" dirty="0"/>
              <a:t>4. Do not employ forced expiration of passwords at an interval. Only force resets on known compromised accounts. </a:t>
            </a:r>
          </a:p>
          <a:p>
            <a:endParaRPr lang="en-US" dirty="0"/>
          </a:p>
          <a:p>
            <a:r>
              <a:rPr lang="en-US" dirty="0"/>
              <a:t>While I don't 100% agree with all these, there is a lot of good information here. What could go wrong?</a:t>
            </a:r>
          </a:p>
          <a:p>
            <a:endParaRPr lang="en-US" dirty="0"/>
          </a:p>
          <a:p>
            <a:r>
              <a:rPr lang="en-US" dirty="0"/>
              <a:t>Resources and References:</a:t>
            </a:r>
          </a:p>
          <a:p>
            <a:r>
              <a:rPr lang="en-US" dirty="0"/>
              <a:t>- https://pages.nist.gov/800-63-3/sp800-63b.html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Bad Password lists (also called Password Filters in AD) have been in AD for a long time. They pre-date Azure. </a:t>
            </a:r>
          </a:p>
          <a:p>
            <a:endParaRPr lang="en-US"/>
          </a:p>
          <a:p>
            <a:r>
              <a:rPr lang="en-US"/>
              <a:t>Based on how the filter's design they can just be simple keyword matches, there are also wildcards, and all kinds of options built into them. They're pretty slick. </a:t>
            </a:r>
          </a:p>
          <a:p>
            <a:endParaRPr lang="en-US"/>
          </a:p>
          <a:p>
            <a:r>
              <a:rPr lang="en-US"/>
              <a:t>All the different filter types behave more or less the same. You can have lists of known bad passwords (haveibeenpwned) and you can create certain customization to match your needs. </a:t>
            </a:r>
          </a:p>
          <a:p>
            <a:r>
              <a:rPr lang="en-US"/>
              <a:t>[slide]</a:t>
            </a:r>
          </a:p>
          <a:p>
            <a:endParaRPr lang="en-US"/>
          </a:p>
          <a:p>
            <a:endParaRPr lang="en-US"/>
          </a:p>
          <a:p>
            <a:endParaRPr lang="en-US"/>
          </a:p>
          <a:p>
            <a:r>
              <a:rPr lang="en-US"/>
              <a:t>Resources and References</a:t>
            </a:r>
          </a:p>
          <a:p>
            <a:r>
              <a:rPr lang="en-US"/>
              <a:t>- https://learn.microsoft.com/en-us/windows/win32/secmgmt/password-filters</a:t>
            </a:r>
          </a:p>
          <a:p>
            <a:endParaRPr lang="en-US"/>
          </a:p>
          <a:p>
            <a:r>
              <a:rPr lang="en-US"/>
              <a:t>- https://learn.microsoft.com/en-us/entra/identity/authentication/concept-password-ban-bad</a:t>
            </a:r>
          </a:p>
          <a:p>
            <a:endParaRPr lang="en-US"/>
          </a:p>
          <a:p>
            <a:r>
              <a:rPr lang="en-US"/>
              <a:t>- https://github.com/lithnet/ad-password-protection</a:t>
            </a:r>
          </a:p>
          <a:p>
            <a:endParaRPr lang="en-US"/>
          </a:p>
          <a:p>
            <a:r>
              <a:rPr lang="en-US"/>
              <a:t>- github.com/ryanries/PassFiltEx</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Entra Password Protection is more or less the industry standard. I fully suspect in two weeks it will be called something like Defender Copilot for Password or some absolute nonsense.</a:t>
            </a:r>
          </a:p>
          <a:p>
            <a:endParaRPr lang="en-US"/>
          </a:p>
          <a:p>
            <a:r>
              <a:rPr lang="en-US"/>
              <a:t>EPP is great. It is easy to setup and does pretty much what you want it to do. It does require P1 or P2 licenses, or one of the Es but beyond that it is just a proxy server that lives on prem that syncs the password lists from the cloud. AD checks the proxy and you get filtering.</a:t>
            </a:r>
          </a:p>
          <a:p>
            <a:endParaRPr lang="en-US"/>
          </a:p>
          <a:p>
            <a:r>
              <a:rPr lang="en-US"/>
              <a:t>Resources and References</a:t>
            </a:r>
          </a:p>
          <a:p>
            <a:r>
              <a:rPr lang="en-US"/>
              <a:t>- https://learn.microsoft.com/en-us/windows/win32/secmgmt/password-filters</a:t>
            </a:r>
          </a:p>
          <a:p>
            <a:endParaRPr lang="en-US"/>
          </a:p>
          <a:p>
            <a:r>
              <a:rPr lang="en-US"/>
              <a:t>- https://learn.microsoft.com/en-us/entra/identity/authentication/concept-password-ban-bad</a:t>
            </a:r>
          </a:p>
          <a:p>
            <a:endParaRPr lang="en-US"/>
          </a:p>
          <a:p>
            <a:r>
              <a:rPr lang="en-US"/>
              <a:t>- https://github.com/lithnet/ad-password-protection</a:t>
            </a:r>
          </a:p>
          <a:p>
            <a:endParaRPr lang="en-US"/>
          </a:p>
          <a:p>
            <a:r>
              <a:rPr lang="en-US"/>
              <a:t>- github.com/ryanries/PassFiltEx</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Lithent Password Protection is free. And Open Source. It's less glamorous than EPP but it works. Install it. Run a command to add HaveIBeenPwed and  your set. </a:t>
            </a:r>
          </a:p>
          <a:p>
            <a:endParaRPr lang="en-US"/>
          </a:p>
          <a:p>
            <a:r>
              <a:rPr lang="en-US"/>
              <a:t>I'll mention them more later. </a:t>
            </a:r>
          </a:p>
          <a:p>
            <a:endParaRPr lang="en-US"/>
          </a:p>
          <a:p>
            <a:r>
              <a:rPr lang="en-US"/>
              <a:t>This last one is our honorable mention. It is a password filter written by Ryan Ries who is a legend at Microsoft. He wrote this tool ages ago, it works. I should be clear it is NOT an official Microsoft product. He even did some major updates a couple years ago. It's even less polished than Lithnet. </a:t>
            </a:r>
          </a:p>
          <a:p>
            <a:endParaRPr lang="en-US"/>
          </a:p>
          <a:p>
            <a:r>
              <a:rPr lang="en-US"/>
              <a:t>Resources and References</a:t>
            </a:r>
          </a:p>
          <a:p>
            <a:r>
              <a:rPr lang="en-US"/>
              <a:t>- https://learn.microsoft.com/en-us/windows/win32/secmgmt/password-filters</a:t>
            </a:r>
          </a:p>
          <a:p>
            <a:endParaRPr lang="en-US"/>
          </a:p>
          <a:p>
            <a:r>
              <a:rPr lang="en-US"/>
              <a:t>- https://learn.microsoft.com/en-us/entra/identity/authentication/concept-password-ban-bad</a:t>
            </a:r>
          </a:p>
          <a:p>
            <a:endParaRPr lang="en-US"/>
          </a:p>
          <a:p>
            <a:r>
              <a:rPr lang="en-US"/>
              <a:t>- https://github.com/lithnet/ad-password-protection</a:t>
            </a:r>
          </a:p>
          <a:p>
            <a:endParaRPr lang="en-US"/>
          </a:p>
          <a:p>
            <a:r>
              <a:rPr lang="en-US"/>
              <a:t>- github.com/ryanries/PassFiltEx</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Time: 1 min</a:t>
            </a:r>
          </a:p>
          <a:p>
            <a:endParaRPr lang="en-US"/>
          </a:p>
          <a:p>
            <a:r>
              <a:rPr lang="en-US"/>
              <a:t>The simple answer is yes. I've tested it. The process in order as they are applied to LSASS. </a:t>
            </a:r>
          </a:p>
          <a:p>
            <a:endParaRPr lang="en-US"/>
          </a:p>
          <a:p>
            <a:r>
              <a:rPr lang="en-US"/>
              <a:t>The less-than-simple answer is... Don't. If you play stupid games you win stupid prizes.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MFA in many of it's on-prem implementations is really security theatre. </a:t>
            </a:r>
          </a:p>
          <a:p>
            <a:endParaRPr lang="en-US" dirty="0"/>
          </a:p>
          <a:p>
            <a:r>
              <a:rPr lang="en-US" dirty="0"/>
              <a:t>[slide]</a:t>
            </a:r>
          </a:p>
          <a:p>
            <a:endParaRPr lang="en-US" dirty="0"/>
          </a:p>
          <a:p>
            <a:r>
              <a:rPr lang="en-US" dirty="0"/>
              <a:t>I don't hate MFA. It's great if it is done correctly. </a:t>
            </a:r>
          </a:p>
          <a:p>
            <a:endParaRPr lang="en-US" dirty="0"/>
          </a:p>
          <a:p>
            <a:r>
              <a:rPr lang="en-US" dirty="0"/>
              <a:t>AD doesn't have any native MFA options on-prem. You have to go with a third party and they usually either function one of two ways and pass-keys currently really depend on a client or cloud. </a:t>
            </a:r>
          </a:p>
          <a:p>
            <a:endParaRPr lang="en-US" dirty="0"/>
          </a:p>
          <a:p>
            <a:r>
              <a:rPr lang="en-US" dirty="0"/>
              <a:t>It also isn't recommended by MS to sync privileged accounts. </a:t>
            </a:r>
          </a:p>
          <a:p>
            <a:endParaRPr lang="en-US" dirty="0"/>
          </a:p>
          <a:p>
            <a:r>
              <a:rPr lang="en-US" dirty="0"/>
              <a:t>1. They just secure RDP which, I'm sure all the </a:t>
            </a:r>
            <a:r>
              <a:rPr lang="en-US" dirty="0" err="1"/>
              <a:t>Pentesters</a:t>
            </a:r>
            <a:r>
              <a:rPr lang="en-US" dirty="0"/>
              <a:t> in the room will tell me is 100% the only way to breach an environment. </a:t>
            </a:r>
          </a:p>
          <a:p>
            <a:endParaRPr lang="en-US" dirty="0"/>
          </a:p>
          <a:p>
            <a:r>
              <a:rPr lang="en-US" dirty="0"/>
              <a:t>2. They require kernel-level process hooks which introduces some severe instability to Windows so you introduce operation risk. </a:t>
            </a:r>
          </a:p>
          <a:p>
            <a:endParaRPr lang="en-US" dirty="0"/>
          </a:p>
          <a:p>
            <a:r>
              <a:rPr lang="en-US" dirty="0"/>
              <a:t>Auditors like their tools and insurance has to check boxes so we may have to have something. </a:t>
            </a:r>
          </a:p>
          <a:p>
            <a:endParaRPr lang="en-US" dirty="0"/>
          </a:p>
          <a:p>
            <a:r>
              <a:rPr lang="en-US" dirty="0"/>
              <a:t>- Pass keys don't fit due to the no sync issue and costs limitations.</a:t>
            </a:r>
          </a:p>
          <a:p>
            <a:endParaRPr lang="en-US" dirty="0"/>
          </a:p>
          <a:p>
            <a:r>
              <a:rPr lang="en-US" dirty="0"/>
              <a:t>- Duo supports some trial accounts with limited features. This only protects the front door (RDP) and leaves other areas exposed.</a:t>
            </a:r>
          </a:p>
          <a:p>
            <a:endParaRPr lang="en-US" dirty="0"/>
          </a:p>
          <a:p>
            <a:r>
              <a:rPr lang="en-US" dirty="0"/>
              <a:t>- Entra MFA (for cloud solutions) since super privilege accounts shouldn't be synced, this is limited. There are some options in my notes. </a:t>
            </a:r>
          </a:p>
          <a:p>
            <a:endParaRPr lang="en-US" dirty="0"/>
          </a:p>
          <a:p>
            <a:r>
              <a:rPr lang="en-US" dirty="0"/>
              <a:t>- </a:t>
            </a:r>
            <a:r>
              <a:rPr lang="en-US" dirty="0" err="1"/>
              <a:t>WHfB</a:t>
            </a:r>
            <a:r>
              <a:rPr lang="en-US" dirty="0"/>
              <a:t> is good and is </a:t>
            </a:r>
            <a:r>
              <a:rPr lang="en-US" dirty="0" err="1"/>
              <a:t>passwordless</a:t>
            </a:r>
            <a:r>
              <a:rPr lang="en-US" dirty="0"/>
              <a:t>, but requires syncing or ADFS so there is a limit there too. </a:t>
            </a:r>
          </a:p>
          <a:p>
            <a:endParaRPr lang="en-US" dirty="0"/>
          </a:p>
          <a:p>
            <a:r>
              <a:rPr lang="en-US" dirty="0"/>
              <a:t>- Cert-based Auth. This is MFA without the traditional push notification and "enter the number". This is just certificate-based auth. Problem here is the PKI side of it, hardware tokens, and auditors don't get it so they may flag it.</a:t>
            </a:r>
          </a:p>
          <a:p>
            <a:endParaRPr lang="en-US" dirty="0"/>
          </a:p>
          <a:p>
            <a:r>
              <a:rPr lang="en-US" dirty="0"/>
              <a:t>FYI - I've used cert-based smart cards and they work pretty well. </a:t>
            </a:r>
          </a:p>
          <a:p>
            <a:endParaRPr lang="en-US" dirty="0"/>
          </a:p>
          <a:p>
            <a:r>
              <a:rPr lang="en-US" dirty="0"/>
              <a:t>-- REFERENCES --</a:t>
            </a:r>
          </a:p>
          <a:p>
            <a:r>
              <a:rPr lang="en-US" dirty="0" err="1"/>
              <a:t>Passwordless</a:t>
            </a:r>
            <a:r>
              <a:rPr lang="en-US" dirty="0"/>
              <a:t> / FIDO2</a:t>
            </a:r>
          </a:p>
          <a:p>
            <a:r>
              <a:rPr lang="en-US" dirty="0"/>
              <a:t>https://michaelwaterman.nl/2025/04/02/how-fido2-works-a-technical-deep-dive/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BONUS – </a:t>
            </a:r>
            <a:r>
              <a:rPr lang="en-US" dirty="0" err="1"/>
              <a:t>WHfB</a:t>
            </a:r>
            <a:endParaRPr lang="en-US" dirty="0"/>
          </a:p>
          <a:p>
            <a:endParaRPr lang="en-US" dirty="0"/>
          </a:p>
          <a:p>
            <a:r>
              <a:rPr lang="en-US" dirty="0"/>
              <a:t>Windows Hello for Business is an excellent tool for </a:t>
            </a:r>
            <a:r>
              <a:rPr lang="en-US" dirty="0" err="1"/>
              <a:t>passwordless</a:t>
            </a:r>
            <a:r>
              <a:rPr lang="en-US" dirty="0"/>
              <a:t> and “more modern” authentication. The big challenge when talking about on-prem is that it is still very, very limited and requires a lot of confirmation to make it work. I could have 100 slides on just this topic, so check the references section if you’re interested in more for </a:t>
            </a:r>
            <a:r>
              <a:rPr lang="en-US" dirty="0" err="1"/>
              <a:t>WHfB</a:t>
            </a:r>
            <a:r>
              <a:rPr lang="en-US" dirty="0"/>
              <a:t>. I’ll cover some relevant topics and let the references do the leg work. </a:t>
            </a:r>
          </a:p>
          <a:p>
            <a:endParaRPr lang="en-US" dirty="0"/>
          </a:p>
          <a:p>
            <a:r>
              <a:rPr lang="en-US" dirty="0"/>
              <a:t>First, Windows Hello != Windows Hello for Business.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Windows Hello is a </a:t>
            </a:r>
            <a:r>
              <a:rPr lang="en-US" dirty="0" err="1"/>
              <a:t>convience</a:t>
            </a:r>
            <a:r>
              <a:rPr lang="en-US" dirty="0"/>
              <a:t> PIN that is home-user focused and just simply a password vault with a PIN/Biometric used to reveal the vault contents.</a:t>
            </a:r>
          </a:p>
          <a:p>
            <a:pPr marL="171450" indent="-171450">
              <a:buFontTx/>
              <a:buChar char="-"/>
            </a:pPr>
            <a:r>
              <a:rPr lang="en-US" dirty="0" err="1"/>
              <a:t>WHfB</a:t>
            </a:r>
            <a:r>
              <a:rPr lang="en-US" dirty="0"/>
              <a:t> is a password-less authentication mechanism. The credentials are effectively tied to the device secured with a PIN or Biometric.</a:t>
            </a:r>
          </a:p>
          <a:p>
            <a:pPr marL="0" indent="0">
              <a:buFontTx/>
              <a:buNone/>
            </a:pPr>
            <a:endParaRPr lang="en-US" dirty="0"/>
          </a:p>
          <a:p>
            <a:pPr marL="171450" indent="-171450">
              <a:buFontTx/>
              <a:buChar char="-"/>
            </a:pPr>
            <a:endParaRPr lang="en-US" dirty="0"/>
          </a:p>
          <a:p>
            <a:pPr marL="0" indent="0">
              <a:buFontTx/>
              <a:buNone/>
            </a:pPr>
            <a:r>
              <a:rPr lang="en-US" b="1" dirty="0"/>
              <a:t>Deployment Models</a:t>
            </a:r>
          </a:p>
          <a:p>
            <a:pPr marL="171450" indent="-171450">
              <a:buFontTx/>
              <a:buChar char="-"/>
            </a:pPr>
            <a:r>
              <a:rPr lang="en-US" b="0" dirty="0"/>
              <a:t>Cloud-only – Orgs that only have clouds. </a:t>
            </a:r>
          </a:p>
          <a:p>
            <a:pPr marL="171450" indent="-171450">
              <a:buFontTx/>
              <a:buChar char="-"/>
            </a:pPr>
            <a:r>
              <a:rPr lang="en-US" b="0" dirty="0"/>
              <a:t>Hybrid – Orgs that are using both Entra and On-Prem. Expectation is that there is planned migration. </a:t>
            </a:r>
          </a:p>
          <a:p>
            <a:pPr marL="171450" indent="-171450">
              <a:buFontTx/>
              <a:buChar char="-"/>
            </a:pPr>
            <a:r>
              <a:rPr lang="en-US" b="0" dirty="0"/>
              <a:t>On-premises – Few cloud identities or applications and uses on-prem AD for all the authentication.</a:t>
            </a:r>
          </a:p>
          <a:p>
            <a:pPr marL="171450" indent="-171450">
              <a:buFontTx/>
              <a:buChar char="-"/>
            </a:pPr>
            <a:endParaRPr lang="en-US" b="0" dirty="0"/>
          </a:p>
          <a:p>
            <a:pPr marL="0" indent="0">
              <a:buFontTx/>
              <a:buNone/>
            </a:pPr>
            <a:r>
              <a:rPr lang="en-US" b="0" dirty="0"/>
              <a:t>It is important to note that to go from on-premise to hybrid requires redeployment. </a:t>
            </a:r>
          </a:p>
          <a:p>
            <a:pPr marL="0" indent="0">
              <a:buFontTx/>
              <a:buNone/>
            </a:pPr>
            <a:endParaRPr lang="en-US" b="0" dirty="0"/>
          </a:p>
          <a:p>
            <a:pPr marL="0" indent="0">
              <a:buFontTx/>
              <a:buNone/>
            </a:pPr>
            <a:r>
              <a:rPr lang="en-US" b="0" dirty="0"/>
              <a:t>It’s funny that MSFT lists the main use of on-prem is for “Enhanced Security Administrative Environments” / “Red Forests” which is something they don’t recommend for most organizations. </a:t>
            </a:r>
          </a:p>
          <a:p>
            <a:pPr marL="171450" indent="-171450">
              <a:buFontTx/>
              <a:buChar char="-"/>
            </a:pPr>
            <a:endParaRPr lang="en-US" b="0" dirty="0"/>
          </a:p>
          <a:p>
            <a:pPr marL="0" indent="0">
              <a:buFontTx/>
              <a:buNone/>
            </a:pPr>
            <a:r>
              <a:rPr lang="en-US" b="0" dirty="0"/>
              <a:t>We’ll focus on the On-prem one for this discussion. </a:t>
            </a:r>
          </a:p>
          <a:p>
            <a:pPr marL="0" indent="0">
              <a:buFontTx/>
              <a:buNone/>
            </a:pPr>
            <a:endParaRPr lang="en-US" b="0" dirty="0"/>
          </a:p>
          <a:p>
            <a:pPr marL="0" indent="0">
              <a:buFontTx/>
              <a:buNone/>
            </a:pPr>
            <a:r>
              <a:rPr lang="en-US" b="0" dirty="0"/>
              <a:t>Trust Types</a:t>
            </a:r>
          </a:p>
          <a:p>
            <a:pPr marL="0" indent="0">
              <a:buFontTx/>
              <a:buNone/>
            </a:pPr>
            <a:r>
              <a:rPr lang="en-US" b="0" dirty="0"/>
              <a:t>The trust type defines how </a:t>
            </a:r>
            <a:r>
              <a:rPr lang="en-US" b="0" dirty="0" err="1"/>
              <a:t>WHfB</a:t>
            </a:r>
            <a:r>
              <a:rPr lang="en-US" b="0" dirty="0"/>
              <a:t> will authentication to AD. It doesn’t relate to Entra. In cloud-only it is irrelevant. </a:t>
            </a:r>
          </a:p>
          <a:p>
            <a:pPr marL="171450" indent="-171450">
              <a:buFontTx/>
              <a:buChar char="-"/>
            </a:pPr>
            <a:r>
              <a:rPr lang="en-US" b="0" dirty="0"/>
              <a:t>Cloud Kerberos Trust – Entra issues a TGT using Entra Kerberos. The on-prem DCs still do a lot of the work. </a:t>
            </a:r>
          </a:p>
          <a:p>
            <a:pPr marL="171450" indent="-171450">
              <a:buFontTx/>
              <a:buChar char="-"/>
            </a:pPr>
            <a:r>
              <a:rPr lang="en-US" b="0" dirty="0"/>
              <a:t>Key Trust – Users auth to on-prem </a:t>
            </a:r>
            <a:r>
              <a:rPr lang="en-US" b="0" dirty="0" err="1"/>
              <a:t>kerb</a:t>
            </a:r>
            <a:r>
              <a:rPr lang="en-US" b="0" dirty="0"/>
              <a:t> using a device-bound key created during the provisioning of </a:t>
            </a:r>
            <a:r>
              <a:rPr lang="en-US" b="0" dirty="0" err="1"/>
              <a:t>WHfB</a:t>
            </a:r>
            <a:r>
              <a:rPr lang="en-US" b="0" dirty="0"/>
              <a:t>. This does require distributing certs to the DCs. </a:t>
            </a:r>
          </a:p>
          <a:p>
            <a:pPr marL="171450" indent="-171450">
              <a:buFontTx/>
              <a:buChar char="-"/>
            </a:pPr>
            <a:r>
              <a:rPr lang="en-US" b="0" dirty="0"/>
              <a:t>Certificate Trust – Involves issuing certificates to end users and those users auth using a device-bound key. </a:t>
            </a:r>
          </a:p>
          <a:p>
            <a:pPr marL="171450" indent="-171450">
              <a:buFontTx/>
              <a:buChar char="-"/>
            </a:pPr>
            <a:endParaRPr lang="en-US" b="0" dirty="0"/>
          </a:p>
          <a:p>
            <a:pPr marL="0" indent="0">
              <a:buFontTx/>
              <a:buNone/>
            </a:pPr>
            <a:r>
              <a:rPr lang="en-US" b="0" dirty="0"/>
              <a:t>Both key trust and certificate trust depend on PKI being in place to handle the authentication. Cloud Kerberos does eliminate the need for a PKI and doesn’t require synchronizing public keys. This is technically recommended by Microsoft but does have some less-than-simple requirements in some cases. </a:t>
            </a:r>
          </a:p>
          <a:p>
            <a:pPr marL="0" indent="0">
              <a:buFontTx/>
              <a:buNone/>
            </a:pPr>
            <a:endParaRPr lang="en-US" b="0" dirty="0"/>
          </a:p>
          <a:p>
            <a:pPr marL="0" indent="0">
              <a:buFontTx/>
              <a:buNone/>
            </a:pPr>
            <a:r>
              <a:rPr lang="en-US" b="0" dirty="0"/>
              <a:t>Authentication to Microsoft Entra ID</a:t>
            </a:r>
          </a:p>
          <a:p>
            <a:pPr marL="171450" indent="-171450">
              <a:buFontTx/>
              <a:buChar char="-"/>
            </a:pPr>
            <a:r>
              <a:rPr lang="en-US" b="0" dirty="0"/>
              <a:t>Only available if using a Cloud-only deployment or Hybrid Deployment model. </a:t>
            </a:r>
          </a:p>
          <a:p>
            <a:pPr marL="171450" indent="-171450">
              <a:buFontTx/>
              <a:buChar char="-"/>
            </a:pPr>
            <a:r>
              <a:rPr lang="en-US" b="0" dirty="0"/>
              <a:t>If using Hybrid, there is a good chance there will be a requirement to deploy AD FS. </a:t>
            </a:r>
          </a:p>
          <a:p>
            <a:pPr marL="171450" indent="-171450">
              <a:buFontTx/>
              <a:buChar char="-"/>
            </a:pPr>
            <a:endParaRPr lang="en-US" b="0" dirty="0"/>
          </a:p>
          <a:p>
            <a:pPr marL="0" indent="0">
              <a:buFontTx/>
              <a:buNone/>
            </a:pPr>
            <a:r>
              <a:rPr lang="en-US" b="0" dirty="0"/>
              <a:t>Device Registration</a:t>
            </a:r>
          </a:p>
          <a:p>
            <a:pPr marL="171450" indent="-171450">
              <a:buFontTx/>
              <a:buChar char="-"/>
            </a:pPr>
            <a:r>
              <a:rPr lang="en-US" b="0" dirty="0"/>
              <a:t>For on-prem deployments AD FS is used for device registration.</a:t>
            </a:r>
          </a:p>
          <a:p>
            <a:pPr marL="171450" indent="-171450">
              <a:buFontTx/>
              <a:buChar char="-"/>
            </a:pPr>
            <a:r>
              <a:rPr lang="en-US" b="0" dirty="0"/>
              <a:t>For Hybrid or cloud, device enrollment occurs via </a:t>
            </a:r>
            <a:r>
              <a:rPr lang="en-US" b="0" dirty="0" err="1"/>
              <a:t>Enrtra</a:t>
            </a:r>
            <a:r>
              <a:rPr lang="en-US" b="0" dirty="0"/>
              <a:t> ID. </a:t>
            </a:r>
          </a:p>
          <a:p>
            <a:pPr marL="0" indent="0">
              <a:buFontTx/>
              <a:buNone/>
            </a:pPr>
            <a:endParaRPr lang="en-US" b="0" dirty="0"/>
          </a:p>
          <a:p>
            <a:pPr marL="0" indent="0">
              <a:buFontTx/>
              <a:buNone/>
            </a:pPr>
            <a:r>
              <a:rPr lang="en-US" b="0" dirty="0"/>
              <a:t>Licensing Requirements</a:t>
            </a:r>
          </a:p>
          <a:p>
            <a:pPr marL="171450" indent="-171450">
              <a:buFontTx/>
              <a:buChar char="-"/>
            </a:pPr>
            <a:r>
              <a:rPr lang="en-US" b="0" dirty="0" err="1"/>
              <a:t>WHfB</a:t>
            </a:r>
            <a:r>
              <a:rPr lang="en-US" b="0" dirty="0"/>
              <a:t> does not strictly require any P1 or P2 licensing.</a:t>
            </a:r>
          </a:p>
          <a:p>
            <a:pPr marL="171450" indent="-171450">
              <a:buFontTx/>
              <a:buChar char="-"/>
            </a:pPr>
            <a:r>
              <a:rPr lang="en-US" b="0" dirty="0"/>
              <a:t>MDM and Conditional Access may however require P1/P2 Licensing.</a:t>
            </a:r>
          </a:p>
          <a:p>
            <a:pPr marL="171450" indent="-171450">
              <a:buFontTx/>
              <a:buChar char="-"/>
            </a:pPr>
            <a:r>
              <a:rPr lang="en-US" b="0" dirty="0" err="1"/>
              <a:t>WHfB</a:t>
            </a:r>
            <a:r>
              <a:rPr lang="en-US" b="0" dirty="0"/>
              <a:t> can be deployed using Entra Free but there will be some limitations. </a:t>
            </a:r>
          </a:p>
          <a:p>
            <a:pPr marL="171450" indent="-171450">
              <a:buFontTx/>
              <a:buChar char="-"/>
            </a:pPr>
            <a:r>
              <a:rPr lang="en-US" b="0" dirty="0"/>
              <a:t>Enrolling certs using AD FS requires devices to auth to AD FS which requires device write-back which requires P1/P2. </a:t>
            </a:r>
          </a:p>
          <a:p>
            <a:pPr marL="0" indent="0">
              <a:buFontTx/>
              <a:buNone/>
            </a:pPr>
            <a:endParaRPr lang="en-US" b="0" dirty="0"/>
          </a:p>
          <a:p>
            <a:pPr marL="0" indent="0">
              <a:buFontTx/>
              <a:buNone/>
            </a:pPr>
            <a:endParaRPr lang="en-US" dirty="0"/>
          </a:p>
          <a:p>
            <a:pPr marL="0" indent="0">
              <a:buFontTx/>
              <a:buNone/>
            </a:pPr>
            <a:endParaRPr lang="en-US" dirty="0"/>
          </a:p>
          <a:p>
            <a:pPr marL="0" indent="0">
              <a:buFontTx/>
              <a:buNone/>
            </a:pPr>
            <a:r>
              <a:rPr lang="en-US" dirty="0"/>
              <a:t>-- REFERENCES --</a:t>
            </a:r>
          </a:p>
          <a:p>
            <a:r>
              <a:rPr lang="en-US" dirty="0">
                <a:hlinkClick r:id="rId3"/>
              </a:rPr>
              <a:t>https://learn.microsoft.com/en-us/windows/security/identity-protection/hello-for-business/how-it-works</a:t>
            </a:r>
            <a:r>
              <a:rPr lang="en-US" dirty="0"/>
              <a:t> </a:t>
            </a:r>
          </a:p>
          <a:p>
            <a:r>
              <a:rPr lang="en-US" dirty="0"/>
              <a:t>https://learn.microsoft.com/en-us/windows/security/identity-protection/hello-for-business/deploy/</a:t>
            </a:r>
          </a:p>
          <a:p>
            <a:r>
              <a:rPr lang="en-US" dirty="0">
                <a:hlinkClick r:id="rId4"/>
              </a:rPr>
              <a:t>https://windowsforum.com/threads/windows-hello-for-business-the-ultimate-guide-to-enterprise-authentication-security.369347/</a:t>
            </a:r>
            <a:endParaRPr lang="en-US" dirty="0"/>
          </a:p>
          <a:p>
            <a:r>
              <a:rPr lang="en-US" dirty="0">
                <a:hlinkClick r:id="rId5"/>
              </a:rPr>
              <a:t>https://learn.microsoft.com/en-us/windows/security/identity-protection/hello-for-business/deploy/</a:t>
            </a:r>
            <a:endParaRPr lang="en-US" dirty="0"/>
          </a:p>
          <a:p>
            <a:r>
              <a:rPr lang="en-US" dirty="0">
                <a:hlinkClick r:id="rId6"/>
              </a:rPr>
              <a:t>https://support.microsoft.com/en-us/windows/using-third-party-fingerprint-readers-and-cameras-with-windows-hello-f53ccc2d-db6e-44ed-99c8-e5b031f27fd8</a:t>
            </a:r>
            <a:endParaRPr lang="en-US" dirty="0"/>
          </a:p>
          <a:p>
            <a:r>
              <a:rPr lang="en-US" dirty="0">
                <a:hlinkClick r:id="rId7"/>
              </a:rPr>
              <a:t>www.getsupport.co.uk/blog/2025-03/the-plain-english-guide-to-windows-hello-for-business/</a:t>
            </a:r>
            <a:endParaRPr lang="en-US" dirty="0"/>
          </a:p>
          <a:p>
            <a:r>
              <a:rPr lang="en-US" dirty="0">
                <a:hlinkClick r:id="rId8"/>
              </a:rPr>
              <a:t>https://petri.com/how-to-enable-windows-hello-for-business/</a:t>
            </a:r>
            <a:endParaRPr lang="en-US" dirty="0"/>
          </a:p>
          <a:p>
            <a:pPr marL="0" indent="0">
              <a:buFontTx/>
              <a:buNone/>
            </a:pPr>
            <a:endParaRPr lang="en-US" dirty="0"/>
          </a:p>
          <a:p>
            <a:pPr marL="0" indent="0">
              <a:buFontTx/>
              <a:buNone/>
            </a:pP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DAFDB-460B-5A72-2574-56A9127E6636}"/>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98D2CD54-4CBB-7FC3-FAED-983E5F29EC86}"/>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E87FDBC7-781A-1BCC-F731-3DFB8DB3CD2B}"/>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78885C7C-DCF7-6DAB-36BA-52EB50814380}"/>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2CD88ABD-3063-ED7D-9DAD-513B5283614F}"/>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marL="0" lvl="0" indent="0" algn="l">
              <a:lnSpc>
                <a:spcPts val="4160"/>
              </a:lnSpc>
            </a:pPr>
            <a:r>
              <a:rPr lang="en-US" sz="1200" dirty="0">
                <a:solidFill>
                  <a:srgbClr val="38B6FF"/>
                </a:solidFill>
                <a:latin typeface="Anton"/>
                <a:ea typeface="Anton"/>
                <a:cs typeface="Anton"/>
                <a:sym typeface="Anton"/>
              </a:rPr>
              <a:t>BONUS – </a:t>
            </a:r>
            <a:r>
              <a:rPr lang="en-US" sz="1200" dirty="0" err="1">
                <a:solidFill>
                  <a:srgbClr val="38B6FF"/>
                </a:solidFill>
                <a:latin typeface="Anton"/>
                <a:ea typeface="Anton"/>
                <a:cs typeface="Anton"/>
                <a:sym typeface="Anton"/>
              </a:rPr>
              <a:t>WHfB</a:t>
            </a:r>
            <a:r>
              <a:rPr lang="en-US" sz="1200" dirty="0">
                <a:solidFill>
                  <a:srgbClr val="38B6FF"/>
                </a:solidFill>
                <a:latin typeface="Anton"/>
                <a:ea typeface="Anton"/>
                <a:cs typeface="Anton"/>
                <a:sym typeface="Anton"/>
              </a:rPr>
              <a:t> On-Prem Deployment</a:t>
            </a:r>
          </a:p>
          <a:p>
            <a:pPr marL="0" lvl="0" indent="0" algn="l">
              <a:lnSpc>
                <a:spcPts val="4160"/>
              </a:lnSpc>
            </a:pPr>
            <a:endParaRPr lang="en-US" sz="1200" dirty="0">
              <a:solidFill>
                <a:srgbClr val="38B6FF"/>
              </a:solidFill>
              <a:latin typeface="Anton"/>
              <a:ea typeface="Anton"/>
              <a:cs typeface="Anton"/>
              <a:sym typeface="Anton"/>
            </a:endParaRPr>
          </a:p>
          <a:p>
            <a:pPr marL="0" lvl="0" indent="0" algn="l">
              <a:lnSpc>
                <a:spcPts val="4160"/>
              </a:lnSpc>
            </a:pPr>
            <a:r>
              <a:rPr lang="en-US" sz="1200" dirty="0">
                <a:solidFill>
                  <a:srgbClr val="38B6FF"/>
                </a:solidFill>
                <a:latin typeface="Anton"/>
                <a:ea typeface="Anton"/>
                <a:cs typeface="Anton"/>
                <a:sym typeface="Anton"/>
              </a:rPr>
              <a:t>Requirements</a:t>
            </a:r>
          </a:p>
          <a:p>
            <a:pPr marL="171450" lvl="0" indent="-171450" algn="l">
              <a:lnSpc>
                <a:spcPts val="4160"/>
              </a:lnSpc>
              <a:buFontTx/>
              <a:buChar char="-"/>
            </a:pPr>
            <a:r>
              <a:rPr lang="en-US" sz="1200" dirty="0">
                <a:solidFill>
                  <a:srgbClr val="38B6FF"/>
                </a:solidFill>
                <a:latin typeface="Anton"/>
                <a:ea typeface="Anton"/>
                <a:cs typeface="Anton"/>
                <a:sym typeface="Anton"/>
              </a:rPr>
              <a:t>PKI</a:t>
            </a:r>
          </a:p>
          <a:p>
            <a:pPr marL="171450" lvl="0" indent="-171450" algn="l">
              <a:lnSpc>
                <a:spcPts val="4160"/>
              </a:lnSpc>
              <a:buFontTx/>
              <a:buChar char="-"/>
            </a:pPr>
            <a:r>
              <a:rPr lang="en-US" sz="1200" dirty="0">
                <a:solidFill>
                  <a:srgbClr val="38B6FF"/>
                </a:solidFill>
                <a:latin typeface="Anton"/>
                <a:ea typeface="Anton"/>
                <a:cs typeface="Anton"/>
                <a:sym typeface="Anton"/>
              </a:rPr>
              <a:t>Licensing (P1/P2)</a:t>
            </a:r>
          </a:p>
          <a:p>
            <a:pPr marL="0" lvl="0" indent="0" algn="l">
              <a:lnSpc>
                <a:spcPts val="4160"/>
              </a:lnSpc>
              <a:buFontTx/>
              <a:buNone/>
            </a:pPr>
            <a:endParaRPr lang="en-US" sz="1200" dirty="0">
              <a:solidFill>
                <a:srgbClr val="38B6FF"/>
              </a:solidFill>
              <a:latin typeface="Anton"/>
              <a:ea typeface="Anton"/>
              <a:cs typeface="Anton"/>
              <a:sym typeface="Anton"/>
            </a:endParaRPr>
          </a:p>
          <a:p>
            <a:pPr marL="0" lvl="0" indent="0" algn="l">
              <a:lnSpc>
                <a:spcPts val="4160"/>
              </a:lnSpc>
            </a:pPr>
            <a:r>
              <a:rPr lang="en-US" sz="1200" dirty="0">
                <a:solidFill>
                  <a:srgbClr val="38B6FF"/>
                </a:solidFill>
                <a:latin typeface="Anton"/>
                <a:ea typeface="Anton"/>
                <a:cs typeface="Anton"/>
                <a:sym typeface="Anton"/>
              </a:rPr>
              <a:t>Deployment Steps</a:t>
            </a:r>
          </a:p>
          <a:p>
            <a:pPr marL="171450" lvl="0" indent="-171450" algn="l">
              <a:lnSpc>
                <a:spcPts val="4160"/>
              </a:lnSpc>
              <a:buFontTx/>
              <a:buChar char="-"/>
            </a:pPr>
            <a:r>
              <a:rPr lang="en-US" sz="1200" dirty="0">
                <a:solidFill>
                  <a:srgbClr val="38B6FF"/>
                </a:solidFill>
                <a:latin typeface="Anton"/>
                <a:ea typeface="Anton"/>
                <a:cs typeface="Anton"/>
                <a:sym typeface="Anton"/>
              </a:rPr>
              <a:t>Configure and validate PKI</a:t>
            </a:r>
          </a:p>
          <a:p>
            <a:pPr marL="171450" lvl="0" indent="-171450" algn="l">
              <a:lnSpc>
                <a:spcPts val="4160"/>
              </a:lnSpc>
              <a:buFontTx/>
              <a:buChar char="-"/>
            </a:pPr>
            <a:r>
              <a:rPr lang="en-US" sz="1200" dirty="0">
                <a:solidFill>
                  <a:srgbClr val="38B6FF"/>
                </a:solidFill>
                <a:latin typeface="Anton"/>
                <a:ea typeface="Anton"/>
                <a:cs typeface="Anton"/>
                <a:sym typeface="Anton"/>
              </a:rPr>
              <a:t>- Deploy a PKI setup with working CDPs, etc. </a:t>
            </a:r>
          </a:p>
          <a:p>
            <a:pPr marL="171450" lvl="0" indent="-171450" algn="l">
              <a:lnSpc>
                <a:spcPts val="4160"/>
              </a:lnSpc>
              <a:buFontTx/>
              <a:buChar char="-"/>
            </a:pPr>
            <a:r>
              <a:rPr lang="en-US" sz="1200" dirty="0">
                <a:solidFill>
                  <a:srgbClr val="38B6FF"/>
                </a:solidFill>
                <a:latin typeface="Anton"/>
                <a:ea typeface="Anton"/>
                <a:cs typeface="Anton"/>
                <a:sym typeface="Anton"/>
              </a:rPr>
              <a:t>- DC certificates should use a template that includes the “KDC Authentication” usage (default: </a:t>
            </a:r>
            <a:r>
              <a:rPr lang="en-US" sz="1200" dirty="0" err="1">
                <a:solidFill>
                  <a:srgbClr val="38B6FF"/>
                </a:solidFill>
                <a:latin typeface="Anton"/>
                <a:ea typeface="Anton"/>
                <a:cs typeface="Anton"/>
                <a:sym typeface="Anton"/>
              </a:rPr>
              <a:t>Kereros</a:t>
            </a:r>
            <a:r>
              <a:rPr lang="en-US" sz="1200" dirty="0">
                <a:solidFill>
                  <a:srgbClr val="38B6FF"/>
                </a:solidFill>
                <a:latin typeface="Anton"/>
                <a:ea typeface="Anton"/>
                <a:cs typeface="Anton"/>
                <a:sym typeface="Anton"/>
              </a:rPr>
              <a:t> Authentication template). </a:t>
            </a:r>
          </a:p>
          <a:p>
            <a:pPr marL="171450" lvl="0" indent="-171450" algn="l">
              <a:lnSpc>
                <a:spcPts val="4160"/>
              </a:lnSpc>
              <a:buFontTx/>
              <a:buChar char="-"/>
            </a:pPr>
            <a:r>
              <a:rPr lang="en-US" sz="1200" dirty="0">
                <a:solidFill>
                  <a:srgbClr val="38B6FF"/>
                </a:solidFill>
                <a:latin typeface="Anton"/>
                <a:ea typeface="Anton"/>
                <a:cs typeface="Anton"/>
                <a:sym typeface="Anton"/>
              </a:rPr>
              <a:t>- </a:t>
            </a:r>
            <a:r>
              <a:rPr lang="en-US" sz="1200" dirty="0" err="1">
                <a:solidFill>
                  <a:srgbClr val="38B6FF"/>
                </a:solidFill>
                <a:latin typeface="Anton"/>
                <a:ea typeface="Anton"/>
                <a:cs typeface="Anton"/>
                <a:sym typeface="Anton"/>
              </a:rPr>
              <a:t>Deply</a:t>
            </a:r>
            <a:r>
              <a:rPr lang="en-US" sz="1200" dirty="0">
                <a:solidFill>
                  <a:srgbClr val="38B6FF"/>
                </a:solidFill>
                <a:latin typeface="Anton"/>
                <a:ea typeface="Anton"/>
                <a:cs typeface="Anton"/>
                <a:sym typeface="Anton"/>
              </a:rPr>
              <a:t> the certificate to the domain </a:t>
            </a:r>
            <a:r>
              <a:rPr lang="en-US" sz="1200" dirty="0" err="1">
                <a:solidFill>
                  <a:srgbClr val="38B6FF"/>
                </a:solidFill>
                <a:latin typeface="Anton"/>
                <a:ea typeface="Anton"/>
                <a:cs typeface="Anton"/>
                <a:sym typeface="Anton"/>
              </a:rPr>
              <a:t>controller.s</a:t>
            </a:r>
            <a:r>
              <a:rPr lang="en-US" sz="1200" dirty="0">
                <a:solidFill>
                  <a:srgbClr val="38B6FF"/>
                </a:solidFill>
                <a:latin typeface="Anton"/>
                <a:ea typeface="Anton"/>
                <a:cs typeface="Anton"/>
                <a:sym typeface="Anton"/>
              </a:rPr>
              <a:t> </a:t>
            </a:r>
          </a:p>
          <a:p>
            <a:pPr marL="171450" lvl="0" indent="-171450" algn="l">
              <a:lnSpc>
                <a:spcPts val="4160"/>
              </a:lnSpc>
              <a:buFontTx/>
              <a:buChar char="-"/>
            </a:pPr>
            <a:r>
              <a:rPr lang="en-US" sz="1200" dirty="0">
                <a:solidFill>
                  <a:srgbClr val="38B6FF"/>
                </a:solidFill>
                <a:latin typeface="Anton"/>
                <a:ea typeface="Anton"/>
                <a:cs typeface="Anton"/>
                <a:sym typeface="Anton"/>
              </a:rPr>
              <a:t>Prepare and Deploy AD FS with MFA</a:t>
            </a:r>
          </a:p>
          <a:p>
            <a:pPr marL="171450" lvl="0" indent="-171450" algn="l">
              <a:lnSpc>
                <a:spcPts val="4160"/>
              </a:lnSpc>
              <a:buFontTx/>
              <a:buChar char="-"/>
            </a:pPr>
            <a:r>
              <a:rPr lang="en-US" sz="1200" dirty="0">
                <a:solidFill>
                  <a:srgbClr val="38B6FF"/>
                </a:solidFill>
                <a:latin typeface="Anton"/>
                <a:ea typeface="Anton"/>
                <a:cs typeface="Anton"/>
                <a:sym typeface="Anton"/>
              </a:rPr>
              <a:t>- Enroll for TLS Cert</a:t>
            </a:r>
          </a:p>
          <a:p>
            <a:pPr marL="171450" lvl="0" indent="-171450" algn="l">
              <a:lnSpc>
                <a:spcPts val="4160"/>
              </a:lnSpc>
              <a:buFontTx/>
              <a:buChar char="-"/>
            </a:pPr>
            <a:r>
              <a:rPr lang="en-US" sz="1200" dirty="0">
                <a:solidFill>
                  <a:srgbClr val="38B6FF"/>
                </a:solidFill>
                <a:latin typeface="Anton"/>
                <a:ea typeface="Anton"/>
                <a:cs typeface="Anton"/>
                <a:sym typeface="Anton"/>
              </a:rPr>
              <a:t>- Deploy AD FS</a:t>
            </a:r>
          </a:p>
          <a:p>
            <a:pPr marL="171450" lvl="0" indent="-171450" algn="l">
              <a:lnSpc>
                <a:spcPts val="4160"/>
              </a:lnSpc>
              <a:buFontTx/>
              <a:buChar char="-"/>
            </a:pPr>
            <a:r>
              <a:rPr lang="en-US" sz="1200" dirty="0">
                <a:solidFill>
                  <a:srgbClr val="38B6FF"/>
                </a:solidFill>
                <a:latin typeface="Anton"/>
                <a:ea typeface="Anton"/>
                <a:cs typeface="Anton"/>
                <a:sym typeface="Anton"/>
              </a:rPr>
              <a:t>- Validate</a:t>
            </a:r>
          </a:p>
          <a:p>
            <a:pPr marL="171450" lvl="0" indent="-171450" algn="l">
              <a:lnSpc>
                <a:spcPts val="4160"/>
              </a:lnSpc>
              <a:buFontTx/>
              <a:buChar char="-"/>
            </a:pPr>
            <a:r>
              <a:rPr lang="en-US" sz="1200" dirty="0">
                <a:solidFill>
                  <a:srgbClr val="38B6FF"/>
                </a:solidFill>
                <a:latin typeface="Anton"/>
                <a:ea typeface="Anton"/>
                <a:cs typeface="Anton"/>
                <a:sym typeface="Anton"/>
              </a:rPr>
              <a:t>- Configure Device Registration</a:t>
            </a:r>
          </a:p>
          <a:p>
            <a:pPr marL="171450" lvl="0" indent="-171450" algn="l">
              <a:lnSpc>
                <a:spcPts val="4160"/>
              </a:lnSpc>
              <a:buFontTx/>
              <a:buChar char="-"/>
            </a:pPr>
            <a:r>
              <a:rPr lang="en-US" sz="1200" dirty="0">
                <a:solidFill>
                  <a:srgbClr val="38B6FF"/>
                </a:solidFill>
                <a:latin typeface="Anton"/>
                <a:ea typeface="Anton"/>
                <a:cs typeface="Anton"/>
                <a:sym typeface="Anton"/>
              </a:rPr>
              <a:t>- Configure DNS for Device Registration</a:t>
            </a:r>
          </a:p>
          <a:p>
            <a:pPr marL="171450" lvl="0" indent="-171450" algn="l">
              <a:lnSpc>
                <a:spcPts val="4160"/>
              </a:lnSpc>
              <a:buFontTx/>
              <a:buChar char="-"/>
            </a:pPr>
            <a:r>
              <a:rPr lang="en-US" sz="1200" dirty="0">
                <a:solidFill>
                  <a:srgbClr val="38B6FF"/>
                </a:solidFill>
                <a:latin typeface="Anton"/>
                <a:ea typeface="Anton"/>
                <a:cs typeface="Anton"/>
                <a:sym typeface="Anton"/>
              </a:rPr>
              <a:t>- Validate and deploy MFA</a:t>
            </a:r>
          </a:p>
          <a:p>
            <a:pPr marL="171450" lvl="0" indent="-171450" algn="l">
              <a:lnSpc>
                <a:spcPts val="4160"/>
              </a:lnSpc>
              <a:buFontTx/>
              <a:buChar char="-"/>
            </a:pPr>
            <a:r>
              <a:rPr lang="en-US" sz="1200" dirty="0">
                <a:solidFill>
                  <a:srgbClr val="38B6FF"/>
                </a:solidFill>
                <a:latin typeface="Anton"/>
                <a:ea typeface="Anton"/>
                <a:cs typeface="Anton"/>
                <a:sym typeface="Anton"/>
              </a:rPr>
              <a:t>- Validate Everything. </a:t>
            </a:r>
          </a:p>
          <a:p>
            <a:pPr marL="171450" lvl="0" indent="-171450" algn="l">
              <a:lnSpc>
                <a:spcPts val="4160"/>
              </a:lnSpc>
              <a:buFontTx/>
              <a:buChar char="-"/>
            </a:pPr>
            <a:r>
              <a:rPr lang="en-US" sz="1200" dirty="0">
                <a:solidFill>
                  <a:srgbClr val="38B6FF"/>
                </a:solidFill>
                <a:latin typeface="Anton"/>
                <a:ea typeface="Anton"/>
                <a:cs typeface="Anton"/>
                <a:sym typeface="Anton"/>
              </a:rPr>
              <a:t>Configure </a:t>
            </a:r>
            <a:r>
              <a:rPr lang="en-US" sz="1200" dirty="0" err="1">
                <a:solidFill>
                  <a:srgbClr val="38B6FF"/>
                </a:solidFill>
                <a:latin typeface="Anton"/>
                <a:ea typeface="Anton"/>
                <a:cs typeface="Anton"/>
                <a:sym typeface="Anton"/>
              </a:rPr>
              <a:t>WHfB</a:t>
            </a:r>
            <a:endParaRPr lang="en-US" sz="1200" dirty="0">
              <a:solidFill>
                <a:srgbClr val="38B6FF"/>
              </a:solidFill>
              <a:latin typeface="Anton"/>
              <a:ea typeface="Anton"/>
              <a:cs typeface="Anton"/>
              <a:sym typeface="Anton"/>
            </a:endParaRPr>
          </a:p>
          <a:p>
            <a:pPr marL="171450" lvl="0" indent="-171450" algn="l">
              <a:lnSpc>
                <a:spcPts val="4160"/>
              </a:lnSpc>
              <a:buFontTx/>
              <a:buChar char="-"/>
            </a:pPr>
            <a:r>
              <a:rPr lang="en-US" sz="1200" dirty="0">
                <a:solidFill>
                  <a:srgbClr val="38B6FF"/>
                </a:solidFill>
                <a:latin typeface="Anton"/>
                <a:ea typeface="Anton"/>
                <a:cs typeface="Anton"/>
                <a:sym typeface="Anton"/>
              </a:rPr>
              <a:t>- Configure </a:t>
            </a:r>
            <a:r>
              <a:rPr lang="en-US" sz="1200" dirty="0" err="1">
                <a:solidFill>
                  <a:srgbClr val="38B6FF"/>
                </a:solidFill>
                <a:latin typeface="Anton"/>
                <a:ea typeface="Anton"/>
                <a:cs typeface="Anton"/>
                <a:sym typeface="Anton"/>
              </a:rPr>
              <a:t>WHfB</a:t>
            </a:r>
            <a:r>
              <a:rPr lang="en-US" sz="1200" dirty="0">
                <a:solidFill>
                  <a:srgbClr val="38B6FF"/>
                </a:solidFill>
                <a:latin typeface="Anton"/>
                <a:ea typeface="Anton"/>
                <a:cs typeface="Anton"/>
                <a:sym typeface="Anton"/>
              </a:rPr>
              <a:t> Policies (Intune/GPO)</a:t>
            </a:r>
          </a:p>
          <a:p>
            <a:pPr marL="171450" lvl="0" indent="-171450" algn="l">
              <a:lnSpc>
                <a:spcPts val="4160"/>
              </a:lnSpc>
              <a:buFontTx/>
              <a:buChar char="-"/>
            </a:pPr>
            <a:r>
              <a:rPr lang="en-US" sz="1200" dirty="0">
                <a:solidFill>
                  <a:srgbClr val="38B6FF"/>
                </a:solidFill>
                <a:latin typeface="Anton"/>
                <a:ea typeface="Anton"/>
                <a:cs typeface="Anton"/>
                <a:sym typeface="Anton"/>
              </a:rPr>
              <a:t>- Enroll for </a:t>
            </a:r>
            <a:r>
              <a:rPr lang="en-US" sz="1200" dirty="0" err="1">
                <a:solidFill>
                  <a:srgbClr val="38B6FF"/>
                </a:solidFill>
                <a:latin typeface="Anton"/>
                <a:ea typeface="Anton"/>
                <a:cs typeface="Anton"/>
                <a:sym typeface="Anton"/>
              </a:rPr>
              <a:t>WHfB</a:t>
            </a:r>
            <a:endParaRPr lang="en-US" sz="1200" dirty="0">
              <a:solidFill>
                <a:srgbClr val="38B6FF"/>
              </a:solidFill>
              <a:latin typeface="Anton"/>
              <a:ea typeface="Anton"/>
              <a:cs typeface="Anton"/>
              <a:sym typeface="Anton"/>
            </a:endParaRPr>
          </a:p>
          <a:p>
            <a:pPr marL="0" lvl="0" indent="0" algn="l">
              <a:lnSpc>
                <a:spcPts val="4160"/>
              </a:lnSpc>
              <a:buFontTx/>
              <a:buNone/>
            </a:pPr>
            <a:endParaRPr lang="en-US" sz="1200" dirty="0">
              <a:solidFill>
                <a:srgbClr val="38B6FF"/>
              </a:solidFill>
              <a:latin typeface="Anton"/>
              <a:ea typeface="Anton"/>
              <a:cs typeface="Anton"/>
              <a:sym typeface="Anton"/>
            </a:endParaRPr>
          </a:p>
          <a:p>
            <a:pPr marL="0" lvl="0" indent="0" algn="l">
              <a:lnSpc>
                <a:spcPts val="4160"/>
              </a:lnSpc>
            </a:pPr>
            <a:endParaRPr lang="en-US" sz="1200" dirty="0">
              <a:solidFill>
                <a:srgbClr val="38B6FF"/>
              </a:solidFill>
              <a:latin typeface="Anton"/>
              <a:ea typeface="Anton"/>
              <a:cs typeface="Anton"/>
              <a:sym typeface="Anton"/>
            </a:endParaRPr>
          </a:p>
          <a:p>
            <a:pPr marL="0" lvl="0" indent="0" algn="l">
              <a:lnSpc>
                <a:spcPts val="4160"/>
              </a:lnSpc>
            </a:pPr>
            <a:endParaRPr lang="en-US" sz="1200" dirty="0">
              <a:solidFill>
                <a:srgbClr val="38B6FF"/>
              </a:solidFill>
              <a:latin typeface="Anton"/>
              <a:ea typeface="Anton"/>
              <a:cs typeface="Anton"/>
              <a:sym typeface="Anton"/>
            </a:endParaRPr>
          </a:p>
          <a:p>
            <a:pPr marL="0" lvl="0" indent="0" algn="l">
              <a:lnSpc>
                <a:spcPts val="4160"/>
              </a:lnSpc>
            </a:pPr>
            <a:r>
              <a:rPr lang="en-US" sz="1200" dirty="0">
                <a:solidFill>
                  <a:srgbClr val="38B6FF"/>
                </a:solidFill>
                <a:latin typeface="Anton"/>
                <a:ea typeface="Anton"/>
                <a:cs typeface="Anton"/>
                <a:sym typeface="Anton"/>
              </a:rPr>
              <a:t>-- REFERENCES --</a:t>
            </a:r>
          </a:p>
          <a:p>
            <a:pPr marL="0" lvl="0" indent="0" algn="l">
              <a:lnSpc>
                <a:spcPts val="4160"/>
              </a:lnSpc>
            </a:pPr>
            <a:r>
              <a:rPr lang="en-US" sz="1200" dirty="0">
                <a:solidFill>
                  <a:srgbClr val="38B6FF"/>
                </a:solidFill>
                <a:latin typeface="Anton"/>
                <a:ea typeface="Anton"/>
                <a:cs typeface="Anton"/>
                <a:sym typeface="Anton"/>
              </a:rPr>
              <a:t>https://learn.microsoft.com/en-us/windows/security/identity-protection/hello-for-business/deploy/on-premises-key-trust</a:t>
            </a:r>
          </a:p>
        </p:txBody>
      </p:sp>
      <p:sp>
        <p:nvSpPr>
          <p:cNvPr id="6" name="Footer Placeholder 5">
            <a:extLst>
              <a:ext uri="{FF2B5EF4-FFF2-40B4-BE49-F238E27FC236}">
                <a16:creationId xmlns:a16="http://schemas.microsoft.com/office/drawing/2014/main" id="{C1C04C17-1600-8AFC-15A6-484FF9BE3C5D}"/>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8C06BC7D-4B95-8F8C-CE63-26E8D4995C92}"/>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02832660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en-US" dirty="0"/>
              <a:t>This is a personal experience slide. I personally don’t like a lot of the bigger EDR solutions because they all behave very, very similar. However, I will specifically point out CrowdStrike here as they are the one I’m most familiar with. </a:t>
            </a:r>
          </a:p>
          <a:p>
            <a:endParaRPr lang="en-US" dirty="0"/>
          </a:p>
          <a:p>
            <a:r>
              <a:rPr lang="en-US" dirty="0"/>
              <a:t>First, I’m not debating on whether CrowdStrike is a good EDR. I think their results speak for themselves. </a:t>
            </a:r>
          </a:p>
          <a:p>
            <a:r>
              <a:rPr lang="en-US" dirty="0"/>
              <a:t>Second, I’m not debating usage of EDR in general. That’s off topic. </a:t>
            </a:r>
          </a:p>
          <a:p>
            <a:endParaRPr lang="en-US" dirty="0"/>
          </a:p>
          <a:p>
            <a:r>
              <a:rPr lang="en-US" dirty="0"/>
              <a:t>What I want to focus on specifically is </a:t>
            </a:r>
            <a:r>
              <a:rPr lang="en-US" i="1" dirty="0"/>
              <a:t>how</a:t>
            </a:r>
            <a:r>
              <a:rPr lang="en-US" i="0" dirty="0"/>
              <a:t> EDRs work with AD and how CrowdStrike specifically causes major issues if you’re not careful. </a:t>
            </a:r>
          </a:p>
          <a:p>
            <a:endParaRPr lang="en-US" i="0" dirty="0"/>
          </a:p>
          <a:p>
            <a:r>
              <a:rPr lang="en-US" b="1" i="0" u="sng" dirty="0"/>
              <a:t>Authentication is supposed to be fast</a:t>
            </a:r>
          </a:p>
          <a:p>
            <a:r>
              <a:rPr lang="en-US" i="0" dirty="0"/>
              <a:t>Active Directory expect authentication to occur in the micro-second to low millisecond range at worst. Honestly, it's lower than that, but let’s keep it simple. Some situations extend this but they’re uncommon and the system is built to handle them. People don’t expect this behavior as they’re used to the Kerberos ticket time skew metric that makes them think that the low number is 5 minutes. That works for Kerberos, but Kerberos is factoring in network traffic, latency, etc. </a:t>
            </a:r>
          </a:p>
          <a:p>
            <a:endParaRPr lang="en-US" i="0" dirty="0"/>
          </a:p>
          <a:p>
            <a:r>
              <a:rPr lang="en-US" i="0" dirty="0"/>
              <a:t>When AD receives an authentication, it realistically shouldn’t take too long to process it. AD will check the credentials using the methods it uses and if needed it pulls group membership to compare. Once it has all this it returns the ticket information and moves on. This happens thousands of times a second on many environments. </a:t>
            </a:r>
          </a:p>
          <a:p>
            <a:endParaRPr lang="en-US" i="0" dirty="0"/>
          </a:p>
          <a:p>
            <a:r>
              <a:rPr lang="en-US" b="1" i="0" u="sng" dirty="0"/>
              <a:t>Authentication Queues</a:t>
            </a:r>
          </a:p>
          <a:p>
            <a:r>
              <a:rPr lang="en-US" i="0" dirty="0"/>
              <a:t>So how does AD handle multiple requests coming at once? This is where ATQ threads come in. ATQ is Asynchronous Thread Queue. By default, AD has 4 times the number of cores queues available. </a:t>
            </a:r>
          </a:p>
          <a:p>
            <a:endParaRPr lang="en-US" i="0" dirty="0"/>
          </a:p>
          <a:p>
            <a:r>
              <a:rPr lang="en-US" i="0" dirty="0"/>
              <a:t>These queues process very, very quickly. In most environments you may never see this fluctuate more than a little. Even if it is maxed out, you’re unlikely to notice as they move so fast. </a:t>
            </a:r>
          </a:p>
          <a:p>
            <a:endParaRPr lang="en-US" i="0" dirty="0"/>
          </a:p>
          <a:p>
            <a:r>
              <a:rPr lang="en-US" i="0" dirty="0"/>
              <a:t>Issues arise when a domain controller receives more than it can handle. At this point, the </a:t>
            </a:r>
            <a:r>
              <a:rPr lang="en-US" i="0" dirty="0" err="1"/>
              <a:t>auths</a:t>
            </a:r>
            <a:r>
              <a:rPr lang="en-US" i="0" dirty="0"/>
              <a:t> start to stack up and it can take AD awhile to process them. What’s worse is that this rarely results in consumed CPU/RAM on systems. So on the surface, they’ll look fine. </a:t>
            </a:r>
          </a:p>
          <a:p>
            <a:endParaRPr lang="en-US" i="0" dirty="0"/>
          </a:p>
          <a:p>
            <a:r>
              <a:rPr lang="en-US" b="1" i="0" u="sng" dirty="0"/>
              <a:t>What does this have to do with EDR?</a:t>
            </a:r>
          </a:p>
          <a:p>
            <a:r>
              <a:rPr lang="en-US" i="0" dirty="0"/>
              <a:t>Well, CrowdStrike specifically has an agent. This agent, when configured with Falcon Identity, checks the activity on the LSASS service and compares it versus some rules both on prem and in the cloud. That last one is a problem. You see, CrowdStrike effectively pauses the authentication session when it does its checks. This means the authentication session doesn’t close out until CrowdStrike does its checks and allows things to continue. </a:t>
            </a:r>
          </a:p>
          <a:p>
            <a:endParaRPr lang="en-US" i="0" dirty="0"/>
          </a:p>
          <a:p>
            <a:r>
              <a:rPr lang="en-US" i="0" dirty="0"/>
              <a:t>Well in larger environments what can happen is the added 1+ milliseconds for CrowdStrike to do its checks can conflict with a surge of user authentications and keep the authentication sessions open too long. </a:t>
            </a:r>
          </a:p>
          <a:p>
            <a:endParaRPr lang="en-US" i="0" dirty="0"/>
          </a:p>
          <a:p>
            <a:r>
              <a:rPr lang="en-US" i="0" dirty="0"/>
              <a:t>This compounds and eventually reports start coming in of logon issues. Since the queues don’t cause any CPU impact, it is hard to detect this without specifically tracking ATQ. </a:t>
            </a:r>
          </a:p>
          <a:p>
            <a:endParaRPr lang="en-US" i="0" dirty="0"/>
          </a:p>
          <a:p>
            <a:r>
              <a:rPr lang="en-US" i="0" dirty="0"/>
              <a:t>In my personal tests, I saw a performance cost of about 40-70% due to this behavior. CrowdStrike will dispute this, but I have confirmed it with other people who’ve had the same issues. </a:t>
            </a:r>
          </a:p>
          <a:p>
            <a:endParaRPr lang="en-US" i="0" dirty="0"/>
          </a:p>
          <a:p>
            <a:endParaRPr lang="en-US" i="0" dirty="0"/>
          </a:p>
          <a:p>
            <a:r>
              <a:rPr lang="en-US" b="1" i="0" u="sng" dirty="0"/>
              <a:t>Fairness to EDR</a:t>
            </a:r>
          </a:p>
          <a:p>
            <a:r>
              <a:rPr lang="en-US" i="0" dirty="0"/>
              <a:t>To be fair, you can also see very similar behavior with long-running LDAP queries.</a:t>
            </a:r>
          </a:p>
          <a:p>
            <a:endParaRPr lang="en-US" i="0" dirty="0"/>
          </a:p>
          <a:p>
            <a:r>
              <a:rPr lang="en-US" i="0" dirty="0"/>
              <a:t>When writing LDAP queries avoid generic searches (</a:t>
            </a:r>
            <a:r>
              <a:rPr lang="en-US" i="0" dirty="0" err="1"/>
              <a:t>objectClass</a:t>
            </a:r>
            <a:r>
              <a:rPr lang="en-US" i="0" dirty="0"/>
              <a:t>=*) as they will take a long time to process. If they’ve been automated and are running often, it really can consume a lot of what AD is doing. </a:t>
            </a:r>
          </a:p>
          <a:p>
            <a:endParaRPr lang="en-US" i="0" dirty="0"/>
          </a:p>
          <a:p>
            <a:r>
              <a:rPr lang="en-US" i="0" dirty="0"/>
              <a:t>Another cause of this could be improper exclusions of the NTDS.DIT or SYSVOL.</a:t>
            </a:r>
          </a:p>
          <a:p>
            <a:endParaRPr lang="en-US" i="0" dirty="0"/>
          </a:p>
          <a:p>
            <a:endParaRPr lang="en-US" i="0" dirty="0"/>
          </a:p>
          <a:p>
            <a:r>
              <a:rPr lang="en-US" b="1" i="0" u="sng" dirty="0"/>
              <a:t>What Am I Trying to Say?</a:t>
            </a:r>
          </a:p>
          <a:p>
            <a:r>
              <a:rPr lang="en-US" i="0" dirty="0"/>
              <a:t>I’m saying if you’re going to play with the kernel-level drivers in AD and play with authentication checking for security policy/MFA and what not. Be careful and make sure you’re watching your performance. </a:t>
            </a:r>
          </a:p>
          <a:p>
            <a:endParaRPr lang="en-US" i="0" dirty="0"/>
          </a:p>
          <a:p>
            <a:r>
              <a:rPr lang="en-US" i="0" dirty="0"/>
              <a:t>Specifically watch the following. If </a:t>
            </a:r>
            <a:r>
              <a:rPr lang="en-US" i="0" dirty="0" err="1"/>
              <a:t>Oustanding</a:t>
            </a:r>
            <a:r>
              <a:rPr lang="en-US" i="0" dirty="0"/>
              <a:t> Queued Requests is a non-zero value, there is a very good chance the DC has run out of threads. </a:t>
            </a:r>
          </a:p>
          <a:p>
            <a:endParaRPr lang="en-US" i="0" dirty="0"/>
          </a:p>
          <a:p>
            <a:r>
              <a:rPr lang="en-US" sz="1200" kern="1200" dirty="0">
                <a:solidFill>
                  <a:schemeClr val="tx1"/>
                </a:solidFill>
                <a:latin typeface="+mn-lt"/>
                <a:ea typeface="+mn-ea"/>
                <a:cs typeface="+mn-cs"/>
              </a:rPr>
              <a:t>NTDS\ATQ Threads Total</a:t>
            </a:r>
            <a:r>
              <a:rPr lang="en-US" dirty="0"/>
              <a:t> </a:t>
            </a:r>
          </a:p>
          <a:p>
            <a:r>
              <a:rPr lang="en-US" sz="1200" kern="1200" dirty="0">
                <a:solidFill>
                  <a:schemeClr val="tx1"/>
                </a:solidFill>
                <a:latin typeface="+mn-lt"/>
                <a:ea typeface="+mn-ea"/>
                <a:cs typeface="+mn-cs"/>
              </a:rPr>
              <a:t>NTDS\ATQ Threads LDAP</a:t>
            </a:r>
            <a:r>
              <a:rPr lang="en-US" dirty="0"/>
              <a:t> </a:t>
            </a:r>
          </a:p>
          <a:p>
            <a:r>
              <a:rPr lang="en-US" sz="1200" kern="1200" dirty="0">
                <a:solidFill>
                  <a:schemeClr val="tx1"/>
                </a:solidFill>
                <a:latin typeface="+mn-lt"/>
                <a:ea typeface="+mn-ea"/>
                <a:cs typeface="+mn-cs"/>
              </a:rPr>
              <a:t>NTDS\ATQ Outstanding Queued Requests</a:t>
            </a:r>
            <a:r>
              <a:rPr lang="en-US" dirty="0"/>
              <a:t> </a:t>
            </a:r>
          </a:p>
          <a:p>
            <a:r>
              <a:rPr lang="en-US" sz="1200" kern="1200" dirty="0">
                <a:solidFill>
                  <a:schemeClr val="tx1"/>
                </a:solidFill>
                <a:latin typeface="+mn-lt"/>
                <a:ea typeface="+mn-ea"/>
                <a:cs typeface="+mn-cs"/>
              </a:rPr>
              <a:t>NTDS\Request Latency</a:t>
            </a:r>
          </a:p>
          <a:p>
            <a:endParaRPr lang="en-US" sz="1200" i="0" kern="1200" dirty="0">
              <a:solidFill>
                <a:schemeClr val="tx1"/>
              </a:solidFill>
              <a:latin typeface="+mn-lt"/>
              <a:ea typeface="+mn-ea"/>
              <a:cs typeface="+mn-cs"/>
            </a:endParaRPr>
          </a:p>
          <a:p>
            <a:r>
              <a:rPr lang="en-US" sz="1200" i="0" kern="1200" dirty="0">
                <a:solidFill>
                  <a:schemeClr val="tx1"/>
                </a:solidFill>
                <a:latin typeface="+mn-lt"/>
                <a:ea typeface="+mn-ea"/>
                <a:cs typeface="+mn-cs"/>
              </a:rPr>
              <a:t>-- REFERENCES --</a:t>
            </a:r>
          </a:p>
          <a:p>
            <a:r>
              <a:rPr lang="en-US" sz="1200" i="0" kern="1200" dirty="0">
                <a:solidFill>
                  <a:schemeClr val="tx1"/>
                </a:solidFill>
                <a:latin typeface="+mn-lt"/>
                <a:ea typeface="+mn-ea"/>
                <a:cs typeface="+mn-cs"/>
              </a:rPr>
              <a:t>https://techcommunity.microsoft.com/blog/askds/understanding-atq-performance-counters-yet-another-twist-in-the-world-of-tlas/400293</a:t>
            </a:r>
          </a:p>
          <a:p>
            <a:r>
              <a:rPr lang="en-US" sz="1200" i="0" kern="1200" dirty="0">
                <a:solidFill>
                  <a:schemeClr val="tx1"/>
                </a:solidFill>
                <a:latin typeface="+mn-lt"/>
                <a:ea typeface="+mn-ea"/>
                <a:cs typeface="+mn-cs"/>
              </a:rPr>
              <a:t>https://www.crowdstrike.com/en-us/blog/crowdstrike-extends-identity-security-innovations/</a:t>
            </a:r>
          </a:p>
          <a:p>
            <a:r>
              <a:rPr lang="en-US" sz="1200" i="0" kern="1200" dirty="0">
                <a:solidFill>
                  <a:schemeClr val="tx1"/>
                </a:solidFill>
                <a:latin typeface="+mn-lt"/>
                <a:ea typeface="+mn-ea"/>
                <a:cs typeface="+mn-cs"/>
              </a:rPr>
              <a:t>https://learn.microsoft.com/en-us/windows-server/administration/performance-tuning/role/active-directory-server/ldap-considerations</a:t>
            </a:r>
          </a:p>
        </p:txBody>
      </p:sp>
      <p:sp>
        <p:nvSpPr>
          <p:cNvPr id="4" name="Slide Number Placeholder 3"/>
          <p:cNvSpPr>
            <a:spLocks noGrp="1"/>
          </p:cNvSpPr>
          <p:nvPr>
            <p:ph type="sldNum" sz="quarter" idx="5"/>
          </p:nvPr>
        </p:nvSpPr>
        <p:spPr/>
        <p:txBody>
          <a:bodyPr/>
          <a:lstStyle/>
          <a:p>
            <a:fld id="{871B2431-D351-4C6E-A3CF-9DFAC0E3E050}" type="slidenum">
              <a:rPr lang="cs-CZ" smtClean="0"/>
              <a:t>59</a:t>
            </a:fld>
            <a:endParaRPr lang="cs-CZ"/>
          </a:p>
        </p:txBody>
      </p:sp>
    </p:spTree>
    <p:extLst>
      <p:ext uri="{BB962C8B-B14F-4D97-AF65-F5344CB8AC3E}">
        <p14:creationId xmlns:p14="http://schemas.microsoft.com/office/powerpoint/2010/main" val="330165474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1B2431-D351-4C6E-A3CF-9DFAC0E3E050}" type="slidenum">
              <a:rPr lang="cs-CZ" smtClean="0"/>
              <a:t>60</a:t>
            </a:fld>
            <a:endParaRPr lang="cs-CZ"/>
          </a:p>
        </p:txBody>
      </p:sp>
    </p:spTree>
    <p:extLst>
      <p:ext uri="{BB962C8B-B14F-4D97-AF65-F5344CB8AC3E}">
        <p14:creationId xmlns:p14="http://schemas.microsoft.com/office/powerpoint/2010/main" val="330690691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68C7B-DB3E-86BD-77DD-224609914335}"/>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E4231208-4D5C-3086-DCE8-9C631942F12F}"/>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87C14EDF-7740-57B0-F39C-1E3E3FB2FFDD}"/>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4696AB32-ABE0-E7F0-0C48-96956F2A0807}"/>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98CD57C6-4CEE-17C1-E791-9CD4B37ED299}"/>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a:p>
            <a:r>
              <a:rPr lang="en-US" dirty="0"/>
              <a:t>In addition to the items I’ve already mentioned here are some other recommendations that I think are worth calling out. All of these are good and encourage you to look at the notes.</a:t>
            </a:r>
          </a:p>
          <a:p>
            <a:endParaRPr lang="en-US" dirty="0"/>
          </a:p>
          <a:p>
            <a:pPr marL="171450" indent="-171450">
              <a:buFontTx/>
              <a:buChar char="-"/>
            </a:pPr>
            <a:r>
              <a:rPr lang="en-US" dirty="0"/>
              <a:t>Fine Grained Password Policies Don't cost anything. They can be deployed to add a more (or less) restrictive password and lockout policy to any user or group. Keep an eye on the Precedence, smaller the number the more priority it has. </a:t>
            </a:r>
          </a:p>
          <a:p>
            <a:r>
              <a:rPr lang="en-US" dirty="0"/>
              <a:t>- Lockout Policy - 3-5 bad passwords before lockout is the standard. Which is insane and will generate help desk tickets. If you can, I encourage you to use the 15 rule. </a:t>
            </a:r>
          </a:p>
          <a:p>
            <a:r>
              <a:rPr lang="en-US" dirty="0"/>
              <a:t>-- 15 tries in 15 minutes gets locked for 15 minutes. </a:t>
            </a:r>
          </a:p>
          <a:p>
            <a:r>
              <a:rPr lang="en-US" dirty="0"/>
              <a:t>-- You need good monitoring for this to work. Watch those brute force attacks. </a:t>
            </a:r>
          </a:p>
          <a:p>
            <a:pPr marL="171450" indent="-171450">
              <a:buFontTx/>
              <a:buChar char="-"/>
            </a:pPr>
            <a:endParaRPr lang="en-US" dirty="0"/>
          </a:p>
          <a:p>
            <a:pPr marL="171450" indent="-171450">
              <a:buFontTx/>
              <a:buChar char="-"/>
            </a:pPr>
            <a:endParaRPr lang="en-US" dirty="0"/>
          </a:p>
          <a:p>
            <a:pPr marL="171450" indent="-171450">
              <a:buFontTx/>
              <a:buChar char="-"/>
            </a:pPr>
            <a:endParaRPr lang="en-US" dirty="0"/>
          </a:p>
          <a:p>
            <a:pPr marL="0" indent="0">
              <a:buFontTx/>
              <a:buNone/>
            </a:pPr>
            <a:r>
              <a:rPr lang="en-US" dirty="0"/>
              <a:t>-- BONUS --</a:t>
            </a:r>
          </a:p>
          <a:p>
            <a:endParaRPr lang="en-US" dirty="0"/>
          </a:p>
          <a:p>
            <a:r>
              <a:rPr lang="en-US" dirty="0"/>
              <a:t>- Complexity - If you have a sufficiently long password and are encouraging pass phrases, get rid of Complexity. I leave it on in a FGPP for super-admins (Domain Admins, etc.).</a:t>
            </a:r>
          </a:p>
          <a:p>
            <a:r>
              <a:rPr lang="en-US" dirty="0"/>
              <a:t>Only if you have 16+ character passwords.</a:t>
            </a:r>
          </a:p>
          <a:p>
            <a:endParaRPr lang="en-US" dirty="0"/>
          </a:p>
          <a:p>
            <a:r>
              <a:rPr lang="en-US" dirty="0"/>
              <a:t>- Password Length: 16 characters or bust. 21 for privileged accounts and 32 for service accounts. Use FGPPs to set this.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Password Safes - If you aren't using one, do it. Prefer to use an enterprise one with RBAC and auditing but start somewhere.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Deploy and configure a Password Filtering solution. Any of the ones I listed will get it done.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Auditors want MFA. Give them MFA. Try to go passkey or cert-based if you can.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 Windows Hello for Business is your passkey / </a:t>
            </a:r>
            <a:r>
              <a:rPr lang="en-US" dirty="0" err="1"/>
              <a:t>passwordless</a:t>
            </a:r>
            <a:r>
              <a:rPr lang="en-US" dirty="0"/>
              <a:t> option for on-prem. </a:t>
            </a:r>
          </a:p>
          <a:p>
            <a:r>
              <a:rPr lang="en-US" dirty="0"/>
              <a:t>-- This doesn't work well with privileged accounts due to the no sync problem. I would also say this is a medium complexity deployment due to the options.</a:t>
            </a:r>
          </a:p>
          <a:p>
            <a:endParaRPr lang="en-US" dirty="0"/>
          </a:p>
          <a:p>
            <a:pPr marL="0" indent="0">
              <a:buFontTx/>
              <a:buNone/>
            </a:pPr>
            <a:r>
              <a:rPr lang="en-US" dirty="0"/>
              <a:t>- Password Expiration - For NON PRIVILEGED ACCOUNTS, get rid of it. For Privileged Users (all) set it to 180 or 365. Make sure you have a break-glass or two (that's monitored). </a:t>
            </a:r>
          </a:p>
          <a:p>
            <a:r>
              <a:rPr lang="en-US" dirty="0"/>
              <a:t>-- I personally think about a yearly graceful reset of all accounts, especially privileged is a good idea but go with you gut on this. Don't cause an outage because your SQL Service Account expired.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indent="0">
              <a:buFontTx/>
              <a:buNone/>
            </a:pPr>
            <a:endParaRPr lang="en-US" dirty="0"/>
          </a:p>
        </p:txBody>
      </p:sp>
      <p:sp>
        <p:nvSpPr>
          <p:cNvPr id="6" name="Footer Placeholder 5">
            <a:extLst>
              <a:ext uri="{FF2B5EF4-FFF2-40B4-BE49-F238E27FC236}">
                <a16:creationId xmlns:a16="http://schemas.microsoft.com/office/drawing/2014/main" id="{2C516DBE-9019-3D4B-816C-7D9774060A32}"/>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8EC2F57B-3C86-691F-A08B-3F96F8640BF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49522923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614A4-6525-D28F-FEAF-0DF484161239}"/>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E924D647-8D18-D1EC-4EE3-02814B2E3125}"/>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71889C19-9F31-637C-7AF6-CB23144F42BF}"/>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6B99FEA3-78F5-3A3A-47C1-18160A4ACC8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B0D39602-B1E7-56D7-DEE9-D4424A687C9D}"/>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a:p>
            <a:r>
              <a:rPr lang="en-US" dirty="0"/>
              <a:t>In addition to the items I’ve already mentioned here are some other recommendations that I think are worth calling out. All of these are good and encourage you to look at the notes.</a:t>
            </a:r>
          </a:p>
          <a:p>
            <a:endParaRPr lang="en-US" dirty="0"/>
          </a:p>
          <a:p>
            <a:pPr marL="171450" indent="-171450">
              <a:buFontTx/>
              <a:buChar char="-"/>
            </a:pPr>
            <a:r>
              <a:rPr lang="en-US" dirty="0"/>
              <a:t>Fine Grained Password Policies Don't cost anything. They can be deployed to add a more (or less) restrictive password and lockout policy to any user or group. Keep an eye on the Precedence, smaller the number the more priority it has. </a:t>
            </a:r>
          </a:p>
          <a:p>
            <a:r>
              <a:rPr lang="en-US" dirty="0"/>
              <a:t>- Lockout Policy - 3-5 bad passwords before lockout is the standard. Which is insane and will generate help desk tickets. If you can, I encourage you to use the 15 rule. </a:t>
            </a:r>
          </a:p>
          <a:p>
            <a:r>
              <a:rPr lang="en-US" dirty="0"/>
              <a:t>-- 15 tries in 15 minutes gets locked for 15 minutes. </a:t>
            </a:r>
          </a:p>
          <a:p>
            <a:r>
              <a:rPr lang="en-US" dirty="0"/>
              <a:t>-- You need good monitoring for this to work. Watch those brute force attacks. </a:t>
            </a:r>
          </a:p>
          <a:p>
            <a:pPr marL="171450" indent="-171450">
              <a:buFontTx/>
              <a:buChar char="-"/>
            </a:pPr>
            <a:endParaRPr lang="en-US" dirty="0"/>
          </a:p>
          <a:p>
            <a:pPr marL="0" indent="0">
              <a:buFontTx/>
              <a:buNone/>
            </a:pPr>
            <a:endParaRPr lang="en-US" dirty="0"/>
          </a:p>
        </p:txBody>
      </p:sp>
      <p:sp>
        <p:nvSpPr>
          <p:cNvPr id="6" name="Footer Placeholder 5">
            <a:extLst>
              <a:ext uri="{FF2B5EF4-FFF2-40B4-BE49-F238E27FC236}">
                <a16:creationId xmlns:a16="http://schemas.microsoft.com/office/drawing/2014/main" id="{11429A94-73BC-84F0-4930-B324CBEB3FC8}"/>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2F3EA036-A468-7E42-3A2B-31D639476038}"/>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25750294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a:p>
            <a:r>
              <a:rPr lang="en-US" dirty="0"/>
              <a:t>Fine Grained Password Policies Don't cost anything. They can be deployed to add a more (or less) restrictive password and lockout policy to any user or group. Keep an eye on the Precedence, smaller the number the more priority it has.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Lockout Policy - 3-5 bad passwords before lockout is the standard. Which is insane and will generate help desk tickets. If you can, I encourage you to use the 15 rule. </a:t>
            </a:r>
          </a:p>
          <a:p>
            <a:r>
              <a:rPr lang="en-US" dirty="0"/>
              <a:t>- 15 tries in 15 minutes gets locked for 15 minutes. </a:t>
            </a:r>
          </a:p>
          <a:p>
            <a:endParaRPr lang="en-US" dirty="0"/>
          </a:p>
          <a:p>
            <a:r>
              <a:rPr lang="en-US" dirty="0"/>
              <a:t>You need good monitoring for this to work. Watch those brute force attacks.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Complexity - If you have a sufficiently long password and are encouraging pass phrases, get rid of Complexity. I leave it on in a FGPP for super-admins (Domain Admins, etc.).</a:t>
            </a:r>
          </a:p>
          <a:p>
            <a:endParaRPr lang="en-US" dirty="0"/>
          </a:p>
          <a:p>
            <a:r>
              <a:rPr lang="en-US" dirty="0"/>
              <a:t>Only if you have 16+ character passwords.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Password Length: 16 characters or bust. 21 for privileged accounts and 32 for service accounts. Use FGPPs to set this.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Password Safes - If you aren't using one, do it. Prefer to use an enterprise one with RBAC and auditing, but start somewhere.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Deploy and configure a Password Filtering solution. Any of the ones I listed will get it done.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Auditors want MFA. Give them MFA. Try to go passkey or cert-based if you can.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Windows Hello for Business is your passkey / </a:t>
            </a:r>
            <a:r>
              <a:rPr lang="en-US" dirty="0" err="1"/>
              <a:t>passwordless</a:t>
            </a:r>
            <a:r>
              <a:rPr lang="en-US" dirty="0"/>
              <a:t> option for on-prem. </a:t>
            </a:r>
          </a:p>
          <a:p>
            <a:endParaRPr lang="en-US" dirty="0"/>
          </a:p>
          <a:p>
            <a:r>
              <a:rPr lang="en-US" dirty="0"/>
              <a:t>This doesn't work well with privileged accounts due to the no sync problem. I would also say this is a medium complexity deployment due to the options.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Password Expiration - For NON PRIVILEGED ACCOUNTS, get rid of it. For Privileged Users (all) set it to 180 or 365. Make sure you have a break-glass or two (that's monitored). </a:t>
            </a:r>
          </a:p>
          <a:p>
            <a:endParaRPr lang="en-US" dirty="0"/>
          </a:p>
          <a:p>
            <a:r>
              <a:rPr lang="en-US" dirty="0"/>
              <a:t>I personally think about a yearly graceful reset of all accounts, especially privileged is a good idea but go with you gut on this. Don't cause an outage because your SQL Service Account expired.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where I would normally go on and on about tiering or the Enterprise Access Model for the cloud hipsters in the room.</a:t>
            </a:r>
          </a:p>
          <a:p>
            <a:endParaRPr lang="en-US"/>
          </a:p>
          <a:p>
            <a:r>
              <a:rPr lang="en-US"/>
              <a:t>Shifting away from those we'll focus on items that don't involve as big of projects that find some actionable targets.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 like tiering, I do, but it is well covered. Also, organizations tend to get started and never finishing leaving this dumpster fire of access with no path forward. Without a complete version, there are tons of hidden vulnerabilities and a false sense of security. </a:t>
            </a:r>
          </a:p>
          <a:p>
            <a:endParaRPr lang="en-US"/>
          </a:p>
          <a:p>
            <a:r>
              <a:rPr lang="en-US"/>
              <a:t>A quick guide to getting started with tiering:</a:t>
            </a:r>
          </a:p>
          <a:p>
            <a:r>
              <a:rPr lang="en-US"/>
              <a:t>- Tier 0 should be hardened first. This will contain your most critical accounts so hardening this is a huge risk reduction.</a:t>
            </a:r>
          </a:p>
          <a:p>
            <a:r>
              <a:rPr lang="en-US"/>
              <a:t>- Identify the systems that should be in Tier 0. This would be accounts that are identity or cloud admins. This is your domain admins, enterprise admins, global admins, and PKI admins and the like. (note: see bonus slide)</a:t>
            </a:r>
          </a:p>
          <a:p>
            <a:r>
              <a:rPr lang="en-US"/>
              <a:t>- Ensure users who are T0 have dedicated Tier 0 accounts separate from their daily driver.</a:t>
            </a:r>
          </a:p>
          <a:p>
            <a:r>
              <a:rPr lang="en-US"/>
              <a:t>- Find the dependencies. What tools run as system on the Tier 0 systems? Do they need that access? Can they be moved/built in the tier instead?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This is not a tiering talk so I'm limiting myself here some. Rather than overdoing it and spending three years failing at doing tiering, start with what can be done and then move onto the harder parts. I have more on this in my notes and in the bonus slides but here are some less complicated/super meaningful items to start working on.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 Deploy Secure Jump Hosts/PAWs. The real difference in PAWs and jump hosts is the level of hardening and origin. If you're not ready to do a full PAWs deployment they're almost indistinguishable. The goal is not to take on a massive project, but to start managing T0 from something other than your email-enabled laptop.</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(NOTE: Jump Hosts are servers you log into first before logging into the system you manage. PAWs are both a secured host and have a secured origin. If you're not ready to fully secure the entire thing the two are dissimilar.)</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 Tier 0 / Control Plane admins need to be members of Protected Users. This group does lots of hardening but can break stuff, especially old stuff. Roll this out slow over a week or two targeting one or two admins at a time. Don't put your break-glass or </a:t>
            </a:r>
            <a:r>
              <a:rPr lang="en-US" dirty="0" err="1"/>
              <a:t>Builtin</a:t>
            </a:r>
            <a:r>
              <a:rPr lang="en-US" dirty="0"/>
              <a:t>\Admin into this.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3. Tier 0 Admins / Control Plane Admins (Domain Admins, Global Admins, etc.) should be split off into separate accounts dedicated to tier 0. No email. No web browsing. Just super admin stuff.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Here's a final recommendation to make some of it more approachable. I recommend looking at a tool like </a:t>
            </a:r>
            <a:r>
              <a:rPr lang="en-US" dirty="0" err="1"/>
              <a:t>ForestDruid</a:t>
            </a:r>
            <a:r>
              <a:rPr lang="en-US" dirty="0"/>
              <a:t> by </a:t>
            </a:r>
            <a:r>
              <a:rPr lang="en-US" dirty="0" err="1"/>
              <a:t>Semperis</a:t>
            </a:r>
            <a:r>
              <a:rPr lang="en-US" dirty="0"/>
              <a:t> or even Bloodhound Community Edition from </a:t>
            </a:r>
            <a:r>
              <a:rPr lang="en-US" dirty="0" err="1"/>
              <a:t>SpectreOps</a:t>
            </a:r>
            <a:r>
              <a:rPr lang="en-US" dirty="0"/>
              <a:t> to do some Tier 0 attack path mapping. This will help you identify your super admins in AD and start hardening them. </a:t>
            </a:r>
          </a:p>
          <a:p>
            <a:endParaRPr lang="en-US" dirty="0"/>
          </a:p>
          <a:p>
            <a:r>
              <a:rPr lang="en-US" dirty="0"/>
              <a:t>Note that </a:t>
            </a:r>
            <a:r>
              <a:rPr lang="en-US" dirty="0" err="1"/>
              <a:t>BloodHound</a:t>
            </a:r>
            <a:r>
              <a:rPr lang="en-US" dirty="0"/>
              <a:t> will 100% flag EDR so make sure you're working with your Security teams on this. The same applies to Forest Druid though I haven't seen it trip EDR yet. </a:t>
            </a:r>
          </a:p>
          <a:p>
            <a:endParaRPr lang="en-US" dirty="0"/>
          </a:p>
          <a:p>
            <a:r>
              <a:rPr lang="en-US" dirty="0"/>
              <a:t>Remember all of this is a start. This isn't intended to be comprehensive, but intended to get you meaningful wins that can actually get done while you're working on long-term solutions.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9A226-6F76-3FE2-01E4-5978830A4616}"/>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17E304EB-F8E8-6B18-82A9-470D09D2F9AA}"/>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428BAD5D-50B4-C062-CA55-DC84C8BDBB7F}"/>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7B9F161B-A84F-21E6-69FF-0D16BB51DF58}"/>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F6131E19-9273-DD7A-928E-8703F9C4BF3E}"/>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66AC1317-6952-4C5D-FB2D-5E00865722C4}"/>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81DAA781-7588-0EFB-DC82-6F3590631708}"/>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68336301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Most organizations do not have an idea of how bad their access is. Many don't even know where to look. 10, 15, or 20 years of AD can lead to a lot of access sprawl.</a:t>
            </a:r>
          </a:p>
          <a:p>
            <a:endParaRPr lang="en-US" dirty="0"/>
          </a:p>
          <a:p>
            <a:r>
              <a:rPr lang="en-US" dirty="0"/>
              <a:t>When doing any kind of hardening with AD it's best start with hardening the places with privileged or VIP access. These tend to be the places the attackers go after. One to specifically point out here is the Executive Users one. [slide]</a:t>
            </a:r>
          </a:p>
          <a:p>
            <a:endParaRPr lang="en-US" dirty="0"/>
          </a:p>
          <a:p>
            <a:r>
              <a:rPr lang="en-US" dirty="0"/>
              <a:t>We think of privilege in the context of AD access and system access. What if someone steals your CEO or CFO’s account? What kind of damage can that cause?</a:t>
            </a:r>
          </a:p>
          <a:p>
            <a:r>
              <a:rPr lang="en-US" dirty="0"/>
              <a:t>[slide]</a:t>
            </a:r>
          </a:p>
          <a:p>
            <a:endParaRPr lang="en-US" dirty="0"/>
          </a:p>
          <a:p>
            <a:r>
              <a:rPr lang="en-US" dirty="0"/>
              <a:t>-- NOTE --</a:t>
            </a:r>
          </a:p>
          <a:p>
            <a:r>
              <a:rPr lang="en-US" dirty="0"/>
              <a:t>Places to start</a:t>
            </a:r>
          </a:p>
          <a:p>
            <a:pPr marL="171450" indent="-171450">
              <a:buFontTx/>
              <a:buChar char="-"/>
            </a:pPr>
            <a:r>
              <a:rPr lang="en-US" dirty="0"/>
              <a:t>Domain Root (</a:t>
            </a:r>
            <a:r>
              <a:rPr lang="en-US" dirty="0" err="1"/>
              <a:t>domainDns</a:t>
            </a:r>
            <a:r>
              <a:rPr lang="en-US" dirty="0"/>
              <a:t>)</a:t>
            </a:r>
          </a:p>
          <a:p>
            <a:pPr marL="171450" indent="-171450">
              <a:buFontTx/>
              <a:buChar char="-"/>
            </a:pPr>
            <a:r>
              <a:rPr lang="en-US" dirty="0"/>
              <a:t>Domain Controllers OU</a:t>
            </a:r>
          </a:p>
          <a:p>
            <a:pPr marL="171450" indent="-171450">
              <a:buFontTx/>
              <a:buChar char="-"/>
            </a:pPr>
            <a:r>
              <a:rPr lang="en-US" dirty="0"/>
              <a:t>Privileged Users OU</a:t>
            </a:r>
          </a:p>
          <a:p>
            <a:pPr marL="171450" indent="-171450">
              <a:buFontTx/>
              <a:buChar char="-"/>
            </a:pPr>
            <a:r>
              <a:rPr lang="en-US" dirty="0"/>
              <a:t>Service Account OUs.</a:t>
            </a:r>
          </a:p>
          <a:p>
            <a:pPr marL="171450" indent="-171450">
              <a:buFontTx/>
              <a:buChar char="-"/>
            </a:pPr>
            <a:r>
              <a:rPr lang="en-US" dirty="0"/>
              <a:t>Executive Users Ous</a:t>
            </a:r>
          </a:p>
          <a:p>
            <a:pPr marL="171450" indent="-171450">
              <a:buFontTx/>
              <a:buChar char="-"/>
            </a:pPr>
            <a:r>
              <a:rPr lang="en-US" dirty="0"/>
              <a:t>AdminSDHolder </a:t>
            </a:r>
          </a:p>
          <a:p>
            <a:pPr marL="0" indent="0">
              <a:buFontTx/>
              <a:buNone/>
            </a:pPr>
            <a:r>
              <a:rPr lang="en-US" dirty="0"/>
              <a:t>    Path: domain root \ System \ AdminSDHolder</a:t>
            </a:r>
          </a:p>
          <a:p>
            <a:pPr marL="0" indent="0">
              <a:buFontTx/>
              <a:buNone/>
            </a:pPr>
            <a:endParaRPr lang="en-US" dirty="0"/>
          </a:p>
          <a:p>
            <a:pPr marL="0" indent="0">
              <a:buFontTx/>
              <a:buNone/>
            </a:pP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1C8F5-EF6B-7A66-653F-C55180064958}"/>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F33B9EB7-EBA3-8B9F-A6CD-16B82965EDAB}"/>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70011C2F-E85B-CCD4-BBB3-C417048FE6AC}"/>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3A8BD364-6578-269E-1FAC-F9A5DC321AF0}"/>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925C6EEA-05A2-D961-4920-C33102C8EC7A}"/>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When talking about risky permissions, the focus here is anything that affect ownership or access to an account. The big one is Full Control. 99% of the time stuff doesn’t need full control. Delegate it. Don’t give full control unless you have to.</a:t>
            </a:r>
          </a:p>
          <a:p>
            <a:r>
              <a:rPr lang="en-US" dirty="0"/>
              <a:t>[slide]</a:t>
            </a:r>
          </a:p>
          <a:p>
            <a:endParaRPr lang="en-US" dirty="0"/>
          </a:p>
          <a:p>
            <a:r>
              <a:rPr lang="en-US" dirty="0"/>
              <a:t>-- NOTE --</a:t>
            </a:r>
          </a:p>
          <a:p>
            <a:r>
              <a:rPr lang="en-US" dirty="0"/>
              <a:t>Risky Permissions</a:t>
            </a:r>
          </a:p>
          <a:p>
            <a:pPr marL="171450" indent="-171450">
              <a:buFontTx/>
              <a:buChar char="-"/>
            </a:pPr>
            <a:r>
              <a:rPr lang="en-US" dirty="0"/>
              <a:t>Full Control (Generic All)</a:t>
            </a:r>
          </a:p>
          <a:p>
            <a:pPr marL="171450" indent="-171450">
              <a:buFontTx/>
              <a:buChar char="-"/>
            </a:pPr>
            <a:r>
              <a:rPr lang="en-US" dirty="0"/>
              <a:t>Control Access (CA)</a:t>
            </a:r>
          </a:p>
          <a:p>
            <a:pPr marL="171450" indent="-171450">
              <a:buFontTx/>
              <a:buChar char="-"/>
            </a:pPr>
            <a:r>
              <a:rPr lang="en-US" dirty="0"/>
              <a:t>Owner / Change Owner</a:t>
            </a:r>
          </a:p>
          <a:p>
            <a:pPr marL="171450" indent="-171450">
              <a:buFontTx/>
              <a:buChar char="-"/>
            </a:pPr>
            <a:r>
              <a:rPr lang="en-US" dirty="0"/>
              <a:t>Reset Password</a:t>
            </a:r>
          </a:p>
        </p:txBody>
      </p:sp>
      <p:sp>
        <p:nvSpPr>
          <p:cNvPr id="6" name="Footer Placeholder 5">
            <a:extLst>
              <a:ext uri="{FF2B5EF4-FFF2-40B4-BE49-F238E27FC236}">
                <a16:creationId xmlns:a16="http://schemas.microsoft.com/office/drawing/2014/main" id="{D0115585-AC64-13AA-9318-25474F272556}"/>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1639B93F-5735-EAF4-DAC2-A70B85B43A1E}"/>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1443362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878F9-FD82-B26A-8A80-FD2ABD2F843D}"/>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9B6C920B-F094-CDA4-C0AE-C308F32D3B65}"/>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4AC58055-2584-63A4-494C-B1DFD005FA85}"/>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3B1701E5-8CDB-3AB8-2629-850C4A20BC1D}"/>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DEE2D444-9370-D7CB-F52C-427F83A78425}"/>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What are some groups to keep an eye open for? Pretty much, to start, is anything lots of accounts. I listed some of the more common “collective groups”. Make sure you’re looking at what permissions these have. </a:t>
            </a:r>
          </a:p>
          <a:p>
            <a:endParaRPr lang="en-US" dirty="0"/>
          </a:p>
          <a:p>
            <a:r>
              <a:rPr lang="en-US" dirty="0"/>
              <a:t>[slide ]</a:t>
            </a:r>
          </a:p>
          <a:p>
            <a:endParaRPr lang="en-US" dirty="0"/>
          </a:p>
          <a:p>
            <a:r>
              <a:rPr lang="en-US" dirty="0"/>
              <a:t>A notable one here is the Pre-Windows 2000 Compatible Access group. This group by default has lots more permissions than you think. The goal is empty, but at a minimum get it down to domain users or authenticated users if you can. </a:t>
            </a:r>
          </a:p>
          <a:p>
            <a:endParaRPr lang="en-US" dirty="0"/>
          </a:p>
          <a:p>
            <a:r>
              <a:rPr lang="en-US" dirty="0"/>
              <a:t>It's also important to consider what permissions are "risky". These tend to be permissions that can change permissions or reset passwords, etc. I listed a few here, but there are more in the notes. </a:t>
            </a:r>
          </a:p>
          <a:p>
            <a:endParaRPr lang="en-US" dirty="0"/>
          </a:p>
          <a:p>
            <a:r>
              <a:rPr lang="en-US" dirty="0"/>
              <a:t>Consider accounts that encompass a lot of users. These often get added somewhere and lots of users get rights they don't need.  </a:t>
            </a:r>
          </a:p>
          <a:p>
            <a:endParaRPr lang="en-US" dirty="0"/>
          </a:p>
          <a:p>
            <a:r>
              <a:rPr lang="en-US" dirty="0"/>
              <a:t>-- NOTE --</a:t>
            </a:r>
          </a:p>
          <a:p>
            <a:pPr marL="171450" indent="-171450">
              <a:buFontTx/>
              <a:buChar char="-"/>
            </a:pPr>
            <a:r>
              <a:rPr lang="en-US" dirty="0"/>
              <a:t>Domain Users - All users in a domain. Default user access</a:t>
            </a:r>
          </a:p>
          <a:p>
            <a:pPr marL="171450" indent="-171450">
              <a:buFontTx/>
              <a:buChar char="-"/>
            </a:pPr>
            <a:r>
              <a:rPr lang="en-US" dirty="0"/>
              <a:t>Authenticated Users – Domain Users + Users from Trusted Domains</a:t>
            </a:r>
          </a:p>
          <a:p>
            <a:pPr marL="171450" indent="-171450">
              <a:buFontTx/>
              <a:buChar char="-"/>
            </a:pPr>
            <a:r>
              <a:rPr lang="en-US" dirty="0"/>
              <a:t>Anonymous Users – Guests</a:t>
            </a:r>
          </a:p>
          <a:p>
            <a:pPr marL="171450" indent="-171450">
              <a:buFontTx/>
              <a:buChar char="-"/>
            </a:pPr>
            <a:r>
              <a:rPr lang="en-US" dirty="0"/>
              <a:t>Everyone – All of the Above</a:t>
            </a:r>
          </a:p>
          <a:p>
            <a:pPr marL="171450" indent="-171450">
              <a:buFontTx/>
              <a:buChar char="-"/>
            </a:pPr>
            <a:r>
              <a:rPr lang="en-US" dirty="0"/>
              <a:t>Domain Computers – All Computers in the Domain. Default Computer Access</a:t>
            </a:r>
          </a:p>
          <a:p>
            <a:pPr marL="0" indent="0">
              <a:buFontTx/>
              <a:buNone/>
            </a:pPr>
            <a:endParaRPr lang="en-US" dirty="0"/>
          </a:p>
          <a:p>
            <a:pPr marL="171450" indent="-171450">
              <a:buFontTx/>
              <a:buChar char="-"/>
            </a:pPr>
            <a:r>
              <a:rPr lang="en-US" dirty="0"/>
              <a:t>Pre-Windows 2000 Compatible Access Group</a:t>
            </a:r>
          </a:p>
          <a:p>
            <a:pPr marL="0" indent="0">
              <a:buFontTx/>
              <a:buNone/>
            </a:pPr>
            <a:r>
              <a:rPr lang="en-US" dirty="0"/>
              <a:t>This group has Everyone by default in a lot of cases but has been defaulted to Authenticated Users in recent times. Ultimately this group isn’t needed and should be depreciated over time. </a:t>
            </a:r>
          </a:p>
          <a:p>
            <a:pPr marL="0" indent="0">
              <a:buFontTx/>
              <a:buNone/>
            </a:pPr>
            <a:r>
              <a:rPr lang="en-US" dirty="0"/>
              <a:t>It grants too much access by default.</a:t>
            </a:r>
          </a:p>
        </p:txBody>
      </p:sp>
      <p:sp>
        <p:nvSpPr>
          <p:cNvPr id="6" name="Footer Placeholder 5">
            <a:extLst>
              <a:ext uri="{FF2B5EF4-FFF2-40B4-BE49-F238E27FC236}">
                <a16:creationId xmlns:a16="http://schemas.microsoft.com/office/drawing/2014/main" id="{30D507EB-8EA6-806C-94EF-165B25B6289D}"/>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37AF9B5B-35EC-C222-4A75-AA6BA50E2698}"/>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11787676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a:p>
          <a:p>
            <a:r>
              <a:rPr lang="en-US"/>
              <a:t>The challenge is that there tend to be thousands of accounts, hundred of OUs, and the list goes on. Lucky I found some tools!</a:t>
            </a:r>
          </a:p>
          <a:p>
            <a:endParaRPr lang="en-US"/>
          </a:p>
          <a:p>
            <a:r>
              <a:rPr lang="en-US"/>
              <a:t>- ADDeleginator. This one is written by a pentester friend of mine and it is designed to bring out some of the permissions are are very likely to be exploited. It depends on another tool that is also free. </a:t>
            </a:r>
          </a:p>
          <a:p>
            <a:endParaRPr lang="en-US"/>
          </a:p>
          <a:p>
            <a:r>
              <a:rPr lang="en-US"/>
              <a:t>- AD ACL Scanner. This is another free tool that is more of a general ACL audit of AD. It will give you more of a big picture. </a:t>
            </a:r>
          </a:p>
          <a:p>
            <a:endParaRPr lang="en-US"/>
          </a:p>
          <a:p>
            <a:r>
              <a:rPr lang="en-US"/>
              <a:t>There are other tools too so I encourage you to look into those. Something to keep in mind with all these tools is ACL scans are a common tactic for attackers so EDR will likely flag it. Talk to your cyber team first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Slide Time: 2 minutes</a:t>
            </a:r>
          </a:p>
          <a:p>
            <a:endParaRPr lang="en-US" dirty="0"/>
          </a:p>
          <a:p>
            <a:r>
              <a:rPr lang="en-US" dirty="0"/>
              <a:t>Most organizations do not have an idea of how bad their access is. Many don't even know where to look. 10, 15, or 20 years of AD can lead to a lot of skeletons in the closet. </a:t>
            </a:r>
          </a:p>
          <a:p>
            <a:endParaRPr lang="en-US" dirty="0"/>
          </a:p>
          <a:p>
            <a:r>
              <a:rPr lang="en-US" dirty="0"/>
              <a:t>Start with looking at stuff that bad stuff tends to happen I put a list on screen. I'm not going to read it, but those are places whose ACLs need attention. </a:t>
            </a:r>
          </a:p>
          <a:p>
            <a:endParaRPr lang="en-US" dirty="0"/>
          </a:p>
          <a:p>
            <a:r>
              <a:rPr lang="en-US" dirty="0"/>
              <a:t>But what access is concerning? </a:t>
            </a:r>
          </a:p>
          <a:p>
            <a:r>
              <a:rPr lang="en-US" dirty="0"/>
              <a:t>Without being too detailed, focus on Full Control (Generic All), Control Access (CA), and Ownership permissions along with Reset Password. </a:t>
            </a:r>
          </a:p>
          <a:p>
            <a:endParaRPr lang="en-US" dirty="0"/>
          </a:p>
          <a:p>
            <a:r>
              <a:rPr lang="en-US" dirty="0"/>
              <a:t>There are more permissions and locations. I have some of it in my notes in the deck. </a:t>
            </a:r>
          </a:p>
          <a:p>
            <a:endParaRPr lang="en-US" dirty="0"/>
          </a:p>
          <a:p>
            <a:r>
              <a:rPr lang="en-US" dirty="0"/>
              <a:t>There are some tools that really help with this. My favorite of the list is probably </a:t>
            </a:r>
            <a:r>
              <a:rPr lang="en-US" dirty="0" err="1"/>
              <a:t>ADDelegator</a:t>
            </a:r>
            <a:r>
              <a:rPr lang="en-US" dirty="0"/>
              <a:t> which is a tool that specifically finds bad settings as they relate to known attacks. AD ACL scan is good as it gives a general overview. There are other tools out there too. Find what works for you and use it. Be warned, they may trip your EDR. </a:t>
            </a:r>
          </a:p>
          <a:p>
            <a:r>
              <a:rPr lang="en-US" dirty="0"/>
              <a:t> </a:t>
            </a:r>
          </a:p>
          <a:p>
            <a:endParaRPr lang="en-US" dirty="0"/>
          </a:p>
          <a:p>
            <a:r>
              <a:rPr lang="en-US" dirty="0"/>
              <a:t>-- BONUS --</a:t>
            </a:r>
          </a:p>
          <a:p>
            <a:r>
              <a:rPr lang="en-US" dirty="0"/>
              <a:t>Some other permissions to consider are the following permissions.</a:t>
            </a:r>
          </a:p>
          <a:p>
            <a:r>
              <a:rPr lang="en-US" dirty="0"/>
              <a:t>- Replicate Changes</a:t>
            </a:r>
          </a:p>
          <a:p>
            <a:r>
              <a:rPr lang="en-US" dirty="0"/>
              <a:t>- Replicate Changes All</a:t>
            </a:r>
          </a:p>
          <a:p>
            <a:r>
              <a:rPr lang="en-US" dirty="0"/>
              <a:t>- Create permissions</a:t>
            </a:r>
          </a:p>
          <a:p>
            <a:r>
              <a:rPr lang="en-US" dirty="0"/>
              <a:t>- Delete Permissions</a:t>
            </a:r>
          </a:p>
          <a:p>
            <a:r>
              <a:rPr lang="en-US" dirty="0"/>
              <a:t>- </a:t>
            </a:r>
            <a:r>
              <a:rPr lang="en-US" dirty="0" err="1"/>
              <a:t>WriteProperty</a:t>
            </a:r>
            <a:r>
              <a:rPr lang="en-US" dirty="0"/>
              <a:t> to </a:t>
            </a:r>
            <a:r>
              <a:rPr lang="en-US" dirty="0" err="1"/>
              <a:t>userAccountControl</a:t>
            </a:r>
            <a:endParaRPr lang="en-US" dirty="0"/>
          </a:p>
          <a:p>
            <a:endParaRPr lang="en-US" dirty="0"/>
          </a:p>
          <a:p>
            <a:r>
              <a:rPr lang="en-US" dirty="0"/>
              <a:t>All those are permissions that could expose critical information or allow for greater compromise. </a:t>
            </a:r>
          </a:p>
          <a:p>
            <a:endParaRPr lang="en-US" dirty="0"/>
          </a:p>
          <a:p>
            <a:r>
              <a:rPr lang="en-US" dirty="0"/>
              <a:t>Another tool worth mentioning is the </a:t>
            </a:r>
            <a:r>
              <a:rPr lang="en-US" dirty="0" err="1"/>
              <a:t>Adalanche</a:t>
            </a:r>
            <a:r>
              <a:rPr lang="en-US" dirty="0"/>
              <a:t> tool. It's really powerful but it is almost guaranteed to trip EDR.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Service Accounts or in the age of </a:t>
            </a:r>
            <a:r>
              <a:rPr lang="en-US" err="1"/>
              <a:t>clanker</a:t>
            </a:r>
            <a:r>
              <a:rPr lang="en-US"/>
              <a:t> agents pretending to be people, I'm supposed to use the term "non-human identities", but I am talking about service accounts. </a:t>
            </a:r>
          </a:p>
          <a:p>
            <a:endParaRPr lang="en-US"/>
          </a:p>
          <a:p>
            <a:r>
              <a:rPr lang="en-US"/>
              <a:t>My definition is any account that either runs a service (Log on as Service / Se???) or any account with a </a:t>
            </a:r>
            <a:r>
              <a:rPr lang="en-US" err="1"/>
              <a:t>servicePrincipalName</a:t>
            </a:r>
            <a:r>
              <a:rPr lang="en-US"/>
              <a:t> (SPN) (</a:t>
            </a:r>
            <a:r>
              <a:rPr lang="en-US" err="1"/>
              <a:t>pronoucned</a:t>
            </a:r>
            <a:r>
              <a:rPr lang="en-US"/>
              <a:t> Spin)</a:t>
            </a:r>
          </a:p>
          <a:p>
            <a:endParaRPr lang="en-US"/>
          </a:p>
          <a:p>
            <a:r>
              <a:rPr lang="en-US"/>
              <a:t>What is a SPN?</a:t>
            </a:r>
          </a:p>
          <a:p>
            <a:pPr marL="171450" indent="-171450">
              <a:buFontTx/>
              <a:buChar char="-"/>
            </a:pPr>
            <a:r>
              <a:rPr lang="en-US"/>
              <a:t>Service Principal Names are how Kerberos identifies services on the network. </a:t>
            </a:r>
          </a:p>
          <a:p>
            <a:pPr marL="0" indent="0">
              <a:buFontTx/>
              <a:buNone/>
            </a:pPr>
            <a:r>
              <a:rPr lang="en-US"/>
              <a:t>- Kerberos = Cerberus which is the three headed dog. Fluffy!</a:t>
            </a:r>
          </a:p>
          <a:p>
            <a:r>
              <a:rPr lang="en-US"/>
              <a:t>- Head 1 = The client</a:t>
            </a:r>
          </a:p>
          <a:p>
            <a:r>
              <a:rPr lang="en-US"/>
              <a:t>- Head 2 = The server, or service as I prefer it.</a:t>
            </a:r>
          </a:p>
          <a:p>
            <a:r>
              <a:rPr lang="en-US"/>
              <a:t>- Head 3 = The KDC or </a:t>
            </a:r>
            <a:r>
              <a:rPr lang="en-US" err="1"/>
              <a:t>DOmain</a:t>
            </a:r>
            <a:r>
              <a:rPr lang="en-US"/>
              <a:t> Controller. </a:t>
            </a:r>
          </a:p>
          <a:p>
            <a:endParaRPr lang="en-US"/>
          </a:p>
          <a:p>
            <a:r>
              <a:rPr lang="en-US"/>
              <a:t>(NOTE: Service Principal Names often look like this: MSSQL\myserverhostname.fqdn:1688)</a:t>
            </a:r>
          </a:p>
          <a:p>
            <a:endParaRPr lang="en-US"/>
          </a:p>
          <a:p>
            <a:r>
              <a:rPr lang="en-US"/>
              <a:t>-- BONUS -- </a:t>
            </a:r>
          </a:p>
          <a:p>
            <a:endParaRPr lang="en-US"/>
          </a:p>
          <a:p>
            <a:r>
              <a:rPr lang="en-US"/>
              <a:t>There are a number of attacks that bad service accounts can cause, and, again, I can't list them all here. Most often these attacks derive from either credential harvesting, bad passwords, or lack of access controls.</a:t>
            </a:r>
          </a:p>
          <a:p>
            <a:endParaRPr lang="en-US"/>
          </a:p>
          <a:p>
            <a:r>
              <a:rPr lang="en-US"/>
              <a:t>Service accounts run services and pretty quick become the backbone of the network. SQL is the one I always go on because I think most everyone has at least one story of SQL going down and it being a bad day. </a:t>
            </a:r>
          </a:p>
          <a:p>
            <a:endParaRPr lang="en-US"/>
          </a:p>
          <a:p>
            <a:r>
              <a:rPr lang="en-US"/>
              <a:t>-- REFERENCE</a:t>
            </a:r>
          </a:p>
          <a:p>
            <a:r>
              <a:rPr lang="en-US"/>
              <a:t>- https://www.hipconf.com/resources/how-to-protect-machine-identities/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talked about what they are. Identifying Service Accounts is part of this. Start with the SPN check. If accounts have SPNs, that is a great place to start. Look for accounts in a "Service Accounts" OU. That's just a starting spot though. I have a link in the notes that is a really, really good guide on identifying and securing service accounts. </a:t>
            </a:r>
          </a:p>
          <a:p>
            <a:endParaRPr lang="en-US"/>
          </a:p>
          <a:p>
            <a:r>
              <a:rPr lang="en-US"/>
              <a:t>Service accounts often have static passwords that aren't changed often. Often this includes the accounts having "Password Never Expires" set. </a:t>
            </a:r>
          </a:p>
          <a:p>
            <a:endParaRPr lang="en-US"/>
          </a:p>
          <a:p>
            <a:r>
              <a:rPr lang="en-US"/>
              <a:t>Password Never Expires isn't bad on its own. The bad part is there was never an administrative control to come back, audit accounts, and ensure they get manually reset in a controlled fashion. </a:t>
            </a:r>
          </a:p>
          <a:p>
            <a:endParaRPr lang="en-US"/>
          </a:p>
          <a:p>
            <a:r>
              <a:rPr lang="en-US"/>
              <a:t>This is amplified by the fact that service accounts, but nature are privileged accounts. They tend to be able to do stuff that we wouldn't just want rank-and-file users to do. So now we have a old password, on a privileged account.</a:t>
            </a:r>
          </a:p>
          <a:p>
            <a:endParaRPr lang="en-US"/>
          </a:p>
          <a:p>
            <a:r>
              <a:rPr lang="en-US"/>
              <a:t>Audit the SPNs on accounts. If an account has a SPN and it isn't running as a service, it needs the SPN removed. If it is a primary user account - checks email, etc. - it needs to be migrated to a service account or dedicated to one. </a:t>
            </a:r>
          </a:p>
          <a:p>
            <a:endParaRPr lang="en-US"/>
          </a:p>
          <a:p>
            <a:r>
              <a:rPr lang="en-US"/>
              <a:t>PowerShell to find SPNs</a:t>
            </a:r>
          </a:p>
          <a:p>
            <a:r>
              <a:rPr lang="en-US"/>
              <a:t>Get-ADUser -LDAPFilter "(servicePrincipalName=*)`</a:t>
            </a:r>
          </a:p>
          <a:p>
            <a:r>
              <a:rPr lang="en-US"/>
              <a:t>Alternatively if you did use the employee type...</a:t>
            </a:r>
          </a:p>
          <a:p>
            <a:r>
              <a:rPr lang="en-US"/>
              <a:t>`Get-ADUser -LDAPFilter "(&amp;(servicePrincipalName=*)(employeeType=ServiceAccount))</a:t>
            </a:r>
          </a:p>
          <a:p>
            <a:endParaRPr lang="en-US"/>
          </a:p>
          <a:p>
            <a:r>
              <a:rPr lang="en-US"/>
              <a:t>Check for accounts with Log on as a Service right to systems. If that is being used, figure out why. In general remove user groups from this permission if possible. </a:t>
            </a:r>
          </a:p>
          <a:p>
            <a:endParaRPr lang="en-US"/>
          </a:p>
          <a:p>
            <a:r>
              <a:rPr lang="en-US"/>
              <a:t>Finally use a Managed Service Account</a:t>
            </a:r>
          </a:p>
          <a:p>
            <a:endParaRPr lang="en-US"/>
          </a:p>
          <a:p>
            <a:r>
              <a:rPr lang="en-US"/>
              <a:t>-- REFERENCE</a:t>
            </a:r>
          </a:p>
          <a:p>
            <a:r>
              <a:rPr lang="en-US"/>
              <a:t>- https://www.hipconf.com/resources/how-to-protect-machine-identities/</a:t>
            </a:r>
          </a:p>
          <a:p>
            <a:endParaRPr lang="en-US"/>
          </a:p>
          <a:p>
            <a:r>
              <a:rPr lang="en-US"/>
              <a:t>https://github.com/dcdiagfix/AD-ServiceAccounts-FUNdamentals/blob/main/AD-ServiceAccounts-FUNdamentals.md#identifying-service-accounts-who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Identifying Service Accounts</a:t>
            </a:r>
          </a:p>
          <a:p>
            <a:endParaRPr lang="en-US" dirty="0"/>
          </a:p>
          <a:p>
            <a:r>
              <a:rPr lang="en-US" dirty="0"/>
              <a:t>This is one of the bigger challenges of service accounts. They often don't have standard naming conventions, especially if having been used for a long time. </a:t>
            </a:r>
          </a:p>
          <a:p>
            <a:endParaRPr lang="en-US" dirty="0"/>
          </a:p>
          <a:p>
            <a:r>
              <a:rPr lang="en-US" dirty="0"/>
              <a:t>Some identifiers that CAN be shared by service accounts: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Accounts with </a:t>
            </a:r>
            <a:r>
              <a:rPr lang="en-US" dirty="0" err="1"/>
              <a:t>srv</a:t>
            </a:r>
            <a:r>
              <a:rPr lang="en-US" dirty="0"/>
              <a:t>, serv, svc, service, or similar in their name. </a:t>
            </a:r>
            <a:br>
              <a:rPr lang="en-US" dirty="0"/>
            </a:br>
            <a:r>
              <a:rPr lang="en-US" sz="1200" dirty="0">
                <a:solidFill>
                  <a:srgbClr val="FFFFFF"/>
                </a:solidFill>
                <a:latin typeface="Courier New" panose="02070309020205020404" pitchFamily="49" charset="0"/>
                <a:ea typeface="DM Sans"/>
                <a:cs typeface="Courier New" panose="02070309020205020404" pitchFamily="49" charset="0"/>
                <a:sym typeface="DM Sans"/>
              </a:rPr>
              <a:t>Get-</a:t>
            </a:r>
            <a:r>
              <a:rPr lang="en-US" sz="1200" dirty="0" err="1">
                <a:solidFill>
                  <a:srgbClr val="FFFFFF"/>
                </a:solidFill>
                <a:latin typeface="Courier New" panose="02070309020205020404" pitchFamily="49" charset="0"/>
                <a:ea typeface="DM Sans"/>
                <a:cs typeface="Courier New" panose="02070309020205020404" pitchFamily="49" charset="0"/>
                <a:sym typeface="DM Sans"/>
              </a:rPr>
              <a:t>ADUser</a:t>
            </a:r>
            <a:r>
              <a:rPr lang="en-US" sz="1200" dirty="0">
                <a:solidFill>
                  <a:srgbClr val="FFFFFF"/>
                </a:solidFill>
                <a:latin typeface="Courier New" panose="02070309020205020404" pitchFamily="49" charset="0"/>
                <a:ea typeface="DM Sans"/>
                <a:cs typeface="Courier New" panose="02070309020205020404" pitchFamily="49" charset="0"/>
                <a:sym typeface="DM Sans"/>
              </a:rPr>
              <a:t> –</a:t>
            </a:r>
            <a:r>
              <a:rPr lang="en-US" sz="1200" dirty="0" err="1">
                <a:solidFill>
                  <a:srgbClr val="FFFFFF"/>
                </a:solidFill>
                <a:latin typeface="Courier New" panose="02070309020205020404" pitchFamily="49" charset="0"/>
                <a:ea typeface="DM Sans"/>
                <a:cs typeface="Courier New" panose="02070309020205020404" pitchFamily="49" charset="0"/>
                <a:sym typeface="DM Sans"/>
              </a:rPr>
              <a:t>LDAPFilter</a:t>
            </a:r>
            <a:r>
              <a:rPr lang="en-US" sz="1200" dirty="0">
                <a:solidFill>
                  <a:srgbClr val="FFFFFF"/>
                </a:solidFill>
                <a:latin typeface="Courier New" panose="02070309020205020404" pitchFamily="49" charset="0"/>
                <a:ea typeface="DM Sans"/>
                <a:cs typeface="Courier New" panose="02070309020205020404" pitchFamily="49" charset="0"/>
                <a:sym typeface="DM Sans"/>
              </a:rPr>
              <a:t> “(|(</a:t>
            </a:r>
            <a:r>
              <a:rPr lang="en-US" sz="1200" dirty="0" err="1">
                <a:solidFill>
                  <a:srgbClr val="FFFFFF"/>
                </a:solidFill>
                <a:latin typeface="Courier New" panose="02070309020205020404" pitchFamily="49" charset="0"/>
                <a:ea typeface="DM Sans"/>
                <a:cs typeface="Courier New" panose="02070309020205020404" pitchFamily="49" charset="0"/>
                <a:sym typeface="DM Sans"/>
              </a:rPr>
              <a:t>samAccountName</a:t>
            </a:r>
            <a:r>
              <a:rPr lang="en-US" sz="1200" dirty="0">
                <a:solidFill>
                  <a:srgbClr val="FFFFFF"/>
                </a:solidFill>
                <a:latin typeface="Courier New" panose="02070309020205020404" pitchFamily="49" charset="0"/>
                <a:ea typeface="DM Sans"/>
                <a:cs typeface="Courier New" panose="02070309020205020404" pitchFamily="49" charset="0"/>
                <a:sym typeface="DM Sans"/>
              </a:rPr>
              <a:t>=</a:t>
            </a:r>
            <a:r>
              <a:rPr lang="en-US" sz="1200" dirty="0" err="1">
                <a:solidFill>
                  <a:srgbClr val="FFFFFF"/>
                </a:solidFill>
                <a:latin typeface="Courier New" panose="02070309020205020404" pitchFamily="49" charset="0"/>
                <a:ea typeface="DM Sans"/>
                <a:cs typeface="Courier New" panose="02070309020205020404" pitchFamily="49" charset="0"/>
                <a:sym typeface="DM Sans"/>
              </a:rPr>
              <a:t>srv</a:t>
            </a:r>
            <a:r>
              <a:rPr lang="en-US" sz="1200" dirty="0">
                <a:solidFill>
                  <a:srgbClr val="FFFFFF"/>
                </a:solidFill>
                <a:latin typeface="Courier New" panose="02070309020205020404" pitchFamily="49" charset="0"/>
                <a:ea typeface="DM Sans"/>
                <a:cs typeface="Courier New" panose="02070309020205020404" pitchFamily="49" charset="0"/>
                <a:sym typeface="DM Sans"/>
              </a:rPr>
              <a:t>*)(</a:t>
            </a:r>
            <a:r>
              <a:rPr lang="en-US" sz="1200" dirty="0" err="1">
                <a:solidFill>
                  <a:srgbClr val="FFFFFF"/>
                </a:solidFill>
                <a:latin typeface="Courier New" panose="02070309020205020404" pitchFamily="49" charset="0"/>
                <a:ea typeface="DM Sans"/>
                <a:cs typeface="Courier New" panose="02070309020205020404" pitchFamily="49" charset="0"/>
                <a:sym typeface="DM Sans"/>
              </a:rPr>
              <a:t>samAccountName</a:t>
            </a:r>
            <a:r>
              <a:rPr lang="en-US" sz="1200" dirty="0">
                <a:solidFill>
                  <a:srgbClr val="FFFFFF"/>
                </a:solidFill>
                <a:latin typeface="Courier New" panose="02070309020205020404" pitchFamily="49" charset="0"/>
                <a:ea typeface="DM Sans"/>
                <a:cs typeface="Courier New" panose="02070309020205020404" pitchFamily="49" charset="0"/>
                <a:sym typeface="DM Sans"/>
              </a:rPr>
              <a:t>=serv*)(</a:t>
            </a:r>
            <a:r>
              <a:rPr lang="en-US" sz="1200" dirty="0" err="1">
                <a:solidFill>
                  <a:srgbClr val="FFFFFF"/>
                </a:solidFill>
                <a:latin typeface="Courier New" panose="02070309020205020404" pitchFamily="49" charset="0"/>
                <a:ea typeface="DM Sans"/>
                <a:cs typeface="Courier New" panose="02070309020205020404" pitchFamily="49" charset="0"/>
                <a:sym typeface="DM Sans"/>
              </a:rPr>
              <a:t>samAccountName</a:t>
            </a:r>
            <a:r>
              <a:rPr lang="en-US" sz="1200" dirty="0">
                <a:solidFill>
                  <a:srgbClr val="FFFFFF"/>
                </a:solidFill>
                <a:latin typeface="Courier New" panose="02070309020205020404" pitchFamily="49" charset="0"/>
                <a:ea typeface="DM Sans"/>
                <a:cs typeface="Courier New" panose="02070309020205020404" pitchFamily="49" charset="0"/>
                <a:sym typeface="DM Sans"/>
              </a:rPr>
              <a:t>=svc*)(</a:t>
            </a:r>
            <a:r>
              <a:rPr lang="en-US" sz="1200" dirty="0" err="1">
                <a:solidFill>
                  <a:srgbClr val="FFFFFF"/>
                </a:solidFill>
                <a:latin typeface="Courier New" panose="02070309020205020404" pitchFamily="49" charset="0"/>
                <a:ea typeface="DM Sans"/>
                <a:cs typeface="Courier New" panose="02070309020205020404" pitchFamily="49" charset="0"/>
                <a:sym typeface="DM Sans"/>
              </a:rPr>
              <a:t>samAccountName</a:t>
            </a:r>
            <a:r>
              <a:rPr lang="en-US" sz="1200" dirty="0">
                <a:solidFill>
                  <a:srgbClr val="FFFFFF"/>
                </a:solidFill>
                <a:latin typeface="Courier New" panose="02070309020205020404" pitchFamily="49" charset="0"/>
                <a:ea typeface="DM Sans"/>
                <a:cs typeface="Courier New" panose="02070309020205020404" pitchFamily="49" charset="0"/>
                <a:sym typeface="DM Sans"/>
              </a:rPr>
              <a:t>=service*))”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Accounts in an OU that is titled "Service Accounts" or something similar. </a:t>
            </a:r>
            <a:br>
              <a:rPr lang="en-US" dirty="0"/>
            </a:br>
            <a:r>
              <a:rPr lang="en-US" sz="1200" dirty="0">
                <a:solidFill>
                  <a:srgbClr val="FFFFFF"/>
                </a:solidFill>
                <a:latin typeface="Courier New" panose="02070309020205020404" pitchFamily="49" charset="0"/>
                <a:ea typeface="DM Sans"/>
                <a:cs typeface="Courier New" panose="02070309020205020404" pitchFamily="49" charset="0"/>
                <a:sym typeface="DM Sans"/>
              </a:rPr>
              <a:t>Get-</a:t>
            </a:r>
            <a:r>
              <a:rPr lang="en-US" sz="1200" dirty="0" err="1">
                <a:solidFill>
                  <a:srgbClr val="FFFFFF"/>
                </a:solidFill>
                <a:latin typeface="Courier New" panose="02070309020205020404" pitchFamily="49" charset="0"/>
                <a:ea typeface="DM Sans"/>
                <a:cs typeface="Courier New" panose="02070309020205020404" pitchFamily="49" charset="0"/>
                <a:sym typeface="DM Sans"/>
              </a:rPr>
              <a:t>ADUser</a:t>
            </a:r>
            <a:r>
              <a:rPr lang="en-US" sz="1200" dirty="0">
                <a:solidFill>
                  <a:srgbClr val="FFFFFF"/>
                </a:solidFill>
                <a:latin typeface="Courier New" panose="02070309020205020404" pitchFamily="49" charset="0"/>
                <a:ea typeface="DM Sans"/>
                <a:cs typeface="Courier New" panose="02070309020205020404" pitchFamily="49" charset="0"/>
                <a:sym typeface="DM Sans"/>
              </a:rPr>
              <a:t> –Filter “</a:t>
            </a:r>
            <a:r>
              <a:rPr lang="en-US" sz="1200" dirty="0" err="1">
                <a:solidFill>
                  <a:srgbClr val="FFFFFF"/>
                </a:solidFill>
                <a:latin typeface="Courier New" panose="02070309020205020404" pitchFamily="49" charset="0"/>
                <a:ea typeface="DM Sans"/>
                <a:cs typeface="Courier New" panose="02070309020205020404" pitchFamily="49" charset="0"/>
                <a:sym typeface="DM Sans"/>
              </a:rPr>
              <a:t>distinguishedName</a:t>
            </a:r>
            <a:r>
              <a:rPr lang="en-US" sz="1200" dirty="0">
                <a:solidFill>
                  <a:srgbClr val="FFFFFF"/>
                </a:solidFill>
                <a:latin typeface="Courier New" panose="02070309020205020404" pitchFamily="49" charset="0"/>
                <a:ea typeface="DM Sans"/>
                <a:cs typeface="Courier New" panose="02070309020205020404" pitchFamily="49" charset="0"/>
                <a:sym typeface="DM Sans"/>
              </a:rPr>
              <a:t> –like “*OU=Service Accounts*”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Accounts with SPNs</a:t>
            </a:r>
            <a:br>
              <a:rPr lang="en-US" dirty="0"/>
            </a:br>
            <a:r>
              <a:rPr lang="en-US" sz="1200" dirty="0">
                <a:solidFill>
                  <a:srgbClr val="FFFFFF"/>
                </a:solidFill>
                <a:latin typeface="Courier New" panose="02070309020205020404" pitchFamily="49" charset="0"/>
                <a:ea typeface="DM Sans"/>
                <a:cs typeface="Courier New" panose="02070309020205020404" pitchFamily="49" charset="0"/>
                <a:sym typeface="DM Sans"/>
              </a:rPr>
              <a:t>Get-</a:t>
            </a:r>
            <a:r>
              <a:rPr lang="en-US" sz="1200" dirty="0" err="1">
                <a:solidFill>
                  <a:srgbClr val="FFFFFF"/>
                </a:solidFill>
                <a:latin typeface="Courier New" panose="02070309020205020404" pitchFamily="49" charset="0"/>
                <a:ea typeface="DM Sans"/>
                <a:cs typeface="Courier New" panose="02070309020205020404" pitchFamily="49" charset="0"/>
                <a:sym typeface="DM Sans"/>
              </a:rPr>
              <a:t>ADUser</a:t>
            </a:r>
            <a:r>
              <a:rPr lang="en-US" sz="1200" dirty="0">
                <a:solidFill>
                  <a:srgbClr val="FFFFFF"/>
                </a:solidFill>
                <a:latin typeface="Courier New" panose="02070309020205020404" pitchFamily="49" charset="0"/>
                <a:ea typeface="DM Sans"/>
                <a:cs typeface="Courier New" panose="02070309020205020404" pitchFamily="49" charset="0"/>
                <a:sym typeface="DM Sans"/>
              </a:rPr>
              <a:t> –</a:t>
            </a:r>
            <a:r>
              <a:rPr lang="en-US" sz="1200" dirty="0" err="1">
                <a:solidFill>
                  <a:srgbClr val="FFFFFF"/>
                </a:solidFill>
                <a:latin typeface="Courier New" panose="02070309020205020404" pitchFamily="49" charset="0"/>
                <a:ea typeface="DM Sans"/>
                <a:cs typeface="Courier New" panose="02070309020205020404" pitchFamily="49" charset="0"/>
                <a:sym typeface="DM Sans"/>
              </a:rPr>
              <a:t>LDAPFilter</a:t>
            </a:r>
            <a:r>
              <a:rPr lang="en-US" sz="1200" dirty="0">
                <a:solidFill>
                  <a:srgbClr val="FFFFFF"/>
                </a:solidFill>
                <a:latin typeface="Courier New" panose="02070309020205020404" pitchFamily="49" charset="0"/>
                <a:ea typeface="DM Sans"/>
                <a:cs typeface="Courier New" panose="02070309020205020404" pitchFamily="49" charset="0"/>
                <a:sym typeface="DM Sans"/>
              </a:rPr>
              <a:t> “(</a:t>
            </a:r>
            <a:r>
              <a:rPr lang="en-US" sz="1200" dirty="0" err="1">
                <a:solidFill>
                  <a:srgbClr val="FFFFFF"/>
                </a:solidFill>
                <a:latin typeface="Courier New" panose="02070309020205020404" pitchFamily="49" charset="0"/>
                <a:ea typeface="DM Sans"/>
                <a:cs typeface="Courier New" panose="02070309020205020404" pitchFamily="49" charset="0"/>
                <a:sym typeface="DM Sans"/>
              </a:rPr>
              <a:t>servicePrincipalName</a:t>
            </a:r>
            <a:r>
              <a:rPr lang="en-US" sz="1200" dirty="0">
                <a:solidFill>
                  <a:srgbClr val="FFFFFF"/>
                </a:solidFill>
                <a:latin typeface="Courier New" panose="02070309020205020404" pitchFamily="49" charset="0"/>
                <a:ea typeface="DM Sans"/>
                <a:cs typeface="Courier New" panose="02070309020205020404" pitchFamily="49" charset="0"/>
                <a:sym typeface="DM Sans"/>
              </a:rPr>
              <a:t>=*)”</a:t>
            </a:r>
          </a:p>
          <a:p>
            <a:endParaRPr lang="en-US" dirty="0"/>
          </a:p>
          <a:p>
            <a:r>
              <a:rPr lang="en-US" dirty="0"/>
              <a:t>- Accounts that are members of groups that specify the "Log on As Service" right.</a:t>
            </a:r>
          </a:p>
          <a:p>
            <a:r>
              <a:rPr lang="en-US" dirty="0"/>
              <a:t>This one is harder to check. You can either check the group policies for that permission, or audit suspected accounts and see if they have that logon right. Either way there isn’t a one shot </a:t>
            </a:r>
            <a:r>
              <a:rPr lang="en-US" dirty="0" err="1"/>
              <a:t>powershell</a:t>
            </a:r>
            <a:r>
              <a:rPr lang="en-US" dirty="0"/>
              <a:t> to get this.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Accounts that are trusted for delegation.</a:t>
            </a:r>
            <a:br>
              <a:rPr lang="en-US" dirty="0"/>
            </a:br>
            <a:r>
              <a:rPr lang="en-US" sz="1200" dirty="0">
                <a:solidFill>
                  <a:srgbClr val="FFFFFF"/>
                </a:solidFill>
                <a:latin typeface="Courier New" panose="02070309020205020404" pitchFamily="49" charset="0"/>
                <a:ea typeface="DM Sans"/>
                <a:cs typeface="Courier New" panose="02070309020205020404" pitchFamily="49" charset="0"/>
                <a:sym typeface="DM Sans"/>
              </a:rPr>
              <a:t>Get-</a:t>
            </a:r>
            <a:r>
              <a:rPr lang="en-US" sz="1200" dirty="0" err="1">
                <a:solidFill>
                  <a:srgbClr val="FFFFFF"/>
                </a:solidFill>
                <a:latin typeface="Courier New" panose="02070309020205020404" pitchFamily="49" charset="0"/>
                <a:ea typeface="DM Sans"/>
                <a:cs typeface="Courier New" panose="02070309020205020404" pitchFamily="49" charset="0"/>
                <a:sym typeface="DM Sans"/>
              </a:rPr>
              <a:t>ADUser</a:t>
            </a:r>
            <a:r>
              <a:rPr lang="en-US" sz="1200" dirty="0">
                <a:solidFill>
                  <a:srgbClr val="FFFFFF"/>
                </a:solidFill>
                <a:latin typeface="Courier New" panose="02070309020205020404" pitchFamily="49" charset="0"/>
                <a:ea typeface="DM Sans"/>
                <a:cs typeface="Courier New" panose="02070309020205020404" pitchFamily="49" charset="0"/>
                <a:sym typeface="DM Sans"/>
              </a:rPr>
              <a:t> –Filter “</a:t>
            </a:r>
            <a:r>
              <a:rPr lang="en-US" sz="1200" dirty="0" err="1">
                <a:solidFill>
                  <a:srgbClr val="FFFFFF"/>
                </a:solidFill>
                <a:latin typeface="Courier New" panose="02070309020205020404" pitchFamily="49" charset="0"/>
                <a:ea typeface="DM Sans"/>
                <a:cs typeface="Courier New" panose="02070309020205020404" pitchFamily="49" charset="0"/>
                <a:sym typeface="DM Sans"/>
              </a:rPr>
              <a:t>TrustedForDelegation</a:t>
            </a:r>
            <a:r>
              <a:rPr lang="en-US" sz="1200" dirty="0">
                <a:solidFill>
                  <a:srgbClr val="FFFFFF"/>
                </a:solidFill>
                <a:latin typeface="Courier New" panose="02070309020205020404" pitchFamily="49" charset="0"/>
                <a:ea typeface="DM Sans"/>
                <a:cs typeface="Courier New" panose="02070309020205020404" pitchFamily="49" charset="0"/>
                <a:sym typeface="DM Sans"/>
              </a:rPr>
              <a:t> –eq $true”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Accounts with Password Never Expires set. </a:t>
            </a:r>
            <a:br>
              <a:rPr lang="en-US" dirty="0"/>
            </a:br>
            <a:r>
              <a:rPr lang="en-US" sz="1200" dirty="0">
                <a:solidFill>
                  <a:srgbClr val="FFFFFF"/>
                </a:solidFill>
                <a:latin typeface="Courier New" panose="02070309020205020404" pitchFamily="49" charset="0"/>
                <a:ea typeface="DM Sans"/>
                <a:cs typeface="Courier New" panose="02070309020205020404" pitchFamily="49" charset="0"/>
                <a:sym typeface="DM Sans"/>
              </a:rPr>
              <a:t>Get-</a:t>
            </a:r>
            <a:r>
              <a:rPr lang="en-US" sz="1200" dirty="0" err="1">
                <a:solidFill>
                  <a:srgbClr val="FFFFFF"/>
                </a:solidFill>
                <a:latin typeface="Courier New" panose="02070309020205020404" pitchFamily="49" charset="0"/>
                <a:ea typeface="DM Sans"/>
                <a:cs typeface="Courier New" panose="02070309020205020404" pitchFamily="49" charset="0"/>
                <a:sym typeface="DM Sans"/>
              </a:rPr>
              <a:t>ADUser</a:t>
            </a:r>
            <a:r>
              <a:rPr lang="en-US" sz="1200" dirty="0">
                <a:solidFill>
                  <a:srgbClr val="FFFFFF"/>
                </a:solidFill>
                <a:latin typeface="Courier New" panose="02070309020205020404" pitchFamily="49" charset="0"/>
                <a:ea typeface="DM Sans"/>
                <a:cs typeface="Courier New" panose="02070309020205020404" pitchFamily="49" charset="0"/>
                <a:sym typeface="DM Sans"/>
              </a:rPr>
              <a:t> –Filter “PasswordNeverExpires –eq $true”</a:t>
            </a:r>
          </a:p>
          <a:p>
            <a:endParaRPr lang="en-US" dirty="0"/>
          </a:p>
          <a:p>
            <a:endParaRPr lang="en-US" dirty="0"/>
          </a:p>
          <a:p>
            <a:r>
              <a:rPr lang="en-US" dirty="0"/>
              <a:t>Finding where service accounts are being used:</a:t>
            </a:r>
          </a:p>
          <a:p>
            <a:r>
              <a:rPr lang="en-US" dirty="0"/>
              <a:t>- This is a bit more challenging. One of the references includes really good information on this. </a:t>
            </a:r>
          </a:p>
          <a:p>
            <a:r>
              <a:rPr lang="en-US" dirty="0"/>
              <a:t>- Here is an example SIEM query from one of the references listed in the notes. </a:t>
            </a:r>
          </a:p>
          <a:p>
            <a:r>
              <a:rPr lang="en-US" dirty="0"/>
              <a:t>index=</a:t>
            </a:r>
            <a:r>
              <a:rPr lang="en-US" dirty="0" err="1"/>
              <a:t>wineventlog</a:t>
            </a:r>
            <a:r>
              <a:rPr lang="en-US" dirty="0"/>
              <a:t> </a:t>
            </a:r>
            <a:r>
              <a:rPr lang="en-US" dirty="0" err="1"/>
              <a:t>sourcetype</a:t>
            </a:r>
            <a:r>
              <a:rPr lang="en-US" dirty="0"/>
              <a:t>=</a:t>
            </a:r>
            <a:r>
              <a:rPr lang="en-US" dirty="0" err="1"/>
              <a:t>WinEventLog:Security</a:t>
            </a:r>
            <a:r>
              <a:rPr lang="en-US" dirty="0"/>
              <a:t> </a:t>
            </a:r>
            <a:r>
              <a:rPr lang="en-US" dirty="0" err="1"/>
              <a:t>EventCode</a:t>
            </a:r>
            <a:r>
              <a:rPr lang="en-US" dirty="0"/>
              <a:t>=4769 </a:t>
            </a:r>
            <a:r>
              <a:rPr lang="en-US" dirty="0" err="1"/>
              <a:t>Account_Name</a:t>
            </a:r>
            <a:r>
              <a:rPr lang="en-US" dirty="0"/>
              <a:t>="*svc*"</a:t>
            </a:r>
          </a:p>
          <a:p>
            <a:r>
              <a:rPr lang="en-US" dirty="0"/>
              <a:t>| table _time, </a:t>
            </a:r>
            <a:r>
              <a:rPr lang="en-US" dirty="0" err="1"/>
              <a:t>ComputerName</a:t>
            </a:r>
            <a:r>
              <a:rPr lang="en-US" dirty="0"/>
              <a:t>, </a:t>
            </a:r>
            <a:r>
              <a:rPr lang="en-US" dirty="0" err="1"/>
              <a:t>Account_Name</a:t>
            </a:r>
            <a:r>
              <a:rPr lang="en-US" dirty="0"/>
              <a:t>, </a:t>
            </a:r>
            <a:r>
              <a:rPr lang="en-US" dirty="0" err="1"/>
              <a:t>Service_Name</a:t>
            </a:r>
            <a:r>
              <a:rPr lang="en-US" dirty="0"/>
              <a:t>, </a:t>
            </a:r>
            <a:r>
              <a:rPr lang="en-US" dirty="0" err="1"/>
              <a:t>Ticket_Options</a:t>
            </a:r>
            <a:r>
              <a:rPr lang="en-US" dirty="0"/>
              <a:t>, </a:t>
            </a:r>
            <a:r>
              <a:rPr lang="en-US" dirty="0" err="1"/>
              <a:t>IpAddress</a:t>
            </a:r>
            <a:r>
              <a:rPr lang="en-US" dirty="0"/>
              <a:t>, </a:t>
            </a:r>
            <a:r>
              <a:rPr lang="en-US" dirty="0" err="1"/>
              <a:t>Process_Name</a:t>
            </a:r>
            <a:endParaRPr lang="en-US" dirty="0"/>
          </a:p>
          <a:p>
            <a:endParaRPr lang="en-US" dirty="0"/>
          </a:p>
          <a:p>
            <a:r>
              <a:rPr lang="en-US" dirty="0"/>
              <a:t>Ongoing Tagging of Service Accounts.</a:t>
            </a:r>
          </a:p>
          <a:p>
            <a:r>
              <a:rPr lang="en-US" dirty="0"/>
              <a:t>- Have a naming convention for service accounts (serv, svc, </a:t>
            </a:r>
            <a:r>
              <a:rPr lang="en-US" dirty="0" err="1"/>
              <a:t>srv</a:t>
            </a:r>
            <a:r>
              <a:rPr lang="en-US" dirty="0"/>
              <a:t>, etc.)</a:t>
            </a:r>
          </a:p>
          <a:p>
            <a:r>
              <a:rPr lang="en-US" dirty="0"/>
              <a:t>- Have a dedicated OU in each Tier of OUs for service accounts for all service accounts. </a:t>
            </a:r>
          </a:p>
          <a:p>
            <a:endParaRPr lang="en-US" dirty="0"/>
          </a:p>
          <a:p>
            <a:r>
              <a:rPr lang="en-US" dirty="0"/>
              <a:t>Attribute Identification of Service Accounts</a:t>
            </a:r>
          </a:p>
          <a:p>
            <a:r>
              <a:rPr lang="en-US" dirty="0"/>
              <a:t>- Another suggestion is to set one or more attributes identifying the account as a service account. This makes sense as it is a little easier to search on than names.</a:t>
            </a:r>
          </a:p>
          <a:p>
            <a:r>
              <a:rPr lang="en-US" dirty="0"/>
              <a:t>- Examples</a:t>
            </a:r>
          </a:p>
          <a:p>
            <a:r>
              <a:rPr lang="en-US" dirty="0"/>
              <a:t>-- </a:t>
            </a:r>
            <a:r>
              <a:rPr lang="en-US" dirty="0" err="1"/>
              <a:t>employeeType</a:t>
            </a:r>
            <a:r>
              <a:rPr lang="en-US" dirty="0"/>
              <a:t>. This is a free-text field. You can put something like "Service Account" or "</a:t>
            </a:r>
            <a:r>
              <a:rPr lang="en-US" dirty="0" err="1"/>
              <a:t>ServiceAccount</a:t>
            </a:r>
            <a:r>
              <a:rPr lang="en-US" dirty="0"/>
              <a:t>" or something. </a:t>
            </a:r>
          </a:p>
          <a:p>
            <a:r>
              <a:rPr lang="en-US" dirty="0"/>
              <a:t>-- flags. This is an integer field that I recommend doing as a binary </a:t>
            </a:r>
            <a:r>
              <a:rPr lang="en-US" dirty="0" err="1"/>
              <a:t>enum</a:t>
            </a:r>
            <a:r>
              <a:rPr lang="en-US" dirty="0"/>
              <a:t> field. Set service account high to make it unique and make it a power of two so it can be checked bitwise. For example, make the 8192 value mean service account. </a:t>
            </a:r>
          </a:p>
          <a:p>
            <a:endParaRPr lang="en-US" dirty="0"/>
          </a:p>
          <a:p>
            <a:r>
              <a:rPr lang="en-US" dirty="0"/>
              <a:t>When you identify something is truly a service account, mark it as such so this becomes easier later. </a:t>
            </a:r>
          </a:p>
          <a:p>
            <a:r>
              <a:rPr lang="en-US" dirty="0"/>
              <a:t>- There is an attribute in AD called flags that isn't used. It is an integer, so treat it like an </a:t>
            </a:r>
            <a:r>
              <a:rPr lang="en-US" dirty="0" err="1"/>
              <a:t>enum</a:t>
            </a:r>
            <a:r>
              <a:rPr lang="en-US" dirty="0"/>
              <a:t> and make every service account increment that field by +8192. </a:t>
            </a:r>
          </a:p>
          <a:p>
            <a:r>
              <a:rPr lang="en-US" dirty="0"/>
              <a:t>- Another field is attribute is </a:t>
            </a:r>
            <a:r>
              <a:rPr lang="en-US" dirty="0" err="1"/>
              <a:t>employeeType</a:t>
            </a:r>
            <a:r>
              <a:rPr lang="en-US" dirty="0"/>
              <a:t>. This one is a string. Just put Service Account in there. </a:t>
            </a:r>
          </a:p>
          <a:p>
            <a:r>
              <a:rPr lang="en-US" dirty="0"/>
              <a:t>- If those are used, you'll have to get creative. </a:t>
            </a:r>
          </a:p>
          <a:p>
            <a:endParaRPr lang="en-US" dirty="0"/>
          </a:p>
          <a:p>
            <a:r>
              <a:rPr lang="en-US" dirty="0"/>
              <a:t>Next, find any account that ISN'T a computer or a known service account that has a </a:t>
            </a:r>
            <a:r>
              <a:rPr lang="en-US" dirty="0" err="1"/>
              <a:t>servicePrincipalName</a:t>
            </a:r>
            <a:r>
              <a:rPr lang="en-US" dirty="0"/>
              <a:t> and either make it a service account or get it a dedicated service account to run that service. Then go in and block everyone but actual service accounts from Log on as Service. </a:t>
            </a:r>
          </a:p>
          <a:p>
            <a:endParaRPr lang="en-US" dirty="0"/>
          </a:p>
          <a:p>
            <a:endParaRPr lang="en-US" dirty="0"/>
          </a:p>
          <a:p>
            <a:r>
              <a:rPr lang="en-US" dirty="0"/>
              <a:t>Cap it all off with the fact that a particular segment of attacks exploits vulnerable passwords to generate arbitrary </a:t>
            </a:r>
            <a:r>
              <a:rPr lang="en-US" dirty="0" err="1"/>
              <a:t>kerberos</a:t>
            </a:r>
            <a:r>
              <a:rPr lang="en-US" dirty="0"/>
              <a:t> authorizations (yep, authorizations) \[</a:t>
            </a:r>
            <a:r>
              <a:rPr lang="en-US" dirty="0" err="1"/>
              <a:t>Kerberosting</a:t>
            </a:r>
            <a:r>
              <a:rPr lang="en-US" dirty="0"/>
              <a:t>] and next thing you know that business critical service account has become a critical vulnerability. </a:t>
            </a:r>
          </a:p>
          <a:p>
            <a:endParaRPr lang="en-US" dirty="0"/>
          </a:p>
          <a:p>
            <a:r>
              <a:rPr lang="en-US" dirty="0"/>
              <a:t>-- REFERENCES --</a:t>
            </a:r>
          </a:p>
          <a:p>
            <a:r>
              <a:rPr lang="en-US" dirty="0"/>
              <a:t>https://github.com/dcdiagfix/AD-ServiceAccounts-FUNdamentals/blob/main/AD-ServiceAccounts-FUNdamentals.md#identifying-service-accounts-who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34E61-DA7B-6E7A-CE0F-70475FEEE8BB}"/>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DD906496-AB45-0F56-3687-5FEA4785CF5C}"/>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A1EBC484-8A8E-70CB-AEC1-FDFA4BCC54FD}"/>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9162018E-3E12-0327-2FE3-FB13F15F938B}"/>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87D59FE3-0DD7-DEB0-A347-8D0401D0547A}"/>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BONUS – Locating Service Account</a:t>
            </a:r>
          </a:p>
          <a:p>
            <a:endParaRPr lang="en-US" dirty="0"/>
          </a:p>
          <a:p>
            <a:r>
              <a:rPr lang="en-US" dirty="0"/>
              <a:t>Finding where service accounts are being used:</a:t>
            </a:r>
          </a:p>
          <a:p>
            <a:r>
              <a:rPr lang="en-US" dirty="0"/>
              <a:t>- This is a bit more challenging. One of the references includes really good information on this. </a:t>
            </a:r>
          </a:p>
          <a:p>
            <a:r>
              <a:rPr lang="en-US" dirty="0"/>
              <a:t>- Here is an example SIEM query from one of the references listed in the notes. </a:t>
            </a:r>
          </a:p>
          <a:p>
            <a:r>
              <a:rPr lang="en-US" dirty="0"/>
              <a:t>index=</a:t>
            </a:r>
            <a:r>
              <a:rPr lang="en-US" dirty="0" err="1"/>
              <a:t>wineventlog</a:t>
            </a:r>
            <a:r>
              <a:rPr lang="en-US" dirty="0"/>
              <a:t> </a:t>
            </a:r>
            <a:r>
              <a:rPr lang="en-US" dirty="0" err="1"/>
              <a:t>sourcetype</a:t>
            </a:r>
            <a:r>
              <a:rPr lang="en-US" dirty="0"/>
              <a:t>=</a:t>
            </a:r>
            <a:r>
              <a:rPr lang="en-US" dirty="0" err="1"/>
              <a:t>WinEventLog:Security</a:t>
            </a:r>
            <a:r>
              <a:rPr lang="en-US" dirty="0"/>
              <a:t> </a:t>
            </a:r>
            <a:r>
              <a:rPr lang="en-US" dirty="0" err="1"/>
              <a:t>EventCode</a:t>
            </a:r>
            <a:r>
              <a:rPr lang="en-US" dirty="0"/>
              <a:t>=4769 </a:t>
            </a:r>
            <a:r>
              <a:rPr lang="en-US" dirty="0" err="1"/>
              <a:t>Account_Name</a:t>
            </a:r>
            <a:r>
              <a:rPr lang="en-US" dirty="0"/>
              <a:t>="*svc*"</a:t>
            </a:r>
          </a:p>
          <a:p>
            <a:r>
              <a:rPr lang="en-US" dirty="0"/>
              <a:t>| table _time, </a:t>
            </a:r>
            <a:r>
              <a:rPr lang="en-US" dirty="0" err="1"/>
              <a:t>ComputerName</a:t>
            </a:r>
            <a:r>
              <a:rPr lang="en-US" dirty="0"/>
              <a:t>, </a:t>
            </a:r>
            <a:r>
              <a:rPr lang="en-US" dirty="0" err="1"/>
              <a:t>Account_Name</a:t>
            </a:r>
            <a:r>
              <a:rPr lang="en-US" dirty="0"/>
              <a:t>, </a:t>
            </a:r>
            <a:r>
              <a:rPr lang="en-US" dirty="0" err="1"/>
              <a:t>Service_Name</a:t>
            </a:r>
            <a:r>
              <a:rPr lang="en-US" dirty="0"/>
              <a:t>, </a:t>
            </a:r>
            <a:r>
              <a:rPr lang="en-US" dirty="0" err="1"/>
              <a:t>Ticket_Options</a:t>
            </a:r>
            <a:r>
              <a:rPr lang="en-US" dirty="0"/>
              <a:t>, </a:t>
            </a:r>
            <a:r>
              <a:rPr lang="en-US" dirty="0" err="1"/>
              <a:t>IpAddress</a:t>
            </a:r>
            <a:r>
              <a:rPr lang="en-US" dirty="0"/>
              <a:t>, </a:t>
            </a:r>
            <a:r>
              <a:rPr lang="en-US" dirty="0" err="1"/>
              <a:t>Process_Name</a:t>
            </a:r>
            <a:endParaRPr lang="en-US" dirty="0"/>
          </a:p>
          <a:p>
            <a:endParaRPr lang="en-US" dirty="0"/>
          </a:p>
          <a:p>
            <a:r>
              <a:rPr lang="en-US" dirty="0"/>
              <a:t>-- REFERENCES --</a:t>
            </a:r>
          </a:p>
          <a:p>
            <a:r>
              <a:rPr lang="en-US" dirty="0"/>
              <a:t>https://github.com/dcdiagfix/AD-ServiceAccounts-FUNdamentals/blob/main/AD-ServiceAccounts-FUNdamentals.md#identifying-service-accounts-who</a:t>
            </a:r>
          </a:p>
        </p:txBody>
      </p:sp>
      <p:sp>
        <p:nvSpPr>
          <p:cNvPr id="6" name="Footer Placeholder 5">
            <a:extLst>
              <a:ext uri="{FF2B5EF4-FFF2-40B4-BE49-F238E27FC236}">
                <a16:creationId xmlns:a16="http://schemas.microsoft.com/office/drawing/2014/main" id="{2A81455D-0786-0599-5ADF-552B8E9A9573}"/>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C5D4A9B3-8D8D-614E-C112-7BD319B2E6C2}"/>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24538894"/>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2FAEC-8C78-EA62-A716-8071E65C9782}"/>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A7BE7E-A6F6-9F8E-7722-F289E2815D9F}"/>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7E4CE2B3-FD04-18DA-B73B-063E78F7337C}"/>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C549909F-BFBC-C709-3CD0-60ABD042D717}"/>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224F6D1B-62BE-E54C-3854-E23ED722FFD6}"/>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a:p>
            <a:r>
              <a:rPr lang="en-US" dirty="0"/>
              <a:t>Ongoing Tagging of Service Accounts.</a:t>
            </a:r>
          </a:p>
          <a:p>
            <a:r>
              <a:rPr lang="en-US" dirty="0"/>
              <a:t>- Have a naming convention for service accounts (serv, svc, </a:t>
            </a:r>
            <a:r>
              <a:rPr lang="en-US" dirty="0" err="1"/>
              <a:t>srv</a:t>
            </a:r>
            <a:r>
              <a:rPr lang="en-US" dirty="0"/>
              <a:t>, etc.)</a:t>
            </a:r>
          </a:p>
          <a:p>
            <a:r>
              <a:rPr lang="en-US" dirty="0"/>
              <a:t>- Have a dedicated OU in each Tier of OUs for service accounts for all service accounts. </a:t>
            </a:r>
          </a:p>
          <a:p>
            <a:endParaRPr lang="en-US" dirty="0"/>
          </a:p>
          <a:p>
            <a:r>
              <a:rPr lang="en-US" dirty="0"/>
              <a:t>Attribute Identification of Service Accounts</a:t>
            </a:r>
          </a:p>
          <a:p>
            <a:r>
              <a:rPr lang="en-US" dirty="0"/>
              <a:t>- Another suggestion is to set one or more attributes identifying the account as a service account. This makes sense as it is a little easier to search on than names.</a:t>
            </a:r>
          </a:p>
          <a:p>
            <a:r>
              <a:rPr lang="en-US" dirty="0"/>
              <a:t>- Examples</a:t>
            </a:r>
          </a:p>
          <a:p>
            <a:r>
              <a:rPr lang="en-US" dirty="0"/>
              <a:t>-- </a:t>
            </a:r>
            <a:r>
              <a:rPr lang="en-US" dirty="0" err="1"/>
              <a:t>employeeType</a:t>
            </a:r>
            <a:r>
              <a:rPr lang="en-US" dirty="0"/>
              <a:t>. This is a free-text field. You can put something like "Service Account" or "</a:t>
            </a:r>
            <a:r>
              <a:rPr lang="en-US" dirty="0" err="1"/>
              <a:t>ServiceAccount</a:t>
            </a:r>
            <a:r>
              <a:rPr lang="en-US" dirty="0"/>
              <a:t>" or something. </a:t>
            </a:r>
          </a:p>
          <a:p>
            <a:r>
              <a:rPr lang="en-US" dirty="0"/>
              <a:t>-- flags. This is an integer field that I recommend doing as a binary </a:t>
            </a:r>
            <a:r>
              <a:rPr lang="en-US" dirty="0" err="1"/>
              <a:t>enum</a:t>
            </a:r>
            <a:r>
              <a:rPr lang="en-US" dirty="0"/>
              <a:t> field. Set service account high to make it unique and make it a power of two so it can be checked bitwise. For example, make the 8192 value mean service account. </a:t>
            </a:r>
          </a:p>
          <a:p>
            <a:endParaRPr lang="en-US" dirty="0"/>
          </a:p>
          <a:p>
            <a:r>
              <a:rPr lang="en-US" dirty="0"/>
              <a:t>When you identify something is truly a service account, mark it as such so this becomes easier later. </a:t>
            </a:r>
          </a:p>
          <a:p>
            <a:r>
              <a:rPr lang="en-US" dirty="0"/>
              <a:t>- There is an attribute in AD called flags that isn't used. It is an integer, so treat it like an </a:t>
            </a:r>
            <a:r>
              <a:rPr lang="en-US" dirty="0" err="1"/>
              <a:t>enum</a:t>
            </a:r>
            <a:r>
              <a:rPr lang="en-US" dirty="0"/>
              <a:t> and make every service account increment that field by +8192. </a:t>
            </a:r>
          </a:p>
          <a:p>
            <a:r>
              <a:rPr lang="en-US" dirty="0"/>
              <a:t>- Another field is attribute is </a:t>
            </a:r>
            <a:r>
              <a:rPr lang="en-US" dirty="0" err="1"/>
              <a:t>employeeType</a:t>
            </a:r>
            <a:r>
              <a:rPr lang="en-US" dirty="0"/>
              <a:t>. This one is a string. Just put Service Account in there. </a:t>
            </a:r>
          </a:p>
          <a:p>
            <a:r>
              <a:rPr lang="en-US" dirty="0"/>
              <a:t>- If those are used, you'll have to get creative. </a:t>
            </a:r>
          </a:p>
          <a:p>
            <a:endParaRPr lang="en-US" dirty="0"/>
          </a:p>
          <a:p>
            <a:r>
              <a:rPr lang="en-US" dirty="0"/>
              <a:t>Next, find any account that ISN'T a computer or a known service account that has a </a:t>
            </a:r>
            <a:r>
              <a:rPr lang="en-US" dirty="0" err="1"/>
              <a:t>servicePrincipalName</a:t>
            </a:r>
            <a:r>
              <a:rPr lang="en-US" dirty="0"/>
              <a:t> and either make it a service account or get it a dedicated service account to run that service. Then go in and block everyone but actual service accounts from Log on as Service. </a:t>
            </a:r>
          </a:p>
          <a:p>
            <a:endParaRPr lang="en-US" dirty="0"/>
          </a:p>
          <a:p>
            <a:endParaRPr lang="en-US" dirty="0"/>
          </a:p>
          <a:p>
            <a:r>
              <a:rPr lang="en-US" dirty="0"/>
              <a:t>Cap it all off with the fact that a particular segment of attacks exploits vulnerable passwords to generate arbitrary </a:t>
            </a:r>
            <a:r>
              <a:rPr lang="en-US" dirty="0" err="1"/>
              <a:t>kerberos</a:t>
            </a:r>
            <a:r>
              <a:rPr lang="en-US" dirty="0"/>
              <a:t> authorizations (yep, authorizations) \[</a:t>
            </a:r>
            <a:r>
              <a:rPr lang="en-US" dirty="0" err="1"/>
              <a:t>Kerberosting</a:t>
            </a:r>
            <a:r>
              <a:rPr lang="en-US" dirty="0"/>
              <a:t>] and next thing you know that business critical service account has become a critical vulnerability. </a:t>
            </a:r>
          </a:p>
          <a:p>
            <a:endParaRPr lang="en-US" dirty="0"/>
          </a:p>
          <a:p>
            <a:r>
              <a:rPr lang="en-US" dirty="0"/>
              <a:t>-- REFERENCES --</a:t>
            </a:r>
          </a:p>
          <a:p>
            <a:r>
              <a:rPr lang="en-US" dirty="0"/>
              <a:t>https://github.com/dcdiagfix/AD-ServiceAccounts-FUNdamentals/blob/main/AD-ServiceAccounts-FUNdamentals.md#identifying-service-accounts-who</a:t>
            </a:r>
          </a:p>
        </p:txBody>
      </p:sp>
      <p:sp>
        <p:nvSpPr>
          <p:cNvPr id="6" name="Footer Placeholder 5">
            <a:extLst>
              <a:ext uri="{FF2B5EF4-FFF2-40B4-BE49-F238E27FC236}">
                <a16:creationId xmlns:a16="http://schemas.microsoft.com/office/drawing/2014/main" id="{4A138BEF-F794-ACBD-6E55-D350A6628CC7}"/>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015CECB0-7133-CEF4-DCF3-60B4228DE0AD}"/>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87490399"/>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a:p>
          <a:p>
            <a:r>
              <a:rPr lang="en-US"/>
              <a:t>(NOTE: I'm skipping right over standalone MSAs as they really aren't used. They're mostly gMSAs that only work on single systems and aren't nearly as useful so they don't get much love.)</a:t>
            </a:r>
          </a:p>
          <a:p>
            <a:endParaRPr lang="en-US"/>
          </a:p>
          <a:p>
            <a:r>
              <a:rPr lang="en-US"/>
              <a:t>I hate the naming of these. Microsoft loves "Group" when it really already used that word. </a:t>
            </a:r>
          </a:p>
          <a:p>
            <a:endParaRPr lang="en-US"/>
          </a:p>
          <a:p>
            <a:r>
              <a:rPr lang="en-US"/>
              <a:t>The big features of gMSAs</a:t>
            </a:r>
          </a:p>
          <a:p>
            <a:r>
              <a:rPr lang="en-US"/>
              <a:t>- Self-Managed Psswords (No know one even knows it)</a:t>
            </a:r>
          </a:p>
          <a:p>
            <a:r>
              <a:rPr lang="en-US"/>
              <a:t>- Self-SPN management.</a:t>
            </a:r>
          </a:p>
          <a:p>
            <a:r>
              <a:rPr lang="en-US"/>
              <a:t>- Not easily Kerbroastable (Can't be spoofed)</a:t>
            </a:r>
          </a:p>
          <a:p>
            <a:r>
              <a:rPr lang="en-US"/>
              <a:t>- Non-Interactive</a:t>
            </a:r>
          </a:p>
          <a:p>
            <a:endParaRPr lang="en-US"/>
          </a:p>
          <a:p>
            <a:r>
              <a:rPr lang="en-US"/>
              <a:t>These, as compared to the standalone MSAs, can be used on multiple systems. This is done through an attribute that effectively includes every system allowed to retrieve their password, which is stored and encrypted in some fun ways on the account. </a:t>
            </a:r>
          </a:p>
          <a:p>
            <a:endParaRPr lang="en-US"/>
          </a:p>
          <a:p>
            <a:r>
              <a:rPr lang="en-US"/>
              <a:t>You 100% should be using gMSAs. No excuses. They can be used on multiple computers, they manage their own passwords, they can be access controlled with groups, they manage their own SPNs (usually), and so on. They're awesome. </a:t>
            </a:r>
          </a:p>
          <a:p>
            <a:endParaRPr lang="en-US"/>
          </a:p>
          <a:p>
            <a:r>
              <a:rPr lang="en-US"/>
              <a:t>The biggest downsides to these is you have to make sure you control the setting that allows for retrieving the managed password and keep the riff-raff out, they do not work with other operating systems (officially), and some apps want to have a physical password so they don't support gMSAs. This last one is surprising common considering how long gMSAs have been kicking around already. </a:t>
            </a:r>
          </a:p>
          <a:p>
            <a:endParaRPr lang="en-US"/>
          </a:p>
          <a:p>
            <a:r>
              <a:rPr lang="en-US"/>
              <a:t>They aren't perfect and they can still be abused, but they reduce the attack surface on those accounts significantly. I highly recommend using them wherever you can.</a:t>
            </a:r>
          </a:p>
          <a:p>
            <a:endParaRPr lang="en-US"/>
          </a:p>
          <a:p>
            <a:endParaRPr lang="en-US"/>
          </a:p>
          <a:p>
            <a:r>
              <a:rPr lang="en-US"/>
              <a:t>-- REFERENCES</a:t>
            </a:r>
          </a:p>
          <a:p>
            <a:endParaRPr lang="en-US"/>
          </a:p>
          <a:p>
            <a:r>
              <a:rPr lang="en-US"/>
              <a:t>gMSA Reference</a:t>
            </a:r>
          </a:p>
          <a:p>
            <a:r>
              <a:rPr lang="en-US"/>
              <a:t>- https://learn.microsoft.com/en-us/windows-server/identity/ad-ds/manage/group-managed-service-accounts/group-managed-service-accounts/group-managed-service-accounts-overview</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a:p>
          <a:p>
            <a:r>
              <a:rPr lang="en-US"/>
              <a:t>dMSAs = Delegated Managed Service Accounts</a:t>
            </a:r>
          </a:p>
          <a:p>
            <a:r>
              <a:rPr lang="en-US"/>
              <a:t>Okay, I want to mention these because they are straight up black magic and love it. These take gMSAs to a whole new level.</a:t>
            </a:r>
          </a:p>
          <a:p>
            <a:endParaRPr lang="en-US"/>
          </a:p>
          <a:p>
            <a:r>
              <a:rPr lang="en-US"/>
              <a:t>I'm not going to go super in depth on these as 1) I have only tested them in labs and 2) they're so new that really very few people are going to be looking at them yet. In my notes there is a link to a talk at HIP 2025 where an MVP goes into detail on all the MSA types that is straight gold. </a:t>
            </a:r>
          </a:p>
          <a:p>
            <a:endParaRPr lang="en-US"/>
          </a:p>
          <a:p>
            <a:r>
              <a:rPr lang="en-US"/>
              <a:t>dMSAs require Server 2025 and the new Server 2025 functional levels in Active Directory. Yes Microsoft is still putting effort into AD after all these years. We're not dead yet!</a:t>
            </a:r>
          </a:p>
          <a:p>
            <a:endParaRPr lang="en-US"/>
          </a:p>
          <a:p>
            <a:r>
              <a:rPr lang="en-US"/>
              <a:t>That is honestly their major downside. Well that and BadSuccessor which was a pretty gnarly vulnerability that came out for them like right after they were released. The vulnerability is improper access controls in AD so with proper access controls it is heavily mitigated. </a:t>
            </a:r>
          </a:p>
          <a:p>
            <a:endParaRPr lang="en-US"/>
          </a:p>
          <a:p>
            <a:r>
              <a:rPr lang="en-US"/>
              <a:t>The short version of them is that look and behave similar to gMSAs except they are linked to a traditional (full user) service account. Whenever that service account's password is authenticated on the network, AD intercepts that and does a validation of the machine identity and some other wizardry. If it passes, AD swaps the access using the dMSA behind the scenes and does the authentication. Effectively this gives the same effect of having a gMSA without the trouble of actually setting up on end systems. </a:t>
            </a:r>
          </a:p>
          <a:p>
            <a:endParaRPr lang="en-US"/>
          </a:p>
          <a:p>
            <a:r>
              <a:rPr lang="en-US"/>
              <a:t>I encourage you to keep an eye on dMSAs as much as you can and get comfortable with them.</a:t>
            </a:r>
          </a:p>
          <a:p>
            <a:r>
              <a:rPr lang="en-US"/>
              <a:t>-- REFERENCES</a:t>
            </a:r>
          </a:p>
          <a:p>
            <a:endParaRPr lang="en-US"/>
          </a:p>
          <a:p>
            <a:r>
              <a:rPr lang="en-US"/>
              <a:t>- https://www.hipconf.com/resources/demystifying-managed-service-accounts-best-practices-security-measures-to-reduce-risk-and-impact/</a:t>
            </a:r>
          </a:p>
          <a:p>
            <a:endParaRPr lang="en-US"/>
          </a:p>
          <a:p>
            <a:endParaRPr lang="en-US"/>
          </a:p>
          <a:p>
            <a:r>
              <a:rPr lang="en-US"/>
              <a:t>dMSA References</a:t>
            </a:r>
          </a:p>
          <a:p>
            <a:r>
              <a:rPr lang="en-US"/>
              <a:t>- https://learn.microsoft.com/en-us/windows-server/identity/ad-ds/manage/delegated-managed-service-accounts/delegated-managed-service-accounts-overview</a:t>
            </a:r>
          </a:p>
          <a:p>
            <a:endParaRPr lang="en-US"/>
          </a:p>
          <a:p>
            <a:r>
              <a:rPr lang="en-US"/>
              <a:t>- https://jorgequestforknowledge.wordpress.com/2025/07/11/how-to-block-badsuccessor-the-good-bad-and-ugly-of-dmsa-migration/</a:t>
            </a:r>
          </a:p>
          <a:p>
            <a:endParaRPr lang="en-US"/>
          </a:p>
          <a:p>
            <a:r>
              <a:rPr lang="en-US"/>
              <a:t>- https://jorgequestforknowledge.wordpress.com/2025/09/02/from-badsuccessor-to-patchedsuccessor/</a:t>
            </a:r>
          </a:p>
          <a:p>
            <a:endParaRPr lang="en-US"/>
          </a:p>
          <a:p>
            <a:r>
              <a:rPr lang="en-US"/>
              <a:t>- https://jorgequestforknowledge.wordpress.com/2025/05/25/reviewing-your-delegation-model-before-introducing-w2k25-dcs-and-enhancing-security-due-to-badsuccessor/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Okay, another show of hands. </a:t>
            </a:r>
          </a:p>
          <a:p>
            <a:r>
              <a:rPr lang="en-US"/>
              <a:t>- Who here has heard of LAPS, Local Administrator Password Solution? </a:t>
            </a:r>
          </a:p>
          <a:p>
            <a:r>
              <a:rPr lang="en-US"/>
              <a:t>- Who here has actually deployed it? </a:t>
            </a:r>
          </a:p>
          <a:p>
            <a:r>
              <a:rPr lang="en-US"/>
              <a:t>- Who here knows Microsoft overhauled it a couple years ago? </a:t>
            </a:r>
          </a:p>
          <a:p>
            <a:endParaRPr lang="en-US"/>
          </a:p>
          <a:p>
            <a:r>
              <a:rPr lang="en-US"/>
              <a:t>The problem LAPS solves is that organizations are lazy. Every local admin is created with the same local administrator password in provisioning and rarely are they disabled, even then they can be easily un-disabled as part of Windows Recovery. </a:t>
            </a:r>
          </a:p>
          <a:p>
            <a:endParaRPr lang="en-US"/>
          </a:p>
          <a:p>
            <a:r>
              <a:rPr lang="en-US"/>
              <a:t>LAPS used to be an installation that you had to download and install. Now it is *mostly* included with Windows. LAPS has an agent (transparent now) that coordinates with AD and stores the password in Active Directory for the local admin. AND ONLY THE LOCAL ADMIN (SID-500)</a:t>
            </a:r>
          </a:p>
          <a:p>
            <a:endParaRPr lang="en-US"/>
          </a:p>
          <a:p>
            <a:r>
              <a:rPr lang="en-US"/>
              <a:t>For this to work you do need to run a command to extend the AD Schema to include the LAPS attributes. This is required whether you use old LAPS or new LAPS but the attributes are different (there's a good reason, even I kind of hate it). It used to be stored plain-text and used access controls to secure it. With New LAPS it is better. </a:t>
            </a:r>
          </a:p>
          <a:p>
            <a:endParaRPr lang="en-US"/>
          </a:p>
          <a:p>
            <a:r>
              <a:rPr lang="en-US"/>
              <a:t>Another feature worth mentioning with New LAPS is it can be configured to auto-rotate the passwords when they are used rather than just on a schedule. This is a big deal. It's almost like Microsoft knows how to do PAM...</a:t>
            </a:r>
          </a:p>
          <a:p>
            <a:endParaRPr lang="en-US"/>
          </a:p>
          <a:p>
            <a:r>
              <a:rPr lang="en-US"/>
              <a:t>I have some notes and links in the slides that go into more. The short version of it is, if you're not using LAPS or a LAPS-like solution, you need to start doing that yesterday. It's not hard to manage. </a:t>
            </a:r>
          </a:p>
          <a:p>
            <a:endParaRPr lang="en-US"/>
          </a:p>
          <a:p>
            <a:r>
              <a:rPr lang="en-US"/>
              <a:t>#### Local Administrator Hardening - Local Admins</a:t>
            </a:r>
          </a:p>
          <a:p>
            <a:r>
              <a:rPr lang="en-US"/>
              <a:t>While we are on the topic of local admins here are a couple of things I am going to recommend to really move that security bar forward. </a:t>
            </a:r>
          </a:p>
          <a:p>
            <a:endParaRPr lang="en-US"/>
          </a:p>
          <a:p>
            <a:r>
              <a:rPr lang="en-US"/>
              <a:t>1. Remove domain admins, enterprise admins, and the domain builtin administrator account (and group) from all systems' local admins. You can do this with Group Policy. Create other administrative groups and restrict your super-privileged users from logging in everywhere. </a:t>
            </a:r>
          </a:p>
          <a:p>
            <a:r>
              <a:rPr lang="en-US"/>
              <a:t>2. Start blocking priv logons to systems via GPO. </a:t>
            </a:r>
          </a:p>
          <a:p>
            <a:r>
              <a:rPr lang="en-US"/>
              <a:t>3. Remove any users you can from local admins. I know scrooge says that it allows him to have a smaller help desk, but day-to-day users don't need to be full time domain admins. Even if you're nuts and allowing them to look up the LAPS password to do stuff, it is better than them having sitting local admin.</a:t>
            </a:r>
          </a:p>
          <a:p>
            <a:r>
              <a:rPr lang="en-US"/>
              <a:t>#### Tools to Consider</a:t>
            </a:r>
          </a:p>
          <a:p>
            <a:r>
              <a:rPr lang="en-US"/>
              <a:t>Lithnet came up once before in this talk and here they are again. They have a couple of products that I think are worth looking at. </a:t>
            </a:r>
          </a:p>
          <a:p>
            <a:endParaRPr lang="en-US"/>
          </a:p>
          <a:p>
            <a:r>
              <a:rPr lang="en-US"/>
              <a:t>Lithnet Access Manager has a free mode that is limited but for SMBs it may actually be enough. It can do some access delegations and is really helpful.</a:t>
            </a:r>
          </a:p>
          <a:p>
            <a:r>
              <a:rPr lang="en-US"/>
              <a:t>&gt; MORE? </a:t>
            </a:r>
          </a:p>
          <a:p>
            <a:endParaRPr lang="en-US"/>
          </a:p>
          <a:p>
            <a:r>
              <a:rPr lang="en-US"/>
              <a:t>Lithnet RapidLAPS is their answer to old LAPS. It adds some features that Microsoft later added in new LAPS, but they also support an app that streamlines a lot of it. It is worth looking into.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There is a Dave Ramsey... I mean Scrooge McDuck approach here that fits. Do what you can get done first. Make sure the items that need time are put in the approval change ASAP to move them.</a:t>
            </a:r>
          </a:p>
          <a:p>
            <a:endParaRPr lang="en-US"/>
          </a:p>
          <a:p>
            <a:r>
              <a:rPr lang="en-US"/>
              <a:t>1. Backups - Get backups running and stored somewhere. Work on resiliency and immutability of the backups later. Make sure they're secure from unwanted access though. </a:t>
            </a:r>
          </a:p>
          <a:p>
            <a:r>
              <a:rPr lang="en-US"/>
              <a:t>2. Security Baselines - Focus on Low Impact items and High Risk Items First. If it is going to take longer than a week or two to get implemented, get it on a project list. Do your Domain Controllers/T0 first, then workstations, then servers. </a:t>
            </a:r>
          </a:p>
          <a:p>
            <a:r>
              <a:rPr lang="en-US"/>
              <a:t>3. Tier 0 Administrator Hardening - Harden the Tier 0 Admins. This should be a small group (hopefully) and won't have big impacts. This also means give them their own accounts. </a:t>
            </a:r>
          </a:p>
          <a:p>
            <a:r>
              <a:rPr lang="en-US"/>
              <a:t>4. Reset Old Passwords - Find users with passwords older than 365 days. Start working on getting them reset. This defies NIST some but at this point we're thinking these passwords aren't 16 characters. </a:t>
            </a:r>
          </a:p>
          <a:p>
            <a:r>
              <a:rPr lang="en-US"/>
              <a:t>5. Harden Users with Service Principal Names - Either remove the SPN and get them a service account or harden the heck out of that user. This may take some time but it is worth it. </a:t>
            </a:r>
          </a:p>
          <a:p>
            <a:r>
              <a:rPr lang="en-US"/>
              <a:t>6. Deploy LAPS - This really doesn't take long and you can enable per system via GPO so it can be phased in. </a:t>
            </a:r>
          </a:p>
          <a:p>
            <a:r>
              <a:rPr lang="en-US"/>
              <a:t>7. Get Audit Policies enabled and start auditing the ACLs. </a:t>
            </a:r>
          </a:p>
          <a:p>
            <a:endParaRPr lang="en-US"/>
          </a:p>
          <a:p>
            <a:r>
              <a:rPr lang="en-US"/>
              <a:t>Most of those items are fairly low barriers to start. They may take a week or two to get running but you will get wins.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Once you've finished the items I've already talked about or have them rolling forward start thinking of where to go. </a:t>
            </a:r>
          </a:p>
          <a:p>
            <a:endParaRPr lang="en-US"/>
          </a:p>
          <a:p>
            <a:r>
              <a:rPr lang="en-US"/>
              <a:t>Next, look into tools like PurpleKnight or PingCastle to get a general AD health assessment. If you're running PKI using AD CS, make sure you run Locksmith it is pretty much the go-to PKI auditing tool. </a:t>
            </a:r>
          </a:p>
          <a:p>
            <a:endParaRPr lang="en-US"/>
          </a:p>
          <a:p>
            <a:r>
              <a:rPr lang="en-US"/>
              <a:t>Start looking at making sure your backups are perfect and reliable and immutable. </a:t>
            </a:r>
          </a:p>
          <a:p>
            <a:endParaRPr lang="en-US"/>
          </a:p>
          <a:p>
            <a:r>
              <a:rPr lang="en-US"/>
              <a:t>Move onto bigger and harder projects. Keep hammering at the baselines, look into a full AD/Cloud Tiering Project, and maybe start looking into PAM solutions (Not Scrooge Friendly).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I covered a lot. It's okay to feel overwhelmed. Take it one item at a time and move the security bar forward. </a:t>
            </a:r>
          </a:p>
          <a:p>
            <a:endParaRPr lang="en-US" dirty="0"/>
          </a:p>
          <a:p>
            <a:r>
              <a:rPr lang="en-US" dirty="0"/>
              <a:t>Lastly, resources. I broke the slide rule with lots of links, I'm sorry. </a:t>
            </a:r>
          </a:p>
          <a:p>
            <a:r>
              <a:rPr lang="en-US" dirty="0"/>
              <a:t>- The notes will be published later today on my </a:t>
            </a:r>
            <a:r>
              <a:rPr lang="en-US" dirty="0" err="1"/>
              <a:t>Github</a:t>
            </a:r>
            <a:r>
              <a:rPr lang="en-US" dirty="0"/>
              <a:t>. The QR code will take you to my </a:t>
            </a:r>
            <a:r>
              <a:rPr lang="en-US" dirty="0" err="1"/>
              <a:t>Github</a:t>
            </a:r>
            <a:r>
              <a:rPr lang="en-US" dirty="0"/>
              <a:t>.</a:t>
            </a:r>
          </a:p>
          <a:p>
            <a:r>
              <a:rPr lang="en-US" dirty="0"/>
              <a:t>	- I have tons of bonus slides so they will cover way more than I covered here. </a:t>
            </a:r>
          </a:p>
          <a:p>
            <a:r>
              <a:rPr lang="en-US" dirty="0"/>
              <a:t>- Check out the r/</a:t>
            </a:r>
            <a:r>
              <a:rPr lang="en-US" dirty="0" err="1"/>
              <a:t>ActiveDirectory</a:t>
            </a:r>
            <a:r>
              <a:rPr lang="en-US" dirty="0"/>
              <a:t> subreddit, especially the wiki. There are tons of resources there. Share these resources far and wide, just attribute the work to the creators. </a:t>
            </a:r>
          </a:p>
          <a:p>
            <a:r>
              <a:rPr lang="en-US" dirty="0"/>
              <a:t>- Connect with me if you're interested. I'm on Discord until it isn't cool anymore, but you can find me on Reddit and LinkedIn. You can email me, but I suck at responding so good luck. </a:t>
            </a:r>
          </a:p>
          <a:p>
            <a:r>
              <a:rPr lang="en-US" dirty="0"/>
              <a:t>	- Ask me about AD stuff, Identity, or PowerShell. Also I love chatting D&amp;D and how I've been using LLMs to make me a better DM. </a:t>
            </a:r>
          </a:p>
          <a:p>
            <a:r>
              <a:rPr lang="en-US" dirty="0"/>
              <a:t>- Finally, I have your attention. Do something good for the world. If its little, it still matters. Something you can do that could really change at least one life is sign up to be a bone marrow donor. Hit me up if you have questions about any of that. </a:t>
            </a:r>
          </a:p>
          <a:p>
            <a:r>
              <a:rPr lang="en-US" dirty="0"/>
              <a:t>- OH. I have a few stickers so if you're into that sort of things, come find me over there after this is done if you want one. </a:t>
            </a:r>
          </a:p>
          <a:p>
            <a:endParaRPr lang="en-US" dirty="0"/>
          </a:p>
          <a:p>
            <a:r>
              <a:rPr lang="en-US" dirty="0"/>
              <a:t>God Bless!</a:t>
            </a:r>
          </a:p>
          <a:p>
            <a:endParaRPr lang="en-US" dirty="0"/>
          </a:p>
          <a:p>
            <a:r>
              <a:rPr lang="en-US" dirty="0"/>
              <a:t>(Slide)</a:t>
            </a:r>
          </a:p>
          <a:p>
            <a:r>
              <a:rPr lang="en-US" dirty="0" err="1"/>
              <a:t>QnA</a:t>
            </a:r>
            <a:endParaRPr lang="en-US" dirty="0"/>
          </a:p>
          <a:p>
            <a:r>
              <a:rPr lang="en-US" dirty="0"/>
              <a:t>The plan was to have a couple of minutes at least so hit me with any questions you have. I'll do my best or make something up. Regardless come find me if you want to chat any of this stuff, I love talking AD.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2026-04-22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2026-04-22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2026-04-22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2026-04-22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2026-04-22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2026-04-22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2026-04-22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2026-04-22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2026-04-22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2026-04-22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2026-04-22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2026-04-22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3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0.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4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4.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5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6.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75.xml"/><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0.xml"/><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90.xml"/><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9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notesSlide" Target="../notesSlides/notesSlide92.xml"/><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44.png"/><Relationship Id="rId10"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666" b="-666"/>
            </a:stretch>
          </a:blipFill>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1028700" y="1986203"/>
            <a:ext cx="11213721" cy="824252"/>
          </a:xfrm>
          <a:prstGeom prst="rect">
            <a:avLst/>
          </a:prstGeom>
        </p:spPr>
        <p:txBody>
          <a:bodyPr lIns="0" tIns="0" rIns="0" bIns="0" rtlCol="0" anchor="t">
            <a:spAutoFit/>
          </a:bodyPr>
          <a:lstStyle/>
          <a:p>
            <a:pPr marL="0" lvl="0" indent="0" algn="l">
              <a:lnSpc>
                <a:spcPts val="6839"/>
              </a:lnSpc>
              <a:spcBef>
                <a:spcPct val="0"/>
              </a:spcBef>
            </a:pPr>
            <a:r>
              <a:rPr lang="en-US" sz="4885">
                <a:solidFill>
                  <a:srgbClr val="38B6FF"/>
                </a:solidFill>
                <a:latin typeface="DM Sans"/>
                <a:ea typeface="DM Sans"/>
                <a:cs typeface="DM Sans"/>
                <a:sym typeface="DM Sans"/>
              </a:rPr>
              <a:t>A Miser’s Guide to</a:t>
            </a:r>
          </a:p>
        </p:txBody>
      </p:sp>
      <p:sp>
        <p:nvSpPr>
          <p:cNvPr id="5" name="AutoShape 5"/>
          <p:cNvSpPr/>
          <p:nvPr/>
        </p:nvSpPr>
        <p:spPr>
          <a:xfrm flipV="1">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6" name="TextBox 6"/>
          <p:cNvSpPr txBox="1"/>
          <p:nvPr/>
        </p:nvSpPr>
        <p:spPr>
          <a:xfrm>
            <a:off x="1029996" y="5224168"/>
            <a:ext cx="8672048" cy="1409470"/>
          </a:xfrm>
          <a:prstGeom prst="rect">
            <a:avLst/>
          </a:prstGeom>
        </p:spPr>
        <p:txBody>
          <a:bodyPr lIns="0" tIns="0" rIns="0" bIns="0" rtlCol="0" anchor="t">
            <a:spAutoFit/>
          </a:bodyPr>
          <a:lstStyle/>
          <a:p>
            <a:pPr marL="0" lvl="0" indent="0" algn="l">
              <a:lnSpc>
                <a:spcPts val="10662"/>
              </a:lnSpc>
            </a:pPr>
            <a:r>
              <a:rPr lang="en-US" sz="10252">
                <a:solidFill>
                  <a:srgbClr val="38B6FF"/>
                </a:solidFill>
                <a:latin typeface="Anton"/>
                <a:ea typeface="Anton"/>
                <a:cs typeface="Anton"/>
                <a:sym typeface="Anton"/>
              </a:rPr>
              <a:t>ACTIVE DIRECTORY</a:t>
            </a:r>
          </a:p>
        </p:txBody>
      </p:sp>
      <p:sp>
        <p:nvSpPr>
          <p:cNvPr id="7" name="TextBox 7"/>
          <p:cNvSpPr txBox="1"/>
          <p:nvPr/>
        </p:nvSpPr>
        <p:spPr>
          <a:xfrm>
            <a:off x="1076985" y="3562048"/>
            <a:ext cx="6939673" cy="1408472"/>
          </a:xfrm>
          <a:prstGeom prst="rect">
            <a:avLst/>
          </a:prstGeom>
        </p:spPr>
        <p:txBody>
          <a:bodyPr lIns="0" tIns="0" rIns="0" bIns="0" rtlCol="0" anchor="t">
            <a:spAutoFit/>
          </a:bodyPr>
          <a:lstStyle/>
          <a:p>
            <a:pPr marL="0" lvl="0" indent="0" algn="l">
              <a:lnSpc>
                <a:spcPts val="10662"/>
              </a:lnSpc>
            </a:pPr>
            <a:r>
              <a:rPr lang="en-US" sz="10252">
                <a:solidFill>
                  <a:srgbClr val="FFFFFF"/>
                </a:solidFill>
                <a:latin typeface="Anton"/>
                <a:ea typeface="Anton"/>
                <a:cs typeface="Anton"/>
                <a:sym typeface="Anton"/>
              </a:rPr>
              <a:t>HARDENING</a:t>
            </a:r>
          </a:p>
        </p:txBody>
      </p:sp>
      <p:sp>
        <p:nvSpPr>
          <p:cNvPr id="8" name="TextBox 8"/>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666" b="-666"/>
            </a:stretch>
          </a:blipFill>
        </p:spPr>
        <p:txBody>
          <a:bodyPr/>
          <a:lstStyle/>
          <a:p>
            <a:endParaRPr lang="en-US"/>
          </a:p>
        </p:txBody>
      </p:sp>
      <p:sp>
        <p:nvSpPr>
          <p:cNvPr id="3" name="AutoShape 3"/>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4" name="Freeform 4"/>
          <p:cNvSpPr/>
          <p:nvPr/>
        </p:nvSpPr>
        <p:spPr>
          <a:xfrm>
            <a:off x="10698977" y="1028700"/>
            <a:ext cx="6458452" cy="7236361"/>
          </a:xfrm>
          <a:custGeom>
            <a:avLst/>
            <a:gdLst/>
            <a:ahLst/>
            <a:cxnLst/>
            <a:rect l="l" t="t" r="r" b="b"/>
            <a:pathLst>
              <a:path w="6458452" h="7236361">
                <a:moveTo>
                  <a:pt x="0" y="0"/>
                </a:moveTo>
                <a:lnTo>
                  <a:pt x="6458452" y="0"/>
                </a:lnTo>
                <a:lnTo>
                  <a:pt x="6458452" y="7236361"/>
                </a:lnTo>
                <a:lnTo>
                  <a:pt x="0" y="7236361"/>
                </a:lnTo>
                <a:lnTo>
                  <a:pt x="0" y="0"/>
                </a:lnTo>
                <a:close/>
              </a:path>
            </a:pathLst>
          </a:custGeom>
          <a:blipFill>
            <a:blip r:embed="rId4"/>
            <a:stretch>
              <a:fillRect/>
            </a:stretch>
          </a:blipFill>
          <a:ln w="38100" cap="sq">
            <a:solidFill>
              <a:srgbClr val="38B6FF"/>
            </a:solidFill>
            <a:prstDash val="solid"/>
            <a:miter/>
          </a:ln>
        </p:spPr>
        <p:txBody>
          <a:bodyPr/>
          <a:lstStyle/>
          <a:p>
            <a:endParaRPr lang="en-US"/>
          </a:p>
        </p:txBody>
      </p:sp>
      <p:sp>
        <p:nvSpPr>
          <p:cNvPr id="5" name="TextBox 5"/>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6" name="TextBox 6"/>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7" name="TextBox 7"/>
          <p:cNvSpPr txBox="1"/>
          <p:nvPr/>
        </p:nvSpPr>
        <p:spPr>
          <a:xfrm>
            <a:off x="1076985" y="942975"/>
            <a:ext cx="6214395" cy="780115"/>
          </a:xfrm>
          <a:prstGeom prst="rect">
            <a:avLst/>
          </a:prstGeom>
        </p:spPr>
        <p:txBody>
          <a:bodyPr lIns="0" tIns="0" rIns="0" bIns="0" rtlCol="0" anchor="t">
            <a:spAutoFit/>
          </a:bodyPr>
          <a:lstStyle/>
          <a:p>
            <a:pPr algn="just">
              <a:lnSpc>
                <a:spcPts val="6411"/>
              </a:lnSpc>
              <a:spcBef>
                <a:spcPct val="0"/>
              </a:spcBef>
            </a:pPr>
            <a:r>
              <a:rPr lang="en-US" sz="4579" b="1">
                <a:solidFill>
                  <a:srgbClr val="FFFFFF"/>
                </a:solidFill>
                <a:latin typeface="DM Sans Bold"/>
                <a:ea typeface="DM Sans Bold"/>
                <a:cs typeface="DM Sans Bold"/>
                <a:sym typeface="DM Sans Bold"/>
              </a:rPr>
              <a:t>\&gt; INVOKE-WHOAMI</a:t>
            </a:r>
          </a:p>
        </p:txBody>
      </p:sp>
      <p:sp>
        <p:nvSpPr>
          <p:cNvPr id="8" name="TextBox 8"/>
          <p:cNvSpPr txBox="1"/>
          <p:nvPr/>
        </p:nvSpPr>
        <p:spPr>
          <a:xfrm>
            <a:off x="1423030" y="2116348"/>
            <a:ext cx="7263770" cy="7145610"/>
          </a:xfrm>
          <a:prstGeom prst="rect">
            <a:avLst/>
          </a:prstGeom>
        </p:spPr>
        <p:txBody>
          <a:bodyPr wrap="square" lIns="0" tIns="0" rIns="0" bIns="0" rtlCol="0" anchor="t">
            <a:spAutoFit/>
          </a:bodyPr>
          <a:lstStyle/>
          <a:p>
            <a:pPr algn="just">
              <a:lnSpc>
                <a:spcPts val="4000"/>
              </a:lnSpc>
            </a:pPr>
            <a:r>
              <a:rPr lang="en-US" sz="2522" dirty="0">
                <a:solidFill>
                  <a:srgbClr val="FFFFFF"/>
                </a:solidFill>
                <a:latin typeface="DM Sans"/>
                <a:ea typeface="DM Sans"/>
                <a:cs typeface="DM Sans"/>
                <a:sym typeface="DM Sans"/>
              </a:rPr>
              <a:t>Name = </a:t>
            </a:r>
            <a:r>
              <a:rPr lang="en-US" sz="2522" b="1" dirty="0">
                <a:solidFill>
                  <a:srgbClr val="FFFFFF"/>
                </a:solidFill>
                <a:latin typeface="DM Sans Bold"/>
                <a:ea typeface="DM Sans Bold"/>
                <a:cs typeface="DM Sans Bold"/>
                <a:sym typeface="DM Sans Bold"/>
              </a:rPr>
              <a:t>Tyler Jacob</a:t>
            </a:r>
            <a:r>
              <a:rPr lang="en-US" sz="2522" dirty="0">
                <a:solidFill>
                  <a:srgbClr val="FFFFFF"/>
                </a:solidFill>
                <a:latin typeface="DM Sans"/>
                <a:ea typeface="DM Sans"/>
                <a:cs typeface="DM Sans"/>
                <a:sym typeface="DM Sans"/>
              </a:rPr>
              <a:t>s</a:t>
            </a:r>
          </a:p>
          <a:p>
            <a:pPr algn="just">
              <a:lnSpc>
                <a:spcPts val="4000"/>
              </a:lnSpc>
            </a:pPr>
            <a:r>
              <a:rPr lang="en-US" sz="2522" dirty="0">
                <a:solidFill>
                  <a:srgbClr val="FFFFFF"/>
                </a:solidFill>
                <a:latin typeface="DM Sans"/>
                <a:ea typeface="DM Sans"/>
                <a:cs typeface="DM Sans"/>
                <a:sym typeface="DM Sans"/>
              </a:rPr>
              <a:t>Alias = </a:t>
            </a:r>
            <a:r>
              <a:rPr lang="en-US" sz="2522" dirty="0" err="1">
                <a:solidFill>
                  <a:srgbClr val="FFFFFF"/>
                </a:solidFill>
                <a:latin typeface="DM Sans"/>
                <a:ea typeface="DM Sans"/>
                <a:cs typeface="DM Sans"/>
                <a:sym typeface="DM Sans"/>
              </a:rPr>
              <a:t>Poolmanjim</a:t>
            </a:r>
            <a:r>
              <a:rPr lang="en-US" sz="2522" dirty="0">
                <a:solidFill>
                  <a:srgbClr val="FFFFFF"/>
                </a:solidFill>
                <a:latin typeface="DM Sans"/>
                <a:ea typeface="DM Sans"/>
                <a:cs typeface="DM Sans"/>
                <a:sym typeface="DM Sans"/>
              </a:rPr>
              <a:t>, </a:t>
            </a:r>
            <a:r>
              <a:rPr lang="en-US" sz="2522" dirty="0" err="1">
                <a:solidFill>
                  <a:srgbClr val="FFFFFF"/>
                </a:solidFill>
                <a:latin typeface="DM Sans"/>
                <a:ea typeface="DM Sans"/>
                <a:cs typeface="DM Sans"/>
                <a:sym typeface="DM Sans"/>
              </a:rPr>
              <a:t>ActiveDirectoryKC</a:t>
            </a:r>
            <a:endParaRPr lang="en-US" sz="2522" dirty="0">
              <a:solidFill>
                <a:srgbClr val="FFFFFF"/>
              </a:solidFill>
              <a:latin typeface="DM Sans"/>
              <a:ea typeface="DM Sans"/>
              <a:cs typeface="DM Sans"/>
              <a:sym typeface="DM Sans"/>
            </a:endParaRPr>
          </a:p>
          <a:p>
            <a:pPr algn="just">
              <a:lnSpc>
                <a:spcPts val="4000"/>
              </a:lnSpc>
            </a:pPr>
            <a:r>
              <a:rPr lang="en-US" sz="2522" dirty="0">
                <a:solidFill>
                  <a:srgbClr val="FFFFFF"/>
                </a:solidFill>
                <a:latin typeface="DM Sans"/>
                <a:ea typeface="DM Sans"/>
                <a:cs typeface="DM Sans"/>
                <a:sym typeface="DM Sans"/>
              </a:rPr>
              <a:t>Job = @{</a:t>
            </a:r>
          </a:p>
          <a:p>
            <a:pPr algn="just">
              <a:lnSpc>
                <a:spcPts val="4000"/>
              </a:lnSpc>
            </a:pPr>
            <a:r>
              <a:rPr lang="en-US" sz="2522" dirty="0">
                <a:solidFill>
                  <a:srgbClr val="FFFFFF"/>
                </a:solidFill>
                <a:latin typeface="DM Sans"/>
                <a:ea typeface="DM Sans"/>
                <a:cs typeface="DM Sans"/>
                <a:sym typeface="DM Sans"/>
              </a:rPr>
              <a:t>    Title = Principal Security Engineer - Identity</a:t>
            </a:r>
          </a:p>
          <a:p>
            <a:pPr algn="just">
              <a:lnSpc>
                <a:spcPts val="4000"/>
              </a:lnSpc>
            </a:pPr>
            <a:r>
              <a:rPr lang="en-US" sz="2522" dirty="0">
                <a:solidFill>
                  <a:srgbClr val="FFFFFF"/>
                </a:solidFill>
                <a:latin typeface="DM Sans"/>
                <a:ea typeface="DM Sans"/>
                <a:cs typeface="DM Sans"/>
                <a:sym typeface="DM Sans"/>
              </a:rPr>
              <a:t>    Organization = </a:t>
            </a:r>
            <a:r>
              <a:rPr lang="en-US" sz="2522" dirty="0" err="1">
                <a:solidFill>
                  <a:srgbClr val="FFFFFF"/>
                </a:solidFill>
                <a:latin typeface="DM Sans"/>
                <a:ea typeface="DM Sans"/>
                <a:cs typeface="DM Sans"/>
                <a:sym typeface="DM Sans"/>
              </a:rPr>
              <a:t>Type.UndisclosedHealthCare</a:t>
            </a:r>
            <a:endParaRPr lang="en-US" sz="2522" dirty="0">
              <a:solidFill>
                <a:srgbClr val="FFFFFF"/>
              </a:solidFill>
              <a:latin typeface="DM Sans"/>
              <a:ea typeface="DM Sans"/>
              <a:cs typeface="DM Sans"/>
              <a:sym typeface="DM Sans"/>
            </a:endParaRPr>
          </a:p>
          <a:p>
            <a:pPr algn="just">
              <a:lnSpc>
                <a:spcPts val="4000"/>
              </a:lnSpc>
            </a:pPr>
            <a:r>
              <a:rPr lang="en-US" sz="2522" dirty="0">
                <a:solidFill>
                  <a:srgbClr val="FFFFFF"/>
                </a:solidFill>
                <a:latin typeface="DM Sans"/>
                <a:ea typeface="DM Sans"/>
                <a:cs typeface="DM Sans"/>
                <a:sym typeface="DM Sans"/>
              </a:rPr>
              <a:t>    Experience = Get-Random –Min 15 –Max 20</a:t>
            </a:r>
          </a:p>
          <a:p>
            <a:pPr algn="just">
              <a:lnSpc>
                <a:spcPts val="4000"/>
              </a:lnSpc>
            </a:pPr>
            <a:r>
              <a:rPr lang="en-US" sz="2522" dirty="0">
                <a:solidFill>
                  <a:srgbClr val="FFFFFF"/>
                </a:solidFill>
                <a:latin typeface="DM Sans"/>
                <a:ea typeface="DM Sans"/>
                <a:cs typeface="DM Sans"/>
                <a:sym typeface="DM Sans"/>
              </a:rPr>
              <a:t>}</a:t>
            </a:r>
          </a:p>
          <a:p>
            <a:pPr algn="just">
              <a:lnSpc>
                <a:spcPts val="4000"/>
              </a:lnSpc>
            </a:pPr>
            <a:r>
              <a:rPr lang="en-US" sz="2522" dirty="0">
                <a:solidFill>
                  <a:srgbClr val="FFFFFF"/>
                </a:solidFill>
                <a:latin typeface="DM Sans"/>
                <a:ea typeface="DM Sans"/>
                <a:cs typeface="DM Sans"/>
                <a:sym typeface="DM Sans"/>
              </a:rPr>
              <a:t>Contact Info = @{ </a:t>
            </a:r>
          </a:p>
          <a:p>
            <a:pPr algn="just">
              <a:lnSpc>
                <a:spcPts val="4000"/>
              </a:lnSpc>
            </a:pPr>
            <a:r>
              <a:rPr lang="en-US" sz="2522" dirty="0">
                <a:solidFill>
                  <a:srgbClr val="FFFFFF"/>
                </a:solidFill>
                <a:latin typeface="DM Sans"/>
                <a:ea typeface="DM Sans"/>
                <a:cs typeface="DM Sans"/>
                <a:sym typeface="DM Sans"/>
              </a:rPr>
              <a:t>    Discord = </a:t>
            </a:r>
            <a:r>
              <a:rPr lang="en-US" sz="2522" b="1" dirty="0">
                <a:solidFill>
                  <a:srgbClr val="FFFFFF"/>
                </a:solidFill>
                <a:latin typeface="DM Sans"/>
                <a:ea typeface="DM Sans"/>
                <a:cs typeface="DM Sans"/>
                <a:sym typeface="DM Sans"/>
              </a:rPr>
              <a:t>@poolmanjim</a:t>
            </a:r>
          </a:p>
          <a:p>
            <a:pPr algn="just">
              <a:lnSpc>
                <a:spcPts val="4000"/>
              </a:lnSpc>
            </a:pPr>
            <a:r>
              <a:rPr lang="en-US" sz="2522" dirty="0">
                <a:solidFill>
                  <a:srgbClr val="FFFFFF"/>
                </a:solidFill>
                <a:latin typeface="DM Sans"/>
                <a:ea typeface="DM Sans"/>
                <a:cs typeface="DM Sans"/>
                <a:sym typeface="DM Sans"/>
              </a:rPr>
              <a:t>    Website = </a:t>
            </a:r>
            <a:r>
              <a:rPr lang="en-US" sz="2522" b="1" dirty="0">
                <a:solidFill>
                  <a:srgbClr val="FFFFFF"/>
                </a:solidFill>
                <a:latin typeface="DM Sans"/>
                <a:ea typeface="DM Sans"/>
                <a:cs typeface="DM Sans"/>
                <a:sym typeface="DM Sans"/>
              </a:rPr>
              <a:t>activedirectorykc.net</a:t>
            </a:r>
          </a:p>
          <a:p>
            <a:pPr algn="just">
              <a:lnSpc>
                <a:spcPts val="4000"/>
              </a:lnSpc>
            </a:pPr>
            <a:r>
              <a:rPr lang="en-US" sz="2522" dirty="0">
                <a:solidFill>
                  <a:srgbClr val="FFFFFF"/>
                </a:solidFill>
                <a:latin typeface="DM Sans"/>
                <a:ea typeface="DM Sans"/>
                <a:cs typeface="DM Sans"/>
                <a:sym typeface="DM Sans"/>
              </a:rPr>
              <a:t>    </a:t>
            </a:r>
            <a:r>
              <a:rPr lang="en-US" sz="2522" dirty="0" err="1">
                <a:solidFill>
                  <a:srgbClr val="FFFFFF"/>
                </a:solidFill>
                <a:latin typeface="DM Sans"/>
                <a:ea typeface="DM Sans"/>
                <a:cs typeface="DM Sans"/>
                <a:sym typeface="DM Sans"/>
              </a:rPr>
              <a:t>github</a:t>
            </a:r>
            <a:r>
              <a:rPr lang="en-US" sz="2522" dirty="0">
                <a:solidFill>
                  <a:srgbClr val="FFFFFF"/>
                </a:solidFill>
                <a:latin typeface="DM Sans"/>
                <a:ea typeface="DM Sans"/>
                <a:cs typeface="DM Sans"/>
                <a:sym typeface="DM Sans"/>
              </a:rPr>
              <a:t> = </a:t>
            </a:r>
            <a:r>
              <a:rPr lang="en-US" sz="2522" b="1" dirty="0">
                <a:solidFill>
                  <a:srgbClr val="FFFFFF"/>
                </a:solidFill>
                <a:latin typeface="DM Sans"/>
                <a:ea typeface="DM Sans"/>
                <a:cs typeface="DM Sans"/>
                <a:sym typeface="DM Sans"/>
              </a:rPr>
              <a:t>github.com/</a:t>
            </a:r>
            <a:r>
              <a:rPr lang="en-US" sz="2522" b="1" dirty="0" err="1">
                <a:solidFill>
                  <a:srgbClr val="FFFFFF"/>
                </a:solidFill>
                <a:latin typeface="DM Sans"/>
                <a:ea typeface="DM Sans"/>
                <a:cs typeface="DM Sans"/>
                <a:sym typeface="DM Sans"/>
              </a:rPr>
              <a:t>ActiveDirectoryKC</a:t>
            </a:r>
            <a:endParaRPr lang="en-US" sz="2522" b="1" dirty="0">
              <a:solidFill>
                <a:srgbClr val="FFFFFF"/>
              </a:solidFill>
              <a:latin typeface="DM Sans"/>
              <a:ea typeface="DM Sans"/>
              <a:cs typeface="DM Sans"/>
              <a:sym typeface="DM Sans"/>
            </a:endParaRPr>
          </a:p>
          <a:p>
            <a:pPr algn="just">
              <a:lnSpc>
                <a:spcPts val="4000"/>
              </a:lnSpc>
            </a:pPr>
            <a:r>
              <a:rPr lang="en-US" sz="2522" dirty="0">
                <a:solidFill>
                  <a:srgbClr val="FFFFFF"/>
                </a:solidFill>
                <a:latin typeface="DM Sans"/>
                <a:ea typeface="DM Sans"/>
                <a:cs typeface="DM Sans"/>
                <a:sym typeface="DM Sans"/>
              </a:rPr>
              <a:t>    Reddit = </a:t>
            </a:r>
            <a:r>
              <a:rPr lang="en-US" sz="2522" b="1" dirty="0">
                <a:solidFill>
                  <a:srgbClr val="FFFFFF"/>
                </a:solidFill>
                <a:latin typeface="DM Sans"/>
                <a:ea typeface="DM Sans"/>
                <a:cs typeface="DM Sans"/>
                <a:sym typeface="DM Sans"/>
              </a:rPr>
              <a:t>u/</a:t>
            </a:r>
            <a:r>
              <a:rPr lang="en-US" sz="2522" b="1" dirty="0" err="1">
                <a:solidFill>
                  <a:srgbClr val="FFFFFF"/>
                </a:solidFill>
                <a:latin typeface="DM Sans"/>
                <a:ea typeface="DM Sans"/>
                <a:cs typeface="DM Sans"/>
                <a:sym typeface="DM Sans"/>
              </a:rPr>
              <a:t>poolmanjim</a:t>
            </a:r>
            <a:endParaRPr lang="en-US" sz="2522" b="1" dirty="0">
              <a:solidFill>
                <a:srgbClr val="FFFFFF"/>
              </a:solidFill>
              <a:latin typeface="DM Sans"/>
              <a:ea typeface="DM Sans"/>
              <a:cs typeface="DM Sans"/>
              <a:sym typeface="DM Sans"/>
            </a:endParaRPr>
          </a:p>
          <a:p>
            <a:pPr algn="just">
              <a:lnSpc>
                <a:spcPts val="4000"/>
              </a:lnSpc>
            </a:pPr>
            <a:r>
              <a:rPr lang="en-US" sz="2522" dirty="0">
                <a:solidFill>
                  <a:srgbClr val="FFFFFF"/>
                </a:solidFill>
                <a:latin typeface="DM Sans"/>
                <a:ea typeface="DM Sans"/>
                <a:cs typeface="DM Sans"/>
                <a:sym typeface="DM Sans"/>
              </a:rPr>
              <a:t>}</a:t>
            </a:r>
          </a:p>
          <a:p>
            <a:pPr algn="just">
              <a:lnSpc>
                <a:spcPts val="4000"/>
              </a:lnSpc>
              <a:spcBef>
                <a:spcPct val="0"/>
              </a:spcBef>
            </a:pPr>
            <a:r>
              <a:rPr lang="en-US" sz="2522" dirty="0">
                <a:solidFill>
                  <a:srgbClr val="FFFFFF"/>
                </a:solidFill>
                <a:latin typeface="DM Sans"/>
                <a:ea typeface="DM Sans"/>
                <a:cs typeface="DM Sans"/>
                <a:sym typeface="DM Sans"/>
              </a:rPr>
              <a:t>Interests = Identity, </a:t>
            </a:r>
            <a:r>
              <a:rPr lang="en-US" sz="2522" dirty="0" err="1">
                <a:solidFill>
                  <a:srgbClr val="FFFFFF"/>
                </a:solidFill>
                <a:latin typeface="DM Sans"/>
                <a:ea typeface="DM Sans"/>
                <a:cs typeface="DM Sans"/>
                <a:sym typeface="DM Sans"/>
              </a:rPr>
              <a:t>Homelab</a:t>
            </a:r>
            <a:r>
              <a:rPr lang="en-US" sz="2522" dirty="0">
                <a:solidFill>
                  <a:srgbClr val="FFFFFF"/>
                </a:solidFill>
                <a:latin typeface="DM Sans"/>
                <a:ea typeface="DM Sans"/>
                <a:cs typeface="DM Sans"/>
                <a:sym typeface="DM Sans"/>
              </a:rPr>
              <a:t>, TTRPGs, Gaming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684356" y="486903"/>
            <a:ext cx="4775614" cy="606425"/>
          </a:xfrm>
          <a:prstGeom prst="rect">
            <a:avLst/>
          </a:prstGeom>
        </p:spPr>
        <p:txBody>
          <a:bodyPr lIns="0" tIns="0" rIns="0" bIns="0" rtlCol="0" anchor="t">
            <a:spAutoFit/>
          </a:bodyPr>
          <a:lstStyle/>
          <a:p>
            <a:pPr marL="0" lvl="0" indent="0" algn="l">
              <a:lnSpc>
                <a:spcPts val="4900"/>
              </a:lnSpc>
              <a:spcBef>
                <a:spcPct val="0"/>
              </a:spcBef>
            </a:pPr>
            <a:r>
              <a:rPr lang="en-US" sz="3500">
                <a:solidFill>
                  <a:srgbClr val="38B6FF"/>
                </a:solidFill>
                <a:latin typeface="Anton"/>
                <a:ea typeface="Anton"/>
                <a:cs typeface="Anton"/>
                <a:sym typeface="Anton"/>
              </a:rPr>
              <a:t>WHAT’S THIS ALL ABOUT?</a:t>
            </a:r>
          </a:p>
        </p:txBody>
      </p:sp>
      <p:sp>
        <p:nvSpPr>
          <p:cNvPr id="6" name="TextBox 6"/>
          <p:cNvSpPr txBox="1"/>
          <p:nvPr/>
        </p:nvSpPr>
        <p:spPr>
          <a:xfrm>
            <a:off x="684356" y="1748479"/>
            <a:ext cx="6607024" cy="606425"/>
          </a:xfrm>
          <a:prstGeom prst="rect">
            <a:avLst/>
          </a:prstGeom>
        </p:spPr>
        <p:txBody>
          <a:bodyPr wrap="square" lIns="0" tIns="0" rIns="0" bIns="0" rtlCol="0" anchor="t">
            <a:spAutoFit/>
          </a:bodyPr>
          <a:lstStyle/>
          <a:p>
            <a:pPr algn="l">
              <a:lnSpc>
                <a:spcPts val="4900"/>
              </a:lnSpc>
              <a:spcBef>
                <a:spcPct val="0"/>
              </a:spcBef>
            </a:pPr>
            <a:r>
              <a:rPr lang="en-US" sz="3500">
                <a:solidFill>
                  <a:srgbClr val="FFFFFF"/>
                </a:solidFill>
                <a:latin typeface="DM Sans"/>
                <a:ea typeface="DM Sans"/>
                <a:cs typeface="DM Sans"/>
                <a:sym typeface="DM Sans"/>
              </a:rPr>
              <a:t>Active Directory Is not dead!</a:t>
            </a:r>
          </a:p>
        </p:txBody>
      </p:sp>
      <p:sp>
        <p:nvSpPr>
          <p:cNvPr id="7" name="TextBox 7"/>
          <p:cNvSpPr txBox="1"/>
          <p:nvPr/>
        </p:nvSpPr>
        <p:spPr>
          <a:xfrm>
            <a:off x="684356" y="3012129"/>
            <a:ext cx="3800316" cy="606425"/>
          </a:xfrm>
          <a:prstGeom prst="rect">
            <a:avLst/>
          </a:prstGeom>
        </p:spPr>
        <p:txBody>
          <a:bodyPr lIns="0" tIns="0" rIns="0" bIns="0" rtlCol="0" anchor="t">
            <a:spAutoFit/>
          </a:bodyPr>
          <a:lstStyle/>
          <a:p>
            <a:pPr algn="l">
              <a:lnSpc>
                <a:spcPts val="4900"/>
              </a:lnSpc>
              <a:spcBef>
                <a:spcPct val="0"/>
              </a:spcBef>
            </a:pPr>
            <a:r>
              <a:rPr lang="en-US" sz="3500">
                <a:solidFill>
                  <a:srgbClr val="FFFFFF"/>
                </a:solidFill>
                <a:latin typeface="DM Sans"/>
                <a:ea typeface="DM Sans"/>
                <a:cs typeface="DM Sans"/>
                <a:sym typeface="DM Sans"/>
              </a:rPr>
              <a:t>Security isn’t free. </a:t>
            </a:r>
          </a:p>
        </p:txBody>
      </p:sp>
      <p:sp>
        <p:nvSpPr>
          <p:cNvPr id="8" name="TextBox 8"/>
          <p:cNvSpPr txBox="1"/>
          <p:nvPr/>
        </p:nvSpPr>
        <p:spPr>
          <a:xfrm>
            <a:off x="684356" y="4275779"/>
            <a:ext cx="6016149" cy="606425"/>
          </a:xfrm>
          <a:prstGeom prst="rect">
            <a:avLst/>
          </a:prstGeom>
        </p:spPr>
        <p:txBody>
          <a:bodyPr lIns="0" tIns="0" rIns="0" bIns="0" rtlCol="0" anchor="t">
            <a:spAutoFit/>
          </a:bodyPr>
          <a:lstStyle/>
          <a:p>
            <a:pPr algn="l">
              <a:lnSpc>
                <a:spcPts val="4900"/>
              </a:lnSpc>
              <a:spcBef>
                <a:spcPct val="0"/>
              </a:spcBef>
            </a:pPr>
            <a:r>
              <a:rPr lang="en-US" sz="3500">
                <a:solidFill>
                  <a:srgbClr val="FFFFFF"/>
                </a:solidFill>
                <a:latin typeface="DM Sans"/>
                <a:ea typeface="DM Sans"/>
                <a:cs typeface="DM Sans"/>
                <a:sym typeface="DM Sans"/>
              </a:rPr>
              <a:t>We have to start somewhere.</a:t>
            </a:r>
          </a:p>
        </p:txBody>
      </p:sp>
      <p:sp>
        <p:nvSpPr>
          <p:cNvPr id="9" name="TextBox 9"/>
          <p:cNvSpPr txBox="1"/>
          <p:nvPr/>
        </p:nvSpPr>
        <p:spPr>
          <a:xfrm>
            <a:off x="684355" y="5539429"/>
            <a:ext cx="6016149" cy="606425"/>
          </a:xfrm>
          <a:prstGeom prst="rect">
            <a:avLst/>
          </a:prstGeom>
        </p:spPr>
        <p:txBody>
          <a:bodyPr wrap="square" lIns="0" tIns="0" rIns="0" bIns="0" rtlCol="0" anchor="t">
            <a:spAutoFit/>
          </a:bodyPr>
          <a:lstStyle/>
          <a:p>
            <a:pPr algn="l">
              <a:lnSpc>
                <a:spcPts val="4900"/>
              </a:lnSpc>
              <a:spcBef>
                <a:spcPct val="0"/>
              </a:spcBef>
            </a:pPr>
            <a:r>
              <a:rPr lang="en-US" sz="3500">
                <a:solidFill>
                  <a:srgbClr val="FFFFFF"/>
                </a:solidFill>
                <a:latin typeface="DM Sans"/>
                <a:ea typeface="DM Sans"/>
                <a:cs typeface="DM Sans"/>
                <a:sym typeface="DM Sans"/>
              </a:rPr>
              <a:t>Not overcomplicated.</a:t>
            </a:r>
          </a:p>
        </p:txBody>
      </p:sp>
      <p:grpSp>
        <p:nvGrpSpPr>
          <p:cNvPr id="10" name="Group 10"/>
          <p:cNvGrpSpPr/>
          <p:nvPr/>
        </p:nvGrpSpPr>
        <p:grpSpPr>
          <a:xfrm>
            <a:off x="9893446" y="1576564"/>
            <a:ext cx="6581273" cy="5925341"/>
            <a:chOff x="-1074041" y="-76200"/>
            <a:chExt cx="8775029" cy="7900455"/>
          </a:xfrm>
        </p:grpSpPr>
        <p:grpSp>
          <p:nvGrpSpPr>
            <p:cNvPr id="11" name="Group 11"/>
            <p:cNvGrpSpPr/>
            <p:nvPr/>
          </p:nvGrpSpPr>
          <p:grpSpPr>
            <a:xfrm>
              <a:off x="0" y="1091489"/>
              <a:ext cx="6745825" cy="5902597"/>
              <a:chOff x="0" y="0"/>
              <a:chExt cx="812800" cy="711200"/>
            </a:xfrm>
          </p:grpSpPr>
          <p:sp>
            <p:nvSpPr>
              <p:cNvPr id="12" name="Freeform 12"/>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2F7BD1"/>
              </a:solidFill>
            </p:spPr>
            <p:txBody>
              <a:bodyPr/>
              <a:lstStyle/>
              <a:p>
                <a:endParaRPr lang="en-US"/>
              </a:p>
            </p:txBody>
          </p:sp>
          <p:sp>
            <p:nvSpPr>
              <p:cNvPr id="13" name="TextBox 13"/>
              <p:cNvSpPr txBox="1"/>
              <p:nvPr/>
            </p:nvSpPr>
            <p:spPr>
              <a:xfrm>
                <a:off x="127000" y="301625"/>
                <a:ext cx="558800" cy="358775"/>
              </a:xfrm>
              <a:prstGeom prst="rect">
                <a:avLst/>
              </a:prstGeom>
            </p:spPr>
            <p:txBody>
              <a:bodyPr lIns="50800" tIns="50800" rIns="50800" bIns="50800" rtlCol="0" anchor="ctr"/>
              <a:lstStyle/>
              <a:p>
                <a:pPr algn="ctr">
                  <a:lnSpc>
                    <a:spcPts val="2045"/>
                  </a:lnSpc>
                </a:pPr>
                <a:endParaRPr/>
              </a:p>
            </p:txBody>
          </p:sp>
        </p:grpSp>
        <p:sp>
          <p:nvSpPr>
            <p:cNvPr id="14" name="TextBox 14"/>
            <p:cNvSpPr txBox="1"/>
            <p:nvPr/>
          </p:nvSpPr>
          <p:spPr>
            <a:xfrm>
              <a:off x="2228113" y="-76200"/>
              <a:ext cx="2289598" cy="891166"/>
            </a:xfrm>
            <a:prstGeom prst="rect">
              <a:avLst/>
            </a:prstGeom>
          </p:spPr>
          <p:txBody>
            <a:bodyPr lIns="0" tIns="0" rIns="0" bIns="0" rtlCol="0" anchor="t">
              <a:spAutoFit/>
            </a:bodyPr>
            <a:lstStyle/>
            <a:p>
              <a:pPr algn="ctr">
                <a:lnSpc>
                  <a:spcPts val="5685"/>
                </a:lnSpc>
                <a:spcBef>
                  <a:spcPct val="0"/>
                </a:spcBef>
              </a:pPr>
              <a:r>
                <a:rPr lang="en-US" sz="4061" b="1">
                  <a:solidFill>
                    <a:srgbClr val="FFFFFF"/>
                  </a:solidFill>
                  <a:latin typeface="DM Sans Bold"/>
                  <a:ea typeface="DM Sans Bold"/>
                  <a:cs typeface="DM Sans Bold"/>
                  <a:sym typeface="DM Sans Bold"/>
                </a:rPr>
                <a:t>CHEAP</a:t>
              </a:r>
            </a:p>
          </p:txBody>
        </p:sp>
        <p:sp>
          <p:nvSpPr>
            <p:cNvPr id="15" name="TextBox 15"/>
            <p:cNvSpPr txBox="1"/>
            <p:nvPr/>
          </p:nvSpPr>
          <p:spPr>
            <a:xfrm>
              <a:off x="-1074041" y="6933090"/>
              <a:ext cx="2108412" cy="891165"/>
            </a:xfrm>
            <a:prstGeom prst="rect">
              <a:avLst/>
            </a:prstGeom>
          </p:spPr>
          <p:txBody>
            <a:bodyPr lIns="0" tIns="0" rIns="0" bIns="0" rtlCol="0" anchor="t">
              <a:spAutoFit/>
            </a:bodyPr>
            <a:lstStyle/>
            <a:p>
              <a:pPr algn="ctr">
                <a:lnSpc>
                  <a:spcPts val="5685"/>
                </a:lnSpc>
                <a:spcBef>
                  <a:spcPct val="0"/>
                </a:spcBef>
              </a:pPr>
              <a:r>
                <a:rPr lang="en-US" sz="4061" b="1">
                  <a:solidFill>
                    <a:srgbClr val="FFFFFF"/>
                  </a:solidFill>
                  <a:latin typeface="DM Sans Bold"/>
                  <a:ea typeface="DM Sans Bold"/>
                  <a:cs typeface="DM Sans Bold"/>
                  <a:sym typeface="DM Sans Bold"/>
                </a:rPr>
                <a:t>GOOD</a:t>
              </a:r>
            </a:p>
          </p:txBody>
        </p:sp>
        <p:sp>
          <p:nvSpPr>
            <p:cNvPr id="16" name="TextBox 16"/>
            <p:cNvSpPr txBox="1"/>
            <p:nvPr/>
          </p:nvSpPr>
          <p:spPr>
            <a:xfrm>
              <a:off x="5790659" y="6844055"/>
              <a:ext cx="1910329" cy="929400"/>
            </a:xfrm>
            <a:prstGeom prst="rect">
              <a:avLst/>
            </a:prstGeom>
          </p:spPr>
          <p:txBody>
            <a:bodyPr wrap="square" lIns="0" tIns="0" rIns="0" bIns="0" rtlCol="0" anchor="t">
              <a:spAutoFit/>
            </a:bodyPr>
            <a:lstStyle/>
            <a:p>
              <a:pPr algn="ctr">
                <a:lnSpc>
                  <a:spcPts val="5685"/>
                </a:lnSpc>
                <a:spcBef>
                  <a:spcPct val="0"/>
                </a:spcBef>
              </a:pPr>
              <a:r>
                <a:rPr lang="en-US" sz="4061" b="1">
                  <a:solidFill>
                    <a:srgbClr val="FFFFFF"/>
                  </a:solidFill>
                  <a:latin typeface="DM Sans Bold"/>
                  <a:ea typeface="DM Sans Bold"/>
                  <a:cs typeface="DM Sans Bold"/>
                  <a:sym typeface="DM Sans Bold"/>
                </a:rPr>
                <a:t>FAST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2775099"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11285381" y="1692082"/>
            <a:ext cx="6098614" cy="4878891"/>
          </a:xfrm>
          <a:custGeom>
            <a:avLst/>
            <a:gdLst/>
            <a:ahLst/>
            <a:cxnLst/>
            <a:rect l="l" t="t" r="r" b="b"/>
            <a:pathLst>
              <a:path w="6098614" h="4878891">
                <a:moveTo>
                  <a:pt x="0" y="0"/>
                </a:moveTo>
                <a:lnTo>
                  <a:pt x="6098614" y="0"/>
                </a:lnTo>
                <a:lnTo>
                  <a:pt x="6098614" y="4878891"/>
                </a:lnTo>
                <a:lnTo>
                  <a:pt x="0" y="4878891"/>
                </a:lnTo>
                <a:lnTo>
                  <a:pt x="0" y="0"/>
                </a:lnTo>
                <a:close/>
              </a:path>
            </a:pathLst>
          </a:custGeom>
          <a:blipFill>
            <a:blip r:embed="rId3"/>
            <a:stretch>
              <a:fillRect/>
            </a:stretch>
          </a:blipFill>
          <a:ln w="38100" cap="sq">
            <a:solidFill>
              <a:srgbClr val="2F7BD1"/>
            </a:solidFill>
            <a:prstDash val="solid"/>
            <a:miter/>
          </a:ln>
        </p:spPr>
        <p:txBody>
          <a:bodyPr/>
          <a:lstStyle/>
          <a:p>
            <a:endParaRPr lang="en-US"/>
          </a:p>
        </p:txBody>
      </p:sp>
      <p:sp>
        <p:nvSpPr>
          <p:cNvPr id="4" name="TextBox 4"/>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p:cNvSpPr txBox="1"/>
          <p:nvPr/>
        </p:nvSpPr>
        <p:spPr>
          <a:xfrm>
            <a:off x="594527" y="548005"/>
            <a:ext cx="6055969" cy="480695"/>
          </a:xfrm>
          <a:prstGeom prst="rect">
            <a:avLst/>
          </a:prstGeom>
        </p:spPr>
        <p:txBody>
          <a:bodyPr lIns="0" tIns="0" rIns="0" bIns="0" rtlCol="0" anchor="t">
            <a:spAutoFit/>
          </a:bodyPr>
          <a:lstStyle/>
          <a:p>
            <a:pPr marL="0" lvl="0" indent="0" algn="l">
              <a:lnSpc>
                <a:spcPts val="3640"/>
              </a:lnSpc>
            </a:pPr>
            <a:r>
              <a:rPr lang="en-US" sz="3500">
                <a:solidFill>
                  <a:srgbClr val="38B6FF"/>
                </a:solidFill>
                <a:latin typeface="Anton"/>
                <a:ea typeface="Anton"/>
                <a:cs typeface="Anton"/>
                <a:sym typeface="Anton"/>
              </a:rPr>
              <a:t>DISCLAIMERS / WHAT IS THIS NOT?</a:t>
            </a:r>
          </a:p>
        </p:txBody>
      </p:sp>
      <p:sp>
        <p:nvSpPr>
          <p:cNvPr id="7" name="TextBox 7"/>
          <p:cNvSpPr txBox="1"/>
          <p:nvPr/>
        </p:nvSpPr>
        <p:spPr>
          <a:xfrm>
            <a:off x="594527" y="1359417"/>
            <a:ext cx="10413803" cy="5477547"/>
          </a:xfrm>
          <a:prstGeom prst="rect">
            <a:avLst/>
          </a:prstGeom>
        </p:spPr>
        <p:txBody>
          <a:bodyPr lIns="0" tIns="0" rIns="0" bIns="0" rtlCol="0" anchor="t">
            <a:spAutoFit/>
          </a:bodyPr>
          <a:lstStyle/>
          <a:p>
            <a:pPr marL="682472" lvl="1" indent="-341236" algn="just">
              <a:lnSpc>
                <a:spcPts val="4425"/>
              </a:lnSpc>
              <a:buFont typeface="Arial"/>
              <a:buChar char="•"/>
            </a:pPr>
            <a:r>
              <a:rPr lang="en-US" sz="3161">
                <a:solidFill>
                  <a:srgbClr val="FFFFFF"/>
                </a:solidFill>
                <a:latin typeface="DM Sans"/>
                <a:ea typeface="DM Sans"/>
                <a:cs typeface="DM Sans"/>
                <a:sym typeface="DM Sans"/>
              </a:rPr>
              <a:t>Tools may trip EDR/AV...</a:t>
            </a:r>
          </a:p>
          <a:p>
            <a:pPr algn="just">
              <a:lnSpc>
                <a:spcPts val="4425"/>
              </a:lnSpc>
            </a:pPr>
            <a:endParaRPr lang="en-US" sz="3161">
              <a:solidFill>
                <a:srgbClr val="FFFFFF"/>
              </a:solidFill>
              <a:latin typeface="DM Sans"/>
              <a:ea typeface="DM Sans"/>
              <a:cs typeface="DM Sans"/>
              <a:sym typeface="DM Sans"/>
            </a:endParaRPr>
          </a:p>
          <a:p>
            <a:pPr marL="682472" lvl="1" indent="-341236" algn="just">
              <a:lnSpc>
                <a:spcPts val="4425"/>
              </a:lnSpc>
              <a:buFont typeface="Arial"/>
              <a:buChar char="•"/>
            </a:pPr>
            <a:r>
              <a:rPr lang="en-US" sz="3161">
                <a:solidFill>
                  <a:srgbClr val="FFFFFF"/>
                </a:solidFill>
                <a:latin typeface="DM Sans"/>
                <a:ea typeface="DM Sans"/>
                <a:cs typeface="DM Sans"/>
                <a:sym typeface="DM Sans"/>
              </a:rPr>
              <a:t>Most Tools Free - some aren’t</a:t>
            </a:r>
          </a:p>
          <a:p>
            <a:pPr marL="1036320" lvl="2" indent="-345440" algn="just">
              <a:lnSpc>
                <a:spcPts val="3359"/>
              </a:lnSpc>
              <a:buFont typeface="Arial"/>
              <a:buChar char="⚬"/>
            </a:pPr>
            <a:r>
              <a:rPr lang="en-US" sz="2400">
                <a:solidFill>
                  <a:srgbClr val="FFFFFF"/>
                </a:solidFill>
                <a:latin typeface="DM Sans"/>
                <a:ea typeface="DM Sans"/>
                <a:cs typeface="DM Sans"/>
                <a:sym typeface="DM Sans"/>
              </a:rPr>
              <a:t>I don’t work for them</a:t>
            </a:r>
          </a:p>
          <a:p>
            <a:pPr algn="just">
              <a:lnSpc>
                <a:spcPts val="4425"/>
              </a:lnSpc>
            </a:pPr>
            <a:endParaRPr lang="en-US" sz="2400">
              <a:solidFill>
                <a:srgbClr val="FFFFFF"/>
              </a:solidFill>
              <a:latin typeface="DM Sans"/>
              <a:ea typeface="DM Sans"/>
              <a:cs typeface="DM Sans"/>
              <a:sym typeface="DM Sans"/>
            </a:endParaRPr>
          </a:p>
          <a:p>
            <a:pPr marL="682472" lvl="1" indent="-341236" algn="just">
              <a:lnSpc>
                <a:spcPts val="4425"/>
              </a:lnSpc>
              <a:buFont typeface="Arial"/>
              <a:buChar char="•"/>
            </a:pPr>
            <a:r>
              <a:rPr lang="en-US" sz="3161">
                <a:solidFill>
                  <a:srgbClr val="FFFFFF"/>
                </a:solidFill>
                <a:latin typeface="DM Sans"/>
                <a:ea typeface="DM Sans"/>
                <a:cs typeface="DM Sans"/>
                <a:sym typeface="DM Sans"/>
              </a:rPr>
              <a:t>Free tools often require emails*</a:t>
            </a:r>
          </a:p>
          <a:p>
            <a:pPr algn="just">
              <a:lnSpc>
                <a:spcPts val="4425"/>
              </a:lnSpc>
            </a:pPr>
            <a:endParaRPr lang="en-US" sz="3161">
              <a:solidFill>
                <a:srgbClr val="FFFFFF"/>
              </a:solidFill>
              <a:latin typeface="DM Sans"/>
              <a:ea typeface="DM Sans"/>
              <a:cs typeface="DM Sans"/>
              <a:sym typeface="DM Sans"/>
            </a:endParaRPr>
          </a:p>
          <a:p>
            <a:pPr marL="682472" lvl="1" indent="-341236" algn="just">
              <a:lnSpc>
                <a:spcPts val="4425"/>
              </a:lnSpc>
              <a:buFont typeface="Arial"/>
              <a:buChar char="•"/>
            </a:pPr>
            <a:r>
              <a:rPr lang="en-US" sz="3161">
                <a:solidFill>
                  <a:srgbClr val="FFFFFF"/>
                </a:solidFill>
                <a:latin typeface="DM Sans"/>
                <a:ea typeface="DM Sans"/>
                <a:cs typeface="DM Sans"/>
                <a:sym typeface="DM Sans"/>
              </a:rPr>
              <a:t>Opinions are mine</a:t>
            </a:r>
          </a:p>
          <a:p>
            <a:pPr algn="just">
              <a:lnSpc>
                <a:spcPts val="4425"/>
              </a:lnSpc>
            </a:pPr>
            <a:endParaRPr lang="en-US" sz="3161">
              <a:solidFill>
                <a:srgbClr val="FFFFFF"/>
              </a:solidFill>
              <a:latin typeface="DM Sans"/>
              <a:ea typeface="DM Sans"/>
              <a:cs typeface="DM Sans"/>
              <a:sym typeface="DM Sans"/>
            </a:endParaRPr>
          </a:p>
          <a:p>
            <a:pPr marL="682472" lvl="1" indent="-341236" algn="just">
              <a:lnSpc>
                <a:spcPts val="4425"/>
              </a:lnSpc>
              <a:buFont typeface="Arial"/>
              <a:buChar char="•"/>
            </a:pPr>
            <a:r>
              <a:rPr lang="en-US" sz="3161">
                <a:solidFill>
                  <a:srgbClr val="FFFFFF"/>
                </a:solidFill>
                <a:latin typeface="DM Sans"/>
                <a:ea typeface="DM Sans"/>
                <a:cs typeface="DM Sans"/>
                <a:sym typeface="DM Sans"/>
              </a:rPr>
              <a:t>Not an exhaustive list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allAtOnce"/>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666" b="-666"/>
            </a:stretch>
          </a:blipFill>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AutoShape 4"/>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p:cNvSpPr txBox="1"/>
          <p:nvPr/>
        </p:nvSpPr>
        <p:spPr>
          <a:xfrm>
            <a:off x="7589023" y="5039682"/>
            <a:ext cx="9670277" cy="2277740"/>
          </a:xfrm>
          <a:prstGeom prst="rect">
            <a:avLst/>
          </a:prstGeom>
        </p:spPr>
        <p:txBody>
          <a:bodyPr lIns="0" tIns="0" rIns="0" bIns="0" rtlCol="0" anchor="t">
            <a:spAutoFit/>
          </a:bodyPr>
          <a:lstStyle/>
          <a:p>
            <a:pPr marL="0" lvl="0" indent="0" algn="l">
              <a:lnSpc>
                <a:spcPts val="8839"/>
              </a:lnSpc>
            </a:pPr>
            <a:r>
              <a:rPr lang="en-US" sz="8499">
                <a:solidFill>
                  <a:srgbClr val="FFFFFF"/>
                </a:solidFill>
                <a:latin typeface="Anton"/>
                <a:ea typeface="Anton"/>
                <a:cs typeface="Anton"/>
                <a:sym typeface="Anton"/>
              </a:rPr>
              <a:t>THE GHOST OF BACKUPS ARE EXPENSIVE</a:t>
            </a:r>
          </a:p>
        </p:txBody>
      </p:sp>
      <p:sp>
        <p:nvSpPr>
          <p:cNvPr id="7" name="TextBox 7"/>
          <p:cNvSpPr txBox="1"/>
          <p:nvPr/>
        </p:nvSpPr>
        <p:spPr>
          <a:xfrm>
            <a:off x="7589023" y="7723251"/>
            <a:ext cx="6582533" cy="1535049"/>
          </a:xfrm>
          <a:prstGeom prst="rect">
            <a:avLst/>
          </a:prstGeom>
        </p:spPr>
        <p:txBody>
          <a:bodyPr lIns="0" tIns="0" rIns="0" bIns="0" rtlCol="0" anchor="t">
            <a:spAutoFit/>
          </a:bodyPr>
          <a:lstStyle/>
          <a:p>
            <a:pPr marL="0" lvl="0" indent="0" algn="l">
              <a:lnSpc>
                <a:spcPts val="5928"/>
              </a:lnSpc>
            </a:pPr>
            <a:r>
              <a:rPr lang="en-US" sz="5700">
                <a:solidFill>
                  <a:srgbClr val="38B6FF"/>
                </a:solidFill>
                <a:latin typeface="DM Sans"/>
                <a:ea typeface="DM Sans"/>
                <a:cs typeface="DM Sans"/>
                <a:sym typeface="DM Sans"/>
              </a:rPr>
              <a:t>Business Resilience &amp; BCDR</a:t>
            </a:r>
          </a:p>
        </p:txBody>
      </p:sp>
      <p:sp>
        <p:nvSpPr>
          <p:cNvPr id="8" name="Freeform 8"/>
          <p:cNvSpPr/>
          <p:nvPr/>
        </p:nvSpPr>
        <p:spPr>
          <a:xfrm>
            <a:off x="382747" y="438294"/>
            <a:ext cx="6095662" cy="4059533"/>
          </a:xfrm>
          <a:custGeom>
            <a:avLst/>
            <a:gdLst/>
            <a:ahLst/>
            <a:cxnLst/>
            <a:rect l="l" t="t" r="r" b="b"/>
            <a:pathLst>
              <a:path w="6095662" h="4059533">
                <a:moveTo>
                  <a:pt x="0" y="0"/>
                </a:moveTo>
                <a:lnTo>
                  <a:pt x="6095662" y="0"/>
                </a:lnTo>
                <a:lnTo>
                  <a:pt x="6095662" y="4059533"/>
                </a:lnTo>
                <a:lnTo>
                  <a:pt x="0" y="4059533"/>
                </a:lnTo>
                <a:lnTo>
                  <a:pt x="0" y="0"/>
                </a:lnTo>
                <a:close/>
              </a:path>
            </a:pathLst>
          </a:custGeom>
          <a:blipFill>
            <a:blip r:embed="rId4"/>
            <a:stretch>
              <a:fillRect/>
            </a:stretch>
          </a:blipFill>
          <a:ln w="38100" cap="sq">
            <a:solidFill>
              <a:srgbClr val="38B6FF"/>
            </a:solidFill>
            <a:prstDash val="solid"/>
            <a:miter/>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852797" y="4548151"/>
            <a:ext cx="7148203" cy="611386"/>
          </a:xfrm>
          <a:prstGeom prst="rect">
            <a:avLst/>
          </a:prstGeom>
        </p:spPr>
        <p:txBody>
          <a:bodyPr wrap="square" lIns="0" tIns="0" rIns="0" bIns="0" rtlCol="0" anchor="t">
            <a:spAutoFit/>
          </a:bodyPr>
          <a:lstStyle/>
          <a:p>
            <a:pPr algn="ctr">
              <a:lnSpc>
                <a:spcPts val="4985"/>
              </a:lnSpc>
              <a:spcBef>
                <a:spcPct val="0"/>
              </a:spcBef>
            </a:pPr>
            <a:r>
              <a:rPr lang="en-US" sz="3561" b="1">
                <a:solidFill>
                  <a:srgbClr val="FFFFFF"/>
                </a:solidFill>
                <a:latin typeface="DM Sans Bold"/>
                <a:ea typeface="DM Sans Bold"/>
                <a:cs typeface="DM Sans Bold"/>
                <a:sym typeface="DM Sans Bold"/>
              </a:rPr>
              <a:t>Go from “Oh S***” to “Okay?”</a:t>
            </a:r>
          </a:p>
        </p:txBody>
      </p:sp>
      <p:sp>
        <p:nvSpPr>
          <p:cNvPr id="4" name="Freeform 4"/>
          <p:cNvSpPr/>
          <p:nvPr/>
        </p:nvSpPr>
        <p:spPr>
          <a:xfrm>
            <a:off x="9144000" y="2630278"/>
            <a:ext cx="7415741" cy="4940737"/>
          </a:xfrm>
          <a:custGeom>
            <a:avLst/>
            <a:gdLst/>
            <a:ahLst/>
            <a:cxnLst/>
            <a:rect l="l" t="t" r="r" b="b"/>
            <a:pathLst>
              <a:path w="7415741" h="4940737">
                <a:moveTo>
                  <a:pt x="0" y="0"/>
                </a:moveTo>
                <a:lnTo>
                  <a:pt x="7415741" y="0"/>
                </a:lnTo>
                <a:lnTo>
                  <a:pt x="7415741" y="4940737"/>
                </a:lnTo>
                <a:lnTo>
                  <a:pt x="0" y="4940737"/>
                </a:lnTo>
                <a:lnTo>
                  <a:pt x="0" y="0"/>
                </a:lnTo>
                <a:close/>
              </a:path>
            </a:pathLst>
          </a:custGeom>
          <a:blipFill>
            <a:blip r:embed="rId3"/>
            <a:stretch>
              <a:fillRect/>
            </a:stretch>
          </a:blipFill>
          <a:ln w="38100" cap="sq">
            <a:solidFill>
              <a:srgbClr val="38B6FF"/>
            </a:solidFill>
            <a:prstDash val="solid"/>
            <a:miter/>
          </a:ln>
        </p:spPr>
        <p:txBody>
          <a:bodyPr/>
          <a:lstStyle/>
          <a:p>
            <a:endParaRPr lang="en-US"/>
          </a:p>
        </p:txBody>
      </p:sp>
      <p:sp>
        <p:nvSpPr>
          <p:cNvPr id="5" name="TextBox 5"/>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6" name="TextBox 6"/>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7" name="TextBox 7"/>
          <p:cNvSpPr txBox="1"/>
          <p:nvPr/>
        </p:nvSpPr>
        <p:spPr>
          <a:xfrm>
            <a:off x="594527" y="548005"/>
            <a:ext cx="6055969" cy="480695"/>
          </a:xfrm>
          <a:prstGeom prst="rect">
            <a:avLst/>
          </a:prstGeom>
        </p:spPr>
        <p:txBody>
          <a:bodyPr lIns="0" tIns="0" rIns="0" bIns="0" rtlCol="0" anchor="t">
            <a:spAutoFit/>
          </a:bodyPr>
          <a:lstStyle/>
          <a:p>
            <a:pPr marL="0" lvl="0" indent="0" algn="l">
              <a:lnSpc>
                <a:spcPts val="3640"/>
              </a:lnSpc>
            </a:pPr>
            <a:r>
              <a:rPr lang="en-US" sz="3500">
                <a:solidFill>
                  <a:srgbClr val="38B6FF"/>
                </a:solidFill>
                <a:latin typeface="Anton"/>
                <a:ea typeface="Anton"/>
                <a:cs typeface="Anton"/>
                <a:sym typeface="Anton"/>
              </a:rPr>
              <a:t>WHY ARE BACKUPS IMPORTANT?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Freeform 2"/>
          <p:cNvSpPr/>
          <p:nvPr/>
        </p:nvSpPr>
        <p:spPr>
          <a:xfrm>
            <a:off x="-42390" y="-266700"/>
            <a:ext cx="18372779" cy="11482987"/>
          </a:xfrm>
          <a:custGeom>
            <a:avLst/>
            <a:gdLst/>
            <a:ahLst/>
            <a:cxnLst/>
            <a:rect l="l" t="t" r="r" b="b"/>
            <a:pathLst>
              <a:path w="18372779" h="11482987">
                <a:moveTo>
                  <a:pt x="0" y="0"/>
                </a:moveTo>
                <a:lnTo>
                  <a:pt x="18372780" y="0"/>
                </a:lnTo>
                <a:lnTo>
                  <a:pt x="18372780" y="11482987"/>
                </a:lnTo>
                <a:lnTo>
                  <a:pt x="0" y="11482987"/>
                </a:lnTo>
                <a:lnTo>
                  <a:pt x="0" y="0"/>
                </a:lnTo>
                <a:close/>
              </a:path>
            </a:pathLst>
          </a:custGeom>
          <a:blipFill>
            <a:blip r:embed="rId3"/>
            <a:stretch>
              <a:fillRect/>
            </a:stretch>
          </a:blipFill>
        </p:spPr>
        <p:txBody>
          <a:bodyPr/>
          <a:lstStyle/>
          <a:p>
            <a:endParaRPr lang="en-US"/>
          </a:p>
        </p:txBody>
      </p:sp>
      <p:sp>
        <p:nvSpPr>
          <p:cNvPr id="3" name="TextBox 3"/>
          <p:cNvSpPr txBox="1"/>
          <p:nvPr/>
        </p:nvSpPr>
        <p:spPr>
          <a:xfrm>
            <a:off x="5715000" y="190500"/>
            <a:ext cx="9678194" cy="853823"/>
          </a:xfrm>
          <a:prstGeom prst="rect">
            <a:avLst/>
          </a:prstGeom>
        </p:spPr>
        <p:txBody>
          <a:bodyPr wrap="square" lIns="0" tIns="0" rIns="0" bIns="0" rtlCol="0" anchor="t">
            <a:spAutoFit/>
          </a:bodyPr>
          <a:lstStyle/>
          <a:p>
            <a:pPr algn="ctr">
              <a:lnSpc>
                <a:spcPts val="7085"/>
              </a:lnSpc>
              <a:spcBef>
                <a:spcPct val="0"/>
              </a:spcBef>
            </a:pPr>
            <a:r>
              <a:rPr lang="en-US" sz="5061" b="1">
                <a:ln w="6600">
                  <a:solidFill>
                    <a:schemeClr val="accent2"/>
                  </a:solidFill>
                  <a:prstDash val="solid"/>
                </a:ln>
                <a:solidFill>
                  <a:srgbClr val="FFFFFF"/>
                </a:solidFill>
                <a:effectLst>
                  <a:outerShdw dist="38100" dir="2700000" algn="tl" rotWithShape="0">
                    <a:schemeClr val="accent2"/>
                  </a:outerShdw>
                </a:effectLst>
                <a:latin typeface="Arial Black" panose="020B0A04020102020204" pitchFamily="34" charset="0"/>
                <a:ea typeface="DM Sans Bold"/>
                <a:cs typeface="DM Sans Bold"/>
                <a:sym typeface="DM Sans Bold"/>
              </a:rPr>
              <a:t>RED SCREEN OF “F***!””</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594527" y="548005"/>
            <a:ext cx="6055969" cy="480695"/>
          </a:xfrm>
          <a:prstGeom prst="rect">
            <a:avLst/>
          </a:prstGeom>
        </p:spPr>
        <p:txBody>
          <a:bodyPr lIns="0" tIns="0" rIns="0" bIns="0" rtlCol="0" anchor="t">
            <a:spAutoFit/>
          </a:bodyPr>
          <a:lstStyle/>
          <a:p>
            <a:pPr marL="0" lvl="0" indent="0" algn="l">
              <a:lnSpc>
                <a:spcPts val="3640"/>
              </a:lnSpc>
            </a:pPr>
            <a:r>
              <a:rPr lang="en-US" sz="3500" dirty="0">
                <a:solidFill>
                  <a:srgbClr val="38B6FF"/>
                </a:solidFill>
                <a:latin typeface="Anton"/>
                <a:ea typeface="Anton"/>
                <a:cs typeface="Anton"/>
                <a:sym typeface="Anton"/>
              </a:rPr>
              <a:t>GET ENTERPRISE BACKUPS</a:t>
            </a:r>
          </a:p>
        </p:txBody>
      </p:sp>
      <p:sp>
        <p:nvSpPr>
          <p:cNvPr id="6" name="TextBox 6"/>
          <p:cNvSpPr txBox="1"/>
          <p:nvPr/>
        </p:nvSpPr>
        <p:spPr>
          <a:xfrm>
            <a:off x="2162865" y="1807643"/>
            <a:ext cx="7918194" cy="548005"/>
          </a:xfrm>
          <a:prstGeom prst="rect">
            <a:avLst/>
          </a:prstGeom>
        </p:spPr>
        <p:txBody>
          <a:bodyPr lIns="0" tIns="0" rIns="0" bIns="0" rtlCol="0" anchor="t">
            <a:spAutoFit/>
          </a:bodyPr>
          <a:lstStyle/>
          <a:p>
            <a:pPr marL="0" lvl="0" indent="0" algn="l">
              <a:lnSpc>
                <a:spcPts val="4160"/>
              </a:lnSpc>
            </a:pPr>
            <a:r>
              <a:rPr lang="en-US" sz="4000" b="1" dirty="0">
                <a:solidFill>
                  <a:srgbClr val="FFFFFF"/>
                </a:solidFill>
                <a:latin typeface="DM Sans Bold"/>
                <a:ea typeface="DM Sans Bold"/>
                <a:cs typeface="DM Sans Bold"/>
                <a:sym typeface="DM Sans Bold"/>
              </a:rPr>
              <a:t>GOOD BACKUPS COST $$$</a:t>
            </a:r>
          </a:p>
        </p:txBody>
      </p:sp>
      <p:sp>
        <p:nvSpPr>
          <p:cNvPr id="7" name="TextBox 7"/>
          <p:cNvSpPr txBox="1"/>
          <p:nvPr/>
        </p:nvSpPr>
        <p:spPr>
          <a:xfrm>
            <a:off x="2162865" y="2938146"/>
            <a:ext cx="7918194" cy="548005"/>
          </a:xfrm>
          <a:prstGeom prst="rect">
            <a:avLst/>
          </a:prstGeom>
        </p:spPr>
        <p:txBody>
          <a:bodyPr lIns="0" tIns="0" rIns="0" bIns="0" rtlCol="0" anchor="t">
            <a:spAutoFit/>
          </a:bodyPr>
          <a:lstStyle/>
          <a:p>
            <a:pPr marL="0" lvl="0" indent="0" algn="l">
              <a:lnSpc>
                <a:spcPts val="4160"/>
              </a:lnSpc>
            </a:pPr>
            <a:r>
              <a:rPr lang="en-US" sz="4000" dirty="0">
                <a:solidFill>
                  <a:srgbClr val="FFFFFF"/>
                </a:solidFill>
                <a:latin typeface="DM Sans"/>
                <a:ea typeface="DM Sans"/>
                <a:cs typeface="DM Sans"/>
                <a:sym typeface="DM Sans"/>
              </a:rPr>
              <a:t>Are they worth it? </a:t>
            </a:r>
          </a:p>
        </p:txBody>
      </p:sp>
      <p:sp>
        <p:nvSpPr>
          <p:cNvPr id="8" name="TextBox 8"/>
          <p:cNvSpPr txBox="1"/>
          <p:nvPr/>
        </p:nvSpPr>
        <p:spPr>
          <a:xfrm>
            <a:off x="2282316" y="4240228"/>
            <a:ext cx="8896297" cy="4762499"/>
          </a:xfrm>
          <a:prstGeom prst="rect">
            <a:avLst/>
          </a:prstGeom>
        </p:spPr>
        <p:txBody>
          <a:bodyPr lIns="0" tIns="0" rIns="0" bIns="0" rtlCol="0" anchor="t">
            <a:spAutoFit/>
          </a:bodyPr>
          <a:lstStyle/>
          <a:p>
            <a:pPr algn="l">
              <a:lnSpc>
                <a:spcPts val="7799"/>
              </a:lnSpc>
            </a:pPr>
            <a:r>
              <a:rPr lang="en-US" sz="7499" b="1" dirty="0">
                <a:solidFill>
                  <a:srgbClr val="FFFFFF"/>
                </a:solidFill>
                <a:latin typeface="DM Sans Bold"/>
                <a:ea typeface="DM Sans Bold"/>
                <a:cs typeface="DM Sans Bold"/>
                <a:sym typeface="DM Sans Bold"/>
              </a:rPr>
              <a:t>YES!</a:t>
            </a:r>
          </a:p>
          <a:p>
            <a:pPr algn="l">
              <a:lnSpc>
                <a:spcPts val="3640"/>
              </a:lnSpc>
            </a:pPr>
            <a:endParaRPr lang="en-US" sz="7499" b="1" dirty="0">
              <a:solidFill>
                <a:srgbClr val="FFFFFF"/>
              </a:solidFill>
              <a:latin typeface="DM Sans Bold"/>
              <a:ea typeface="DM Sans Bold"/>
              <a:cs typeface="DM Sans Bold"/>
              <a:sym typeface="DM Sans Bold"/>
            </a:endParaRPr>
          </a:p>
          <a:p>
            <a:pPr marL="755657" lvl="1" indent="-377829" algn="l">
              <a:lnSpc>
                <a:spcPts val="3640"/>
              </a:lnSpc>
              <a:buFont typeface="Arial"/>
              <a:buChar char="•"/>
            </a:pPr>
            <a:r>
              <a:rPr lang="en-US" sz="3500" b="1" dirty="0">
                <a:solidFill>
                  <a:srgbClr val="FFFFFF"/>
                </a:solidFill>
                <a:latin typeface="DM Sans Bold"/>
                <a:ea typeface="DM Sans Bold"/>
                <a:cs typeface="DM Sans Bold"/>
                <a:sym typeface="DM Sans Bold"/>
              </a:rPr>
              <a:t>Support</a:t>
            </a:r>
          </a:p>
          <a:p>
            <a:pPr algn="l">
              <a:lnSpc>
                <a:spcPts val="3640"/>
              </a:lnSpc>
            </a:pPr>
            <a:endParaRPr lang="en-US" sz="3500" b="1" dirty="0">
              <a:solidFill>
                <a:srgbClr val="FFFFFF"/>
              </a:solidFill>
              <a:latin typeface="DM Sans Bold"/>
              <a:ea typeface="DM Sans Bold"/>
              <a:cs typeface="DM Sans Bold"/>
              <a:sym typeface="DM Sans Bold"/>
            </a:endParaRPr>
          </a:p>
          <a:p>
            <a:pPr marL="755657" lvl="1" indent="-377829" algn="l">
              <a:lnSpc>
                <a:spcPts val="3640"/>
              </a:lnSpc>
              <a:buFont typeface="Arial"/>
              <a:buChar char="•"/>
            </a:pPr>
            <a:r>
              <a:rPr lang="en-US" sz="3500" b="1" dirty="0">
                <a:solidFill>
                  <a:srgbClr val="FFFFFF"/>
                </a:solidFill>
                <a:latin typeface="DM Sans Bold"/>
                <a:ea typeface="DM Sans Bold"/>
                <a:cs typeface="DM Sans Bold"/>
                <a:sym typeface="DM Sans Bold"/>
              </a:rPr>
              <a:t>Insurance</a:t>
            </a:r>
          </a:p>
          <a:p>
            <a:pPr algn="l">
              <a:lnSpc>
                <a:spcPts val="3640"/>
              </a:lnSpc>
            </a:pPr>
            <a:endParaRPr lang="en-US" sz="3500" b="1" dirty="0">
              <a:solidFill>
                <a:srgbClr val="FFFFFF"/>
              </a:solidFill>
              <a:latin typeface="DM Sans Bold"/>
              <a:ea typeface="DM Sans Bold"/>
              <a:cs typeface="DM Sans Bold"/>
              <a:sym typeface="DM Sans Bold"/>
            </a:endParaRPr>
          </a:p>
          <a:p>
            <a:pPr marL="755657" lvl="1" indent="-377829" algn="l">
              <a:lnSpc>
                <a:spcPts val="3640"/>
              </a:lnSpc>
              <a:buFont typeface="Arial"/>
              <a:buChar char="•"/>
            </a:pPr>
            <a:r>
              <a:rPr lang="en-US" sz="3500" b="1" dirty="0">
                <a:solidFill>
                  <a:srgbClr val="FFFFFF"/>
                </a:solidFill>
                <a:latin typeface="DM Sans Bold"/>
                <a:ea typeface="DM Sans Bold"/>
                <a:cs typeface="DM Sans Bold"/>
                <a:sym typeface="DM Sans Bold"/>
              </a:rPr>
              <a:t>Features</a:t>
            </a:r>
          </a:p>
          <a:p>
            <a:pPr marL="0" lvl="0" indent="0" algn="l">
              <a:lnSpc>
                <a:spcPts val="7799"/>
              </a:lnSpc>
            </a:pPr>
            <a:endParaRPr lang="en-US" sz="3500" b="1" dirty="0">
              <a:solidFill>
                <a:srgbClr val="FFFFFF"/>
              </a:solidFill>
              <a:latin typeface="DM Sans Bold"/>
              <a:ea typeface="DM Sans Bold"/>
              <a:cs typeface="DM Sans Bold"/>
              <a:sym typeface="DM Sans Bo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2652311" y="1575637"/>
            <a:ext cx="12685735" cy="7135726"/>
          </a:xfrm>
          <a:custGeom>
            <a:avLst/>
            <a:gdLst/>
            <a:ahLst/>
            <a:cxnLst/>
            <a:rect l="l" t="t" r="r" b="b"/>
            <a:pathLst>
              <a:path w="12685735" h="7135726">
                <a:moveTo>
                  <a:pt x="0" y="0"/>
                </a:moveTo>
                <a:lnTo>
                  <a:pt x="12685735" y="0"/>
                </a:lnTo>
                <a:lnTo>
                  <a:pt x="12685735" y="7135726"/>
                </a:lnTo>
                <a:lnTo>
                  <a:pt x="0" y="7135726"/>
                </a:lnTo>
                <a:lnTo>
                  <a:pt x="0" y="0"/>
                </a:lnTo>
                <a:close/>
              </a:path>
            </a:pathLst>
          </a:custGeom>
          <a:blipFill>
            <a:blip r:embed="rId3"/>
            <a:stretch>
              <a:fillRect/>
            </a:stretch>
          </a:blipFill>
          <a:ln w="38100" cap="sq">
            <a:solidFill>
              <a:srgbClr val="38B6FF"/>
            </a:solidFill>
            <a:prstDash val="solid"/>
            <a:miter/>
          </a:ln>
        </p:spPr>
        <p:txBody>
          <a:bodyPr/>
          <a:lstStyle/>
          <a:p>
            <a:endParaRPr lang="en-US"/>
          </a:p>
        </p:txBody>
      </p:sp>
      <p:sp>
        <p:nvSpPr>
          <p:cNvPr id="4" name="TextBox 4"/>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867B71A-3081-DF13-3084-910244807D29}"/>
              </a:ext>
            </a:extLst>
          </p:cNvPr>
          <p:cNvSpPr txBox="1"/>
          <p:nvPr/>
        </p:nvSpPr>
        <p:spPr>
          <a:xfrm>
            <a:off x="844296" y="2178284"/>
            <a:ext cx="7819833" cy="1569660"/>
          </a:xfrm>
          <a:prstGeom prst="rect">
            <a:avLst/>
          </a:prstGeom>
          <a:noFill/>
        </p:spPr>
        <p:txBody>
          <a:bodyPr wrap="none" rtlCol="0">
            <a:spAutoFit/>
          </a:bodyPr>
          <a:lstStyle/>
          <a:p>
            <a:pPr marL="342900" indent="-342900">
              <a:buFont typeface="Arial" panose="020B0604020202020204" pitchFamily="34" charset="0"/>
              <a:buChar char="•"/>
            </a:pPr>
            <a:r>
              <a:rPr lang="en-US" sz="2400" dirty="0">
                <a:solidFill>
                  <a:schemeClr val="bg1"/>
                </a:solidFill>
              </a:rPr>
              <a:t>Update Sequence Number (USN) = How AD tracks changes</a:t>
            </a:r>
          </a:p>
          <a:p>
            <a:pPr marL="800100" lvl="1" indent="-342900">
              <a:buFont typeface="Arial" panose="020B0604020202020204" pitchFamily="34" charset="0"/>
              <a:buChar char="•"/>
            </a:pPr>
            <a:r>
              <a:rPr lang="en-US" sz="2400" dirty="0">
                <a:solidFill>
                  <a:schemeClr val="bg1"/>
                </a:solidFill>
              </a:rPr>
              <a:t>Unique to Every DC</a:t>
            </a:r>
          </a:p>
          <a:p>
            <a:pPr marL="800100" lvl="1" indent="-342900">
              <a:buFont typeface="Arial" panose="020B0604020202020204" pitchFamily="34" charset="0"/>
              <a:buChar char="•"/>
            </a:pPr>
            <a:r>
              <a:rPr lang="en-US" sz="2400" dirty="0">
                <a:solidFill>
                  <a:schemeClr val="bg1"/>
                </a:solidFill>
              </a:rPr>
              <a:t>Never goes down. Only up.</a:t>
            </a:r>
          </a:p>
          <a:p>
            <a:pPr marL="342900" indent="-342900">
              <a:buFont typeface="Arial" panose="020B0604020202020204" pitchFamily="34" charset="0"/>
              <a:buChar char="•"/>
            </a:pPr>
            <a:r>
              <a:rPr lang="en-US" sz="2400" dirty="0">
                <a:solidFill>
                  <a:schemeClr val="bg1"/>
                </a:solidFill>
              </a:rPr>
              <a:t>If it goes down = USN Rollback = Replication stops</a:t>
            </a:r>
          </a:p>
        </p:txBody>
      </p:sp>
      <p:sp>
        <p:nvSpPr>
          <p:cNvPr id="16" name="TextBox 15">
            <a:extLst>
              <a:ext uri="{FF2B5EF4-FFF2-40B4-BE49-F238E27FC236}">
                <a16:creationId xmlns:a16="http://schemas.microsoft.com/office/drawing/2014/main" id="{323187DB-D99D-AF50-3853-E58D151B2A3B}"/>
              </a:ext>
            </a:extLst>
          </p:cNvPr>
          <p:cNvSpPr txBox="1"/>
          <p:nvPr/>
        </p:nvSpPr>
        <p:spPr>
          <a:xfrm>
            <a:off x="838200" y="1638300"/>
            <a:ext cx="4849533" cy="523220"/>
          </a:xfrm>
          <a:prstGeom prst="rect">
            <a:avLst/>
          </a:prstGeom>
          <a:noFill/>
        </p:spPr>
        <p:txBody>
          <a:bodyPr wrap="none" rtlCol="0">
            <a:spAutoFit/>
          </a:bodyPr>
          <a:lstStyle/>
          <a:p>
            <a:r>
              <a:rPr lang="en-US" sz="2800" b="1" dirty="0">
                <a:solidFill>
                  <a:schemeClr val="bg1"/>
                </a:solidFill>
              </a:rPr>
              <a:t>AD Replication Consistency 101</a:t>
            </a:r>
          </a:p>
        </p:txBody>
      </p:sp>
      <p:sp>
        <p:nvSpPr>
          <p:cNvPr id="17" name="TextBox 16">
            <a:extLst>
              <a:ext uri="{FF2B5EF4-FFF2-40B4-BE49-F238E27FC236}">
                <a16:creationId xmlns:a16="http://schemas.microsoft.com/office/drawing/2014/main" id="{B69909A7-27CE-D823-15B3-DD24E451A288}"/>
              </a:ext>
            </a:extLst>
          </p:cNvPr>
          <p:cNvSpPr txBox="1"/>
          <p:nvPr/>
        </p:nvSpPr>
        <p:spPr>
          <a:xfrm>
            <a:off x="844296" y="4892070"/>
            <a:ext cx="4978158" cy="1569660"/>
          </a:xfrm>
          <a:prstGeom prst="rect">
            <a:avLst/>
          </a:prstGeom>
          <a:noFill/>
        </p:spPr>
        <p:txBody>
          <a:bodyPr wrap="none" rtlCol="0">
            <a:spAutoFit/>
          </a:bodyPr>
          <a:lstStyle/>
          <a:p>
            <a:pPr marL="342900" indent="-342900">
              <a:buFont typeface="Arial" panose="020B0604020202020204" pitchFamily="34" charset="0"/>
              <a:buChar char="•"/>
            </a:pPr>
            <a:r>
              <a:rPr lang="en-US" sz="2400">
                <a:solidFill>
                  <a:schemeClr val="bg1"/>
                </a:solidFill>
              </a:rPr>
              <a:t>Snapshots capture a single moment</a:t>
            </a:r>
          </a:p>
          <a:p>
            <a:pPr marL="342900" indent="-342900">
              <a:buFont typeface="Arial" panose="020B0604020202020204" pitchFamily="34" charset="0"/>
              <a:buChar char="•"/>
            </a:pPr>
            <a:r>
              <a:rPr lang="en-US" sz="2400">
                <a:solidFill>
                  <a:schemeClr val="bg1"/>
                </a:solidFill>
              </a:rPr>
              <a:t>Rollback is to that moment</a:t>
            </a:r>
          </a:p>
          <a:p>
            <a:pPr marL="342900" indent="-342900">
              <a:buFont typeface="Arial" panose="020B0604020202020204" pitchFamily="34" charset="0"/>
              <a:buChar char="•"/>
            </a:pPr>
            <a:r>
              <a:rPr lang="en-US" sz="2400">
                <a:solidFill>
                  <a:schemeClr val="bg1"/>
                </a:solidFill>
              </a:rPr>
              <a:t>USNs rollback too.</a:t>
            </a:r>
          </a:p>
          <a:p>
            <a:pPr marL="342900" indent="-342900">
              <a:buFont typeface="Arial" panose="020B0604020202020204" pitchFamily="34" charset="0"/>
              <a:buChar char="•"/>
            </a:pPr>
            <a:r>
              <a:rPr lang="en-US" sz="2400">
                <a:solidFill>
                  <a:schemeClr val="bg1"/>
                </a:solidFill>
              </a:rPr>
              <a:t>USN Rollback happens</a:t>
            </a:r>
          </a:p>
        </p:txBody>
      </p:sp>
      <p:sp>
        <p:nvSpPr>
          <p:cNvPr id="18" name="TextBox 17">
            <a:extLst>
              <a:ext uri="{FF2B5EF4-FFF2-40B4-BE49-F238E27FC236}">
                <a16:creationId xmlns:a16="http://schemas.microsoft.com/office/drawing/2014/main" id="{24117CAB-95D4-9822-E53F-BB29D93C9C3B}"/>
              </a:ext>
            </a:extLst>
          </p:cNvPr>
          <p:cNvSpPr txBox="1"/>
          <p:nvPr/>
        </p:nvSpPr>
        <p:spPr>
          <a:xfrm>
            <a:off x="838200" y="4352086"/>
            <a:ext cx="4557914" cy="523220"/>
          </a:xfrm>
          <a:prstGeom prst="rect">
            <a:avLst/>
          </a:prstGeom>
          <a:noFill/>
        </p:spPr>
        <p:txBody>
          <a:bodyPr wrap="none" rtlCol="0">
            <a:spAutoFit/>
          </a:bodyPr>
          <a:lstStyle/>
          <a:p>
            <a:r>
              <a:rPr lang="en-US" sz="2800" b="1">
                <a:solidFill>
                  <a:schemeClr val="bg1"/>
                </a:solidFill>
              </a:rPr>
              <a:t>Snapshots and USN Rollbacks</a:t>
            </a:r>
          </a:p>
        </p:txBody>
      </p:sp>
      <p:sp>
        <p:nvSpPr>
          <p:cNvPr id="19" name="TextBox 18">
            <a:extLst>
              <a:ext uri="{FF2B5EF4-FFF2-40B4-BE49-F238E27FC236}">
                <a16:creationId xmlns:a16="http://schemas.microsoft.com/office/drawing/2014/main" id="{3D1A5CE9-060B-067C-C340-EFD8CBFCDDA9}"/>
              </a:ext>
            </a:extLst>
          </p:cNvPr>
          <p:cNvSpPr txBox="1"/>
          <p:nvPr/>
        </p:nvSpPr>
        <p:spPr>
          <a:xfrm>
            <a:off x="853440" y="7622620"/>
            <a:ext cx="6760697" cy="1200329"/>
          </a:xfrm>
          <a:prstGeom prst="rect">
            <a:avLst/>
          </a:prstGeom>
          <a:noFill/>
        </p:spPr>
        <p:txBody>
          <a:bodyPr wrap="none" rtlCol="0">
            <a:spAutoFit/>
          </a:bodyPr>
          <a:lstStyle/>
          <a:p>
            <a:pPr marL="342900" indent="-342900">
              <a:buFont typeface="Arial" panose="020B0604020202020204" pitchFamily="34" charset="0"/>
              <a:buChar char="•"/>
            </a:pPr>
            <a:r>
              <a:rPr lang="en-US" sz="2400">
                <a:solidFill>
                  <a:schemeClr val="bg1"/>
                </a:solidFill>
              </a:rPr>
              <a:t>Traditional backups change Invocation ID.</a:t>
            </a:r>
          </a:p>
          <a:p>
            <a:pPr marL="342900" indent="-342900">
              <a:buFont typeface="Arial" panose="020B0604020202020204" pitchFamily="34" charset="0"/>
              <a:buChar char="•"/>
            </a:pPr>
            <a:r>
              <a:rPr lang="en-US" sz="2400">
                <a:solidFill>
                  <a:schemeClr val="bg1"/>
                </a:solidFill>
              </a:rPr>
              <a:t>Invocation ID + USN = Unique Replication instance</a:t>
            </a:r>
          </a:p>
          <a:p>
            <a:pPr marL="342900" indent="-342900">
              <a:buFont typeface="Arial" panose="020B0604020202020204" pitchFamily="34" charset="0"/>
              <a:buChar char="•"/>
            </a:pPr>
            <a:r>
              <a:rPr lang="en-US" sz="2400">
                <a:solidFill>
                  <a:schemeClr val="bg1"/>
                </a:solidFill>
              </a:rPr>
              <a:t>No USN Rollback</a:t>
            </a:r>
          </a:p>
        </p:txBody>
      </p:sp>
      <p:sp>
        <p:nvSpPr>
          <p:cNvPr id="20" name="TextBox 19">
            <a:extLst>
              <a:ext uri="{FF2B5EF4-FFF2-40B4-BE49-F238E27FC236}">
                <a16:creationId xmlns:a16="http://schemas.microsoft.com/office/drawing/2014/main" id="{868B857C-5594-7023-8E9F-333E82471727}"/>
              </a:ext>
            </a:extLst>
          </p:cNvPr>
          <p:cNvSpPr txBox="1"/>
          <p:nvPr/>
        </p:nvSpPr>
        <p:spPr>
          <a:xfrm>
            <a:off x="847344" y="7082636"/>
            <a:ext cx="5447260" cy="523220"/>
          </a:xfrm>
          <a:prstGeom prst="rect">
            <a:avLst/>
          </a:prstGeom>
          <a:noFill/>
        </p:spPr>
        <p:txBody>
          <a:bodyPr wrap="none" rtlCol="0">
            <a:spAutoFit/>
          </a:bodyPr>
          <a:lstStyle/>
          <a:p>
            <a:r>
              <a:rPr lang="en-US" sz="2800" b="1">
                <a:solidFill>
                  <a:schemeClr val="bg1"/>
                </a:solidFill>
              </a:rPr>
              <a:t>Conventional Backups and Rollback</a:t>
            </a:r>
          </a:p>
        </p:txBody>
      </p:sp>
      <p:sp>
        <p:nvSpPr>
          <p:cNvPr id="21" name="TextBox 20">
            <a:extLst>
              <a:ext uri="{FF2B5EF4-FFF2-40B4-BE49-F238E27FC236}">
                <a16:creationId xmlns:a16="http://schemas.microsoft.com/office/drawing/2014/main" id="{38BB82D3-CE6D-5162-29ED-57D3C7C2D509}"/>
              </a:ext>
            </a:extLst>
          </p:cNvPr>
          <p:cNvSpPr txBox="1"/>
          <p:nvPr/>
        </p:nvSpPr>
        <p:spPr>
          <a:xfrm>
            <a:off x="10064496" y="2178284"/>
            <a:ext cx="7336945" cy="2677656"/>
          </a:xfrm>
          <a:prstGeom prst="rect">
            <a:avLst/>
          </a:prstGeom>
          <a:noFill/>
        </p:spPr>
        <p:txBody>
          <a:bodyPr wrap="none" rtlCol="0">
            <a:spAutoFit/>
          </a:bodyPr>
          <a:lstStyle/>
          <a:p>
            <a:pPr marL="342900" indent="-342900">
              <a:buFont typeface="Arial" panose="020B0604020202020204" pitchFamily="34" charset="0"/>
              <a:buChar char="•"/>
            </a:pPr>
            <a:r>
              <a:rPr lang="en-US" sz="2400">
                <a:solidFill>
                  <a:schemeClr val="bg1"/>
                </a:solidFill>
              </a:rPr>
              <a:t>Server 2012 introduced VM Generation ID</a:t>
            </a:r>
          </a:p>
          <a:p>
            <a:pPr marL="342900" indent="-342900">
              <a:buFont typeface="Arial" panose="020B0604020202020204" pitchFamily="34" charset="0"/>
              <a:buChar char="•"/>
            </a:pPr>
            <a:r>
              <a:rPr lang="en-US" sz="2400">
                <a:solidFill>
                  <a:schemeClr val="bg1"/>
                </a:solidFill>
              </a:rPr>
              <a:t>VM Generation ID associated with Hypervisor</a:t>
            </a:r>
          </a:p>
          <a:p>
            <a:pPr marL="800100" lvl="1" indent="-342900">
              <a:buFont typeface="Arial" panose="020B0604020202020204" pitchFamily="34" charset="0"/>
              <a:buChar char="•"/>
            </a:pPr>
            <a:r>
              <a:rPr lang="en-US" sz="2400">
                <a:solidFill>
                  <a:schemeClr val="bg1"/>
                </a:solidFill>
              </a:rPr>
              <a:t>Most supported.</a:t>
            </a:r>
          </a:p>
          <a:p>
            <a:pPr marL="800100" lvl="1" indent="-342900">
              <a:buFont typeface="Arial" panose="020B0604020202020204" pitchFamily="34" charset="0"/>
              <a:buChar char="•"/>
            </a:pPr>
            <a:r>
              <a:rPr lang="en-US" sz="2400">
                <a:solidFill>
                  <a:schemeClr val="bg1"/>
                </a:solidFill>
              </a:rPr>
              <a:t>Some don’t support this = Risky</a:t>
            </a:r>
          </a:p>
          <a:p>
            <a:pPr marL="342900" indent="-342900">
              <a:buFont typeface="Arial" panose="020B0604020202020204" pitchFamily="34" charset="0"/>
              <a:buChar char="•"/>
            </a:pPr>
            <a:r>
              <a:rPr lang="en-US" sz="2400">
                <a:solidFill>
                  <a:schemeClr val="bg1"/>
                </a:solidFill>
              </a:rPr>
              <a:t>Change in VM Generation ID = Change to Invocation ID</a:t>
            </a:r>
          </a:p>
          <a:p>
            <a:pPr marL="342900" indent="-342900">
              <a:buFont typeface="Arial" panose="020B0604020202020204" pitchFamily="34" charset="0"/>
              <a:buChar char="•"/>
            </a:pPr>
            <a:r>
              <a:rPr lang="en-US" sz="2400">
                <a:solidFill>
                  <a:schemeClr val="bg1"/>
                </a:solidFill>
              </a:rPr>
              <a:t>No USN Rollback</a:t>
            </a:r>
          </a:p>
          <a:p>
            <a:pPr marL="342900" indent="-342900">
              <a:buFont typeface="Arial" panose="020B0604020202020204" pitchFamily="34" charset="0"/>
              <a:buChar char="•"/>
            </a:pPr>
            <a:r>
              <a:rPr lang="en-US" sz="2400">
                <a:solidFill>
                  <a:schemeClr val="bg1"/>
                </a:solidFill>
              </a:rPr>
              <a:t>Still kind of risky with AD to do snapshots</a:t>
            </a:r>
          </a:p>
        </p:txBody>
      </p:sp>
      <p:sp>
        <p:nvSpPr>
          <p:cNvPr id="22" name="TextBox 21">
            <a:extLst>
              <a:ext uri="{FF2B5EF4-FFF2-40B4-BE49-F238E27FC236}">
                <a16:creationId xmlns:a16="http://schemas.microsoft.com/office/drawing/2014/main" id="{B3C84A18-72EB-1AA9-CE04-96C951156386}"/>
              </a:ext>
            </a:extLst>
          </p:cNvPr>
          <p:cNvSpPr txBox="1"/>
          <p:nvPr/>
        </p:nvSpPr>
        <p:spPr>
          <a:xfrm>
            <a:off x="10058400" y="1638300"/>
            <a:ext cx="2880789" cy="523220"/>
          </a:xfrm>
          <a:prstGeom prst="rect">
            <a:avLst/>
          </a:prstGeom>
          <a:noFill/>
        </p:spPr>
        <p:txBody>
          <a:bodyPr wrap="none" rtlCol="0">
            <a:spAutoFit/>
          </a:bodyPr>
          <a:lstStyle/>
          <a:p>
            <a:r>
              <a:rPr lang="en-US" sz="2800" b="1">
                <a:solidFill>
                  <a:schemeClr val="bg1"/>
                </a:solidFill>
              </a:rPr>
              <a:t>AD and Snapshots</a:t>
            </a:r>
          </a:p>
        </p:txBody>
      </p:sp>
      <p:sp>
        <p:nvSpPr>
          <p:cNvPr id="23" name="TextBox 7">
            <a:extLst>
              <a:ext uri="{FF2B5EF4-FFF2-40B4-BE49-F238E27FC236}">
                <a16:creationId xmlns:a16="http://schemas.microsoft.com/office/drawing/2014/main" id="{F1FD1B5D-399F-35E0-80D8-BDF105E38882}"/>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a:solidFill>
                  <a:srgbClr val="FFFFFF"/>
                </a:solidFill>
                <a:latin typeface="Anton"/>
                <a:ea typeface="Anton"/>
                <a:cs typeface="Anton"/>
                <a:sym typeface="Anton"/>
              </a:rPr>
              <a:t>BONUS</a:t>
            </a:r>
          </a:p>
        </p:txBody>
      </p:sp>
      <p:sp>
        <p:nvSpPr>
          <p:cNvPr id="24" name="TextBox 6">
            <a:extLst>
              <a:ext uri="{FF2B5EF4-FFF2-40B4-BE49-F238E27FC236}">
                <a16:creationId xmlns:a16="http://schemas.microsoft.com/office/drawing/2014/main" id="{F133BA17-EAAF-062E-D63A-091814D852F1}"/>
              </a:ext>
            </a:extLst>
          </p:cNvPr>
          <p:cNvSpPr txBox="1"/>
          <p:nvPr/>
        </p:nvSpPr>
        <p:spPr>
          <a:xfrm>
            <a:off x="684356" y="486903"/>
            <a:ext cx="6080263" cy="688047"/>
          </a:xfrm>
          <a:prstGeom prst="rect">
            <a:avLst/>
          </a:prstGeom>
        </p:spPr>
        <p:txBody>
          <a:bodyPr lIns="0" tIns="0" rIns="0" bIns="0" rtlCol="0" anchor="t">
            <a:spAutoFit/>
          </a:bodyPr>
          <a:lstStyle/>
          <a:p>
            <a:pPr marL="0" lvl="0" indent="0" algn="l">
              <a:lnSpc>
                <a:spcPts val="5651"/>
              </a:lnSpc>
              <a:spcBef>
                <a:spcPct val="0"/>
              </a:spcBef>
            </a:pPr>
            <a:r>
              <a:rPr lang="en-US" sz="4036">
                <a:solidFill>
                  <a:srgbClr val="38B6FF"/>
                </a:solidFill>
                <a:latin typeface="Anton"/>
                <a:ea typeface="Anton"/>
                <a:cs typeface="Anton"/>
                <a:sym typeface="Anton"/>
              </a:rPr>
              <a:t>BONUS - Snapshots and AD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a:extLst>
            <a:ext uri="{FF2B5EF4-FFF2-40B4-BE49-F238E27FC236}">
              <a16:creationId xmlns:a16="http://schemas.microsoft.com/office/drawing/2014/main" id="{3E3524B5-80C8-BC01-F7DC-DA0667139A6D}"/>
            </a:ext>
          </a:extLst>
        </p:cNvPr>
        <p:cNvGrpSpPr/>
        <p:nvPr/>
      </p:nvGrpSpPr>
      <p:grpSpPr>
        <a:xfrm>
          <a:off x="0" y="0"/>
          <a:ext cx="0" cy="0"/>
          <a:chOff x="0" y="0"/>
          <a:chExt cx="0" cy="0"/>
        </a:xfrm>
      </p:grpSpPr>
      <p:sp>
        <p:nvSpPr>
          <p:cNvPr id="23" name="TextBox 7">
            <a:extLst>
              <a:ext uri="{FF2B5EF4-FFF2-40B4-BE49-F238E27FC236}">
                <a16:creationId xmlns:a16="http://schemas.microsoft.com/office/drawing/2014/main" id="{018A1540-3533-2617-FA95-A517D4645B73}"/>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a:solidFill>
                  <a:srgbClr val="FFFFFF"/>
                </a:solidFill>
                <a:latin typeface="Anton"/>
                <a:ea typeface="Anton"/>
                <a:cs typeface="Anton"/>
                <a:sym typeface="Anton"/>
              </a:rPr>
              <a:t>BONUS</a:t>
            </a:r>
          </a:p>
        </p:txBody>
      </p:sp>
      <p:sp>
        <p:nvSpPr>
          <p:cNvPr id="24" name="TextBox 6">
            <a:extLst>
              <a:ext uri="{FF2B5EF4-FFF2-40B4-BE49-F238E27FC236}">
                <a16:creationId xmlns:a16="http://schemas.microsoft.com/office/drawing/2014/main" id="{FA4265F0-6013-8327-FADA-09B40170FC40}"/>
              </a:ext>
            </a:extLst>
          </p:cNvPr>
          <p:cNvSpPr txBox="1"/>
          <p:nvPr/>
        </p:nvSpPr>
        <p:spPr>
          <a:xfrm>
            <a:off x="684356" y="486903"/>
            <a:ext cx="6080263" cy="688047"/>
          </a:xfrm>
          <a:prstGeom prst="rect">
            <a:avLst/>
          </a:prstGeom>
        </p:spPr>
        <p:txBody>
          <a:bodyPr lIns="0" tIns="0" rIns="0" bIns="0" rtlCol="0" anchor="t">
            <a:spAutoFit/>
          </a:bodyPr>
          <a:lstStyle/>
          <a:p>
            <a:pPr marL="0" lvl="0" indent="0" algn="l">
              <a:lnSpc>
                <a:spcPts val="5651"/>
              </a:lnSpc>
              <a:spcBef>
                <a:spcPct val="0"/>
              </a:spcBef>
            </a:pPr>
            <a:r>
              <a:rPr lang="en-US" sz="4036" dirty="0">
                <a:solidFill>
                  <a:srgbClr val="38B6FF"/>
                </a:solidFill>
                <a:latin typeface="Anton"/>
                <a:ea typeface="Anton"/>
                <a:cs typeface="Anton"/>
                <a:sym typeface="Anton"/>
              </a:rPr>
              <a:t>BONUS – Backups 101</a:t>
            </a:r>
          </a:p>
        </p:txBody>
      </p:sp>
      <p:sp>
        <p:nvSpPr>
          <p:cNvPr id="2" name="TextBox 1">
            <a:extLst>
              <a:ext uri="{FF2B5EF4-FFF2-40B4-BE49-F238E27FC236}">
                <a16:creationId xmlns:a16="http://schemas.microsoft.com/office/drawing/2014/main" id="{4734B48A-F52B-E391-32E7-79898E1B442F}"/>
              </a:ext>
            </a:extLst>
          </p:cNvPr>
          <p:cNvSpPr txBox="1"/>
          <p:nvPr/>
        </p:nvSpPr>
        <p:spPr>
          <a:xfrm>
            <a:off x="690452" y="1714934"/>
            <a:ext cx="10036658" cy="6001643"/>
          </a:xfrm>
          <a:prstGeom prst="rect">
            <a:avLst/>
          </a:prstGeom>
          <a:noFill/>
        </p:spPr>
        <p:txBody>
          <a:bodyPr wrap="none" rtlCol="0">
            <a:spAutoFit/>
          </a:bodyPr>
          <a:lstStyle/>
          <a:p>
            <a:pPr marL="342900" indent="-342900">
              <a:buFont typeface="Arial" panose="020B0604020202020204" pitchFamily="34" charset="0"/>
              <a:buChar char="•"/>
            </a:pPr>
            <a:r>
              <a:rPr lang="en-US" sz="2400" dirty="0">
                <a:solidFill>
                  <a:schemeClr val="bg1"/>
                </a:solidFill>
              </a:rPr>
              <a:t>Bare Metal Recovery (BMR)</a:t>
            </a:r>
          </a:p>
          <a:p>
            <a:pPr marL="800100" lvl="1" indent="-342900">
              <a:buFont typeface="Arial" panose="020B0604020202020204" pitchFamily="34" charset="0"/>
              <a:buChar char="•"/>
            </a:pPr>
            <a:r>
              <a:rPr lang="en-US" sz="2400" dirty="0">
                <a:solidFill>
                  <a:schemeClr val="bg1"/>
                </a:solidFill>
              </a:rPr>
              <a:t>BMR backups are copies of the whole disk, boot sector, etc. </a:t>
            </a:r>
          </a:p>
          <a:p>
            <a:pPr marL="342900" indent="-342900">
              <a:buFont typeface="Arial" panose="020B0604020202020204" pitchFamily="34" charset="0"/>
              <a:buChar char="•"/>
            </a:pPr>
            <a:r>
              <a:rPr lang="en-US" sz="2400" dirty="0">
                <a:solidFill>
                  <a:schemeClr val="bg1"/>
                </a:solidFill>
              </a:rPr>
              <a:t>System State (SS)</a:t>
            </a:r>
          </a:p>
          <a:p>
            <a:pPr marL="800100" lvl="1" indent="-342900">
              <a:buFont typeface="Arial" panose="020B0604020202020204" pitchFamily="34" charset="0"/>
              <a:buChar char="•"/>
            </a:pPr>
            <a:r>
              <a:rPr lang="en-US" sz="2400" dirty="0">
                <a:solidFill>
                  <a:schemeClr val="bg1"/>
                </a:solidFill>
              </a:rPr>
              <a:t>SS backups are more like copies of the operating system and critical files.</a:t>
            </a:r>
          </a:p>
          <a:p>
            <a:pPr marL="800100" lvl="1" indent="-342900">
              <a:buFont typeface="Arial" panose="020B0604020202020204" pitchFamily="34" charset="0"/>
              <a:buChar char="•"/>
            </a:pPr>
            <a:r>
              <a:rPr lang="en-US" sz="2400" dirty="0">
                <a:solidFill>
                  <a:schemeClr val="bg1"/>
                </a:solidFill>
              </a:rPr>
              <a:t>Includes AD DB and </a:t>
            </a:r>
            <a:r>
              <a:rPr lang="en-US" sz="2400" dirty="0" err="1">
                <a:solidFill>
                  <a:schemeClr val="bg1"/>
                </a:solidFill>
              </a:rPr>
              <a:t>Sysvol</a:t>
            </a:r>
            <a:r>
              <a:rPr lang="en-US" sz="2400" dirty="0">
                <a:solidFill>
                  <a:schemeClr val="bg1"/>
                </a:solidFill>
              </a:rPr>
              <a:t>.  </a:t>
            </a:r>
          </a:p>
          <a:p>
            <a:pPr marL="800100" lvl="1" indent="-342900">
              <a:buFont typeface="Arial" panose="020B0604020202020204" pitchFamily="34" charset="0"/>
              <a:buChar char="•"/>
            </a:pPr>
            <a:r>
              <a:rPr lang="en-US" sz="2400" b="1" dirty="0">
                <a:solidFill>
                  <a:schemeClr val="bg1"/>
                </a:solidFill>
              </a:rPr>
              <a:t>Not a true BCDR solution.</a:t>
            </a:r>
          </a:p>
          <a:p>
            <a:endParaRPr lang="en-US" sz="2400" dirty="0">
              <a:solidFill>
                <a:schemeClr val="bg1"/>
              </a:solidFill>
            </a:endParaRPr>
          </a:p>
          <a:p>
            <a:pPr marL="342900" indent="-342900">
              <a:buFont typeface="Arial" panose="020B0604020202020204" pitchFamily="34" charset="0"/>
              <a:buChar char="•"/>
            </a:pPr>
            <a:r>
              <a:rPr lang="en-US" sz="2400" dirty="0">
                <a:solidFill>
                  <a:schemeClr val="bg1"/>
                </a:solidFill>
              </a:rPr>
              <a:t>Full Backup</a:t>
            </a:r>
          </a:p>
          <a:p>
            <a:pPr marL="800100" lvl="1" indent="-342900">
              <a:buFont typeface="Arial" panose="020B0604020202020204" pitchFamily="34" charset="0"/>
              <a:buChar char="•"/>
            </a:pPr>
            <a:r>
              <a:rPr lang="en-US" sz="2400" dirty="0">
                <a:solidFill>
                  <a:schemeClr val="bg1"/>
                </a:solidFill>
              </a:rPr>
              <a:t>A complete backup.</a:t>
            </a:r>
          </a:p>
          <a:p>
            <a:pPr marL="800100" lvl="1" indent="-342900">
              <a:buFont typeface="Arial" panose="020B0604020202020204" pitchFamily="34" charset="0"/>
              <a:buChar char="•"/>
            </a:pPr>
            <a:r>
              <a:rPr lang="en-US" sz="2400" dirty="0">
                <a:solidFill>
                  <a:schemeClr val="bg1"/>
                </a:solidFill>
              </a:rPr>
              <a:t>Not confused with BMR.</a:t>
            </a:r>
          </a:p>
          <a:p>
            <a:pPr marL="342900" indent="-342900">
              <a:buFont typeface="Arial" panose="020B0604020202020204" pitchFamily="34" charset="0"/>
              <a:buChar char="•"/>
            </a:pPr>
            <a:r>
              <a:rPr lang="en-US" sz="2400" dirty="0">
                <a:solidFill>
                  <a:schemeClr val="bg1"/>
                </a:solidFill>
              </a:rPr>
              <a:t>Incremental Backups</a:t>
            </a:r>
          </a:p>
          <a:p>
            <a:pPr marL="800100" lvl="1" indent="-342900">
              <a:buFont typeface="Arial" panose="020B0604020202020204" pitchFamily="34" charset="0"/>
              <a:buChar char="•"/>
            </a:pPr>
            <a:r>
              <a:rPr lang="en-US" sz="2400" dirty="0">
                <a:solidFill>
                  <a:schemeClr val="bg1"/>
                </a:solidFill>
              </a:rPr>
              <a:t>“Delta” backups. Only copy what’s changed since last backup.</a:t>
            </a:r>
          </a:p>
          <a:p>
            <a:pPr marL="800100" lvl="1" indent="-342900">
              <a:buFont typeface="Arial" panose="020B0604020202020204" pitchFamily="34" charset="0"/>
              <a:buChar char="•"/>
            </a:pPr>
            <a:r>
              <a:rPr lang="en-US" sz="2400" dirty="0">
                <a:solidFill>
                  <a:schemeClr val="bg1"/>
                </a:solidFill>
              </a:rPr>
              <a:t>Not recommended. Restore Chain Dependencies</a:t>
            </a:r>
          </a:p>
          <a:p>
            <a:pPr marL="342900" indent="-342900">
              <a:buFont typeface="Arial" panose="020B0604020202020204" pitchFamily="34" charset="0"/>
              <a:buChar char="•"/>
            </a:pPr>
            <a:r>
              <a:rPr lang="en-US" sz="2400" dirty="0">
                <a:solidFill>
                  <a:schemeClr val="bg1"/>
                </a:solidFill>
              </a:rPr>
              <a:t>Differential backups</a:t>
            </a:r>
          </a:p>
          <a:p>
            <a:pPr marL="800100" lvl="1" indent="-342900">
              <a:buFont typeface="Arial" panose="020B0604020202020204" pitchFamily="34" charset="0"/>
              <a:buChar char="•"/>
            </a:pPr>
            <a:r>
              <a:rPr lang="en-US" sz="2400" dirty="0">
                <a:solidFill>
                  <a:schemeClr val="bg1"/>
                </a:solidFill>
              </a:rPr>
              <a:t>Similar to incremental, except are bound to a full backup. </a:t>
            </a:r>
          </a:p>
          <a:p>
            <a:pPr marL="800100" lvl="1" indent="-342900">
              <a:buFont typeface="Arial" panose="020B0604020202020204" pitchFamily="34" charset="0"/>
              <a:buChar char="•"/>
            </a:pPr>
            <a:r>
              <a:rPr lang="en-US" sz="2400" dirty="0">
                <a:solidFill>
                  <a:schemeClr val="bg1"/>
                </a:solidFill>
              </a:rPr>
              <a:t>Still not recommended. Restore Chain.</a:t>
            </a:r>
          </a:p>
        </p:txBody>
      </p:sp>
      <p:sp>
        <p:nvSpPr>
          <p:cNvPr id="3" name="TextBox 2">
            <a:extLst>
              <a:ext uri="{FF2B5EF4-FFF2-40B4-BE49-F238E27FC236}">
                <a16:creationId xmlns:a16="http://schemas.microsoft.com/office/drawing/2014/main" id="{50AA569F-1877-5787-563E-4CF4D2FCDE2C}"/>
              </a:ext>
            </a:extLst>
          </p:cNvPr>
          <p:cNvSpPr txBox="1"/>
          <p:nvPr/>
        </p:nvSpPr>
        <p:spPr>
          <a:xfrm>
            <a:off x="684356" y="1174950"/>
            <a:ext cx="3820148" cy="523220"/>
          </a:xfrm>
          <a:prstGeom prst="rect">
            <a:avLst/>
          </a:prstGeom>
          <a:noFill/>
        </p:spPr>
        <p:txBody>
          <a:bodyPr wrap="none" rtlCol="0">
            <a:spAutoFit/>
          </a:bodyPr>
          <a:lstStyle/>
          <a:p>
            <a:r>
              <a:rPr lang="en-US" sz="2800" b="1" dirty="0">
                <a:solidFill>
                  <a:schemeClr val="bg1"/>
                </a:solidFill>
              </a:rPr>
              <a:t>Backup Types and Terms</a:t>
            </a:r>
          </a:p>
        </p:txBody>
      </p:sp>
    </p:spTree>
    <p:extLst>
      <p:ext uri="{BB962C8B-B14F-4D97-AF65-F5344CB8AC3E}">
        <p14:creationId xmlns:p14="http://schemas.microsoft.com/office/powerpoint/2010/main" val="35079402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a:extLst>
            <a:ext uri="{FF2B5EF4-FFF2-40B4-BE49-F238E27FC236}">
              <a16:creationId xmlns:a16="http://schemas.microsoft.com/office/drawing/2014/main" id="{F02A9D3E-0D5C-80D6-FEAB-8BF294B7B714}"/>
            </a:ext>
          </a:extLst>
        </p:cNvPr>
        <p:cNvGrpSpPr/>
        <p:nvPr/>
      </p:nvGrpSpPr>
      <p:grpSpPr>
        <a:xfrm>
          <a:off x="0" y="0"/>
          <a:ext cx="0" cy="0"/>
          <a:chOff x="0" y="0"/>
          <a:chExt cx="0" cy="0"/>
        </a:xfrm>
      </p:grpSpPr>
      <p:sp>
        <p:nvSpPr>
          <p:cNvPr id="23" name="TextBox 7">
            <a:extLst>
              <a:ext uri="{FF2B5EF4-FFF2-40B4-BE49-F238E27FC236}">
                <a16:creationId xmlns:a16="http://schemas.microsoft.com/office/drawing/2014/main" id="{FB48DAC9-80A1-391D-8DE7-EDA0F9E82B14}"/>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a:solidFill>
                  <a:srgbClr val="FFFFFF"/>
                </a:solidFill>
                <a:latin typeface="Anton"/>
                <a:ea typeface="Anton"/>
                <a:cs typeface="Anton"/>
                <a:sym typeface="Anton"/>
              </a:rPr>
              <a:t>BONUS</a:t>
            </a:r>
          </a:p>
        </p:txBody>
      </p:sp>
      <p:sp>
        <p:nvSpPr>
          <p:cNvPr id="24" name="TextBox 6">
            <a:extLst>
              <a:ext uri="{FF2B5EF4-FFF2-40B4-BE49-F238E27FC236}">
                <a16:creationId xmlns:a16="http://schemas.microsoft.com/office/drawing/2014/main" id="{6A77FBB9-3E35-0CDD-4F78-90D8342744D4}"/>
              </a:ext>
            </a:extLst>
          </p:cNvPr>
          <p:cNvSpPr txBox="1"/>
          <p:nvPr/>
        </p:nvSpPr>
        <p:spPr>
          <a:xfrm>
            <a:off x="684356" y="486903"/>
            <a:ext cx="6080263" cy="688047"/>
          </a:xfrm>
          <a:prstGeom prst="rect">
            <a:avLst/>
          </a:prstGeom>
        </p:spPr>
        <p:txBody>
          <a:bodyPr lIns="0" tIns="0" rIns="0" bIns="0" rtlCol="0" anchor="t">
            <a:spAutoFit/>
          </a:bodyPr>
          <a:lstStyle/>
          <a:p>
            <a:pPr marL="0" lvl="0" indent="0" algn="l">
              <a:lnSpc>
                <a:spcPts val="5651"/>
              </a:lnSpc>
              <a:spcBef>
                <a:spcPct val="0"/>
              </a:spcBef>
            </a:pPr>
            <a:r>
              <a:rPr lang="en-US" sz="4036" dirty="0">
                <a:solidFill>
                  <a:srgbClr val="38B6FF"/>
                </a:solidFill>
                <a:latin typeface="Anton"/>
                <a:ea typeface="Anton"/>
                <a:cs typeface="Anton"/>
                <a:sym typeface="Anton"/>
              </a:rPr>
              <a:t>BONUS – Backups 101</a:t>
            </a:r>
          </a:p>
        </p:txBody>
      </p:sp>
      <p:sp>
        <p:nvSpPr>
          <p:cNvPr id="2" name="TextBox 1">
            <a:extLst>
              <a:ext uri="{FF2B5EF4-FFF2-40B4-BE49-F238E27FC236}">
                <a16:creationId xmlns:a16="http://schemas.microsoft.com/office/drawing/2014/main" id="{AB926B12-DE00-4A1D-E3E8-3EFFB0679E26}"/>
              </a:ext>
            </a:extLst>
          </p:cNvPr>
          <p:cNvSpPr txBox="1"/>
          <p:nvPr/>
        </p:nvSpPr>
        <p:spPr>
          <a:xfrm>
            <a:off x="690452" y="1714934"/>
            <a:ext cx="10036658" cy="6001643"/>
          </a:xfrm>
          <a:prstGeom prst="rect">
            <a:avLst/>
          </a:prstGeom>
          <a:noFill/>
        </p:spPr>
        <p:txBody>
          <a:bodyPr wrap="none" rtlCol="0">
            <a:spAutoFit/>
          </a:bodyPr>
          <a:lstStyle/>
          <a:p>
            <a:pPr marL="342900" indent="-342900">
              <a:buFont typeface="Arial" panose="020B0604020202020204" pitchFamily="34" charset="0"/>
              <a:buChar char="•"/>
            </a:pPr>
            <a:r>
              <a:rPr lang="en-US" sz="2400" dirty="0">
                <a:solidFill>
                  <a:schemeClr val="bg1"/>
                </a:solidFill>
              </a:rPr>
              <a:t>Bare Metal Recovery (BMR)</a:t>
            </a:r>
          </a:p>
          <a:p>
            <a:pPr marL="800100" lvl="1" indent="-342900">
              <a:buFont typeface="Arial" panose="020B0604020202020204" pitchFamily="34" charset="0"/>
              <a:buChar char="•"/>
            </a:pPr>
            <a:r>
              <a:rPr lang="en-US" sz="2400" dirty="0">
                <a:solidFill>
                  <a:schemeClr val="bg1"/>
                </a:solidFill>
              </a:rPr>
              <a:t>BMR backups are copies of the whole disk, boot sector, etc. </a:t>
            </a:r>
          </a:p>
          <a:p>
            <a:pPr marL="342900" indent="-342900">
              <a:buFont typeface="Arial" panose="020B0604020202020204" pitchFamily="34" charset="0"/>
              <a:buChar char="•"/>
            </a:pPr>
            <a:r>
              <a:rPr lang="en-US" sz="2400" dirty="0">
                <a:solidFill>
                  <a:schemeClr val="bg1"/>
                </a:solidFill>
              </a:rPr>
              <a:t>System State (SS)</a:t>
            </a:r>
          </a:p>
          <a:p>
            <a:pPr marL="800100" lvl="1" indent="-342900">
              <a:buFont typeface="Arial" panose="020B0604020202020204" pitchFamily="34" charset="0"/>
              <a:buChar char="•"/>
            </a:pPr>
            <a:r>
              <a:rPr lang="en-US" sz="2400" dirty="0">
                <a:solidFill>
                  <a:schemeClr val="bg1"/>
                </a:solidFill>
              </a:rPr>
              <a:t>SS backups are more like copies of the operating system and critical files.</a:t>
            </a:r>
          </a:p>
          <a:p>
            <a:pPr marL="800100" lvl="1" indent="-342900">
              <a:buFont typeface="Arial" panose="020B0604020202020204" pitchFamily="34" charset="0"/>
              <a:buChar char="•"/>
            </a:pPr>
            <a:r>
              <a:rPr lang="en-US" sz="2400" dirty="0">
                <a:solidFill>
                  <a:schemeClr val="bg1"/>
                </a:solidFill>
              </a:rPr>
              <a:t>Includes AD DB and </a:t>
            </a:r>
            <a:r>
              <a:rPr lang="en-US" sz="2400" dirty="0" err="1">
                <a:solidFill>
                  <a:schemeClr val="bg1"/>
                </a:solidFill>
              </a:rPr>
              <a:t>Sysvol</a:t>
            </a:r>
            <a:r>
              <a:rPr lang="en-US" sz="2400" dirty="0">
                <a:solidFill>
                  <a:schemeClr val="bg1"/>
                </a:solidFill>
              </a:rPr>
              <a:t>.  </a:t>
            </a:r>
          </a:p>
          <a:p>
            <a:pPr marL="800100" lvl="1" indent="-342900">
              <a:buFont typeface="Arial" panose="020B0604020202020204" pitchFamily="34" charset="0"/>
              <a:buChar char="•"/>
            </a:pPr>
            <a:r>
              <a:rPr lang="en-US" sz="2400" b="1" dirty="0">
                <a:solidFill>
                  <a:schemeClr val="bg1"/>
                </a:solidFill>
              </a:rPr>
              <a:t>Not a true BCDR solution.</a:t>
            </a:r>
          </a:p>
          <a:p>
            <a:endParaRPr lang="en-US" sz="2400" dirty="0">
              <a:solidFill>
                <a:schemeClr val="bg1"/>
              </a:solidFill>
            </a:endParaRPr>
          </a:p>
          <a:p>
            <a:pPr marL="342900" indent="-342900">
              <a:buFont typeface="Arial" panose="020B0604020202020204" pitchFamily="34" charset="0"/>
              <a:buChar char="•"/>
            </a:pPr>
            <a:r>
              <a:rPr lang="en-US" sz="2400" dirty="0">
                <a:solidFill>
                  <a:schemeClr val="bg1"/>
                </a:solidFill>
              </a:rPr>
              <a:t>Full Backup</a:t>
            </a:r>
          </a:p>
          <a:p>
            <a:pPr marL="800100" lvl="1" indent="-342900">
              <a:buFont typeface="Arial" panose="020B0604020202020204" pitchFamily="34" charset="0"/>
              <a:buChar char="•"/>
            </a:pPr>
            <a:r>
              <a:rPr lang="en-US" sz="2400" dirty="0">
                <a:solidFill>
                  <a:schemeClr val="bg1"/>
                </a:solidFill>
              </a:rPr>
              <a:t>A complete backup.</a:t>
            </a:r>
          </a:p>
          <a:p>
            <a:pPr marL="800100" lvl="1" indent="-342900">
              <a:buFont typeface="Arial" panose="020B0604020202020204" pitchFamily="34" charset="0"/>
              <a:buChar char="•"/>
            </a:pPr>
            <a:r>
              <a:rPr lang="en-US" sz="2400" dirty="0">
                <a:solidFill>
                  <a:schemeClr val="bg1"/>
                </a:solidFill>
              </a:rPr>
              <a:t>Not confused with BMR.</a:t>
            </a:r>
          </a:p>
          <a:p>
            <a:pPr marL="342900" indent="-342900">
              <a:buFont typeface="Arial" panose="020B0604020202020204" pitchFamily="34" charset="0"/>
              <a:buChar char="•"/>
            </a:pPr>
            <a:r>
              <a:rPr lang="en-US" sz="2400" dirty="0">
                <a:solidFill>
                  <a:schemeClr val="bg1"/>
                </a:solidFill>
              </a:rPr>
              <a:t>Incremental Backups</a:t>
            </a:r>
          </a:p>
          <a:p>
            <a:pPr marL="800100" lvl="1" indent="-342900">
              <a:buFont typeface="Arial" panose="020B0604020202020204" pitchFamily="34" charset="0"/>
              <a:buChar char="•"/>
            </a:pPr>
            <a:r>
              <a:rPr lang="en-US" sz="2400" dirty="0">
                <a:solidFill>
                  <a:schemeClr val="bg1"/>
                </a:solidFill>
              </a:rPr>
              <a:t>“Delta” backups. Only copy what’s changed since last backup.</a:t>
            </a:r>
          </a:p>
          <a:p>
            <a:pPr marL="800100" lvl="1" indent="-342900">
              <a:buFont typeface="Arial" panose="020B0604020202020204" pitchFamily="34" charset="0"/>
              <a:buChar char="•"/>
            </a:pPr>
            <a:r>
              <a:rPr lang="en-US" sz="2400" dirty="0">
                <a:solidFill>
                  <a:schemeClr val="bg1"/>
                </a:solidFill>
              </a:rPr>
              <a:t>Not recommended. Restore Chain Dependencies</a:t>
            </a:r>
          </a:p>
          <a:p>
            <a:pPr marL="342900" indent="-342900">
              <a:buFont typeface="Arial" panose="020B0604020202020204" pitchFamily="34" charset="0"/>
              <a:buChar char="•"/>
            </a:pPr>
            <a:r>
              <a:rPr lang="en-US" sz="2400" dirty="0">
                <a:solidFill>
                  <a:schemeClr val="bg1"/>
                </a:solidFill>
              </a:rPr>
              <a:t>Differential backups</a:t>
            </a:r>
          </a:p>
          <a:p>
            <a:pPr marL="800100" lvl="1" indent="-342900">
              <a:buFont typeface="Arial" panose="020B0604020202020204" pitchFamily="34" charset="0"/>
              <a:buChar char="•"/>
            </a:pPr>
            <a:r>
              <a:rPr lang="en-US" sz="2400" dirty="0">
                <a:solidFill>
                  <a:schemeClr val="bg1"/>
                </a:solidFill>
              </a:rPr>
              <a:t>Similar to incremental, except are bound to a full backup. </a:t>
            </a:r>
          </a:p>
          <a:p>
            <a:pPr marL="800100" lvl="1" indent="-342900">
              <a:buFont typeface="Arial" panose="020B0604020202020204" pitchFamily="34" charset="0"/>
              <a:buChar char="•"/>
            </a:pPr>
            <a:r>
              <a:rPr lang="en-US" sz="2400" dirty="0">
                <a:solidFill>
                  <a:schemeClr val="bg1"/>
                </a:solidFill>
              </a:rPr>
              <a:t>Still not recommended. Restore Chain.</a:t>
            </a:r>
          </a:p>
        </p:txBody>
      </p:sp>
      <p:sp>
        <p:nvSpPr>
          <p:cNvPr id="3" name="TextBox 2">
            <a:extLst>
              <a:ext uri="{FF2B5EF4-FFF2-40B4-BE49-F238E27FC236}">
                <a16:creationId xmlns:a16="http://schemas.microsoft.com/office/drawing/2014/main" id="{F6E77AAA-00E2-05F1-43D5-E29A4A3A5121}"/>
              </a:ext>
            </a:extLst>
          </p:cNvPr>
          <p:cNvSpPr txBox="1"/>
          <p:nvPr/>
        </p:nvSpPr>
        <p:spPr>
          <a:xfrm>
            <a:off x="684356" y="1174950"/>
            <a:ext cx="3820148" cy="523220"/>
          </a:xfrm>
          <a:prstGeom prst="rect">
            <a:avLst/>
          </a:prstGeom>
          <a:noFill/>
        </p:spPr>
        <p:txBody>
          <a:bodyPr wrap="none" rtlCol="0">
            <a:spAutoFit/>
          </a:bodyPr>
          <a:lstStyle/>
          <a:p>
            <a:r>
              <a:rPr lang="en-US" sz="2800" b="1" dirty="0">
                <a:solidFill>
                  <a:schemeClr val="bg1"/>
                </a:solidFill>
              </a:rPr>
              <a:t>Backup Types and Terms</a:t>
            </a:r>
          </a:p>
        </p:txBody>
      </p:sp>
    </p:spTree>
    <p:extLst>
      <p:ext uri="{BB962C8B-B14F-4D97-AF65-F5344CB8AC3E}">
        <p14:creationId xmlns:p14="http://schemas.microsoft.com/office/powerpoint/2010/main" val="40973629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28700" y="2080532"/>
            <a:ext cx="8510550" cy="1647825"/>
          </a:xfrm>
          <a:prstGeom prst="rect">
            <a:avLst/>
          </a:prstGeom>
        </p:spPr>
        <p:txBody>
          <a:bodyPr lIns="0" tIns="0" rIns="0" bIns="0" rtlCol="0" anchor="t">
            <a:spAutoFit/>
          </a:bodyPr>
          <a:lstStyle/>
          <a:p>
            <a:pPr algn="just">
              <a:lnSpc>
                <a:spcPts val="3499"/>
              </a:lnSpc>
            </a:pPr>
            <a:r>
              <a:rPr lang="en-US" sz="2499" i="1">
                <a:solidFill>
                  <a:srgbClr val="FFFFFF"/>
                </a:solidFill>
                <a:latin typeface="DM Sans Italics"/>
                <a:ea typeface="DM Sans Italics"/>
                <a:cs typeface="DM Sans Italics"/>
                <a:sym typeface="DM Sans Italics"/>
              </a:rPr>
              <a:t>Business Requirements</a:t>
            </a:r>
          </a:p>
          <a:p>
            <a:pPr marL="755651" lvl="1" indent="-377825" algn="just">
              <a:lnSpc>
                <a:spcPts val="4900"/>
              </a:lnSpc>
              <a:buFont typeface="Arial"/>
              <a:buChar char="•"/>
            </a:pPr>
            <a:r>
              <a:rPr lang="en-US" sz="3500">
                <a:solidFill>
                  <a:srgbClr val="FFFFFF"/>
                </a:solidFill>
                <a:latin typeface="DM Sans"/>
                <a:ea typeface="DM Sans"/>
                <a:cs typeface="DM Sans"/>
                <a:sym typeface="DM Sans"/>
              </a:rPr>
              <a:t>Business Tolerance?</a:t>
            </a:r>
          </a:p>
          <a:p>
            <a:pPr marL="755651" lvl="1" indent="-377825" algn="just">
              <a:lnSpc>
                <a:spcPts val="4900"/>
              </a:lnSpc>
              <a:buFont typeface="Arial"/>
              <a:buChar char="•"/>
            </a:pPr>
            <a:r>
              <a:rPr lang="en-US" sz="3500">
                <a:solidFill>
                  <a:srgbClr val="FFFFFF"/>
                </a:solidFill>
                <a:latin typeface="DM Sans"/>
                <a:ea typeface="DM Sans"/>
                <a:cs typeface="DM Sans"/>
                <a:sym typeface="DM Sans"/>
              </a:rPr>
              <a:t>What are you protecting against?</a:t>
            </a:r>
          </a:p>
        </p:txBody>
      </p:sp>
      <p:sp>
        <p:nvSpPr>
          <p:cNvPr id="6" name="TextBox 6"/>
          <p:cNvSpPr txBox="1"/>
          <p:nvPr/>
        </p:nvSpPr>
        <p:spPr>
          <a:xfrm>
            <a:off x="684356" y="486903"/>
            <a:ext cx="6080263" cy="688047"/>
          </a:xfrm>
          <a:prstGeom prst="rect">
            <a:avLst/>
          </a:prstGeom>
        </p:spPr>
        <p:txBody>
          <a:bodyPr lIns="0" tIns="0" rIns="0" bIns="0" rtlCol="0" anchor="t">
            <a:spAutoFit/>
          </a:bodyPr>
          <a:lstStyle/>
          <a:p>
            <a:pPr marL="0" lvl="0" indent="0" algn="l">
              <a:lnSpc>
                <a:spcPts val="5651"/>
              </a:lnSpc>
              <a:spcBef>
                <a:spcPct val="0"/>
              </a:spcBef>
            </a:pPr>
            <a:r>
              <a:rPr lang="en-US" sz="4036">
                <a:solidFill>
                  <a:srgbClr val="38B6FF"/>
                </a:solidFill>
                <a:latin typeface="Anton"/>
                <a:ea typeface="Anton"/>
                <a:cs typeface="Anton"/>
                <a:sym typeface="Anton"/>
              </a:rPr>
              <a:t>FINDING A GOOD SOLUTION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28700" y="2080532"/>
            <a:ext cx="8510550" cy="1647825"/>
          </a:xfrm>
          <a:prstGeom prst="rect">
            <a:avLst/>
          </a:prstGeom>
        </p:spPr>
        <p:txBody>
          <a:bodyPr lIns="0" tIns="0" rIns="0" bIns="0" rtlCol="0" anchor="t">
            <a:spAutoFit/>
          </a:bodyPr>
          <a:lstStyle/>
          <a:p>
            <a:pPr algn="just">
              <a:lnSpc>
                <a:spcPts val="3499"/>
              </a:lnSpc>
            </a:pPr>
            <a:r>
              <a:rPr lang="en-US" sz="2499" i="1">
                <a:solidFill>
                  <a:srgbClr val="737373"/>
                </a:solidFill>
                <a:latin typeface="DM Sans Italics"/>
                <a:ea typeface="DM Sans Italics"/>
                <a:cs typeface="DM Sans Italics"/>
                <a:sym typeface="DM Sans Italics"/>
              </a:rPr>
              <a:t>Business Requirements</a:t>
            </a:r>
          </a:p>
          <a:p>
            <a:pPr marL="755651" lvl="1" indent="-377825" algn="just">
              <a:lnSpc>
                <a:spcPts val="4900"/>
              </a:lnSpc>
              <a:buFont typeface="Arial"/>
              <a:buChar char="•"/>
            </a:pPr>
            <a:r>
              <a:rPr lang="en-US" sz="3500">
                <a:solidFill>
                  <a:srgbClr val="737373"/>
                </a:solidFill>
                <a:latin typeface="DM Sans"/>
                <a:ea typeface="DM Sans"/>
                <a:cs typeface="DM Sans"/>
                <a:sym typeface="DM Sans"/>
              </a:rPr>
              <a:t>Business Tolerance?</a:t>
            </a:r>
          </a:p>
          <a:p>
            <a:pPr marL="755651" lvl="1" indent="-377825" algn="just">
              <a:lnSpc>
                <a:spcPts val="4900"/>
              </a:lnSpc>
              <a:buFont typeface="Arial"/>
              <a:buChar char="•"/>
            </a:pPr>
            <a:r>
              <a:rPr lang="en-US" sz="3500">
                <a:solidFill>
                  <a:srgbClr val="737373"/>
                </a:solidFill>
                <a:latin typeface="DM Sans"/>
                <a:ea typeface="DM Sans"/>
                <a:cs typeface="DM Sans"/>
                <a:sym typeface="DM Sans"/>
              </a:rPr>
              <a:t>What are you protecting against?</a:t>
            </a:r>
          </a:p>
        </p:txBody>
      </p:sp>
      <p:sp>
        <p:nvSpPr>
          <p:cNvPr id="6" name="TextBox 6"/>
          <p:cNvSpPr txBox="1"/>
          <p:nvPr/>
        </p:nvSpPr>
        <p:spPr>
          <a:xfrm>
            <a:off x="684356" y="486903"/>
            <a:ext cx="6080263" cy="688047"/>
          </a:xfrm>
          <a:prstGeom prst="rect">
            <a:avLst/>
          </a:prstGeom>
        </p:spPr>
        <p:txBody>
          <a:bodyPr lIns="0" tIns="0" rIns="0" bIns="0" rtlCol="0" anchor="t">
            <a:spAutoFit/>
          </a:bodyPr>
          <a:lstStyle/>
          <a:p>
            <a:pPr marL="0" lvl="0" indent="0" algn="l">
              <a:lnSpc>
                <a:spcPts val="5651"/>
              </a:lnSpc>
              <a:spcBef>
                <a:spcPct val="0"/>
              </a:spcBef>
            </a:pPr>
            <a:r>
              <a:rPr lang="en-US" sz="4036">
                <a:solidFill>
                  <a:srgbClr val="38B6FF"/>
                </a:solidFill>
                <a:latin typeface="Anton"/>
                <a:ea typeface="Anton"/>
                <a:cs typeface="Anton"/>
                <a:sym typeface="Anton"/>
              </a:rPr>
              <a:t>FINDING A GOOD SOLUTION</a:t>
            </a:r>
          </a:p>
        </p:txBody>
      </p:sp>
      <p:sp>
        <p:nvSpPr>
          <p:cNvPr id="7" name="TextBox 7"/>
          <p:cNvSpPr txBox="1"/>
          <p:nvPr/>
        </p:nvSpPr>
        <p:spPr>
          <a:xfrm>
            <a:off x="1076985" y="4256624"/>
            <a:ext cx="8510550" cy="422275"/>
          </a:xfrm>
          <a:prstGeom prst="rect">
            <a:avLst/>
          </a:prstGeom>
        </p:spPr>
        <p:txBody>
          <a:bodyPr lIns="0" tIns="0" rIns="0" bIns="0" rtlCol="0" anchor="t">
            <a:spAutoFit/>
          </a:bodyPr>
          <a:lstStyle/>
          <a:p>
            <a:pPr algn="just">
              <a:lnSpc>
                <a:spcPts val="3499"/>
              </a:lnSpc>
            </a:pPr>
            <a:r>
              <a:rPr lang="en-US" sz="2499" i="1">
                <a:solidFill>
                  <a:srgbClr val="FFFFFF"/>
                </a:solidFill>
                <a:latin typeface="DM Sans Italics"/>
                <a:ea typeface="DM Sans Italics"/>
                <a:cs typeface="DM Sans Italics"/>
                <a:sym typeface="DM Sans Italics"/>
              </a:rPr>
              <a:t>Technical Musts</a:t>
            </a:r>
          </a:p>
        </p:txBody>
      </p:sp>
      <p:sp>
        <p:nvSpPr>
          <p:cNvPr id="8" name="TextBox 8"/>
          <p:cNvSpPr txBox="1"/>
          <p:nvPr/>
        </p:nvSpPr>
        <p:spPr>
          <a:xfrm>
            <a:off x="1229385" y="4900946"/>
            <a:ext cx="5535235" cy="606425"/>
          </a:xfrm>
          <a:prstGeom prst="rect">
            <a:avLst/>
          </a:prstGeom>
        </p:spPr>
        <p:txBody>
          <a:bodyPr lIns="0" tIns="0" rIns="0" bIns="0" rtlCol="0" anchor="t">
            <a:spAutoFit/>
          </a:bodyPr>
          <a:lstStyle/>
          <a:p>
            <a:pPr algn="just">
              <a:lnSpc>
                <a:spcPts val="4900"/>
              </a:lnSpc>
            </a:pPr>
            <a:r>
              <a:rPr lang="en-US" sz="3500">
                <a:solidFill>
                  <a:srgbClr val="FFFFFF"/>
                </a:solidFill>
                <a:latin typeface="DM Sans"/>
                <a:ea typeface="DM Sans"/>
                <a:cs typeface="DM Sans"/>
                <a:sym typeface="DM Sans"/>
              </a:rPr>
              <a:t>Can it restore? AD?</a:t>
            </a:r>
          </a:p>
        </p:txBody>
      </p:sp>
      <p:grpSp>
        <p:nvGrpSpPr>
          <p:cNvPr id="9" name="Group 9"/>
          <p:cNvGrpSpPr/>
          <p:nvPr/>
        </p:nvGrpSpPr>
        <p:grpSpPr>
          <a:xfrm>
            <a:off x="13109300" y="350115"/>
            <a:ext cx="2340032" cy="9254061"/>
            <a:chOff x="0" y="0"/>
            <a:chExt cx="3120043" cy="12338749"/>
          </a:xfrm>
        </p:grpSpPr>
        <p:grpSp>
          <p:nvGrpSpPr>
            <p:cNvPr id="10" name="Group 10"/>
            <p:cNvGrpSpPr/>
            <p:nvPr/>
          </p:nvGrpSpPr>
          <p:grpSpPr>
            <a:xfrm>
              <a:off x="232837" y="0"/>
              <a:ext cx="2654369" cy="1202833"/>
              <a:chOff x="0" y="0"/>
              <a:chExt cx="567034" cy="256952"/>
            </a:xfrm>
          </p:grpSpPr>
          <p:sp>
            <p:nvSpPr>
              <p:cNvPr id="11" name="Freeform 11"/>
              <p:cNvSpPr/>
              <p:nvPr/>
            </p:nvSpPr>
            <p:spPr>
              <a:xfrm>
                <a:off x="0" y="0"/>
                <a:ext cx="567034" cy="256952"/>
              </a:xfrm>
              <a:custGeom>
                <a:avLst/>
                <a:gdLst/>
                <a:ahLst/>
                <a:cxnLst/>
                <a:rect l="l" t="t" r="r" b="b"/>
                <a:pathLst>
                  <a:path w="567034" h="256952">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txBody>
              <a:bodyPr/>
              <a:lstStyle/>
              <a:p>
                <a:endParaRPr lang="en-US"/>
              </a:p>
            </p:txBody>
          </p:sp>
          <p:sp>
            <p:nvSpPr>
              <p:cNvPr id="12" name="TextBox 12"/>
              <p:cNvSpPr txBox="1"/>
              <p:nvPr/>
            </p:nvSpPr>
            <p:spPr>
              <a:xfrm>
                <a:off x="0" y="-38100"/>
                <a:ext cx="567034" cy="295052"/>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RECOVER NETWORK</a:t>
                </a:r>
              </a:p>
            </p:txBody>
          </p:sp>
        </p:grpSp>
        <p:grpSp>
          <p:nvGrpSpPr>
            <p:cNvPr id="13" name="Group 13"/>
            <p:cNvGrpSpPr/>
            <p:nvPr/>
          </p:nvGrpSpPr>
          <p:grpSpPr>
            <a:xfrm>
              <a:off x="0" y="3672678"/>
              <a:ext cx="3120043" cy="1790486"/>
              <a:chOff x="0" y="0"/>
              <a:chExt cx="951616" cy="546100"/>
            </a:xfrm>
          </p:grpSpPr>
          <p:sp>
            <p:nvSpPr>
              <p:cNvPr id="14" name="Freeform 14"/>
              <p:cNvSpPr/>
              <p:nvPr/>
            </p:nvSpPr>
            <p:spPr>
              <a:xfrm>
                <a:off x="0" y="0"/>
                <a:ext cx="951616" cy="539683"/>
              </a:xfrm>
              <a:custGeom>
                <a:avLst/>
                <a:gdLst/>
                <a:ahLst/>
                <a:cxnLst/>
                <a:rect l="l" t="t" r="r" b="b"/>
                <a:pathLst>
                  <a:path w="951616" h="539683">
                    <a:moveTo>
                      <a:pt x="0" y="29673"/>
                    </a:moveTo>
                    <a:lnTo>
                      <a:pt x="0" y="300527"/>
                    </a:lnTo>
                    <a:cubicBezTo>
                      <a:pt x="0" y="318596"/>
                      <a:pt x="10567" y="334995"/>
                      <a:pt x="27021" y="342461"/>
                    </a:cubicBezTo>
                    <a:lnTo>
                      <a:pt x="448787" y="533839"/>
                    </a:lnTo>
                    <a:cubicBezTo>
                      <a:pt x="465958" y="541631"/>
                      <a:pt x="485658" y="541631"/>
                      <a:pt x="502829" y="533839"/>
                    </a:cubicBezTo>
                    <a:lnTo>
                      <a:pt x="924595" y="342461"/>
                    </a:lnTo>
                    <a:cubicBezTo>
                      <a:pt x="941049" y="334995"/>
                      <a:pt x="951616" y="318596"/>
                      <a:pt x="951616" y="300527"/>
                    </a:cubicBezTo>
                    <a:lnTo>
                      <a:pt x="951616" y="29673"/>
                    </a:lnTo>
                    <a:cubicBezTo>
                      <a:pt x="951616" y="13285"/>
                      <a:pt x="938331" y="0"/>
                      <a:pt x="921943" y="0"/>
                    </a:cubicBezTo>
                    <a:lnTo>
                      <a:pt x="29673" y="0"/>
                    </a:lnTo>
                    <a:cubicBezTo>
                      <a:pt x="13285" y="0"/>
                      <a:pt x="0" y="13285"/>
                      <a:pt x="0" y="29673"/>
                    </a:cubicBezTo>
                    <a:close/>
                  </a:path>
                </a:pathLst>
              </a:custGeom>
              <a:solidFill>
                <a:srgbClr val="2F7BD1"/>
              </a:solidFill>
              <a:ln cap="sq">
                <a:noFill/>
                <a:prstDash val="solid"/>
                <a:miter/>
              </a:ln>
            </p:spPr>
            <p:txBody>
              <a:bodyPr/>
              <a:lstStyle/>
              <a:p>
                <a:endParaRPr lang="en-US"/>
              </a:p>
            </p:txBody>
          </p:sp>
          <p:sp>
            <p:nvSpPr>
              <p:cNvPr id="15" name="TextBox 15"/>
              <p:cNvSpPr txBox="1"/>
              <p:nvPr/>
            </p:nvSpPr>
            <p:spPr>
              <a:xfrm>
                <a:off x="0" y="-12700"/>
                <a:ext cx="951616" cy="330200"/>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CONNECT STORAGE</a:t>
                </a:r>
              </a:p>
              <a:p>
                <a:pPr algn="ctr">
                  <a:lnSpc>
                    <a:spcPts val="2240"/>
                  </a:lnSpc>
                </a:pPr>
                <a:r>
                  <a:rPr lang="en-US" sz="1600" b="1">
                    <a:solidFill>
                      <a:srgbClr val="FFFFFF"/>
                    </a:solidFill>
                    <a:latin typeface="DM Sans Bold"/>
                    <a:ea typeface="DM Sans Bold"/>
                    <a:cs typeface="DM Sans Bold"/>
                    <a:sym typeface="DM Sans Bold"/>
                  </a:rPr>
                  <a:t>(BACKUPS)</a:t>
                </a:r>
              </a:p>
            </p:txBody>
          </p:sp>
        </p:grpSp>
        <p:grpSp>
          <p:nvGrpSpPr>
            <p:cNvPr id="16" name="Group 16"/>
            <p:cNvGrpSpPr/>
            <p:nvPr/>
          </p:nvGrpSpPr>
          <p:grpSpPr>
            <a:xfrm>
              <a:off x="466045" y="6016200"/>
              <a:ext cx="2187952" cy="2187952"/>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2F7BD1"/>
              </a:solidFill>
            </p:spPr>
            <p:txBody>
              <a:bodyPr/>
              <a:lstStyle/>
              <a:p>
                <a:endParaRPr lang="en-US"/>
              </a:p>
            </p:txBody>
          </p:sp>
          <p:sp>
            <p:nvSpPr>
              <p:cNvPr id="18" name="TextBox 18"/>
              <p:cNvSpPr txBox="1"/>
              <p:nvPr/>
            </p:nvSpPr>
            <p:spPr>
              <a:xfrm>
                <a:off x="152400" y="114300"/>
                <a:ext cx="508000" cy="546100"/>
              </a:xfrm>
              <a:prstGeom prst="rect">
                <a:avLst/>
              </a:prstGeom>
            </p:spPr>
            <p:txBody>
              <a:bodyPr lIns="50800" tIns="50800" rIns="50800" bIns="50800" rtlCol="0" anchor="ctr"/>
              <a:lstStyle/>
              <a:p>
                <a:pPr algn="ctr">
                  <a:lnSpc>
                    <a:spcPts val="2239"/>
                  </a:lnSpc>
                </a:pPr>
                <a:r>
                  <a:rPr lang="en-US" sz="1599" b="1">
                    <a:solidFill>
                      <a:srgbClr val="FFFFFF"/>
                    </a:solidFill>
                    <a:latin typeface="DM Sans Bold"/>
                    <a:ea typeface="DM Sans Bold"/>
                    <a:cs typeface="DM Sans Bold"/>
                    <a:sym typeface="DM Sans Bold"/>
                  </a:rPr>
                  <a:t>RECOVER AD</a:t>
                </a:r>
              </a:p>
            </p:txBody>
          </p:sp>
        </p:grpSp>
        <p:grpSp>
          <p:nvGrpSpPr>
            <p:cNvPr id="19" name="Group 19"/>
            <p:cNvGrpSpPr/>
            <p:nvPr/>
          </p:nvGrpSpPr>
          <p:grpSpPr>
            <a:xfrm>
              <a:off x="670249" y="10472398"/>
              <a:ext cx="1779544" cy="1866351"/>
              <a:chOff x="0" y="0"/>
              <a:chExt cx="520700" cy="546100"/>
            </a:xfrm>
          </p:grpSpPr>
          <p:sp>
            <p:nvSpPr>
              <p:cNvPr id="20" name="Freeform 20"/>
              <p:cNvSpPr/>
              <p:nvPr/>
            </p:nvSpPr>
            <p:spPr>
              <a:xfrm>
                <a:off x="0" y="0"/>
                <a:ext cx="520700" cy="527335"/>
              </a:xfrm>
              <a:custGeom>
                <a:avLst/>
                <a:gdLst/>
                <a:ahLst/>
                <a:cxnLst/>
                <a:rect l="l" t="t" r="r" b="b"/>
                <a:pathLst>
                  <a:path w="520700" h="527335">
                    <a:moveTo>
                      <a:pt x="0" y="52025"/>
                    </a:moveTo>
                    <a:lnTo>
                      <a:pt x="0" y="278175"/>
                    </a:lnTo>
                    <a:cubicBezTo>
                      <a:pt x="0" y="311130"/>
                      <a:pt x="14679" y="342373"/>
                      <a:pt x="40047" y="363409"/>
                    </a:cubicBezTo>
                    <a:lnTo>
                      <a:pt x="220303" y="512891"/>
                    </a:lnTo>
                    <a:cubicBezTo>
                      <a:pt x="243528" y="532150"/>
                      <a:pt x="277172" y="532150"/>
                      <a:pt x="300397" y="512891"/>
                    </a:cubicBezTo>
                    <a:lnTo>
                      <a:pt x="480653" y="363409"/>
                    </a:lnTo>
                    <a:cubicBezTo>
                      <a:pt x="506021" y="342373"/>
                      <a:pt x="520700" y="311130"/>
                      <a:pt x="520700" y="278175"/>
                    </a:cubicBezTo>
                    <a:lnTo>
                      <a:pt x="520700" y="52025"/>
                    </a:lnTo>
                    <a:cubicBezTo>
                      <a:pt x="520700" y="23292"/>
                      <a:pt x="497408" y="0"/>
                      <a:pt x="468675" y="0"/>
                    </a:cubicBezTo>
                    <a:lnTo>
                      <a:pt x="52025" y="0"/>
                    </a:lnTo>
                    <a:cubicBezTo>
                      <a:pt x="23292" y="0"/>
                      <a:pt x="0" y="23292"/>
                      <a:pt x="0" y="52025"/>
                    </a:cubicBezTo>
                    <a:close/>
                  </a:path>
                </a:pathLst>
              </a:custGeom>
              <a:solidFill>
                <a:srgbClr val="2F7BD1"/>
              </a:solidFill>
              <a:ln cap="sq">
                <a:noFill/>
                <a:prstDash val="solid"/>
                <a:miter/>
              </a:ln>
            </p:spPr>
            <p:txBody>
              <a:bodyPr/>
              <a:lstStyle/>
              <a:p>
                <a:endParaRPr lang="en-US"/>
              </a:p>
            </p:txBody>
          </p:sp>
          <p:sp>
            <p:nvSpPr>
              <p:cNvPr id="21" name="TextBox 21"/>
              <p:cNvSpPr txBox="1"/>
              <p:nvPr/>
            </p:nvSpPr>
            <p:spPr>
              <a:xfrm>
                <a:off x="0" y="-12700"/>
                <a:ext cx="520700" cy="330200"/>
              </a:xfrm>
              <a:prstGeom prst="rect">
                <a:avLst/>
              </a:prstGeom>
            </p:spPr>
            <p:txBody>
              <a:bodyPr lIns="50800" tIns="50800" rIns="50800" bIns="50800" rtlCol="0" anchor="ctr"/>
              <a:lstStyle/>
              <a:p>
                <a:pPr algn="ctr">
                  <a:lnSpc>
                    <a:spcPts val="2520"/>
                  </a:lnSpc>
                </a:pPr>
                <a:r>
                  <a:rPr lang="en-US" sz="1800" b="1">
                    <a:solidFill>
                      <a:srgbClr val="FFFFFF"/>
                    </a:solidFill>
                    <a:latin typeface="DM Sans Bold"/>
                    <a:ea typeface="DM Sans Bold"/>
                    <a:cs typeface="DM Sans Bold"/>
                    <a:sym typeface="DM Sans Bold"/>
                  </a:rPr>
                  <a:t>RECOVER APPS</a:t>
                </a:r>
              </a:p>
            </p:txBody>
          </p:sp>
        </p:grpSp>
        <p:grpSp>
          <p:nvGrpSpPr>
            <p:cNvPr id="22" name="Group 22"/>
            <p:cNvGrpSpPr/>
            <p:nvPr/>
          </p:nvGrpSpPr>
          <p:grpSpPr>
            <a:xfrm>
              <a:off x="232837" y="1861488"/>
              <a:ext cx="2654369" cy="1202833"/>
              <a:chOff x="0" y="0"/>
              <a:chExt cx="567034" cy="256952"/>
            </a:xfrm>
          </p:grpSpPr>
          <p:sp>
            <p:nvSpPr>
              <p:cNvPr id="23" name="Freeform 23"/>
              <p:cNvSpPr/>
              <p:nvPr/>
            </p:nvSpPr>
            <p:spPr>
              <a:xfrm>
                <a:off x="0" y="0"/>
                <a:ext cx="567034" cy="256952"/>
              </a:xfrm>
              <a:custGeom>
                <a:avLst/>
                <a:gdLst/>
                <a:ahLst/>
                <a:cxnLst/>
                <a:rect l="l" t="t" r="r" b="b"/>
                <a:pathLst>
                  <a:path w="567034" h="256952">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txBody>
              <a:bodyPr/>
              <a:lstStyle/>
              <a:p>
                <a:endParaRPr lang="en-US"/>
              </a:p>
            </p:txBody>
          </p:sp>
          <p:sp>
            <p:nvSpPr>
              <p:cNvPr id="24" name="TextBox 24"/>
              <p:cNvSpPr txBox="1"/>
              <p:nvPr/>
            </p:nvSpPr>
            <p:spPr>
              <a:xfrm>
                <a:off x="0" y="-38100"/>
                <a:ext cx="567034" cy="295052"/>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RECOVER COMPUTE</a:t>
                </a:r>
              </a:p>
            </p:txBody>
          </p:sp>
        </p:grpSp>
        <p:grpSp>
          <p:nvGrpSpPr>
            <p:cNvPr id="25" name="Group 25"/>
            <p:cNvGrpSpPr/>
            <p:nvPr/>
          </p:nvGrpSpPr>
          <p:grpSpPr>
            <a:xfrm>
              <a:off x="232837" y="8649535"/>
              <a:ext cx="2654369" cy="1202833"/>
              <a:chOff x="0" y="0"/>
              <a:chExt cx="567034" cy="256952"/>
            </a:xfrm>
          </p:grpSpPr>
          <p:sp>
            <p:nvSpPr>
              <p:cNvPr id="26" name="Freeform 26"/>
              <p:cNvSpPr/>
              <p:nvPr/>
            </p:nvSpPr>
            <p:spPr>
              <a:xfrm>
                <a:off x="0" y="0"/>
                <a:ext cx="567034" cy="256952"/>
              </a:xfrm>
              <a:custGeom>
                <a:avLst/>
                <a:gdLst/>
                <a:ahLst/>
                <a:cxnLst/>
                <a:rect l="l" t="t" r="r" b="b"/>
                <a:pathLst>
                  <a:path w="567034" h="256952">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txBody>
              <a:bodyPr/>
              <a:lstStyle/>
              <a:p>
                <a:endParaRPr lang="en-US"/>
              </a:p>
            </p:txBody>
          </p:sp>
          <p:sp>
            <p:nvSpPr>
              <p:cNvPr id="27" name="TextBox 27"/>
              <p:cNvSpPr txBox="1"/>
              <p:nvPr/>
            </p:nvSpPr>
            <p:spPr>
              <a:xfrm>
                <a:off x="0" y="-38100"/>
                <a:ext cx="567034" cy="295052"/>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 RCA</a:t>
                </a:r>
              </a:p>
            </p:txBody>
          </p:sp>
        </p:grpSp>
        <p:grpSp>
          <p:nvGrpSpPr>
            <p:cNvPr id="28" name="Group 28"/>
            <p:cNvGrpSpPr/>
            <p:nvPr/>
          </p:nvGrpSpPr>
          <p:grpSpPr>
            <a:xfrm>
              <a:off x="1238226" y="1036175"/>
              <a:ext cx="643591" cy="802106"/>
              <a:chOff x="0" y="0"/>
              <a:chExt cx="652172" cy="812800"/>
            </a:xfrm>
          </p:grpSpPr>
          <p:sp>
            <p:nvSpPr>
              <p:cNvPr id="29" name="Freeform 29"/>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30" name="TextBox 30"/>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31" name="Group 31"/>
            <p:cNvGrpSpPr/>
            <p:nvPr/>
          </p:nvGrpSpPr>
          <p:grpSpPr>
            <a:xfrm>
              <a:off x="1238226" y="2908403"/>
              <a:ext cx="643591" cy="802106"/>
              <a:chOff x="0" y="0"/>
              <a:chExt cx="652172" cy="812800"/>
            </a:xfrm>
          </p:grpSpPr>
          <p:sp>
            <p:nvSpPr>
              <p:cNvPr id="32" name="Freeform 32"/>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33" name="TextBox 33"/>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34" name="Group 34"/>
            <p:cNvGrpSpPr/>
            <p:nvPr/>
          </p:nvGrpSpPr>
          <p:grpSpPr>
            <a:xfrm>
              <a:off x="1238226" y="5163873"/>
              <a:ext cx="643591" cy="802106"/>
              <a:chOff x="0" y="0"/>
              <a:chExt cx="652172" cy="812800"/>
            </a:xfrm>
          </p:grpSpPr>
          <p:sp>
            <p:nvSpPr>
              <p:cNvPr id="35" name="Freeform 35"/>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36" name="TextBox 36"/>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37" name="Group 37"/>
            <p:cNvGrpSpPr/>
            <p:nvPr/>
          </p:nvGrpSpPr>
          <p:grpSpPr>
            <a:xfrm>
              <a:off x="1238226" y="7847428"/>
              <a:ext cx="643591" cy="802106"/>
              <a:chOff x="0" y="0"/>
              <a:chExt cx="652172" cy="812800"/>
            </a:xfrm>
          </p:grpSpPr>
          <p:sp>
            <p:nvSpPr>
              <p:cNvPr id="38" name="Freeform 38"/>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39" name="TextBox 39"/>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40" name="Group 40"/>
            <p:cNvGrpSpPr/>
            <p:nvPr/>
          </p:nvGrpSpPr>
          <p:grpSpPr>
            <a:xfrm>
              <a:off x="1238226" y="9620892"/>
              <a:ext cx="643591" cy="802106"/>
              <a:chOff x="0" y="0"/>
              <a:chExt cx="652172" cy="812800"/>
            </a:xfrm>
          </p:grpSpPr>
          <p:sp>
            <p:nvSpPr>
              <p:cNvPr id="41" name="Freeform 41"/>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42" name="TextBox 42"/>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28700" y="2080532"/>
            <a:ext cx="8510550" cy="1647825"/>
          </a:xfrm>
          <a:prstGeom prst="rect">
            <a:avLst/>
          </a:prstGeom>
        </p:spPr>
        <p:txBody>
          <a:bodyPr lIns="0" tIns="0" rIns="0" bIns="0" rtlCol="0" anchor="t">
            <a:spAutoFit/>
          </a:bodyPr>
          <a:lstStyle/>
          <a:p>
            <a:pPr algn="just">
              <a:lnSpc>
                <a:spcPts val="3499"/>
              </a:lnSpc>
            </a:pPr>
            <a:r>
              <a:rPr lang="en-US" sz="2499" i="1">
                <a:solidFill>
                  <a:srgbClr val="737373"/>
                </a:solidFill>
                <a:latin typeface="DM Sans Italics"/>
                <a:ea typeface="DM Sans Italics"/>
                <a:cs typeface="DM Sans Italics"/>
                <a:sym typeface="DM Sans Italics"/>
              </a:rPr>
              <a:t>Business Requirements</a:t>
            </a:r>
          </a:p>
          <a:p>
            <a:pPr marL="755651" lvl="1" indent="-377825" algn="just">
              <a:lnSpc>
                <a:spcPts val="4900"/>
              </a:lnSpc>
              <a:buFont typeface="Arial"/>
              <a:buChar char="•"/>
            </a:pPr>
            <a:r>
              <a:rPr lang="en-US" sz="3500">
                <a:solidFill>
                  <a:srgbClr val="737373"/>
                </a:solidFill>
                <a:latin typeface="DM Sans"/>
                <a:ea typeface="DM Sans"/>
                <a:cs typeface="DM Sans"/>
                <a:sym typeface="DM Sans"/>
              </a:rPr>
              <a:t>Business Tolerance?</a:t>
            </a:r>
          </a:p>
          <a:p>
            <a:pPr marL="755651" lvl="1" indent="-377825" algn="just">
              <a:lnSpc>
                <a:spcPts val="4900"/>
              </a:lnSpc>
              <a:buFont typeface="Arial"/>
              <a:buChar char="•"/>
            </a:pPr>
            <a:r>
              <a:rPr lang="en-US" sz="3500">
                <a:solidFill>
                  <a:srgbClr val="737373"/>
                </a:solidFill>
                <a:latin typeface="DM Sans"/>
                <a:ea typeface="DM Sans"/>
                <a:cs typeface="DM Sans"/>
                <a:sym typeface="DM Sans"/>
              </a:rPr>
              <a:t>What are you protecting against?</a:t>
            </a:r>
          </a:p>
        </p:txBody>
      </p:sp>
      <p:sp>
        <p:nvSpPr>
          <p:cNvPr id="6" name="TextBox 6"/>
          <p:cNvSpPr txBox="1"/>
          <p:nvPr/>
        </p:nvSpPr>
        <p:spPr>
          <a:xfrm>
            <a:off x="684356" y="486903"/>
            <a:ext cx="6080263" cy="688047"/>
          </a:xfrm>
          <a:prstGeom prst="rect">
            <a:avLst/>
          </a:prstGeom>
        </p:spPr>
        <p:txBody>
          <a:bodyPr lIns="0" tIns="0" rIns="0" bIns="0" rtlCol="0" anchor="t">
            <a:spAutoFit/>
          </a:bodyPr>
          <a:lstStyle/>
          <a:p>
            <a:pPr marL="0" lvl="0" indent="0" algn="l">
              <a:lnSpc>
                <a:spcPts val="5651"/>
              </a:lnSpc>
              <a:spcBef>
                <a:spcPct val="0"/>
              </a:spcBef>
            </a:pPr>
            <a:r>
              <a:rPr lang="en-US" sz="4036">
                <a:solidFill>
                  <a:srgbClr val="38B6FF"/>
                </a:solidFill>
                <a:latin typeface="Anton"/>
                <a:ea typeface="Anton"/>
                <a:cs typeface="Anton"/>
                <a:sym typeface="Anton"/>
              </a:rPr>
              <a:t>FINDING A GOOD SOLUTION</a:t>
            </a:r>
          </a:p>
        </p:txBody>
      </p:sp>
      <p:sp>
        <p:nvSpPr>
          <p:cNvPr id="7" name="TextBox 7"/>
          <p:cNvSpPr txBox="1"/>
          <p:nvPr/>
        </p:nvSpPr>
        <p:spPr>
          <a:xfrm>
            <a:off x="1076985" y="4256624"/>
            <a:ext cx="8510550" cy="422275"/>
          </a:xfrm>
          <a:prstGeom prst="rect">
            <a:avLst/>
          </a:prstGeom>
        </p:spPr>
        <p:txBody>
          <a:bodyPr lIns="0" tIns="0" rIns="0" bIns="0" rtlCol="0" anchor="t">
            <a:spAutoFit/>
          </a:bodyPr>
          <a:lstStyle/>
          <a:p>
            <a:pPr algn="just">
              <a:lnSpc>
                <a:spcPts val="3499"/>
              </a:lnSpc>
            </a:pPr>
            <a:r>
              <a:rPr lang="en-US" sz="2499" i="1">
                <a:solidFill>
                  <a:srgbClr val="FFFFFF"/>
                </a:solidFill>
                <a:latin typeface="DM Sans Italics"/>
                <a:ea typeface="DM Sans Italics"/>
                <a:cs typeface="DM Sans Italics"/>
                <a:sym typeface="DM Sans Italics"/>
              </a:rPr>
              <a:t>Technical Musts</a:t>
            </a:r>
          </a:p>
        </p:txBody>
      </p:sp>
      <p:sp>
        <p:nvSpPr>
          <p:cNvPr id="8" name="TextBox 8"/>
          <p:cNvSpPr txBox="1"/>
          <p:nvPr/>
        </p:nvSpPr>
        <p:spPr>
          <a:xfrm>
            <a:off x="1229385" y="5651530"/>
            <a:ext cx="5535235" cy="606425"/>
          </a:xfrm>
          <a:prstGeom prst="rect">
            <a:avLst/>
          </a:prstGeom>
        </p:spPr>
        <p:txBody>
          <a:bodyPr lIns="0" tIns="0" rIns="0" bIns="0" rtlCol="0" anchor="t">
            <a:spAutoFit/>
          </a:bodyPr>
          <a:lstStyle/>
          <a:p>
            <a:pPr algn="just">
              <a:lnSpc>
                <a:spcPts val="4900"/>
              </a:lnSpc>
            </a:pPr>
            <a:r>
              <a:rPr lang="en-US" sz="3500">
                <a:solidFill>
                  <a:srgbClr val="FFFFFF"/>
                </a:solidFill>
                <a:latin typeface="DM Sans"/>
                <a:ea typeface="DM Sans"/>
                <a:cs typeface="DM Sans"/>
                <a:sym typeface="DM Sans"/>
              </a:rPr>
              <a:t>Can it be secured?</a:t>
            </a:r>
          </a:p>
        </p:txBody>
      </p:sp>
      <p:sp>
        <p:nvSpPr>
          <p:cNvPr id="9" name="TextBox 9"/>
          <p:cNvSpPr txBox="1"/>
          <p:nvPr/>
        </p:nvSpPr>
        <p:spPr>
          <a:xfrm>
            <a:off x="1229385" y="4900946"/>
            <a:ext cx="5535235" cy="606425"/>
          </a:xfrm>
          <a:prstGeom prst="rect">
            <a:avLst/>
          </a:prstGeom>
        </p:spPr>
        <p:txBody>
          <a:bodyPr lIns="0" tIns="0" rIns="0" bIns="0" rtlCol="0" anchor="t">
            <a:spAutoFit/>
          </a:bodyPr>
          <a:lstStyle/>
          <a:p>
            <a:pPr algn="just">
              <a:lnSpc>
                <a:spcPts val="4900"/>
              </a:lnSpc>
            </a:pPr>
            <a:r>
              <a:rPr lang="en-US" sz="3500">
                <a:solidFill>
                  <a:srgbClr val="767676"/>
                </a:solidFill>
                <a:latin typeface="DM Sans"/>
                <a:ea typeface="DM Sans"/>
                <a:cs typeface="DM Sans"/>
                <a:sym typeface="DM Sans"/>
              </a:rPr>
              <a:t>Can it restore? AD?</a:t>
            </a:r>
          </a:p>
        </p:txBody>
      </p:sp>
      <p:grpSp>
        <p:nvGrpSpPr>
          <p:cNvPr id="10" name="Group 10"/>
          <p:cNvGrpSpPr/>
          <p:nvPr/>
        </p:nvGrpSpPr>
        <p:grpSpPr>
          <a:xfrm>
            <a:off x="13109300" y="350115"/>
            <a:ext cx="2340032" cy="9254061"/>
            <a:chOff x="0" y="0"/>
            <a:chExt cx="3120043" cy="12338749"/>
          </a:xfrm>
        </p:grpSpPr>
        <p:grpSp>
          <p:nvGrpSpPr>
            <p:cNvPr id="11" name="Group 11"/>
            <p:cNvGrpSpPr/>
            <p:nvPr/>
          </p:nvGrpSpPr>
          <p:grpSpPr>
            <a:xfrm>
              <a:off x="232837" y="0"/>
              <a:ext cx="2654369" cy="1202833"/>
              <a:chOff x="0" y="0"/>
              <a:chExt cx="567034" cy="256952"/>
            </a:xfrm>
          </p:grpSpPr>
          <p:sp>
            <p:nvSpPr>
              <p:cNvPr id="12" name="Freeform 12"/>
              <p:cNvSpPr/>
              <p:nvPr/>
            </p:nvSpPr>
            <p:spPr>
              <a:xfrm>
                <a:off x="0" y="0"/>
                <a:ext cx="567034" cy="256952"/>
              </a:xfrm>
              <a:custGeom>
                <a:avLst/>
                <a:gdLst/>
                <a:ahLst/>
                <a:cxnLst/>
                <a:rect l="l" t="t" r="r" b="b"/>
                <a:pathLst>
                  <a:path w="567034" h="256952">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txBody>
              <a:bodyPr/>
              <a:lstStyle/>
              <a:p>
                <a:endParaRPr lang="en-US"/>
              </a:p>
            </p:txBody>
          </p:sp>
          <p:sp>
            <p:nvSpPr>
              <p:cNvPr id="13" name="TextBox 13"/>
              <p:cNvSpPr txBox="1"/>
              <p:nvPr/>
            </p:nvSpPr>
            <p:spPr>
              <a:xfrm>
                <a:off x="0" y="-38100"/>
                <a:ext cx="567034" cy="295052"/>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RECOVER NETWORK</a:t>
                </a:r>
              </a:p>
            </p:txBody>
          </p:sp>
        </p:grpSp>
        <p:grpSp>
          <p:nvGrpSpPr>
            <p:cNvPr id="14" name="Group 14"/>
            <p:cNvGrpSpPr/>
            <p:nvPr/>
          </p:nvGrpSpPr>
          <p:grpSpPr>
            <a:xfrm>
              <a:off x="0" y="3672678"/>
              <a:ext cx="3120043" cy="1790486"/>
              <a:chOff x="0" y="0"/>
              <a:chExt cx="951616" cy="546100"/>
            </a:xfrm>
          </p:grpSpPr>
          <p:sp>
            <p:nvSpPr>
              <p:cNvPr id="15" name="Freeform 15"/>
              <p:cNvSpPr/>
              <p:nvPr/>
            </p:nvSpPr>
            <p:spPr>
              <a:xfrm>
                <a:off x="0" y="0"/>
                <a:ext cx="951616" cy="539683"/>
              </a:xfrm>
              <a:custGeom>
                <a:avLst/>
                <a:gdLst/>
                <a:ahLst/>
                <a:cxnLst/>
                <a:rect l="l" t="t" r="r" b="b"/>
                <a:pathLst>
                  <a:path w="951616" h="539683">
                    <a:moveTo>
                      <a:pt x="0" y="29673"/>
                    </a:moveTo>
                    <a:lnTo>
                      <a:pt x="0" y="300527"/>
                    </a:lnTo>
                    <a:cubicBezTo>
                      <a:pt x="0" y="318596"/>
                      <a:pt x="10567" y="334995"/>
                      <a:pt x="27021" y="342461"/>
                    </a:cubicBezTo>
                    <a:lnTo>
                      <a:pt x="448787" y="533839"/>
                    </a:lnTo>
                    <a:cubicBezTo>
                      <a:pt x="465958" y="541631"/>
                      <a:pt x="485658" y="541631"/>
                      <a:pt x="502829" y="533839"/>
                    </a:cubicBezTo>
                    <a:lnTo>
                      <a:pt x="924595" y="342461"/>
                    </a:lnTo>
                    <a:cubicBezTo>
                      <a:pt x="941049" y="334995"/>
                      <a:pt x="951616" y="318596"/>
                      <a:pt x="951616" y="300527"/>
                    </a:cubicBezTo>
                    <a:lnTo>
                      <a:pt x="951616" y="29673"/>
                    </a:lnTo>
                    <a:cubicBezTo>
                      <a:pt x="951616" y="13285"/>
                      <a:pt x="938331" y="0"/>
                      <a:pt x="921943" y="0"/>
                    </a:cubicBezTo>
                    <a:lnTo>
                      <a:pt x="29673" y="0"/>
                    </a:lnTo>
                    <a:cubicBezTo>
                      <a:pt x="13285" y="0"/>
                      <a:pt x="0" y="13285"/>
                      <a:pt x="0" y="29673"/>
                    </a:cubicBezTo>
                    <a:close/>
                  </a:path>
                </a:pathLst>
              </a:custGeom>
              <a:solidFill>
                <a:srgbClr val="2F7BD1"/>
              </a:solidFill>
              <a:ln cap="sq">
                <a:noFill/>
                <a:prstDash val="solid"/>
                <a:miter/>
              </a:ln>
            </p:spPr>
            <p:txBody>
              <a:bodyPr/>
              <a:lstStyle/>
              <a:p>
                <a:endParaRPr lang="en-US"/>
              </a:p>
            </p:txBody>
          </p:sp>
          <p:sp>
            <p:nvSpPr>
              <p:cNvPr id="16" name="TextBox 16"/>
              <p:cNvSpPr txBox="1"/>
              <p:nvPr/>
            </p:nvSpPr>
            <p:spPr>
              <a:xfrm>
                <a:off x="0" y="-12700"/>
                <a:ext cx="951616" cy="330200"/>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CONNECT STORAGE</a:t>
                </a:r>
              </a:p>
              <a:p>
                <a:pPr algn="ctr">
                  <a:lnSpc>
                    <a:spcPts val="2240"/>
                  </a:lnSpc>
                </a:pPr>
                <a:r>
                  <a:rPr lang="en-US" sz="1600" b="1">
                    <a:solidFill>
                      <a:srgbClr val="FFFFFF"/>
                    </a:solidFill>
                    <a:latin typeface="DM Sans Bold"/>
                    <a:ea typeface="DM Sans Bold"/>
                    <a:cs typeface="DM Sans Bold"/>
                    <a:sym typeface="DM Sans Bold"/>
                  </a:rPr>
                  <a:t>(BACKUPS)</a:t>
                </a:r>
              </a:p>
            </p:txBody>
          </p:sp>
        </p:grpSp>
        <p:grpSp>
          <p:nvGrpSpPr>
            <p:cNvPr id="17" name="Group 17"/>
            <p:cNvGrpSpPr/>
            <p:nvPr/>
          </p:nvGrpSpPr>
          <p:grpSpPr>
            <a:xfrm>
              <a:off x="466045" y="6016200"/>
              <a:ext cx="2187952" cy="2187952"/>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2F7BD1"/>
              </a:solidFill>
            </p:spPr>
            <p:txBody>
              <a:bodyPr/>
              <a:lstStyle/>
              <a:p>
                <a:endParaRPr lang="en-US"/>
              </a:p>
            </p:txBody>
          </p:sp>
          <p:sp>
            <p:nvSpPr>
              <p:cNvPr id="19" name="TextBox 19"/>
              <p:cNvSpPr txBox="1"/>
              <p:nvPr/>
            </p:nvSpPr>
            <p:spPr>
              <a:xfrm>
                <a:off x="152400" y="114300"/>
                <a:ext cx="508000" cy="546100"/>
              </a:xfrm>
              <a:prstGeom prst="rect">
                <a:avLst/>
              </a:prstGeom>
            </p:spPr>
            <p:txBody>
              <a:bodyPr lIns="50800" tIns="50800" rIns="50800" bIns="50800" rtlCol="0" anchor="ctr"/>
              <a:lstStyle/>
              <a:p>
                <a:pPr algn="ctr">
                  <a:lnSpc>
                    <a:spcPts val="2239"/>
                  </a:lnSpc>
                </a:pPr>
                <a:r>
                  <a:rPr lang="en-US" sz="1599" b="1">
                    <a:solidFill>
                      <a:srgbClr val="FFFFFF"/>
                    </a:solidFill>
                    <a:latin typeface="DM Sans Bold"/>
                    <a:ea typeface="DM Sans Bold"/>
                    <a:cs typeface="DM Sans Bold"/>
                    <a:sym typeface="DM Sans Bold"/>
                  </a:rPr>
                  <a:t>RECOVER AD</a:t>
                </a:r>
              </a:p>
            </p:txBody>
          </p:sp>
        </p:grpSp>
        <p:grpSp>
          <p:nvGrpSpPr>
            <p:cNvPr id="20" name="Group 20"/>
            <p:cNvGrpSpPr/>
            <p:nvPr/>
          </p:nvGrpSpPr>
          <p:grpSpPr>
            <a:xfrm>
              <a:off x="670249" y="10472398"/>
              <a:ext cx="1779544" cy="1866351"/>
              <a:chOff x="0" y="0"/>
              <a:chExt cx="520700" cy="546100"/>
            </a:xfrm>
          </p:grpSpPr>
          <p:sp>
            <p:nvSpPr>
              <p:cNvPr id="21" name="Freeform 21"/>
              <p:cNvSpPr/>
              <p:nvPr/>
            </p:nvSpPr>
            <p:spPr>
              <a:xfrm>
                <a:off x="0" y="0"/>
                <a:ext cx="520700" cy="527335"/>
              </a:xfrm>
              <a:custGeom>
                <a:avLst/>
                <a:gdLst/>
                <a:ahLst/>
                <a:cxnLst/>
                <a:rect l="l" t="t" r="r" b="b"/>
                <a:pathLst>
                  <a:path w="520700" h="527335">
                    <a:moveTo>
                      <a:pt x="0" y="52025"/>
                    </a:moveTo>
                    <a:lnTo>
                      <a:pt x="0" y="278175"/>
                    </a:lnTo>
                    <a:cubicBezTo>
                      <a:pt x="0" y="311130"/>
                      <a:pt x="14679" y="342373"/>
                      <a:pt x="40047" y="363409"/>
                    </a:cubicBezTo>
                    <a:lnTo>
                      <a:pt x="220303" y="512891"/>
                    </a:lnTo>
                    <a:cubicBezTo>
                      <a:pt x="243528" y="532150"/>
                      <a:pt x="277172" y="532150"/>
                      <a:pt x="300397" y="512891"/>
                    </a:cubicBezTo>
                    <a:lnTo>
                      <a:pt x="480653" y="363409"/>
                    </a:lnTo>
                    <a:cubicBezTo>
                      <a:pt x="506021" y="342373"/>
                      <a:pt x="520700" y="311130"/>
                      <a:pt x="520700" y="278175"/>
                    </a:cubicBezTo>
                    <a:lnTo>
                      <a:pt x="520700" y="52025"/>
                    </a:lnTo>
                    <a:cubicBezTo>
                      <a:pt x="520700" y="23292"/>
                      <a:pt x="497408" y="0"/>
                      <a:pt x="468675" y="0"/>
                    </a:cubicBezTo>
                    <a:lnTo>
                      <a:pt x="52025" y="0"/>
                    </a:lnTo>
                    <a:cubicBezTo>
                      <a:pt x="23292" y="0"/>
                      <a:pt x="0" y="23292"/>
                      <a:pt x="0" y="52025"/>
                    </a:cubicBezTo>
                    <a:close/>
                  </a:path>
                </a:pathLst>
              </a:custGeom>
              <a:solidFill>
                <a:srgbClr val="2F7BD1"/>
              </a:solidFill>
              <a:ln cap="sq">
                <a:noFill/>
                <a:prstDash val="solid"/>
                <a:miter/>
              </a:ln>
            </p:spPr>
            <p:txBody>
              <a:bodyPr/>
              <a:lstStyle/>
              <a:p>
                <a:endParaRPr lang="en-US"/>
              </a:p>
            </p:txBody>
          </p:sp>
          <p:sp>
            <p:nvSpPr>
              <p:cNvPr id="22" name="TextBox 22"/>
              <p:cNvSpPr txBox="1"/>
              <p:nvPr/>
            </p:nvSpPr>
            <p:spPr>
              <a:xfrm>
                <a:off x="0" y="-12700"/>
                <a:ext cx="520700" cy="330200"/>
              </a:xfrm>
              <a:prstGeom prst="rect">
                <a:avLst/>
              </a:prstGeom>
            </p:spPr>
            <p:txBody>
              <a:bodyPr lIns="50800" tIns="50800" rIns="50800" bIns="50800" rtlCol="0" anchor="ctr"/>
              <a:lstStyle/>
              <a:p>
                <a:pPr algn="ctr">
                  <a:lnSpc>
                    <a:spcPts val="2520"/>
                  </a:lnSpc>
                </a:pPr>
                <a:r>
                  <a:rPr lang="en-US" sz="1800" b="1">
                    <a:solidFill>
                      <a:srgbClr val="FFFFFF"/>
                    </a:solidFill>
                    <a:latin typeface="DM Sans Bold"/>
                    <a:ea typeface="DM Sans Bold"/>
                    <a:cs typeface="DM Sans Bold"/>
                    <a:sym typeface="DM Sans Bold"/>
                  </a:rPr>
                  <a:t>RECOVER APPS</a:t>
                </a:r>
              </a:p>
            </p:txBody>
          </p:sp>
        </p:grpSp>
        <p:grpSp>
          <p:nvGrpSpPr>
            <p:cNvPr id="23" name="Group 23"/>
            <p:cNvGrpSpPr/>
            <p:nvPr/>
          </p:nvGrpSpPr>
          <p:grpSpPr>
            <a:xfrm>
              <a:off x="232837" y="1861488"/>
              <a:ext cx="2654369" cy="1202833"/>
              <a:chOff x="0" y="0"/>
              <a:chExt cx="567034" cy="256952"/>
            </a:xfrm>
          </p:grpSpPr>
          <p:sp>
            <p:nvSpPr>
              <p:cNvPr id="24" name="Freeform 24"/>
              <p:cNvSpPr/>
              <p:nvPr/>
            </p:nvSpPr>
            <p:spPr>
              <a:xfrm>
                <a:off x="0" y="0"/>
                <a:ext cx="567034" cy="256952"/>
              </a:xfrm>
              <a:custGeom>
                <a:avLst/>
                <a:gdLst/>
                <a:ahLst/>
                <a:cxnLst/>
                <a:rect l="l" t="t" r="r" b="b"/>
                <a:pathLst>
                  <a:path w="567034" h="256952">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txBody>
              <a:bodyPr/>
              <a:lstStyle/>
              <a:p>
                <a:endParaRPr lang="en-US"/>
              </a:p>
            </p:txBody>
          </p:sp>
          <p:sp>
            <p:nvSpPr>
              <p:cNvPr id="25" name="TextBox 25"/>
              <p:cNvSpPr txBox="1"/>
              <p:nvPr/>
            </p:nvSpPr>
            <p:spPr>
              <a:xfrm>
                <a:off x="0" y="-38100"/>
                <a:ext cx="567034" cy="295052"/>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RECOVER COMPUTE</a:t>
                </a:r>
              </a:p>
            </p:txBody>
          </p:sp>
        </p:grpSp>
        <p:grpSp>
          <p:nvGrpSpPr>
            <p:cNvPr id="26" name="Group 26"/>
            <p:cNvGrpSpPr/>
            <p:nvPr/>
          </p:nvGrpSpPr>
          <p:grpSpPr>
            <a:xfrm>
              <a:off x="232837" y="8649535"/>
              <a:ext cx="2654369" cy="1202833"/>
              <a:chOff x="0" y="0"/>
              <a:chExt cx="567034" cy="256952"/>
            </a:xfrm>
          </p:grpSpPr>
          <p:sp>
            <p:nvSpPr>
              <p:cNvPr id="27" name="Freeform 27"/>
              <p:cNvSpPr/>
              <p:nvPr/>
            </p:nvSpPr>
            <p:spPr>
              <a:xfrm>
                <a:off x="0" y="0"/>
                <a:ext cx="567034" cy="256952"/>
              </a:xfrm>
              <a:custGeom>
                <a:avLst/>
                <a:gdLst/>
                <a:ahLst/>
                <a:cxnLst/>
                <a:rect l="l" t="t" r="r" b="b"/>
                <a:pathLst>
                  <a:path w="567034" h="256952">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txBody>
              <a:bodyPr/>
              <a:lstStyle/>
              <a:p>
                <a:endParaRPr lang="en-US"/>
              </a:p>
            </p:txBody>
          </p:sp>
          <p:sp>
            <p:nvSpPr>
              <p:cNvPr id="28" name="TextBox 28"/>
              <p:cNvSpPr txBox="1"/>
              <p:nvPr/>
            </p:nvSpPr>
            <p:spPr>
              <a:xfrm>
                <a:off x="0" y="-38100"/>
                <a:ext cx="567034" cy="295052"/>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 RCA</a:t>
                </a:r>
              </a:p>
            </p:txBody>
          </p:sp>
        </p:grpSp>
        <p:grpSp>
          <p:nvGrpSpPr>
            <p:cNvPr id="29" name="Group 29"/>
            <p:cNvGrpSpPr/>
            <p:nvPr/>
          </p:nvGrpSpPr>
          <p:grpSpPr>
            <a:xfrm>
              <a:off x="1238226" y="1036175"/>
              <a:ext cx="643591" cy="802106"/>
              <a:chOff x="0" y="0"/>
              <a:chExt cx="652172" cy="812800"/>
            </a:xfrm>
          </p:grpSpPr>
          <p:sp>
            <p:nvSpPr>
              <p:cNvPr id="30" name="Freeform 30"/>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31" name="TextBox 31"/>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32" name="Group 32"/>
            <p:cNvGrpSpPr/>
            <p:nvPr/>
          </p:nvGrpSpPr>
          <p:grpSpPr>
            <a:xfrm>
              <a:off x="1238226" y="2908403"/>
              <a:ext cx="643591" cy="802106"/>
              <a:chOff x="0" y="0"/>
              <a:chExt cx="652172" cy="812800"/>
            </a:xfrm>
          </p:grpSpPr>
          <p:sp>
            <p:nvSpPr>
              <p:cNvPr id="33" name="Freeform 33"/>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34" name="TextBox 34"/>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35" name="Group 35"/>
            <p:cNvGrpSpPr/>
            <p:nvPr/>
          </p:nvGrpSpPr>
          <p:grpSpPr>
            <a:xfrm>
              <a:off x="1238226" y="5163873"/>
              <a:ext cx="643591" cy="802106"/>
              <a:chOff x="0" y="0"/>
              <a:chExt cx="652172" cy="812800"/>
            </a:xfrm>
          </p:grpSpPr>
          <p:sp>
            <p:nvSpPr>
              <p:cNvPr id="36" name="Freeform 36"/>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37" name="TextBox 37"/>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38" name="Group 38"/>
            <p:cNvGrpSpPr/>
            <p:nvPr/>
          </p:nvGrpSpPr>
          <p:grpSpPr>
            <a:xfrm>
              <a:off x="1238226" y="7847428"/>
              <a:ext cx="643591" cy="802106"/>
              <a:chOff x="0" y="0"/>
              <a:chExt cx="652172" cy="812800"/>
            </a:xfrm>
          </p:grpSpPr>
          <p:sp>
            <p:nvSpPr>
              <p:cNvPr id="39" name="Freeform 39"/>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40" name="TextBox 40"/>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41" name="Group 41"/>
            <p:cNvGrpSpPr/>
            <p:nvPr/>
          </p:nvGrpSpPr>
          <p:grpSpPr>
            <a:xfrm>
              <a:off x="1238226" y="9620892"/>
              <a:ext cx="643591" cy="802106"/>
              <a:chOff x="0" y="0"/>
              <a:chExt cx="652172" cy="812800"/>
            </a:xfrm>
          </p:grpSpPr>
          <p:sp>
            <p:nvSpPr>
              <p:cNvPr id="42" name="Freeform 42"/>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43" name="TextBox 43"/>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28700" y="2080532"/>
            <a:ext cx="8510550" cy="1647825"/>
          </a:xfrm>
          <a:prstGeom prst="rect">
            <a:avLst/>
          </a:prstGeom>
        </p:spPr>
        <p:txBody>
          <a:bodyPr lIns="0" tIns="0" rIns="0" bIns="0" rtlCol="0" anchor="t">
            <a:spAutoFit/>
          </a:bodyPr>
          <a:lstStyle/>
          <a:p>
            <a:pPr algn="just">
              <a:lnSpc>
                <a:spcPts val="3499"/>
              </a:lnSpc>
            </a:pPr>
            <a:r>
              <a:rPr lang="en-US" sz="2499" i="1">
                <a:solidFill>
                  <a:srgbClr val="737373"/>
                </a:solidFill>
                <a:latin typeface="DM Sans Italics"/>
                <a:ea typeface="DM Sans Italics"/>
                <a:cs typeface="DM Sans Italics"/>
                <a:sym typeface="DM Sans Italics"/>
              </a:rPr>
              <a:t>Business Requirements</a:t>
            </a:r>
          </a:p>
          <a:p>
            <a:pPr marL="755651" lvl="1" indent="-377825" algn="just">
              <a:lnSpc>
                <a:spcPts val="4900"/>
              </a:lnSpc>
              <a:buFont typeface="Arial"/>
              <a:buChar char="•"/>
            </a:pPr>
            <a:r>
              <a:rPr lang="en-US" sz="3500">
                <a:solidFill>
                  <a:srgbClr val="737373"/>
                </a:solidFill>
                <a:latin typeface="DM Sans"/>
                <a:ea typeface="DM Sans"/>
                <a:cs typeface="DM Sans"/>
                <a:sym typeface="DM Sans"/>
              </a:rPr>
              <a:t>Business Tolerance?</a:t>
            </a:r>
          </a:p>
          <a:p>
            <a:pPr marL="755651" lvl="1" indent="-377825" algn="just">
              <a:lnSpc>
                <a:spcPts val="4900"/>
              </a:lnSpc>
              <a:buFont typeface="Arial"/>
              <a:buChar char="•"/>
            </a:pPr>
            <a:r>
              <a:rPr lang="en-US" sz="3500">
                <a:solidFill>
                  <a:srgbClr val="737373"/>
                </a:solidFill>
                <a:latin typeface="DM Sans"/>
                <a:ea typeface="DM Sans"/>
                <a:cs typeface="DM Sans"/>
                <a:sym typeface="DM Sans"/>
              </a:rPr>
              <a:t>What are you protecting against?</a:t>
            </a:r>
          </a:p>
        </p:txBody>
      </p:sp>
      <p:sp>
        <p:nvSpPr>
          <p:cNvPr id="6" name="TextBox 6"/>
          <p:cNvSpPr txBox="1"/>
          <p:nvPr/>
        </p:nvSpPr>
        <p:spPr>
          <a:xfrm>
            <a:off x="684356" y="486903"/>
            <a:ext cx="6080263" cy="688047"/>
          </a:xfrm>
          <a:prstGeom prst="rect">
            <a:avLst/>
          </a:prstGeom>
        </p:spPr>
        <p:txBody>
          <a:bodyPr lIns="0" tIns="0" rIns="0" bIns="0" rtlCol="0" anchor="t">
            <a:spAutoFit/>
          </a:bodyPr>
          <a:lstStyle/>
          <a:p>
            <a:pPr marL="0" lvl="0" indent="0" algn="l">
              <a:lnSpc>
                <a:spcPts val="5651"/>
              </a:lnSpc>
              <a:spcBef>
                <a:spcPct val="0"/>
              </a:spcBef>
            </a:pPr>
            <a:r>
              <a:rPr lang="en-US" sz="4036">
                <a:solidFill>
                  <a:srgbClr val="38B6FF"/>
                </a:solidFill>
                <a:latin typeface="Anton"/>
                <a:ea typeface="Anton"/>
                <a:cs typeface="Anton"/>
                <a:sym typeface="Anton"/>
              </a:rPr>
              <a:t>FINDING A GOOD SOLUTION</a:t>
            </a:r>
          </a:p>
        </p:txBody>
      </p:sp>
      <p:sp>
        <p:nvSpPr>
          <p:cNvPr id="7" name="TextBox 7"/>
          <p:cNvSpPr txBox="1"/>
          <p:nvPr/>
        </p:nvSpPr>
        <p:spPr>
          <a:xfrm>
            <a:off x="1076985" y="4256624"/>
            <a:ext cx="8510550" cy="422275"/>
          </a:xfrm>
          <a:prstGeom prst="rect">
            <a:avLst/>
          </a:prstGeom>
        </p:spPr>
        <p:txBody>
          <a:bodyPr lIns="0" tIns="0" rIns="0" bIns="0" rtlCol="0" anchor="t">
            <a:spAutoFit/>
          </a:bodyPr>
          <a:lstStyle/>
          <a:p>
            <a:pPr algn="just">
              <a:lnSpc>
                <a:spcPts val="3499"/>
              </a:lnSpc>
            </a:pPr>
            <a:r>
              <a:rPr lang="en-US" sz="2499" i="1">
                <a:solidFill>
                  <a:srgbClr val="FFFFFF"/>
                </a:solidFill>
                <a:latin typeface="DM Sans Italics"/>
                <a:ea typeface="DM Sans Italics"/>
                <a:cs typeface="DM Sans Italics"/>
                <a:sym typeface="DM Sans Italics"/>
              </a:rPr>
              <a:t>Technical Musts</a:t>
            </a:r>
          </a:p>
        </p:txBody>
      </p:sp>
      <p:sp>
        <p:nvSpPr>
          <p:cNvPr id="8" name="TextBox 8"/>
          <p:cNvSpPr txBox="1"/>
          <p:nvPr/>
        </p:nvSpPr>
        <p:spPr>
          <a:xfrm>
            <a:off x="1229385" y="5651530"/>
            <a:ext cx="5535235" cy="606425"/>
          </a:xfrm>
          <a:prstGeom prst="rect">
            <a:avLst/>
          </a:prstGeom>
        </p:spPr>
        <p:txBody>
          <a:bodyPr lIns="0" tIns="0" rIns="0" bIns="0" rtlCol="0" anchor="t">
            <a:spAutoFit/>
          </a:bodyPr>
          <a:lstStyle/>
          <a:p>
            <a:pPr algn="just">
              <a:lnSpc>
                <a:spcPts val="4900"/>
              </a:lnSpc>
            </a:pPr>
            <a:r>
              <a:rPr lang="en-US" sz="3500">
                <a:solidFill>
                  <a:srgbClr val="767676"/>
                </a:solidFill>
                <a:latin typeface="DM Sans"/>
                <a:ea typeface="DM Sans"/>
                <a:cs typeface="DM Sans"/>
                <a:sym typeface="DM Sans"/>
              </a:rPr>
              <a:t>Can it be secured?</a:t>
            </a:r>
          </a:p>
        </p:txBody>
      </p:sp>
      <p:sp>
        <p:nvSpPr>
          <p:cNvPr id="9" name="TextBox 9"/>
          <p:cNvSpPr txBox="1"/>
          <p:nvPr/>
        </p:nvSpPr>
        <p:spPr>
          <a:xfrm>
            <a:off x="1229385" y="4900946"/>
            <a:ext cx="5535235" cy="606425"/>
          </a:xfrm>
          <a:prstGeom prst="rect">
            <a:avLst/>
          </a:prstGeom>
        </p:spPr>
        <p:txBody>
          <a:bodyPr lIns="0" tIns="0" rIns="0" bIns="0" rtlCol="0" anchor="t">
            <a:spAutoFit/>
          </a:bodyPr>
          <a:lstStyle/>
          <a:p>
            <a:pPr algn="just">
              <a:lnSpc>
                <a:spcPts val="4900"/>
              </a:lnSpc>
            </a:pPr>
            <a:r>
              <a:rPr lang="en-US" sz="3500">
                <a:solidFill>
                  <a:srgbClr val="767676"/>
                </a:solidFill>
                <a:latin typeface="DM Sans"/>
                <a:ea typeface="DM Sans"/>
                <a:cs typeface="DM Sans"/>
                <a:sym typeface="DM Sans"/>
              </a:rPr>
              <a:t>Can it restore? AD?</a:t>
            </a:r>
          </a:p>
        </p:txBody>
      </p:sp>
      <p:sp>
        <p:nvSpPr>
          <p:cNvPr id="10" name="TextBox 10"/>
          <p:cNvSpPr txBox="1"/>
          <p:nvPr/>
        </p:nvSpPr>
        <p:spPr>
          <a:xfrm>
            <a:off x="1229385" y="6402115"/>
            <a:ext cx="5535235" cy="606425"/>
          </a:xfrm>
          <a:prstGeom prst="rect">
            <a:avLst/>
          </a:prstGeom>
        </p:spPr>
        <p:txBody>
          <a:bodyPr lIns="0" tIns="0" rIns="0" bIns="0" rtlCol="0" anchor="t">
            <a:spAutoFit/>
          </a:bodyPr>
          <a:lstStyle/>
          <a:p>
            <a:pPr algn="just">
              <a:lnSpc>
                <a:spcPts val="4900"/>
              </a:lnSpc>
            </a:pPr>
            <a:r>
              <a:rPr lang="en-US" sz="3500">
                <a:solidFill>
                  <a:srgbClr val="FFFFFF"/>
                </a:solidFill>
                <a:latin typeface="DM Sans"/>
                <a:ea typeface="DM Sans"/>
                <a:cs typeface="DM Sans"/>
                <a:sym typeface="DM Sans"/>
              </a:rPr>
              <a:t>Is it supported?</a:t>
            </a:r>
          </a:p>
        </p:txBody>
      </p:sp>
      <p:grpSp>
        <p:nvGrpSpPr>
          <p:cNvPr id="11" name="Group 11"/>
          <p:cNvGrpSpPr/>
          <p:nvPr/>
        </p:nvGrpSpPr>
        <p:grpSpPr>
          <a:xfrm>
            <a:off x="13109300" y="350115"/>
            <a:ext cx="2340032" cy="9254061"/>
            <a:chOff x="0" y="0"/>
            <a:chExt cx="3120043" cy="12338749"/>
          </a:xfrm>
        </p:grpSpPr>
        <p:grpSp>
          <p:nvGrpSpPr>
            <p:cNvPr id="12" name="Group 12"/>
            <p:cNvGrpSpPr/>
            <p:nvPr/>
          </p:nvGrpSpPr>
          <p:grpSpPr>
            <a:xfrm>
              <a:off x="232837" y="0"/>
              <a:ext cx="2654369" cy="1202833"/>
              <a:chOff x="0" y="0"/>
              <a:chExt cx="567034" cy="256952"/>
            </a:xfrm>
          </p:grpSpPr>
          <p:sp>
            <p:nvSpPr>
              <p:cNvPr id="13" name="Freeform 13"/>
              <p:cNvSpPr/>
              <p:nvPr/>
            </p:nvSpPr>
            <p:spPr>
              <a:xfrm>
                <a:off x="0" y="0"/>
                <a:ext cx="567034" cy="256952"/>
              </a:xfrm>
              <a:custGeom>
                <a:avLst/>
                <a:gdLst/>
                <a:ahLst/>
                <a:cxnLst/>
                <a:rect l="l" t="t" r="r" b="b"/>
                <a:pathLst>
                  <a:path w="567034" h="256952">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txBody>
              <a:bodyPr/>
              <a:lstStyle/>
              <a:p>
                <a:endParaRPr lang="en-US"/>
              </a:p>
            </p:txBody>
          </p:sp>
          <p:sp>
            <p:nvSpPr>
              <p:cNvPr id="14" name="TextBox 14"/>
              <p:cNvSpPr txBox="1"/>
              <p:nvPr/>
            </p:nvSpPr>
            <p:spPr>
              <a:xfrm>
                <a:off x="0" y="-38100"/>
                <a:ext cx="567034" cy="295052"/>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RECOVER NETWORK</a:t>
                </a:r>
              </a:p>
            </p:txBody>
          </p:sp>
        </p:grpSp>
        <p:grpSp>
          <p:nvGrpSpPr>
            <p:cNvPr id="15" name="Group 15"/>
            <p:cNvGrpSpPr/>
            <p:nvPr/>
          </p:nvGrpSpPr>
          <p:grpSpPr>
            <a:xfrm>
              <a:off x="0" y="3672678"/>
              <a:ext cx="3120043" cy="1790486"/>
              <a:chOff x="0" y="0"/>
              <a:chExt cx="951616" cy="546100"/>
            </a:xfrm>
          </p:grpSpPr>
          <p:sp>
            <p:nvSpPr>
              <p:cNvPr id="16" name="Freeform 16"/>
              <p:cNvSpPr/>
              <p:nvPr/>
            </p:nvSpPr>
            <p:spPr>
              <a:xfrm>
                <a:off x="0" y="0"/>
                <a:ext cx="951616" cy="539683"/>
              </a:xfrm>
              <a:custGeom>
                <a:avLst/>
                <a:gdLst/>
                <a:ahLst/>
                <a:cxnLst/>
                <a:rect l="l" t="t" r="r" b="b"/>
                <a:pathLst>
                  <a:path w="951616" h="539683">
                    <a:moveTo>
                      <a:pt x="0" y="29673"/>
                    </a:moveTo>
                    <a:lnTo>
                      <a:pt x="0" y="300527"/>
                    </a:lnTo>
                    <a:cubicBezTo>
                      <a:pt x="0" y="318596"/>
                      <a:pt x="10567" y="334995"/>
                      <a:pt x="27021" y="342461"/>
                    </a:cubicBezTo>
                    <a:lnTo>
                      <a:pt x="448787" y="533839"/>
                    </a:lnTo>
                    <a:cubicBezTo>
                      <a:pt x="465958" y="541631"/>
                      <a:pt x="485658" y="541631"/>
                      <a:pt x="502829" y="533839"/>
                    </a:cubicBezTo>
                    <a:lnTo>
                      <a:pt x="924595" y="342461"/>
                    </a:lnTo>
                    <a:cubicBezTo>
                      <a:pt x="941049" y="334995"/>
                      <a:pt x="951616" y="318596"/>
                      <a:pt x="951616" y="300527"/>
                    </a:cubicBezTo>
                    <a:lnTo>
                      <a:pt x="951616" y="29673"/>
                    </a:lnTo>
                    <a:cubicBezTo>
                      <a:pt x="951616" y="13285"/>
                      <a:pt x="938331" y="0"/>
                      <a:pt x="921943" y="0"/>
                    </a:cubicBezTo>
                    <a:lnTo>
                      <a:pt x="29673" y="0"/>
                    </a:lnTo>
                    <a:cubicBezTo>
                      <a:pt x="13285" y="0"/>
                      <a:pt x="0" y="13285"/>
                      <a:pt x="0" y="29673"/>
                    </a:cubicBezTo>
                    <a:close/>
                  </a:path>
                </a:pathLst>
              </a:custGeom>
              <a:solidFill>
                <a:srgbClr val="2F7BD1"/>
              </a:solidFill>
              <a:ln cap="sq">
                <a:noFill/>
                <a:prstDash val="solid"/>
                <a:miter/>
              </a:ln>
            </p:spPr>
            <p:txBody>
              <a:bodyPr/>
              <a:lstStyle/>
              <a:p>
                <a:endParaRPr lang="en-US"/>
              </a:p>
            </p:txBody>
          </p:sp>
          <p:sp>
            <p:nvSpPr>
              <p:cNvPr id="17" name="TextBox 17"/>
              <p:cNvSpPr txBox="1"/>
              <p:nvPr/>
            </p:nvSpPr>
            <p:spPr>
              <a:xfrm>
                <a:off x="0" y="-12700"/>
                <a:ext cx="951616" cy="330200"/>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CONNECT STORAGE</a:t>
                </a:r>
              </a:p>
              <a:p>
                <a:pPr algn="ctr">
                  <a:lnSpc>
                    <a:spcPts val="2240"/>
                  </a:lnSpc>
                </a:pPr>
                <a:r>
                  <a:rPr lang="en-US" sz="1600" b="1">
                    <a:solidFill>
                      <a:srgbClr val="FFFFFF"/>
                    </a:solidFill>
                    <a:latin typeface="DM Sans Bold"/>
                    <a:ea typeface="DM Sans Bold"/>
                    <a:cs typeface="DM Sans Bold"/>
                    <a:sym typeface="DM Sans Bold"/>
                  </a:rPr>
                  <a:t>(BACKUPS)</a:t>
                </a:r>
              </a:p>
            </p:txBody>
          </p:sp>
        </p:grpSp>
        <p:grpSp>
          <p:nvGrpSpPr>
            <p:cNvPr id="18" name="Group 18"/>
            <p:cNvGrpSpPr/>
            <p:nvPr/>
          </p:nvGrpSpPr>
          <p:grpSpPr>
            <a:xfrm>
              <a:off x="466045" y="6016200"/>
              <a:ext cx="2187952" cy="218795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2F7BD1"/>
              </a:solidFill>
            </p:spPr>
            <p:txBody>
              <a:bodyPr/>
              <a:lstStyle/>
              <a:p>
                <a:endParaRPr lang="en-US"/>
              </a:p>
            </p:txBody>
          </p:sp>
          <p:sp>
            <p:nvSpPr>
              <p:cNvPr id="20" name="TextBox 20"/>
              <p:cNvSpPr txBox="1"/>
              <p:nvPr/>
            </p:nvSpPr>
            <p:spPr>
              <a:xfrm>
                <a:off x="152400" y="114300"/>
                <a:ext cx="508000" cy="546100"/>
              </a:xfrm>
              <a:prstGeom prst="rect">
                <a:avLst/>
              </a:prstGeom>
            </p:spPr>
            <p:txBody>
              <a:bodyPr lIns="50800" tIns="50800" rIns="50800" bIns="50800" rtlCol="0" anchor="ctr"/>
              <a:lstStyle/>
              <a:p>
                <a:pPr algn="ctr">
                  <a:lnSpc>
                    <a:spcPts val="2239"/>
                  </a:lnSpc>
                </a:pPr>
                <a:r>
                  <a:rPr lang="en-US" sz="1599" b="1">
                    <a:solidFill>
                      <a:srgbClr val="FFFFFF"/>
                    </a:solidFill>
                    <a:latin typeface="DM Sans Bold"/>
                    <a:ea typeface="DM Sans Bold"/>
                    <a:cs typeface="DM Sans Bold"/>
                    <a:sym typeface="DM Sans Bold"/>
                  </a:rPr>
                  <a:t>RECOVER AD</a:t>
                </a:r>
              </a:p>
            </p:txBody>
          </p:sp>
        </p:grpSp>
        <p:grpSp>
          <p:nvGrpSpPr>
            <p:cNvPr id="21" name="Group 21"/>
            <p:cNvGrpSpPr/>
            <p:nvPr/>
          </p:nvGrpSpPr>
          <p:grpSpPr>
            <a:xfrm>
              <a:off x="670249" y="10472398"/>
              <a:ext cx="1779544" cy="1866351"/>
              <a:chOff x="0" y="0"/>
              <a:chExt cx="520700" cy="546100"/>
            </a:xfrm>
          </p:grpSpPr>
          <p:sp>
            <p:nvSpPr>
              <p:cNvPr id="22" name="Freeform 22"/>
              <p:cNvSpPr/>
              <p:nvPr/>
            </p:nvSpPr>
            <p:spPr>
              <a:xfrm>
                <a:off x="0" y="0"/>
                <a:ext cx="520700" cy="527335"/>
              </a:xfrm>
              <a:custGeom>
                <a:avLst/>
                <a:gdLst/>
                <a:ahLst/>
                <a:cxnLst/>
                <a:rect l="l" t="t" r="r" b="b"/>
                <a:pathLst>
                  <a:path w="520700" h="527335">
                    <a:moveTo>
                      <a:pt x="0" y="52025"/>
                    </a:moveTo>
                    <a:lnTo>
                      <a:pt x="0" y="278175"/>
                    </a:lnTo>
                    <a:cubicBezTo>
                      <a:pt x="0" y="311130"/>
                      <a:pt x="14679" y="342373"/>
                      <a:pt x="40047" y="363409"/>
                    </a:cubicBezTo>
                    <a:lnTo>
                      <a:pt x="220303" y="512891"/>
                    </a:lnTo>
                    <a:cubicBezTo>
                      <a:pt x="243528" y="532150"/>
                      <a:pt x="277172" y="532150"/>
                      <a:pt x="300397" y="512891"/>
                    </a:cubicBezTo>
                    <a:lnTo>
                      <a:pt x="480653" y="363409"/>
                    </a:lnTo>
                    <a:cubicBezTo>
                      <a:pt x="506021" y="342373"/>
                      <a:pt x="520700" y="311130"/>
                      <a:pt x="520700" y="278175"/>
                    </a:cubicBezTo>
                    <a:lnTo>
                      <a:pt x="520700" y="52025"/>
                    </a:lnTo>
                    <a:cubicBezTo>
                      <a:pt x="520700" y="23292"/>
                      <a:pt x="497408" y="0"/>
                      <a:pt x="468675" y="0"/>
                    </a:cubicBezTo>
                    <a:lnTo>
                      <a:pt x="52025" y="0"/>
                    </a:lnTo>
                    <a:cubicBezTo>
                      <a:pt x="23292" y="0"/>
                      <a:pt x="0" y="23292"/>
                      <a:pt x="0" y="52025"/>
                    </a:cubicBezTo>
                    <a:close/>
                  </a:path>
                </a:pathLst>
              </a:custGeom>
              <a:solidFill>
                <a:srgbClr val="2F7BD1"/>
              </a:solidFill>
              <a:ln cap="sq">
                <a:noFill/>
                <a:prstDash val="solid"/>
                <a:miter/>
              </a:ln>
            </p:spPr>
            <p:txBody>
              <a:bodyPr/>
              <a:lstStyle/>
              <a:p>
                <a:endParaRPr lang="en-US"/>
              </a:p>
            </p:txBody>
          </p:sp>
          <p:sp>
            <p:nvSpPr>
              <p:cNvPr id="23" name="TextBox 23"/>
              <p:cNvSpPr txBox="1"/>
              <p:nvPr/>
            </p:nvSpPr>
            <p:spPr>
              <a:xfrm>
                <a:off x="0" y="-12700"/>
                <a:ext cx="520700" cy="330200"/>
              </a:xfrm>
              <a:prstGeom prst="rect">
                <a:avLst/>
              </a:prstGeom>
            </p:spPr>
            <p:txBody>
              <a:bodyPr lIns="50800" tIns="50800" rIns="50800" bIns="50800" rtlCol="0" anchor="ctr"/>
              <a:lstStyle/>
              <a:p>
                <a:pPr algn="ctr">
                  <a:lnSpc>
                    <a:spcPts val="2520"/>
                  </a:lnSpc>
                </a:pPr>
                <a:r>
                  <a:rPr lang="en-US" sz="1800" b="1">
                    <a:solidFill>
                      <a:srgbClr val="FFFFFF"/>
                    </a:solidFill>
                    <a:latin typeface="DM Sans Bold"/>
                    <a:ea typeface="DM Sans Bold"/>
                    <a:cs typeface="DM Sans Bold"/>
                    <a:sym typeface="DM Sans Bold"/>
                  </a:rPr>
                  <a:t>RECOVER APPS</a:t>
                </a:r>
              </a:p>
            </p:txBody>
          </p:sp>
        </p:grpSp>
        <p:grpSp>
          <p:nvGrpSpPr>
            <p:cNvPr id="24" name="Group 24"/>
            <p:cNvGrpSpPr/>
            <p:nvPr/>
          </p:nvGrpSpPr>
          <p:grpSpPr>
            <a:xfrm>
              <a:off x="232837" y="1861488"/>
              <a:ext cx="2654369" cy="1202833"/>
              <a:chOff x="0" y="0"/>
              <a:chExt cx="567034" cy="256952"/>
            </a:xfrm>
          </p:grpSpPr>
          <p:sp>
            <p:nvSpPr>
              <p:cNvPr id="25" name="Freeform 25"/>
              <p:cNvSpPr/>
              <p:nvPr/>
            </p:nvSpPr>
            <p:spPr>
              <a:xfrm>
                <a:off x="0" y="0"/>
                <a:ext cx="567034" cy="256952"/>
              </a:xfrm>
              <a:custGeom>
                <a:avLst/>
                <a:gdLst/>
                <a:ahLst/>
                <a:cxnLst/>
                <a:rect l="l" t="t" r="r" b="b"/>
                <a:pathLst>
                  <a:path w="567034" h="256952">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txBody>
              <a:bodyPr/>
              <a:lstStyle/>
              <a:p>
                <a:endParaRPr lang="en-US"/>
              </a:p>
            </p:txBody>
          </p:sp>
          <p:sp>
            <p:nvSpPr>
              <p:cNvPr id="26" name="TextBox 26"/>
              <p:cNvSpPr txBox="1"/>
              <p:nvPr/>
            </p:nvSpPr>
            <p:spPr>
              <a:xfrm>
                <a:off x="0" y="-38100"/>
                <a:ext cx="567034" cy="295052"/>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RECOVER COMPUTE</a:t>
                </a:r>
              </a:p>
            </p:txBody>
          </p:sp>
        </p:grpSp>
        <p:grpSp>
          <p:nvGrpSpPr>
            <p:cNvPr id="27" name="Group 27"/>
            <p:cNvGrpSpPr/>
            <p:nvPr/>
          </p:nvGrpSpPr>
          <p:grpSpPr>
            <a:xfrm>
              <a:off x="232837" y="8649535"/>
              <a:ext cx="2654369" cy="1202833"/>
              <a:chOff x="0" y="0"/>
              <a:chExt cx="567034" cy="256952"/>
            </a:xfrm>
          </p:grpSpPr>
          <p:sp>
            <p:nvSpPr>
              <p:cNvPr id="28" name="Freeform 28"/>
              <p:cNvSpPr/>
              <p:nvPr/>
            </p:nvSpPr>
            <p:spPr>
              <a:xfrm>
                <a:off x="0" y="0"/>
                <a:ext cx="567034" cy="256952"/>
              </a:xfrm>
              <a:custGeom>
                <a:avLst/>
                <a:gdLst/>
                <a:ahLst/>
                <a:cxnLst/>
                <a:rect l="l" t="t" r="r" b="b"/>
                <a:pathLst>
                  <a:path w="567034" h="256952">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txBody>
              <a:bodyPr/>
              <a:lstStyle/>
              <a:p>
                <a:endParaRPr lang="en-US"/>
              </a:p>
            </p:txBody>
          </p:sp>
          <p:sp>
            <p:nvSpPr>
              <p:cNvPr id="29" name="TextBox 29"/>
              <p:cNvSpPr txBox="1"/>
              <p:nvPr/>
            </p:nvSpPr>
            <p:spPr>
              <a:xfrm>
                <a:off x="0" y="-38100"/>
                <a:ext cx="567034" cy="295052"/>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 RCA</a:t>
                </a:r>
              </a:p>
            </p:txBody>
          </p:sp>
        </p:grpSp>
        <p:grpSp>
          <p:nvGrpSpPr>
            <p:cNvPr id="30" name="Group 30"/>
            <p:cNvGrpSpPr/>
            <p:nvPr/>
          </p:nvGrpSpPr>
          <p:grpSpPr>
            <a:xfrm>
              <a:off x="1238226" y="1036175"/>
              <a:ext cx="643591" cy="802106"/>
              <a:chOff x="0" y="0"/>
              <a:chExt cx="652172" cy="812800"/>
            </a:xfrm>
          </p:grpSpPr>
          <p:sp>
            <p:nvSpPr>
              <p:cNvPr id="31" name="Freeform 31"/>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32" name="TextBox 32"/>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33" name="Group 33"/>
            <p:cNvGrpSpPr/>
            <p:nvPr/>
          </p:nvGrpSpPr>
          <p:grpSpPr>
            <a:xfrm>
              <a:off x="1238226" y="2908403"/>
              <a:ext cx="643591" cy="802106"/>
              <a:chOff x="0" y="0"/>
              <a:chExt cx="652172" cy="812800"/>
            </a:xfrm>
          </p:grpSpPr>
          <p:sp>
            <p:nvSpPr>
              <p:cNvPr id="34" name="Freeform 34"/>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35" name="TextBox 35"/>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36" name="Group 36"/>
            <p:cNvGrpSpPr/>
            <p:nvPr/>
          </p:nvGrpSpPr>
          <p:grpSpPr>
            <a:xfrm>
              <a:off x="1238226" y="5163873"/>
              <a:ext cx="643591" cy="802106"/>
              <a:chOff x="0" y="0"/>
              <a:chExt cx="652172" cy="812800"/>
            </a:xfrm>
          </p:grpSpPr>
          <p:sp>
            <p:nvSpPr>
              <p:cNvPr id="37" name="Freeform 37"/>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38" name="TextBox 38"/>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39" name="Group 39"/>
            <p:cNvGrpSpPr/>
            <p:nvPr/>
          </p:nvGrpSpPr>
          <p:grpSpPr>
            <a:xfrm>
              <a:off x="1238226" y="7847428"/>
              <a:ext cx="643591" cy="802106"/>
              <a:chOff x="0" y="0"/>
              <a:chExt cx="652172" cy="812800"/>
            </a:xfrm>
          </p:grpSpPr>
          <p:sp>
            <p:nvSpPr>
              <p:cNvPr id="40" name="Freeform 40"/>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41" name="TextBox 41"/>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42" name="Group 42"/>
            <p:cNvGrpSpPr/>
            <p:nvPr/>
          </p:nvGrpSpPr>
          <p:grpSpPr>
            <a:xfrm>
              <a:off x="1238226" y="9620892"/>
              <a:ext cx="643591" cy="802106"/>
              <a:chOff x="0" y="0"/>
              <a:chExt cx="652172" cy="812800"/>
            </a:xfrm>
          </p:grpSpPr>
          <p:sp>
            <p:nvSpPr>
              <p:cNvPr id="43" name="Freeform 43"/>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44" name="TextBox 44"/>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28700" y="2080532"/>
            <a:ext cx="8510550" cy="1647825"/>
          </a:xfrm>
          <a:prstGeom prst="rect">
            <a:avLst/>
          </a:prstGeom>
        </p:spPr>
        <p:txBody>
          <a:bodyPr lIns="0" tIns="0" rIns="0" bIns="0" rtlCol="0" anchor="t">
            <a:spAutoFit/>
          </a:bodyPr>
          <a:lstStyle/>
          <a:p>
            <a:pPr algn="just">
              <a:lnSpc>
                <a:spcPts val="3499"/>
              </a:lnSpc>
            </a:pPr>
            <a:r>
              <a:rPr lang="en-US" sz="2499" i="1">
                <a:solidFill>
                  <a:srgbClr val="737373"/>
                </a:solidFill>
                <a:latin typeface="DM Sans Italics"/>
                <a:ea typeface="DM Sans Italics"/>
                <a:cs typeface="DM Sans Italics"/>
                <a:sym typeface="DM Sans Italics"/>
              </a:rPr>
              <a:t>Business Requirements</a:t>
            </a:r>
          </a:p>
          <a:p>
            <a:pPr marL="755651" lvl="1" indent="-377825" algn="just">
              <a:lnSpc>
                <a:spcPts val="4900"/>
              </a:lnSpc>
              <a:buFont typeface="Arial"/>
              <a:buChar char="•"/>
            </a:pPr>
            <a:r>
              <a:rPr lang="en-US" sz="3500">
                <a:solidFill>
                  <a:srgbClr val="737373"/>
                </a:solidFill>
                <a:latin typeface="DM Sans"/>
                <a:ea typeface="DM Sans"/>
                <a:cs typeface="DM Sans"/>
                <a:sym typeface="DM Sans"/>
              </a:rPr>
              <a:t>Business Tolerance?</a:t>
            </a:r>
          </a:p>
          <a:p>
            <a:pPr marL="755651" lvl="1" indent="-377825" algn="just">
              <a:lnSpc>
                <a:spcPts val="4900"/>
              </a:lnSpc>
              <a:buFont typeface="Arial"/>
              <a:buChar char="•"/>
            </a:pPr>
            <a:r>
              <a:rPr lang="en-US" sz="3500">
                <a:solidFill>
                  <a:srgbClr val="737373"/>
                </a:solidFill>
                <a:latin typeface="DM Sans"/>
                <a:ea typeface="DM Sans"/>
                <a:cs typeface="DM Sans"/>
                <a:sym typeface="DM Sans"/>
              </a:rPr>
              <a:t>What are you protecting against?</a:t>
            </a:r>
          </a:p>
        </p:txBody>
      </p:sp>
      <p:sp>
        <p:nvSpPr>
          <p:cNvPr id="6" name="TextBox 6"/>
          <p:cNvSpPr txBox="1"/>
          <p:nvPr/>
        </p:nvSpPr>
        <p:spPr>
          <a:xfrm>
            <a:off x="684356" y="486903"/>
            <a:ext cx="6080263" cy="688047"/>
          </a:xfrm>
          <a:prstGeom prst="rect">
            <a:avLst/>
          </a:prstGeom>
        </p:spPr>
        <p:txBody>
          <a:bodyPr lIns="0" tIns="0" rIns="0" bIns="0" rtlCol="0" anchor="t">
            <a:spAutoFit/>
          </a:bodyPr>
          <a:lstStyle/>
          <a:p>
            <a:pPr marL="0" lvl="0" indent="0" algn="l">
              <a:lnSpc>
                <a:spcPts val="5651"/>
              </a:lnSpc>
              <a:spcBef>
                <a:spcPct val="0"/>
              </a:spcBef>
            </a:pPr>
            <a:r>
              <a:rPr lang="en-US" sz="4036">
                <a:solidFill>
                  <a:srgbClr val="38B6FF"/>
                </a:solidFill>
                <a:latin typeface="Anton"/>
                <a:ea typeface="Anton"/>
                <a:cs typeface="Anton"/>
                <a:sym typeface="Anton"/>
              </a:rPr>
              <a:t>FINDING A GOOD SOLUTION</a:t>
            </a:r>
          </a:p>
        </p:txBody>
      </p:sp>
      <p:sp>
        <p:nvSpPr>
          <p:cNvPr id="7" name="TextBox 7"/>
          <p:cNvSpPr txBox="1"/>
          <p:nvPr/>
        </p:nvSpPr>
        <p:spPr>
          <a:xfrm>
            <a:off x="1076985" y="4256624"/>
            <a:ext cx="8510550" cy="422275"/>
          </a:xfrm>
          <a:prstGeom prst="rect">
            <a:avLst/>
          </a:prstGeom>
        </p:spPr>
        <p:txBody>
          <a:bodyPr lIns="0" tIns="0" rIns="0" bIns="0" rtlCol="0" anchor="t">
            <a:spAutoFit/>
          </a:bodyPr>
          <a:lstStyle/>
          <a:p>
            <a:pPr algn="just">
              <a:lnSpc>
                <a:spcPts val="3499"/>
              </a:lnSpc>
            </a:pPr>
            <a:r>
              <a:rPr lang="en-US" sz="2499" i="1">
                <a:solidFill>
                  <a:srgbClr val="FFFFFF"/>
                </a:solidFill>
                <a:latin typeface="DM Sans Italics"/>
                <a:ea typeface="DM Sans Italics"/>
                <a:cs typeface="DM Sans Italics"/>
                <a:sym typeface="DM Sans Italics"/>
              </a:rPr>
              <a:t>Technical Musts</a:t>
            </a:r>
          </a:p>
        </p:txBody>
      </p:sp>
      <p:sp>
        <p:nvSpPr>
          <p:cNvPr id="8" name="TextBox 8"/>
          <p:cNvSpPr txBox="1"/>
          <p:nvPr/>
        </p:nvSpPr>
        <p:spPr>
          <a:xfrm>
            <a:off x="1229385" y="5651530"/>
            <a:ext cx="5535235" cy="606425"/>
          </a:xfrm>
          <a:prstGeom prst="rect">
            <a:avLst/>
          </a:prstGeom>
        </p:spPr>
        <p:txBody>
          <a:bodyPr lIns="0" tIns="0" rIns="0" bIns="0" rtlCol="0" anchor="t">
            <a:spAutoFit/>
          </a:bodyPr>
          <a:lstStyle/>
          <a:p>
            <a:pPr algn="just">
              <a:lnSpc>
                <a:spcPts val="4900"/>
              </a:lnSpc>
            </a:pPr>
            <a:r>
              <a:rPr lang="en-US" sz="3500">
                <a:solidFill>
                  <a:srgbClr val="767676"/>
                </a:solidFill>
                <a:latin typeface="DM Sans"/>
                <a:ea typeface="DM Sans"/>
                <a:cs typeface="DM Sans"/>
                <a:sym typeface="DM Sans"/>
              </a:rPr>
              <a:t>Can it be secured?</a:t>
            </a:r>
          </a:p>
        </p:txBody>
      </p:sp>
      <p:sp>
        <p:nvSpPr>
          <p:cNvPr id="9" name="TextBox 9"/>
          <p:cNvSpPr txBox="1"/>
          <p:nvPr/>
        </p:nvSpPr>
        <p:spPr>
          <a:xfrm>
            <a:off x="1229385" y="4900946"/>
            <a:ext cx="5535235" cy="606425"/>
          </a:xfrm>
          <a:prstGeom prst="rect">
            <a:avLst/>
          </a:prstGeom>
        </p:spPr>
        <p:txBody>
          <a:bodyPr lIns="0" tIns="0" rIns="0" bIns="0" rtlCol="0" anchor="t">
            <a:spAutoFit/>
          </a:bodyPr>
          <a:lstStyle/>
          <a:p>
            <a:pPr algn="just">
              <a:lnSpc>
                <a:spcPts val="4900"/>
              </a:lnSpc>
            </a:pPr>
            <a:r>
              <a:rPr lang="en-US" sz="3500">
                <a:solidFill>
                  <a:srgbClr val="767676"/>
                </a:solidFill>
                <a:latin typeface="DM Sans"/>
                <a:ea typeface="DM Sans"/>
                <a:cs typeface="DM Sans"/>
                <a:sym typeface="DM Sans"/>
              </a:rPr>
              <a:t>Can it restore? AD?</a:t>
            </a:r>
          </a:p>
        </p:txBody>
      </p:sp>
      <p:sp>
        <p:nvSpPr>
          <p:cNvPr id="10" name="TextBox 10"/>
          <p:cNvSpPr txBox="1"/>
          <p:nvPr/>
        </p:nvSpPr>
        <p:spPr>
          <a:xfrm>
            <a:off x="1229385" y="6402115"/>
            <a:ext cx="5535235" cy="606425"/>
          </a:xfrm>
          <a:prstGeom prst="rect">
            <a:avLst/>
          </a:prstGeom>
        </p:spPr>
        <p:txBody>
          <a:bodyPr lIns="0" tIns="0" rIns="0" bIns="0" rtlCol="0" anchor="t">
            <a:spAutoFit/>
          </a:bodyPr>
          <a:lstStyle/>
          <a:p>
            <a:pPr algn="just">
              <a:lnSpc>
                <a:spcPts val="4900"/>
              </a:lnSpc>
            </a:pPr>
            <a:r>
              <a:rPr lang="en-US" sz="3500">
                <a:solidFill>
                  <a:srgbClr val="767676"/>
                </a:solidFill>
                <a:latin typeface="DM Sans"/>
                <a:ea typeface="DM Sans"/>
                <a:cs typeface="DM Sans"/>
                <a:sym typeface="DM Sans"/>
              </a:rPr>
              <a:t>Is it supported?</a:t>
            </a:r>
          </a:p>
        </p:txBody>
      </p:sp>
      <p:sp>
        <p:nvSpPr>
          <p:cNvPr id="11" name="TextBox 11"/>
          <p:cNvSpPr txBox="1"/>
          <p:nvPr/>
        </p:nvSpPr>
        <p:spPr>
          <a:xfrm>
            <a:off x="1229385" y="7152700"/>
            <a:ext cx="5535235" cy="606425"/>
          </a:xfrm>
          <a:prstGeom prst="rect">
            <a:avLst/>
          </a:prstGeom>
        </p:spPr>
        <p:txBody>
          <a:bodyPr lIns="0" tIns="0" rIns="0" bIns="0" rtlCol="0" anchor="t">
            <a:spAutoFit/>
          </a:bodyPr>
          <a:lstStyle/>
          <a:p>
            <a:pPr algn="just">
              <a:lnSpc>
                <a:spcPts val="4900"/>
              </a:lnSpc>
            </a:pPr>
            <a:r>
              <a:rPr lang="en-US" sz="3500" dirty="0">
                <a:solidFill>
                  <a:srgbClr val="FFFFFF"/>
                </a:solidFill>
                <a:latin typeface="DM Sans"/>
                <a:ea typeface="DM Sans"/>
                <a:cs typeface="DM Sans"/>
                <a:sym typeface="DM Sans"/>
              </a:rPr>
              <a:t>Is it resilient?</a:t>
            </a:r>
          </a:p>
        </p:txBody>
      </p:sp>
      <p:grpSp>
        <p:nvGrpSpPr>
          <p:cNvPr id="12" name="Group 12"/>
          <p:cNvGrpSpPr/>
          <p:nvPr/>
        </p:nvGrpSpPr>
        <p:grpSpPr>
          <a:xfrm>
            <a:off x="13109300" y="350115"/>
            <a:ext cx="2340032" cy="9254061"/>
            <a:chOff x="0" y="0"/>
            <a:chExt cx="3120043" cy="12338749"/>
          </a:xfrm>
        </p:grpSpPr>
        <p:grpSp>
          <p:nvGrpSpPr>
            <p:cNvPr id="13" name="Group 13"/>
            <p:cNvGrpSpPr/>
            <p:nvPr/>
          </p:nvGrpSpPr>
          <p:grpSpPr>
            <a:xfrm>
              <a:off x="232837" y="0"/>
              <a:ext cx="2654369" cy="1202833"/>
              <a:chOff x="0" y="0"/>
              <a:chExt cx="567034" cy="256952"/>
            </a:xfrm>
          </p:grpSpPr>
          <p:sp>
            <p:nvSpPr>
              <p:cNvPr id="14" name="Freeform 14"/>
              <p:cNvSpPr/>
              <p:nvPr/>
            </p:nvSpPr>
            <p:spPr>
              <a:xfrm>
                <a:off x="0" y="0"/>
                <a:ext cx="567034" cy="256952"/>
              </a:xfrm>
              <a:custGeom>
                <a:avLst/>
                <a:gdLst/>
                <a:ahLst/>
                <a:cxnLst/>
                <a:rect l="l" t="t" r="r" b="b"/>
                <a:pathLst>
                  <a:path w="567034" h="256952">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txBody>
              <a:bodyPr/>
              <a:lstStyle/>
              <a:p>
                <a:endParaRPr lang="en-US"/>
              </a:p>
            </p:txBody>
          </p:sp>
          <p:sp>
            <p:nvSpPr>
              <p:cNvPr id="15" name="TextBox 15"/>
              <p:cNvSpPr txBox="1"/>
              <p:nvPr/>
            </p:nvSpPr>
            <p:spPr>
              <a:xfrm>
                <a:off x="0" y="-38100"/>
                <a:ext cx="567034" cy="295052"/>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RECOVER NETWORK</a:t>
                </a:r>
              </a:p>
            </p:txBody>
          </p:sp>
        </p:grpSp>
        <p:grpSp>
          <p:nvGrpSpPr>
            <p:cNvPr id="16" name="Group 16"/>
            <p:cNvGrpSpPr/>
            <p:nvPr/>
          </p:nvGrpSpPr>
          <p:grpSpPr>
            <a:xfrm>
              <a:off x="0" y="3672678"/>
              <a:ext cx="3120043" cy="1790486"/>
              <a:chOff x="0" y="0"/>
              <a:chExt cx="951616" cy="546100"/>
            </a:xfrm>
          </p:grpSpPr>
          <p:sp>
            <p:nvSpPr>
              <p:cNvPr id="17" name="Freeform 17"/>
              <p:cNvSpPr/>
              <p:nvPr/>
            </p:nvSpPr>
            <p:spPr>
              <a:xfrm>
                <a:off x="0" y="0"/>
                <a:ext cx="951616" cy="539683"/>
              </a:xfrm>
              <a:custGeom>
                <a:avLst/>
                <a:gdLst/>
                <a:ahLst/>
                <a:cxnLst/>
                <a:rect l="l" t="t" r="r" b="b"/>
                <a:pathLst>
                  <a:path w="951616" h="539683">
                    <a:moveTo>
                      <a:pt x="0" y="29673"/>
                    </a:moveTo>
                    <a:lnTo>
                      <a:pt x="0" y="300527"/>
                    </a:lnTo>
                    <a:cubicBezTo>
                      <a:pt x="0" y="318596"/>
                      <a:pt x="10567" y="334995"/>
                      <a:pt x="27021" y="342461"/>
                    </a:cubicBezTo>
                    <a:lnTo>
                      <a:pt x="448787" y="533839"/>
                    </a:lnTo>
                    <a:cubicBezTo>
                      <a:pt x="465958" y="541631"/>
                      <a:pt x="485658" y="541631"/>
                      <a:pt x="502829" y="533839"/>
                    </a:cubicBezTo>
                    <a:lnTo>
                      <a:pt x="924595" y="342461"/>
                    </a:lnTo>
                    <a:cubicBezTo>
                      <a:pt x="941049" y="334995"/>
                      <a:pt x="951616" y="318596"/>
                      <a:pt x="951616" y="300527"/>
                    </a:cubicBezTo>
                    <a:lnTo>
                      <a:pt x="951616" y="29673"/>
                    </a:lnTo>
                    <a:cubicBezTo>
                      <a:pt x="951616" y="13285"/>
                      <a:pt x="938331" y="0"/>
                      <a:pt x="921943" y="0"/>
                    </a:cubicBezTo>
                    <a:lnTo>
                      <a:pt x="29673" y="0"/>
                    </a:lnTo>
                    <a:cubicBezTo>
                      <a:pt x="13285" y="0"/>
                      <a:pt x="0" y="13285"/>
                      <a:pt x="0" y="29673"/>
                    </a:cubicBezTo>
                    <a:close/>
                  </a:path>
                </a:pathLst>
              </a:custGeom>
              <a:solidFill>
                <a:srgbClr val="2F7BD1"/>
              </a:solidFill>
              <a:ln cap="sq">
                <a:noFill/>
                <a:prstDash val="solid"/>
                <a:miter/>
              </a:ln>
            </p:spPr>
            <p:txBody>
              <a:bodyPr/>
              <a:lstStyle/>
              <a:p>
                <a:endParaRPr lang="en-US"/>
              </a:p>
            </p:txBody>
          </p:sp>
          <p:sp>
            <p:nvSpPr>
              <p:cNvPr id="18" name="TextBox 18"/>
              <p:cNvSpPr txBox="1"/>
              <p:nvPr/>
            </p:nvSpPr>
            <p:spPr>
              <a:xfrm>
                <a:off x="0" y="-12700"/>
                <a:ext cx="951616" cy="330200"/>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CONNECT STORAGE</a:t>
                </a:r>
              </a:p>
              <a:p>
                <a:pPr algn="ctr">
                  <a:lnSpc>
                    <a:spcPts val="2240"/>
                  </a:lnSpc>
                </a:pPr>
                <a:r>
                  <a:rPr lang="en-US" sz="1600" b="1">
                    <a:solidFill>
                      <a:srgbClr val="FFFFFF"/>
                    </a:solidFill>
                    <a:latin typeface="DM Sans Bold"/>
                    <a:ea typeface="DM Sans Bold"/>
                    <a:cs typeface="DM Sans Bold"/>
                    <a:sym typeface="DM Sans Bold"/>
                  </a:rPr>
                  <a:t>(BACKUPS)</a:t>
                </a:r>
              </a:p>
            </p:txBody>
          </p:sp>
        </p:grpSp>
        <p:grpSp>
          <p:nvGrpSpPr>
            <p:cNvPr id="19" name="Group 19"/>
            <p:cNvGrpSpPr/>
            <p:nvPr/>
          </p:nvGrpSpPr>
          <p:grpSpPr>
            <a:xfrm>
              <a:off x="466045" y="6016200"/>
              <a:ext cx="2187952" cy="2187952"/>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2F7BD1"/>
              </a:solidFill>
            </p:spPr>
            <p:txBody>
              <a:bodyPr/>
              <a:lstStyle/>
              <a:p>
                <a:endParaRPr lang="en-US"/>
              </a:p>
            </p:txBody>
          </p:sp>
          <p:sp>
            <p:nvSpPr>
              <p:cNvPr id="21" name="TextBox 21"/>
              <p:cNvSpPr txBox="1"/>
              <p:nvPr/>
            </p:nvSpPr>
            <p:spPr>
              <a:xfrm>
                <a:off x="152400" y="114300"/>
                <a:ext cx="508000" cy="546100"/>
              </a:xfrm>
              <a:prstGeom prst="rect">
                <a:avLst/>
              </a:prstGeom>
            </p:spPr>
            <p:txBody>
              <a:bodyPr lIns="50800" tIns="50800" rIns="50800" bIns="50800" rtlCol="0" anchor="ctr"/>
              <a:lstStyle/>
              <a:p>
                <a:pPr algn="ctr">
                  <a:lnSpc>
                    <a:spcPts val="2239"/>
                  </a:lnSpc>
                </a:pPr>
                <a:r>
                  <a:rPr lang="en-US" sz="1599" b="1">
                    <a:solidFill>
                      <a:srgbClr val="FFFFFF"/>
                    </a:solidFill>
                    <a:latin typeface="DM Sans Bold"/>
                    <a:ea typeface="DM Sans Bold"/>
                    <a:cs typeface="DM Sans Bold"/>
                    <a:sym typeface="DM Sans Bold"/>
                  </a:rPr>
                  <a:t>RECOVER AD</a:t>
                </a:r>
              </a:p>
            </p:txBody>
          </p:sp>
        </p:grpSp>
        <p:grpSp>
          <p:nvGrpSpPr>
            <p:cNvPr id="22" name="Group 22"/>
            <p:cNvGrpSpPr/>
            <p:nvPr/>
          </p:nvGrpSpPr>
          <p:grpSpPr>
            <a:xfrm>
              <a:off x="670249" y="10472398"/>
              <a:ext cx="1779544" cy="1866351"/>
              <a:chOff x="0" y="0"/>
              <a:chExt cx="520700" cy="546100"/>
            </a:xfrm>
          </p:grpSpPr>
          <p:sp>
            <p:nvSpPr>
              <p:cNvPr id="23" name="Freeform 23"/>
              <p:cNvSpPr/>
              <p:nvPr/>
            </p:nvSpPr>
            <p:spPr>
              <a:xfrm>
                <a:off x="0" y="0"/>
                <a:ext cx="520700" cy="527335"/>
              </a:xfrm>
              <a:custGeom>
                <a:avLst/>
                <a:gdLst/>
                <a:ahLst/>
                <a:cxnLst/>
                <a:rect l="l" t="t" r="r" b="b"/>
                <a:pathLst>
                  <a:path w="520700" h="527335">
                    <a:moveTo>
                      <a:pt x="0" y="52025"/>
                    </a:moveTo>
                    <a:lnTo>
                      <a:pt x="0" y="278175"/>
                    </a:lnTo>
                    <a:cubicBezTo>
                      <a:pt x="0" y="311130"/>
                      <a:pt x="14679" y="342373"/>
                      <a:pt x="40047" y="363409"/>
                    </a:cubicBezTo>
                    <a:lnTo>
                      <a:pt x="220303" y="512891"/>
                    </a:lnTo>
                    <a:cubicBezTo>
                      <a:pt x="243528" y="532150"/>
                      <a:pt x="277172" y="532150"/>
                      <a:pt x="300397" y="512891"/>
                    </a:cubicBezTo>
                    <a:lnTo>
                      <a:pt x="480653" y="363409"/>
                    </a:lnTo>
                    <a:cubicBezTo>
                      <a:pt x="506021" y="342373"/>
                      <a:pt x="520700" y="311130"/>
                      <a:pt x="520700" y="278175"/>
                    </a:cubicBezTo>
                    <a:lnTo>
                      <a:pt x="520700" y="52025"/>
                    </a:lnTo>
                    <a:cubicBezTo>
                      <a:pt x="520700" y="23292"/>
                      <a:pt x="497408" y="0"/>
                      <a:pt x="468675" y="0"/>
                    </a:cubicBezTo>
                    <a:lnTo>
                      <a:pt x="52025" y="0"/>
                    </a:lnTo>
                    <a:cubicBezTo>
                      <a:pt x="23292" y="0"/>
                      <a:pt x="0" y="23292"/>
                      <a:pt x="0" y="52025"/>
                    </a:cubicBezTo>
                    <a:close/>
                  </a:path>
                </a:pathLst>
              </a:custGeom>
              <a:solidFill>
                <a:srgbClr val="2F7BD1"/>
              </a:solidFill>
              <a:ln cap="sq">
                <a:noFill/>
                <a:prstDash val="solid"/>
                <a:miter/>
              </a:ln>
            </p:spPr>
            <p:txBody>
              <a:bodyPr/>
              <a:lstStyle/>
              <a:p>
                <a:endParaRPr lang="en-US"/>
              </a:p>
            </p:txBody>
          </p:sp>
          <p:sp>
            <p:nvSpPr>
              <p:cNvPr id="24" name="TextBox 24"/>
              <p:cNvSpPr txBox="1"/>
              <p:nvPr/>
            </p:nvSpPr>
            <p:spPr>
              <a:xfrm>
                <a:off x="0" y="-12700"/>
                <a:ext cx="520700" cy="330200"/>
              </a:xfrm>
              <a:prstGeom prst="rect">
                <a:avLst/>
              </a:prstGeom>
            </p:spPr>
            <p:txBody>
              <a:bodyPr lIns="50800" tIns="50800" rIns="50800" bIns="50800" rtlCol="0" anchor="ctr"/>
              <a:lstStyle/>
              <a:p>
                <a:pPr algn="ctr">
                  <a:lnSpc>
                    <a:spcPts val="2520"/>
                  </a:lnSpc>
                </a:pPr>
                <a:r>
                  <a:rPr lang="en-US" sz="1800" b="1">
                    <a:solidFill>
                      <a:srgbClr val="FFFFFF"/>
                    </a:solidFill>
                    <a:latin typeface="DM Sans Bold"/>
                    <a:ea typeface="DM Sans Bold"/>
                    <a:cs typeface="DM Sans Bold"/>
                    <a:sym typeface="DM Sans Bold"/>
                  </a:rPr>
                  <a:t>RECOVER APPS</a:t>
                </a:r>
              </a:p>
            </p:txBody>
          </p:sp>
        </p:grpSp>
        <p:grpSp>
          <p:nvGrpSpPr>
            <p:cNvPr id="25" name="Group 25"/>
            <p:cNvGrpSpPr/>
            <p:nvPr/>
          </p:nvGrpSpPr>
          <p:grpSpPr>
            <a:xfrm>
              <a:off x="232837" y="1861488"/>
              <a:ext cx="2654369" cy="1202833"/>
              <a:chOff x="0" y="0"/>
              <a:chExt cx="567034" cy="256952"/>
            </a:xfrm>
          </p:grpSpPr>
          <p:sp>
            <p:nvSpPr>
              <p:cNvPr id="26" name="Freeform 26"/>
              <p:cNvSpPr/>
              <p:nvPr/>
            </p:nvSpPr>
            <p:spPr>
              <a:xfrm>
                <a:off x="0" y="0"/>
                <a:ext cx="567034" cy="256952"/>
              </a:xfrm>
              <a:custGeom>
                <a:avLst/>
                <a:gdLst/>
                <a:ahLst/>
                <a:cxnLst/>
                <a:rect l="l" t="t" r="r" b="b"/>
                <a:pathLst>
                  <a:path w="567034" h="256952">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txBody>
              <a:bodyPr/>
              <a:lstStyle/>
              <a:p>
                <a:endParaRPr lang="en-US"/>
              </a:p>
            </p:txBody>
          </p:sp>
          <p:sp>
            <p:nvSpPr>
              <p:cNvPr id="27" name="TextBox 27"/>
              <p:cNvSpPr txBox="1"/>
              <p:nvPr/>
            </p:nvSpPr>
            <p:spPr>
              <a:xfrm>
                <a:off x="0" y="-38100"/>
                <a:ext cx="567034" cy="295052"/>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RECOVER COMPUTE</a:t>
                </a:r>
              </a:p>
            </p:txBody>
          </p:sp>
        </p:grpSp>
        <p:grpSp>
          <p:nvGrpSpPr>
            <p:cNvPr id="28" name="Group 28"/>
            <p:cNvGrpSpPr/>
            <p:nvPr/>
          </p:nvGrpSpPr>
          <p:grpSpPr>
            <a:xfrm>
              <a:off x="232837" y="8649535"/>
              <a:ext cx="2654369" cy="1202833"/>
              <a:chOff x="0" y="0"/>
              <a:chExt cx="567034" cy="256952"/>
            </a:xfrm>
          </p:grpSpPr>
          <p:sp>
            <p:nvSpPr>
              <p:cNvPr id="29" name="Freeform 29"/>
              <p:cNvSpPr/>
              <p:nvPr/>
            </p:nvSpPr>
            <p:spPr>
              <a:xfrm>
                <a:off x="0" y="0"/>
                <a:ext cx="567034" cy="256952"/>
              </a:xfrm>
              <a:custGeom>
                <a:avLst/>
                <a:gdLst/>
                <a:ahLst/>
                <a:cxnLst/>
                <a:rect l="l" t="t" r="r" b="b"/>
                <a:pathLst>
                  <a:path w="567034" h="256952">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txBody>
              <a:bodyPr/>
              <a:lstStyle/>
              <a:p>
                <a:endParaRPr lang="en-US"/>
              </a:p>
            </p:txBody>
          </p:sp>
          <p:sp>
            <p:nvSpPr>
              <p:cNvPr id="30" name="TextBox 30"/>
              <p:cNvSpPr txBox="1"/>
              <p:nvPr/>
            </p:nvSpPr>
            <p:spPr>
              <a:xfrm>
                <a:off x="0" y="-38100"/>
                <a:ext cx="567034" cy="295052"/>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 RCA</a:t>
                </a:r>
              </a:p>
            </p:txBody>
          </p:sp>
        </p:grpSp>
        <p:grpSp>
          <p:nvGrpSpPr>
            <p:cNvPr id="31" name="Group 31"/>
            <p:cNvGrpSpPr/>
            <p:nvPr/>
          </p:nvGrpSpPr>
          <p:grpSpPr>
            <a:xfrm>
              <a:off x="1238226" y="1036175"/>
              <a:ext cx="643591" cy="802106"/>
              <a:chOff x="0" y="0"/>
              <a:chExt cx="652172" cy="812800"/>
            </a:xfrm>
          </p:grpSpPr>
          <p:sp>
            <p:nvSpPr>
              <p:cNvPr id="32" name="Freeform 32"/>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33" name="TextBox 33"/>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34" name="Group 34"/>
            <p:cNvGrpSpPr/>
            <p:nvPr/>
          </p:nvGrpSpPr>
          <p:grpSpPr>
            <a:xfrm>
              <a:off x="1238226" y="2908403"/>
              <a:ext cx="643591" cy="802106"/>
              <a:chOff x="0" y="0"/>
              <a:chExt cx="652172" cy="812800"/>
            </a:xfrm>
          </p:grpSpPr>
          <p:sp>
            <p:nvSpPr>
              <p:cNvPr id="35" name="Freeform 35"/>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36" name="TextBox 36"/>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37" name="Group 37"/>
            <p:cNvGrpSpPr/>
            <p:nvPr/>
          </p:nvGrpSpPr>
          <p:grpSpPr>
            <a:xfrm>
              <a:off x="1238226" y="5163873"/>
              <a:ext cx="643591" cy="802106"/>
              <a:chOff x="0" y="0"/>
              <a:chExt cx="652172" cy="812800"/>
            </a:xfrm>
          </p:grpSpPr>
          <p:sp>
            <p:nvSpPr>
              <p:cNvPr id="38" name="Freeform 38"/>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39" name="TextBox 39"/>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40" name="Group 40"/>
            <p:cNvGrpSpPr/>
            <p:nvPr/>
          </p:nvGrpSpPr>
          <p:grpSpPr>
            <a:xfrm>
              <a:off x="1238226" y="7847428"/>
              <a:ext cx="643591" cy="802106"/>
              <a:chOff x="0" y="0"/>
              <a:chExt cx="652172" cy="812800"/>
            </a:xfrm>
          </p:grpSpPr>
          <p:sp>
            <p:nvSpPr>
              <p:cNvPr id="41" name="Freeform 41"/>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42" name="TextBox 42"/>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43" name="Group 43"/>
            <p:cNvGrpSpPr/>
            <p:nvPr/>
          </p:nvGrpSpPr>
          <p:grpSpPr>
            <a:xfrm>
              <a:off x="1238226" y="9620892"/>
              <a:ext cx="643591" cy="802106"/>
              <a:chOff x="0" y="0"/>
              <a:chExt cx="652172" cy="812800"/>
            </a:xfrm>
          </p:grpSpPr>
          <p:sp>
            <p:nvSpPr>
              <p:cNvPr id="44" name="Freeform 44"/>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45" name="TextBox 45"/>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a:extLst>
            <a:ext uri="{FF2B5EF4-FFF2-40B4-BE49-F238E27FC236}">
              <a16:creationId xmlns:a16="http://schemas.microsoft.com/office/drawing/2014/main" id="{EAC3EFDB-BB26-DA5B-1284-6C2C4D995D4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3739D78-AB63-2227-259A-00DC96FBBB81}"/>
              </a:ext>
            </a:extLst>
          </p:cNvPr>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a:extLst>
              <a:ext uri="{FF2B5EF4-FFF2-40B4-BE49-F238E27FC236}">
                <a16:creationId xmlns:a16="http://schemas.microsoft.com/office/drawing/2014/main" id="{9C5655E7-71B9-F0F4-7B9E-D8C3B416B7FB}"/>
              </a:ext>
            </a:extLst>
          </p:cNvPr>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a:extLst>
              <a:ext uri="{FF2B5EF4-FFF2-40B4-BE49-F238E27FC236}">
                <a16:creationId xmlns:a16="http://schemas.microsoft.com/office/drawing/2014/main" id="{D8429291-DBAF-139F-08A5-C33B2594D681}"/>
              </a:ext>
            </a:extLst>
          </p:cNvPr>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a:extLst>
              <a:ext uri="{FF2B5EF4-FFF2-40B4-BE49-F238E27FC236}">
                <a16:creationId xmlns:a16="http://schemas.microsoft.com/office/drawing/2014/main" id="{B481C181-477A-5A39-1B98-32DEAE498D52}"/>
              </a:ext>
            </a:extLst>
          </p:cNvPr>
          <p:cNvSpPr txBox="1"/>
          <p:nvPr/>
        </p:nvSpPr>
        <p:spPr>
          <a:xfrm>
            <a:off x="1028700" y="2080532"/>
            <a:ext cx="8510550" cy="1647825"/>
          </a:xfrm>
          <a:prstGeom prst="rect">
            <a:avLst/>
          </a:prstGeom>
        </p:spPr>
        <p:txBody>
          <a:bodyPr lIns="0" tIns="0" rIns="0" bIns="0" rtlCol="0" anchor="t">
            <a:spAutoFit/>
          </a:bodyPr>
          <a:lstStyle/>
          <a:p>
            <a:pPr algn="just">
              <a:lnSpc>
                <a:spcPts val="3499"/>
              </a:lnSpc>
            </a:pPr>
            <a:r>
              <a:rPr lang="en-US" sz="2499" i="1" dirty="0">
                <a:solidFill>
                  <a:srgbClr val="737373"/>
                </a:solidFill>
                <a:latin typeface="DM Sans Italics"/>
                <a:ea typeface="DM Sans Italics"/>
                <a:cs typeface="DM Sans Italics"/>
                <a:sym typeface="DM Sans Italics"/>
              </a:rPr>
              <a:t>Business Requirements</a:t>
            </a:r>
          </a:p>
          <a:p>
            <a:pPr marL="755651" lvl="1" indent="-377825" algn="just">
              <a:lnSpc>
                <a:spcPts val="4900"/>
              </a:lnSpc>
              <a:buFont typeface="Arial"/>
              <a:buChar char="•"/>
            </a:pPr>
            <a:r>
              <a:rPr lang="en-US" sz="3500" dirty="0">
                <a:solidFill>
                  <a:srgbClr val="737373"/>
                </a:solidFill>
                <a:latin typeface="DM Sans"/>
                <a:ea typeface="DM Sans"/>
                <a:cs typeface="DM Sans"/>
                <a:sym typeface="DM Sans"/>
              </a:rPr>
              <a:t>Business Tolerance?</a:t>
            </a:r>
          </a:p>
          <a:p>
            <a:pPr marL="755651" lvl="1" indent="-377825" algn="just">
              <a:lnSpc>
                <a:spcPts val="4900"/>
              </a:lnSpc>
              <a:buFont typeface="Arial"/>
              <a:buChar char="•"/>
            </a:pPr>
            <a:r>
              <a:rPr lang="en-US" sz="3500" dirty="0">
                <a:solidFill>
                  <a:srgbClr val="737373"/>
                </a:solidFill>
                <a:latin typeface="DM Sans"/>
                <a:ea typeface="DM Sans"/>
                <a:cs typeface="DM Sans"/>
                <a:sym typeface="DM Sans"/>
              </a:rPr>
              <a:t>What are you protecting against?</a:t>
            </a:r>
          </a:p>
        </p:txBody>
      </p:sp>
      <p:sp>
        <p:nvSpPr>
          <p:cNvPr id="6" name="TextBox 6">
            <a:extLst>
              <a:ext uri="{FF2B5EF4-FFF2-40B4-BE49-F238E27FC236}">
                <a16:creationId xmlns:a16="http://schemas.microsoft.com/office/drawing/2014/main" id="{BC7B7789-FA05-4600-36D3-99D8ED0E514B}"/>
              </a:ext>
            </a:extLst>
          </p:cNvPr>
          <p:cNvSpPr txBox="1"/>
          <p:nvPr/>
        </p:nvSpPr>
        <p:spPr>
          <a:xfrm>
            <a:off x="684356" y="486903"/>
            <a:ext cx="6080263" cy="688047"/>
          </a:xfrm>
          <a:prstGeom prst="rect">
            <a:avLst/>
          </a:prstGeom>
        </p:spPr>
        <p:txBody>
          <a:bodyPr lIns="0" tIns="0" rIns="0" bIns="0" rtlCol="0" anchor="t">
            <a:spAutoFit/>
          </a:bodyPr>
          <a:lstStyle/>
          <a:p>
            <a:pPr marL="0" lvl="0" indent="0" algn="l">
              <a:lnSpc>
                <a:spcPts val="5651"/>
              </a:lnSpc>
              <a:spcBef>
                <a:spcPct val="0"/>
              </a:spcBef>
            </a:pPr>
            <a:r>
              <a:rPr lang="en-US" sz="4036">
                <a:solidFill>
                  <a:srgbClr val="38B6FF"/>
                </a:solidFill>
                <a:latin typeface="Anton"/>
                <a:ea typeface="Anton"/>
                <a:cs typeface="Anton"/>
                <a:sym typeface="Anton"/>
              </a:rPr>
              <a:t>FINDING A GOOD SOLUTION</a:t>
            </a:r>
          </a:p>
        </p:txBody>
      </p:sp>
      <p:sp>
        <p:nvSpPr>
          <p:cNvPr id="7" name="TextBox 7">
            <a:extLst>
              <a:ext uri="{FF2B5EF4-FFF2-40B4-BE49-F238E27FC236}">
                <a16:creationId xmlns:a16="http://schemas.microsoft.com/office/drawing/2014/main" id="{615F5FBB-0197-9743-7DD2-2E323B6553EA}"/>
              </a:ext>
            </a:extLst>
          </p:cNvPr>
          <p:cNvSpPr txBox="1"/>
          <p:nvPr/>
        </p:nvSpPr>
        <p:spPr>
          <a:xfrm>
            <a:off x="1076985" y="4256624"/>
            <a:ext cx="8510550" cy="422275"/>
          </a:xfrm>
          <a:prstGeom prst="rect">
            <a:avLst/>
          </a:prstGeom>
        </p:spPr>
        <p:txBody>
          <a:bodyPr lIns="0" tIns="0" rIns="0" bIns="0" rtlCol="0" anchor="t">
            <a:spAutoFit/>
          </a:bodyPr>
          <a:lstStyle/>
          <a:p>
            <a:pPr algn="just">
              <a:lnSpc>
                <a:spcPts val="3499"/>
              </a:lnSpc>
            </a:pPr>
            <a:r>
              <a:rPr lang="en-US" sz="2499" i="1" dirty="0">
                <a:solidFill>
                  <a:srgbClr val="FFFFFF"/>
                </a:solidFill>
                <a:latin typeface="DM Sans Italics"/>
                <a:ea typeface="DM Sans Italics"/>
                <a:cs typeface="DM Sans Italics"/>
                <a:sym typeface="DM Sans Italics"/>
              </a:rPr>
              <a:t>Technical Musts</a:t>
            </a:r>
          </a:p>
        </p:txBody>
      </p:sp>
      <p:sp>
        <p:nvSpPr>
          <p:cNvPr id="8" name="TextBox 8">
            <a:extLst>
              <a:ext uri="{FF2B5EF4-FFF2-40B4-BE49-F238E27FC236}">
                <a16:creationId xmlns:a16="http://schemas.microsoft.com/office/drawing/2014/main" id="{CA3E0B90-ACF3-C982-5A90-FC28751F85AB}"/>
              </a:ext>
            </a:extLst>
          </p:cNvPr>
          <p:cNvSpPr txBox="1"/>
          <p:nvPr/>
        </p:nvSpPr>
        <p:spPr>
          <a:xfrm>
            <a:off x="1229385" y="5651530"/>
            <a:ext cx="5535235" cy="606425"/>
          </a:xfrm>
          <a:prstGeom prst="rect">
            <a:avLst/>
          </a:prstGeom>
        </p:spPr>
        <p:txBody>
          <a:bodyPr lIns="0" tIns="0" rIns="0" bIns="0" rtlCol="0" anchor="t">
            <a:spAutoFit/>
          </a:bodyPr>
          <a:lstStyle/>
          <a:p>
            <a:pPr algn="just">
              <a:lnSpc>
                <a:spcPts val="4900"/>
              </a:lnSpc>
            </a:pPr>
            <a:r>
              <a:rPr lang="en-US" sz="3500">
                <a:solidFill>
                  <a:srgbClr val="767676"/>
                </a:solidFill>
                <a:latin typeface="DM Sans"/>
                <a:ea typeface="DM Sans"/>
                <a:cs typeface="DM Sans"/>
                <a:sym typeface="DM Sans"/>
              </a:rPr>
              <a:t>Can it be secured?</a:t>
            </a:r>
          </a:p>
        </p:txBody>
      </p:sp>
      <p:sp>
        <p:nvSpPr>
          <p:cNvPr id="9" name="TextBox 9">
            <a:extLst>
              <a:ext uri="{FF2B5EF4-FFF2-40B4-BE49-F238E27FC236}">
                <a16:creationId xmlns:a16="http://schemas.microsoft.com/office/drawing/2014/main" id="{BC89486E-EB21-1C4A-9684-66BF19BDF64A}"/>
              </a:ext>
            </a:extLst>
          </p:cNvPr>
          <p:cNvSpPr txBox="1"/>
          <p:nvPr/>
        </p:nvSpPr>
        <p:spPr>
          <a:xfrm>
            <a:off x="1229385" y="4900946"/>
            <a:ext cx="5535235" cy="606425"/>
          </a:xfrm>
          <a:prstGeom prst="rect">
            <a:avLst/>
          </a:prstGeom>
        </p:spPr>
        <p:txBody>
          <a:bodyPr lIns="0" tIns="0" rIns="0" bIns="0" rtlCol="0" anchor="t">
            <a:spAutoFit/>
          </a:bodyPr>
          <a:lstStyle/>
          <a:p>
            <a:pPr algn="just">
              <a:lnSpc>
                <a:spcPts val="4900"/>
              </a:lnSpc>
            </a:pPr>
            <a:r>
              <a:rPr lang="en-US" sz="3500" dirty="0">
                <a:solidFill>
                  <a:srgbClr val="767676"/>
                </a:solidFill>
                <a:latin typeface="DM Sans"/>
                <a:ea typeface="DM Sans"/>
                <a:cs typeface="DM Sans"/>
                <a:sym typeface="DM Sans"/>
              </a:rPr>
              <a:t>Can it restore? AD?</a:t>
            </a:r>
          </a:p>
        </p:txBody>
      </p:sp>
      <p:sp>
        <p:nvSpPr>
          <p:cNvPr id="10" name="TextBox 10">
            <a:extLst>
              <a:ext uri="{FF2B5EF4-FFF2-40B4-BE49-F238E27FC236}">
                <a16:creationId xmlns:a16="http://schemas.microsoft.com/office/drawing/2014/main" id="{C78BBB73-D99F-C99E-4C73-7D51D8D17CB7}"/>
              </a:ext>
            </a:extLst>
          </p:cNvPr>
          <p:cNvSpPr txBox="1"/>
          <p:nvPr/>
        </p:nvSpPr>
        <p:spPr>
          <a:xfrm>
            <a:off x="1229385" y="6402115"/>
            <a:ext cx="5535235" cy="606425"/>
          </a:xfrm>
          <a:prstGeom prst="rect">
            <a:avLst/>
          </a:prstGeom>
        </p:spPr>
        <p:txBody>
          <a:bodyPr lIns="0" tIns="0" rIns="0" bIns="0" rtlCol="0" anchor="t">
            <a:spAutoFit/>
          </a:bodyPr>
          <a:lstStyle/>
          <a:p>
            <a:pPr algn="just">
              <a:lnSpc>
                <a:spcPts val="4900"/>
              </a:lnSpc>
            </a:pPr>
            <a:r>
              <a:rPr lang="en-US" sz="3500" dirty="0">
                <a:solidFill>
                  <a:srgbClr val="767676"/>
                </a:solidFill>
                <a:latin typeface="DM Sans"/>
                <a:ea typeface="DM Sans"/>
                <a:cs typeface="DM Sans"/>
                <a:sym typeface="DM Sans"/>
              </a:rPr>
              <a:t>Is it supported?</a:t>
            </a:r>
          </a:p>
        </p:txBody>
      </p:sp>
      <p:sp>
        <p:nvSpPr>
          <p:cNvPr id="11" name="TextBox 11">
            <a:extLst>
              <a:ext uri="{FF2B5EF4-FFF2-40B4-BE49-F238E27FC236}">
                <a16:creationId xmlns:a16="http://schemas.microsoft.com/office/drawing/2014/main" id="{8D1EBE3C-F76A-B407-7416-93E5F968AF8C}"/>
              </a:ext>
            </a:extLst>
          </p:cNvPr>
          <p:cNvSpPr txBox="1"/>
          <p:nvPr/>
        </p:nvSpPr>
        <p:spPr>
          <a:xfrm>
            <a:off x="1229385" y="7152700"/>
            <a:ext cx="5535235" cy="606425"/>
          </a:xfrm>
          <a:prstGeom prst="rect">
            <a:avLst/>
          </a:prstGeom>
        </p:spPr>
        <p:txBody>
          <a:bodyPr lIns="0" tIns="0" rIns="0" bIns="0" rtlCol="0" anchor="t">
            <a:spAutoFit/>
          </a:bodyPr>
          <a:lstStyle/>
          <a:p>
            <a:pPr algn="just">
              <a:lnSpc>
                <a:spcPts val="4900"/>
              </a:lnSpc>
            </a:pPr>
            <a:r>
              <a:rPr lang="en-US" sz="3500" dirty="0">
                <a:solidFill>
                  <a:schemeClr val="tx1">
                    <a:lumMod val="65000"/>
                    <a:lumOff val="35000"/>
                  </a:schemeClr>
                </a:solidFill>
                <a:latin typeface="DM Sans"/>
                <a:ea typeface="DM Sans"/>
                <a:cs typeface="DM Sans"/>
                <a:sym typeface="DM Sans"/>
              </a:rPr>
              <a:t>Is it </a:t>
            </a:r>
            <a:r>
              <a:rPr lang="en-US" sz="3500" dirty="0">
                <a:solidFill>
                  <a:srgbClr val="767676"/>
                </a:solidFill>
                <a:latin typeface="DM Sans"/>
                <a:ea typeface="DM Sans"/>
                <a:cs typeface="DM Sans"/>
                <a:sym typeface="DM Sans"/>
              </a:rPr>
              <a:t>resilient</a:t>
            </a:r>
            <a:r>
              <a:rPr lang="en-US" sz="3500" dirty="0">
                <a:solidFill>
                  <a:schemeClr val="tx1">
                    <a:lumMod val="65000"/>
                    <a:lumOff val="35000"/>
                  </a:schemeClr>
                </a:solidFill>
                <a:latin typeface="DM Sans"/>
                <a:ea typeface="DM Sans"/>
                <a:cs typeface="DM Sans"/>
                <a:sym typeface="DM Sans"/>
              </a:rPr>
              <a:t>?</a:t>
            </a:r>
          </a:p>
        </p:txBody>
      </p:sp>
      <p:grpSp>
        <p:nvGrpSpPr>
          <p:cNvPr id="12" name="Group 12">
            <a:extLst>
              <a:ext uri="{FF2B5EF4-FFF2-40B4-BE49-F238E27FC236}">
                <a16:creationId xmlns:a16="http://schemas.microsoft.com/office/drawing/2014/main" id="{9C1F26D7-627F-837F-722A-FC8D66F8B9C5}"/>
              </a:ext>
            </a:extLst>
          </p:cNvPr>
          <p:cNvGrpSpPr/>
          <p:nvPr/>
        </p:nvGrpSpPr>
        <p:grpSpPr>
          <a:xfrm>
            <a:off x="13109300" y="350115"/>
            <a:ext cx="2340032" cy="9254061"/>
            <a:chOff x="0" y="0"/>
            <a:chExt cx="3120043" cy="12338749"/>
          </a:xfrm>
        </p:grpSpPr>
        <p:grpSp>
          <p:nvGrpSpPr>
            <p:cNvPr id="13" name="Group 13">
              <a:extLst>
                <a:ext uri="{FF2B5EF4-FFF2-40B4-BE49-F238E27FC236}">
                  <a16:creationId xmlns:a16="http://schemas.microsoft.com/office/drawing/2014/main" id="{064551ED-ABD3-724A-0C7C-04AE5740A161}"/>
                </a:ext>
              </a:extLst>
            </p:cNvPr>
            <p:cNvGrpSpPr/>
            <p:nvPr/>
          </p:nvGrpSpPr>
          <p:grpSpPr>
            <a:xfrm>
              <a:off x="232837" y="0"/>
              <a:ext cx="2654369" cy="1202833"/>
              <a:chOff x="0" y="0"/>
              <a:chExt cx="567034" cy="256952"/>
            </a:xfrm>
          </p:grpSpPr>
          <p:sp>
            <p:nvSpPr>
              <p:cNvPr id="14" name="Freeform 14">
                <a:extLst>
                  <a:ext uri="{FF2B5EF4-FFF2-40B4-BE49-F238E27FC236}">
                    <a16:creationId xmlns:a16="http://schemas.microsoft.com/office/drawing/2014/main" id="{DC1985CE-FE95-2A4E-0034-74D720220A28}"/>
                  </a:ext>
                </a:extLst>
              </p:cNvPr>
              <p:cNvSpPr/>
              <p:nvPr/>
            </p:nvSpPr>
            <p:spPr>
              <a:xfrm>
                <a:off x="0" y="0"/>
                <a:ext cx="567034" cy="256952"/>
              </a:xfrm>
              <a:custGeom>
                <a:avLst/>
                <a:gdLst/>
                <a:ahLst/>
                <a:cxnLst/>
                <a:rect l="l" t="t" r="r" b="b"/>
                <a:pathLst>
                  <a:path w="567034" h="256952">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txBody>
              <a:bodyPr/>
              <a:lstStyle/>
              <a:p>
                <a:endParaRPr lang="en-US"/>
              </a:p>
            </p:txBody>
          </p:sp>
          <p:sp>
            <p:nvSpPr>
              <p:cNvPr id="15" name="TextBox 15">
                <a:extLst>
                  <a:ext uri="{FF2B5EF4-FFF2-40B4-BE49-F238E27FC236}">
                    <a16:creationId xmlns:a16="http://schemas.microsoft.com/office/drawing/2014/main" id="{35C64D89-18F1-A211-CAC9-5E352DDEE30E}"/>
                  </a:ext>
                </a:extLst>
              </p:cNvPr>
              <p:cNvSpPr txBox="1"/>
              <p:nvPr/>
            </p:nvSpPr>
            <p:spPr>
              <a:xfrm>
                <a:off x="0" y="-38100"/>
                <a:ext cx="567034" cy="295052"/>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RECOVER NETWORK</a:t>
                </a:r>
              </a:p>
            </p:txBody>
          </p:sp>
        </p:grpSp>
        <p:grpSp>
          <p:nvGrpSpPr>
            <p:cNvPr id="16" name="Group 16">
              <a:extLst>
                <a:ext uri="{FF2B5EF4-FFF2-40B4-BE49-F238E27FC236}">
                  <a16:creationId xmlns:a16="http://schemas.microsoft.com/office/drawing/2014/main" id="{B0DA487E-439B-4679-70DA-0B39CF647BD1}"/>
                </a:ext>
              </a:extLst>
            </p:cNvPr>
            <p:cNvGrpSpPr/>
            <p:nvPr/>
          </p:nvGrpSpPr>
          <p:grpSpPr>
            <a:xfrm>
              <a:off x="0" y="3672678"/>
              <a:ext cx="3120043" cy="1790486"/>
              <a:chOff x="0" y="0"/>
              <a:chExt cx="951616" cy="546100"/>
            </a:xfrm>
          </p:grpSpPr>
          <p:sp>
            <p:nvSpPr>
              <p:cNvPr id="17" name="Freeform 17">
                <a:extLst>
                  <a:ext uri="{FF2B5EF4-FFF2-40B4-BE49-F238E27FC236}">
                    <a16:creationId xmlns:a16="http://schemas.microsoft.com/office/drawing/2014/main" id="{CE4C2C0A-D8F8-9791-AEDB-269007458947}"/>
                  </a:ext>
                </a:extLst>
              </p:cNvPr>
              <p:cNvSpPr/>
              <p:nvPr/>
            </p:nvSpPr>
            <p:spPr>
              <a:xfrm>
                <a:off x="0" y="0"/>
                <a:ext cx="951616" cy="539683"/>
              </a:xfrm>
              <a:custGeom>
                <a:avLst/>
                <a:gdLst/>
                <a:ahLst/>
                <a:cxnLst/>
                <a:rect l="l" t="t" r="r" b="b"/>
                <a:pathLst>
                  <a:path w="951616" h="539683">
                    <a:moveTo>
                      <a:pt x="0" y="29673"/>
                    </a:moveTo>
                    <a:lnTo>
                      <a:pt x="0" y="300527"/>
                    </a:lnTo>
                    <a:cubicBezTo>
                      <a:pt x="0" y="318596"/>
                      <a:pt x="10567" y="334995"/>
                      <a:pt x="27021" y="342461"/>
                    </a:cubicBezTo>
                    <a:lnTo>
                      <a:pt x="448787" y="533839"/>
                    </a:lnTo>
                    <a:cubicBezTo>
                      <a:pt x="465958" y="541631"/>
                      <a:pt x="485658" y="541631"/>
                      <a:pt x="502829" y="533839"/>
                    </a:cubicBezTo>
                    <a:lnTo>
                      <a:pt x="924595" y="342461"/>
                    </a:lnTo>
                    <a:cubicBezTo>
                      <a:pt x="941049" y="334995"/>
                      <a:pt x="951616" y="318596"/>
                      <a:pt x="951616" y="300527"/>
                    </a:cubicBezTo>
                    <a:lnTo>
                      <a:pt x="951616" y="29673"/>
                    </a:lnTo>
                    <a:cubicBezTo>
                      <a:pt x="951616" y="13285"/>
                      <a:pt x="938331" y="0"/>
                      <a:pt x="921943" y="0"/>
                    </a:cubicBezTo>
                    <a:lnTo>
                      <a:pt x="29673" y="0"/>
                    </a:lnTo>
                    <a:cubicBezTo>
                      <a:pt x="13285" y="0"/>
                      <a:pt x="0" y="13285"/>
                      <a:pt x="0" y="29673"/>
                    </a:cubicBezTo>
                    <a:close/>
                  </a:path>
                </a:pathLst>
              </a:custGeom>
              <a:solidFill>
                <a:srgbClr val="2F7BD1"/>
              </a:solidFill>
              <a:ln cap="sq">
                <a:noFill/>
                <a:prstDash val="solid"/>
                <a:miter/>
              </a:ln>
            </p:spPr>
            <p:txBody>
              <a:bodyPr/>
              <a:lstStyle/>
              <a:p>
                <a:endParaRPr lang="en-US"/>
              </a:p>
            </p:txBody>
          </p:sp>
          <p:sp>
            <p:nvSpPr>
              <p:cNvPr id="18" name="TextBox 18">
                <a:extLst>
                  <a:ext uri="{FF2B5EF4-FFF2-40B4-BE49-F238E27FC236}">
                    <a16:creationId xmlns:a16="http://schemas.microsoft.com/office/drawing/2014/main" id="{F0FB9416-0D9E-8996-A862-82AC0094D93D}"/>
                  </a:ext>
                </a:extLst>
              </p:cNvPr>
              <p:cNvSpPr txBox="1"/>
              <p:nvPr/>
            </p:nvSpPr>
            <p:spPr>
              <a:xfrm>
                <a:off x="0" y="-12700"/>
                <a:ext cx="951616" cy="330200"/>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CONNECT STORAGE</a:t>
                </a:r>
              </a:p>
              <a:p>
                <a:pPr algn="ctr">
                  <a:lnSpc>
                    <a:spcPts val="2240"/>
                  </a:lnSpc>
                </a:pPr>
                <a:r>
                  <a:rPr lang="en-US" sz="1600" b="1">
                    <a:solidFill>
                      <a:srgbClr val="FFFFFF"/>
                    </a:solidFill>
                    <a:latin typeface="DM Sans Bold"/>
                    <a:ea typeface="DM Sans Bold"/>
                    <a:cs typeface="DM Sans Bold"/>
                    <a:sym typeface="DM Sans Bold"/>
                  </a:rPr>
                  <a:t>(BACKUPS)</a:t>
                </a:r>
              </a:p>
            </p:txBody>
          </p:sp>
        </p:grpSp>
        <p:grpSp>
          <p:nvGrpSpPr>
            <p:cNvPr id="19" name="Group 19">
              <a:extLst>
                <a:ext uri="{FF2B5EF4-FFF2-40B4-BE49-F238E27FC236}">
                  <a16:creationId xmlns:a16="http://schemas.microsoft.com/office/drawing/2014/main" id="{EFDFAC79-E800-B9AA-28D4-6EB296E6EBD3}"/>
                </a:ext>
              </a:extLst>
            </p:cNvPr>
            <p:cNvGrpSpPr/>
            <p:nvPr/>
          </p:nvGrpSpPr>
          <p:grpSpPr>
            <a:xfrm>
              <a:off x="466045" y="6016200"/>
              <a:ext cx="2187952" cy="2187952"/>
              <a:chOff x="0" y="0"/>
              <a:chExt cx="812800" cy="812800"/>
            </a:xfrm>
          </p:grpSpPr>
          <p:sp>
            <p:nvSpPr>
              <p:cNvPr id="20" name="Freeform 20">
                <a:extLst>
                  <a:ext uri="{FF2B5EF4-FFF2-40B4-BE49-F238E27FC236}">
                    <a16:creationId xmlns:a16="http://schemas.microsoft.com/office/drawing/2014/main" id="{5C73B86F-1274-A304-A659-59FCF05CDFF0}"/>
                  </a:ext>
                </a:extLst>
              </p:cNvPr>
              <p:cNvSpPr/>
              <p:nvPr/>
            </p:nvSpPr>
            <p:spPr>
              <a:xfrm>
                <a:off x="0" y="0"/>
                <a:ext cx="812800" cy="812800"/>
              </a:xfrm>
              <a:custGeom>
                <a:avLst/>
                <a:gdLst/>
                <a:ahLst/>
                <a:cxnLst/>
                <a:rect l="l" t="t" r="r" b="b"/>
                <a:pathLst>
                  <a:path w="812800" h="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2F7BD1"/>
              </a:solidFill>
            </p:spPr>
            <p:txBody>
              <a:bodyPr/>
              <a:lstStyle/>
              <a:p>
                <a:endParaRPr lang="en-US"/>
              </a:p>
            </p:txBody>
          </p:sp>
          <p:sp>
            <p:nvSpPr>
              <p:cNvPr id="21" name="TextBox 21">
                <a:extLst>
                  <a:ext uri="{FF2B5EF4-FFF2-40B4-BE49-F238E27FC236}">
                    <a16:creationId xmlns:a16="http://schemas.microsoft.com/office/drawing/2014/main" id="{9AB0B82B-D67C-03DF-AD1D-31B7AA665005}"/>
                  </a:ext>
                </a:extLst>
              </p:cNvPr>
              <p:cNvSpPr txBox="1"/>
              <p:nvPr/>
            </p:nvSpPr>
            <p:spPr>
              <a:xfrm>
                <a:off x="152400" y="114300"/>
                <a:ext cx="508000" cy="546100"/>
              </a:xfrm>
              <a:prstGeom prst="rect">
                <a:avLst/>
              </a:prstGeom>
            </p:spPr>
            <p:txBody>
              <a:bodyPr lIns="50800" tIns="50800" rIns="50800" bIns="50800" rtlCol="0" anchor="ctr"/>
              <a:lstStyle/>
              <a:p>
                <a:pPr algn="ctr">
                  <a:lnSpc>
                    <a:spcPts val="2239"/>
                  </a:lnSpc>
                </a:pPr>
                <a:r>
                  <a:rPr lang="en-US" sz="1599" b="1">
                    <a:solidFill>
                      <a:srgbClr val="FFFFFF"/>
                    </a:solidFill>
                    <a:latin typeface="DM Sans Bold"/>
                    <a:ea typeface="DM Sans Bold"/>
                    <a:cs typeface="DM Sans Bold"/>
                    <a:sym typeface="DM Sans Bold"/>
                  </a:rPr>
                  <a:t>RECOVER AD</a:t>
                </a:r>
              </a:p>
            </p:txBody>
          </p:sp>
        </p:grpSp>
        <p:grpSp>
          <p:nvGrpSpPr>
            <p:cNvPr id="22" name="Group 22">
              <a:extLst>
                <a:ext uri="{FF2B5EF4-FFF2-40B4-BE49-F238E27FC236}">
                  <a16:creationId xmlns:a16="http://schemas.microsoft.com/office/drawing/2014/main" id="{8A460008-8C34-1727-B2F5-206328A93027}"/>
                </a:ext>
              </a:extLst>
            </p:cNvPr>
            <p:cNvGrpSpPr/>
            <p:nvPr/>
          </p:nvGrpSpPr>
          <p:grpSpPr>
            <a:xfrm>
              <a:off x="670249" y="10472398"/>
              <a:ext cx="1779544" cy="1866351"/>
              <a:chOff x="0" y="0"/>
              <a:chExt cx="520700" cy="546100"/>
            </a:xfrm>
          </p:grpSpPr>
          <p:sp>
            <p:nvSpPr>
              <p:cNvPr id="23" name="Freeform 23">
                <a:extLst>
                  <a:ext uri="{FF2B5EF4-FFF2-40B4-BE49-F238E27FC236}">
                    <a16:creationId xmlns:a16="http://schemas.microsoft.com/office/drawing/2014/main" id="{569EA95A-DDCD-42CE-176A-4BF60407201B}"/>
                  </a:ext>
                </a:extLst>
              </p:cNvPr>
              <p:cNvSpPr/>
              <p:nvPr/>
            </p:nvSpPr>
            <p:spPr>
              <a:xfrm>
                <a:off x="0" y="0"/>
                <a:ext cx="520700" cy="527335"/>
              </a:xfrm>
              <a:custGeom>
                <a:avLst/>
                <a:gdLst/>
                <a:ahLst/>
                <a:cxnLst/>
                <a:rect l="l" t="t" r="r" b="b"/>
                <a:pathLst>
                  <a:path w="520700" h="527335">
                    <a:moveTo>
                      <a:pt x="0" y="52025"/>
                    </a:moveTo>
                    <a:lnTo>
                      <a:pt x="0" y="278175"/>
                    </a:lnTo>
                    <a:cubicBezTo>
                      <a:pt x="0" y="311130"/>
                      <a:pt x="14679" y="342373"/>
                      <a:pt x="40047" y="363409"/>
                    </a:cubicBezTo>
                    <a:lnTo>
                      <a:pt x="220303" y="512891"/>
                    </a:lnTo>
                    <a:cubicBezTo>
                      <a:pt x="243528" y="532150"/>
                      <a:pt x="277172" y="532150"/>
                      <a:pt x="300397" y="512891"/>
                    </a:cubicBezTo>
                    <a:lnTo>
                      <a:pt x="480653" y="363409"/>
                    </a:lnTo>
                    <a:cubicBezTo>
                      <a:pt x="506021" y="342373"/>
                      <a:pt x="520700" y="311130"/>
                      <a:pt x="520700" y="278175"/>
                    </a:cubicBezTo>
                    <a:lnTo>
                      <a:pt x="520700" y="52025"/>
                    </a:lnTo>
                    <a:cubicBezTo>
                      <a:pt x="520700" y="23292"/>
                      <a:pt x="497408" y="0"/>
                      <a:pt x="468675" y="0"/>
                    </a:cubicBezTo>
                    <a:lnTo>
                      <a:pt x="52025" y="0"/>
                    </a:lnTo>
                    <a:cubicBezTo>
                      <a:pt x="23292" y="0"/>
                      <a:pt x="0" y="23292"/>
                      <a:pt x="0" y="52025"/>
                    </a:cubicBezTo>
                    <a:close/>
                  </a:path>
                </a:pathLst>
              </a:custGeom>
              <a:solidFill>
                <a:srgbClr val="2F7BD1"/>
              </a:solidFill>
              <a:ln cap="sq">
                <a:noFill/>
                <a:prstDash val="solid"/>
                <a:miter/>
              </a:ln>
            </p:spPr>
            <p:txBody>
              <a:bodyPr/>
              <a:lstStyle/>
              <a:p>
                <a:endParaRPr lang="en-US"/>
              </a:p>
            </p:txBody>
          </p:sp>
          <p:sp>
            <p:nvSpPr>
              <p:cNvPr id="24" name="TextBox 24">
                <a:extLst>
                  <a:ext uri="{FF2B5EF4-FFF2-40B4-BE49-F238E27FC236}">
                    <a16:creationId xmlns:a16="http://schemas.microsoft.com/office/drawing/2014/main" id="{FFEED284-1B6E-1089-7532-A654A3DAEBD4}"/>
                  </a:ext>
                </a:extLst>
              </p:cNvPr>
              <p:cNvSpPr txBox="1"/>
              <p:nvPr/>
            </p:nvSpPr>
            <p:spPr>
              <a:xfrm>
                <a:off x="0" y="-12700"/>
                <a:ext cx="520700" cy="330200"/>
              </a:xfrm>
              <a:prstGeom prst="rect">
                <a:avLst/>
              </a:prstGeom>
            </p:spPr>
            <p:txBody>
              <a:bodyPr lIns="50800" tIns="50800" rIns="50800" bIns="50800" rtlCol="0" anchor="ctr"/>
              <a:lstStyle/>
              <a:p>
                <a:pPr algn="ctr">
                  <a:lnSpc>
                    <a:spcPts val="2520"/>
                  </a:lnSpc>
                </a:pPr>
                <a:r>
                  <a:rPr lang="en-US" sz="1800" b="1">
                    <a:solidFill>
                      <a:srgbClr val="FFFFFF"/>
                    </a:solidFill>
                    <a:latin typeface="DM Sans Bold"/>
                    <a:ea typeface="DM Sans Bold"/>
                    <a:cs typeface="DM Sans Bold"/>
                    <a:sym typeface="DM Sans Bold"/>
                  </a:rPr>
                  <a:t>RECOVER APPS</a:t>
                </a:r>
              </a:p>
            </p:txBody>
          </p:sp>
        </p:grpSp>
        <p:grpSp>
          <p:nvGrpSpPr>
            <p:cNvPr id="25" name="Group 25">
              <a:extLst>
                <a:ext uri="{FF2B5EF4-FFF2-40B4-BE49-F238E27FC236}">
                  <a16:creationId xmlns:a16="http://schemas.microsoft.com/office/drawing/2014/main" id="{F75FCDE2-CDA5-97A9-2B3C-A834420F699E}"/>
                </a:ext>
              </a:extLst>
            </p:cNvPr>
            <p:cNvGrpSpPr/>
            <p:nvPr/>
          </p:nvGrpSpPr>
          <p:grpSpPr>
            <a:xfrm>
              <a:off x="232837" y="1861488"/>
              <a:ext cx="2654369" cy="1202833"/>
              <a:chOff x="0" y="0"/>
              <a:chExt cx="567034" cy="256952"/>
            </a:xfrm>
          </p:grpSpPr>
          <p:sp>
            <p:nvSpPr>
              <p:cNvPr id="26" name="Freeform 26">
                <a:extLst>
                  <a:ext uri="{FF2B5EF4-FFF2-40B4-BE49-F238E27FC236}">
                    <a16:creationId xmlns:a16="http://schemas.microsoft.com/office/drawing/2014/main" id="{22C68C9B-A179-422F-BC09-0081B12730A4}"/>
                  </a:ext>
                </a:extLst>
              </p:cNvPr>
              <p:cNvSpPr/>
              <p:nvPr/>
            </p:nvSpPr>
            <p:spPr>
              <a:xfrm>
                <a:off x="0" y="0"/>
                <a:ext cx="567034" cy="256952"/>
              </a:xfrm>
              <a:custGeom>
                <a:avLst/>
                <a:gdLst/>
                <a:ahLst/>
                <a:cxnLst/>
                <a:rect l="l" t="t" r="r" b="b"/>
                <a:pathLst>
                  <a:path w="567034" h="256952">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txBody>
              <a:bodyPr/>
              <a:lstStyle/>
              <a:p>
                <a:endParaRPr lang="en-US"/>
              </a:p>
            </p:txBody>
          </p:sp>
          <p:sp>
            <p:nvSpPr>
              <p:cNvPr id="27" name="TextBox 27">
                <a:extLst>
                  <a:ext uri="{FF2B5EF4-FFF2-40B4-BE49-F238E27FC236}">
                    <a16:creationId xmlns:a16="http://schemas.microsoft.com/office/drawing/2014/main" id="{39184C84-76A4-2AD2-146E-2DEDC3B2824F}"/>
                  </a:ext>
                </a:extLst>
              </p:cNvPr>
              <p:cNvSpPr txBox="1"/>
              <p:nvPr/>
            </p:nvSpPr>
            <p:spPr>
              <a:xfrm>
                <a:off x="0" y="-38100"/>
                <a:ext cx="567034" cy="295052"/>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RECOVER COMPUTE</a:t>
                </a:r>
              </a:p>
            </p:txBody>
          </p:sp>
        </p:grpSp>
        <p:grpSp>
          <p:nvGrpSpPr>
            <p:cNvPr id="28" name="Group 28">
              <a:extLst>
                <a:ext uri="{FF2B5EF4-FFF2-40B4-BE49-F238E27FC236}">
                  <a16:creationId xmlns:a16="http://schemas.microsoft.com/office/drawing/2014/main" id="{FA6B6764-BD23-C60F-5392-C4C8E3F794CA}"/>
                </a:ext>
              </a:extLst>
            </p:cNvPr>
            <p:cNvGrpSpPr/>
            <p:nvPr/>
          </p:nvGrpSpPr>
          <p:grpSpPr>
            <a:xfrm>
              <a:off x="232837" y="8649535"/>
              <a:ext cx="2654369" cy="1202833"/>
              <a:chOff x="0" y="0"/>
              <a:chExt cx="567034" cy="256952"/>
            </a:xfrm>
          </p:grpSpPr>
          <p:sp>
            <p:nvSpPr>
              <p:cNvPr id="29" name="Freeform 29">
                <a:extLst>
                  <a:ext uri="{FF2B5EF4-FFF2-40B4-BE49-F238E27FC236}">
                    <a16:creationId xmlns:a16="http://schemas.microsoft.com/office/drawing/2014/main" id="{8C11386B-19D2-FF95-8AB6-0DA1CF4115CD}"/>
                  </a:ext>
                </a:extLst>
              </p:cNvPr>
              <p:cNvSpPr/>
              <p:nvPr/>
            </p:nvSpPr>
            <p:spPr>
              <a:xfrm>
                <a:off x="0" y="0"/>
                <a:ext cx="567034" cy="256952"/>
              </a:xfrm>
              <a:custGeom>
                <a:avLst/>
                <a:gdLst/>
                <a:ahLst/>
                <a:cxnLst/>
                <a:rect l="l" t="t" r="r" b="b"/>
                <a:pathLst>
                  <a:path w="567034" h="256952">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txBody>
              <a:bodyPr/>
              <a:lstStyle/>
              <a:p>
                <a:endParaRPr lang="en-US"/>
              </a:p>
            </p:txBody>
          </p:sp>
          <p:sp>
            <p:nvSpPr>
              <p:cNvPr id="30" name="TextBox 30">
                <a:extLst>
                  <a:ext uri="{FF2B5EF4-FFF2-40B4-BE49-F238E27FC236}">
                    <a16:creationId xmlns:a16="http://schemas.microsoft.com/office/drawing/2014/main" id="{52541488-9C67-EAE5-9CFF-3FB3DCA747E8}"/>
                  </a:ext>
                </a:extLst>
              </p:cNvPr>
              <p:cNvSpPr txBox="1"/>
              <p:nvPr/>
            </p:nvSpPr>
            <p:spPr>
              <a:xfrm>
                <a:off x="0" y="-38100"/>
                <a:ext cx="567034" cy="295052"/>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 RCA</a:t>
                </a:r>
              </a:p>
            </p:txBody>
          </p:sp>
        </p:grpSp>
        <p:grpSp>
          <p:nvGrpSpPr>
            <p:cNvPr id="31" name="Group 31">
              <a:extLst>
                <a:ext uri="{FF2B5EF4-FFF2-40B4-BE49-F238E27FC236}">
                  <a16:creationId xmlns:a16="http://schemas.microsoft.com/office/drawing/2014/main" id="{0667024F-7515-96E7-D61B-C9E738D3366B}"/>
                </a:ext>
              </a:extLst>
            </p:cNvPr>
            <p:cNvGrpSpPr/>
            <p:nvPr/>
          </p:nvGrpSpPr>
          <p:grpSpPr>
            <a:xfrm>
              <a:off x="1238226" y="1036175"/>
              <a:ext cx="643591" cy="802106"/>
              <a:chOff x="0" y="0"/>
              <a:chExt cx="652172" cy="812800"/>
            </a:xfrm>
          </p:grpSpPr>
          <p:sp>
            <p:nvSpPr>
              <p:cNvPr id="32" name="Freeform 32">
                <a:extLst>
                  <a:ext uri="{FF2B5EF4-FFF2-40B4-BE49-F238E27FC236}">
                    <a16:creationId xmlns:a16="http://schemas.microsoft.com/office/drawing/2014/main" id="{DD50EB0D-4577-8D77-8A21-AE1C8321294F}"/>
                  </a:ext>
                </a:extLst>
              </p:cNvPr>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33" name="TextBox 33">
                <a:extLst>
                  <a:ext uri="{FF2B5EF4-FFF2-40B4-BE49-F238E27FC236}">
                    <a16:creationId xmlns:a16="http://schemas.microsoft.com/office/drawing/2014/main" id="{BC5A7872-A602-C66D-F829-F3EEE1BB0FFF}"/>
                  </a:ext>
                </a:extLst>
              </p:cNvPr>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34" name="Group 34">
              <a:extLst>
                <a:ext uri="{FF2B5EF4-FFF2-40B4-BE49-F238E27FC236}">
                  <a16:creationId xmlns:a16="http://schemas.microsoft.com/office/drawing/2014/main" id="{6AE490B6-0F31-ED0F-4538-6112370D5B54}"/>
                </a:ext>
              </a:extLst>
            </p:cNvPr>
            <p:cNvGrpSpPr/>
            <p:nvPr/>
          </p:nvGrpSpPr>
          <p:grpSpPr>
            <a:xfrm>
              <a:off x="1238226" y="2908403"/>
              <a:ext cx="643591" cy="802106"/>
              <a:chOff x="0" y="0"/>
              <a:chExt cx="652172" cy="812800"/>
            </a:xfrm>
          </p:grpSpPr>
          <p:sp>
            <p:nvSpPr>
              <p:cNvPr id="35" name="Freeform 35">
                <a:extLst>
                  <a:ext uri="{FF2B5EF4-FFF2-40B4-BE49-F238E27FC236}">
                    <a16:creationId xmlns:a16="http://schemas.microsoft.com/office/drawing/2014/main" id="{98C3DF49-E61C-BE4C-0558-198449EEE14E}"/>
                  </a:ext>
                </a:extLst>
              </p:cNvPr>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36" name="TextBox 36">
                <a:extLst>
                  <a:ext uri="{FF2B5EF4-FFF2-40B4-BE49-F238E27FC236}">
                    <a16:creationId xmlns:a16="http://schemas.microsoft.com/office/drawing/2014/main" id="{111778BC-2F63-2066-E4DF-B25838B9CA0D}"/>
                  </a:ext>
                </a:extLst>
              </p:cNvPr>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37" name="Group 37">
              <a:extLst>
                <a:ext uri="{FF2B5EF4-FFF2-40B4-BE49-F238E27FC236}">
                  <a16:creationId xmlns:a16="http://schemas.microsoft.com/office/drawing/2014/main" id="{AD15C0D7-BA63-D22F-A7B0-ADDAB880DF5B}"/>
                </a:ext>
              </a:extLst>
            </p:cNvPr>
            <p:cNvGrpSpPr/>
            <p:nvPr/>
          </p:nvGrpSpPr>
          <p:grpSpPr>
            <a:xfrm>
              <a:off x="1238226" y="5163873"/>
              <a:ext cx="643591" cy="802106"/>
              <a:chOff x="0" y="0"/>
              <a:chExt cx="652172" cy="812800"/>
            </a:xfrm>
          </p:grpSpPr>
          <p:sp>
            <p:nvSpPr>
              <p:cNvPr id="38" name="Freeform 38">
                <a:extLst>
                  <a:ext uri="{FF2B5EF4-FFF2-40B4-BE49-F238E27FC236}">
                    <a16:creationId xmlns:a16="http://schemas.microsoft.com/office/drawing/2014/main" id="{EF4E0BBF-AE84-C3A1-239B-93CE04D2E37F}"/>
                  </a:ext>
                </a:extLst>
              </p:cNvPr>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39" name="TextBox 39">
                <a:extLst>
                  <a:ext uri="{FF2B5EF4-FFF2-40B4-BE49-F238E27FC236}">
                    <a16:creationId xmlns:a16="http://schemas.microsoft.com/office/drawing/2014/main" id="{F87647EC-72D4-0A6C-AD5B-E046BF4424F0}"/>
                  </a:ext>
                </a:extLst>
              </p:cNvPr>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40" name="Group 40">
              <a:extLst>
                <a:ext uri="{FF2B5EF4-FFF2-40B4-BE49-F238E27FC236}">
                  <a16:creationId xmlns:a16="http://schemas.microsoft.com/office/drawing/2014/main" id="{172AF8D7-54E6-2BCB-868C-E5CF0AD61C05}"/>
                </a:ext>
              </a:extLst>
            </p:cNvPr>
            <p:cNvGrpSpPr/>
            <p:nvPr/>
          </p:nvGrpSpPr>
          <p:grpSpPr>
            <a:xfrm>
              <a:off x="1238226" y="7847428"/>
              <a:ext cx="643591" cy="802106"/>
              <a:chOff x="0" y="0"/>
              <a:chExt cx="652172" cy="812800"/>
            </a:xfrm>
          </p:grpSpPr>
          <p:sp>
            <p:nvSpPr>
              <p:cNvPr id="41" name="Freeform 41">
                <a:extLst>
                  <a:ext uri="{FF2B5EF4-FFF2-40B4-BE49-F238E27FC236}">
                    <a16:creationId xmlns:a16="http://schemas.microsoft.com/office/drawing/2014/main" id="{B1867606-9473-D26F-86B1-1D4C8014018E}"/>
                  </a:ext>
                </a:extLst>
              </p:cNvPr>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42" name="TextBox 42">
                <a:extLst>
                  <a:ext uri="{FF2B5EF4-FFF2-40B4-BE49-F238E27FC236}">
                    <a16:creationId xmlns:a16="http://schemas.microsoft.com/office/drawing/2014/main" id="{C3FB22A9-BB81-63C2-98DF-59292E2EFB41}"/>
                  </a:ext>
                </a:extLst>
              </p:cNvPr>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43" name="Group 43">
              <a:extLst>
                <a:ext uri="{FF2B5EF4-FFF2-40B4-BE49-F238E27FC236}">
                  <a16:creationId xmlns:a16="http://schemas.microsoft.com/office/drawing/2014/main" id="{8F026F2F-B04B-5D24-C570-2C190384093E}"/>
                </a:ext>
              </a:extLst>
            </p:cNvPr>
            <p:cNvGrpSpPr/>
            <p:nvPr/>
          </p:nvGrpSpPr>
          <p:grpSpPr>
            <a:xfrm>
              <a:off x="1238226" y="9620892"/>
              <a:ext cx="643591" cy="802106"/>
              <a:chOff x="0" y="0"/>
              <a:chExt cx="652172" cy="812800"/>
            </a:xfrm>
          </p:grpSpPr>
          <p:sp>
            <p:nvSpPr>
              <p:cNvPr id="44" name="Freeform 44">
                <a:extLst>
                  <a:ext uri="{FF2B5EF4-FFF2-40B4-BE49-F238E27FC236}">
                    <a16:creationId xmlns:a16="http://schemas.microsoft.com/office/drawing/2014/main" id="{7C901D65-8FF4-1C15-1806-7004A807CC90}"/>
                  </a:ext>
                </a:extLst>
              </p:cNvPr>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45" name="TextBox 45">
                <a:extLst>
                  <a:ext uri="{FF2B5EF4-FFF2-40B4-BE49-F238E27FC236}">
                    <a16:creationId xmlns:a16="http://schemas.microsoft.com/office/drawing/2014/main" id="{E89DD608-E3D0-DE53-19C8-D0BC33244A3B}"/>
                  </a:ext>
                </a:extLst>
              </p:cNvPr>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sp>
        <p:nvSpPr>
          <p:cNvPr id="46" name="TextBox 11">
            <a:extLst>
              <a:ext uri="{FF2B5EF4-FFF2-40B4-BE49-F238E27FC236}">
                <a16:creationId xmlns:a16="http://schemas.microsoft.com/office/drawing/2014/main" id="{C9353DDF-9A75-E5C3-FC4A-DD9BFC326643}"/>
              </a:ext>
            </a:extLst>
          </p:cNvPr>
          <p:cNvSpPr txBox="1"/>
          <p:nvPr/>
        </p:nvSpPr>
        <p:spPr>
          <a:xfrm>
            <a:off x="1229385" y="7975400"/>
            <a:ext cx="5535235" cy="606425"/>
          </a:xfrm>
          <a:prstGeom prst="rect">
            <a:avLst/>
          </a:prstGeom>
        </p:spPr>
        <p:txBody>
          <a:bodyPr lIns="0" tIns="0" rIns="0" bIns="0" rtlCol="0" anchor="t">
            <a:spAutoFit/>
          </a:bodyPr>
          <a:lstStyle/>
          <a:p>
            <a:pPr algn="just">
              <a:lnSpc>
                <a:spcPts val="4900"/>
              </a:lnSpc>
            </a:pPr>
            <a:r>
              <a:rPr lang="en-US" sz="3500" dirty="0">
                <a:solidFill>
                  <a:srgbClr val="FFFFFF"/>
                </a:solidFill>
                <a:latin typeface="DM Sans"/>
                <a:ea typeface="DM Sans"/>
                <a:cs typeface="DM Sans"/>
                <a:sym typeface="DM Sans"/>
              </a:rPr>
              <a:t>3-2-1+1 Rule</a:t>
            </a:r>
          </a:p>
        </p:txBody>
      </p:sp>
    </p:spTree>
    <p:extLst>
      <p:ext uri="{BB962C8B-B14F-4D97-AF65-F5344CB8AC3E}">
        <p14:creationId xmlns:p14="http://schemas.microsoft.com/office/powerpoint/2010/main" val="29306088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a:extLst>
            <a:ext uri="{FF2B5EF4-FFF2-40B4-BE49-F238E27FC236}">
              <a16:creationId xmlns:a16="http://schemas.microsoft.com/office/drawing/2014/main" id="{D83FA987-9E67-87C6-D8E3-7526641CF2DB}"/>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32A6339-8C59-8DE4-71C3-FD0FBF4D1A6F}"/>
              </a:ext>
            </a:extLst>
          </p:cNvPr>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a:extLst>
              <a:ext uri="{FF2B5EF4-FFF2-40B4-BE49-F238E27FC236}">
                <a16:creationId xmlns:a16="http://schemas.microsoft.com/office/drawing/2014/main" id="{B74E24F0-3A38-BA8F-767E-264830509220}"/>
              </a:ext>
            </a:extLst>
          </p:cNvPr>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a:extLst>
              <a:ext uri="{FF2B5EF4-FFF2-40B4-BE49-F238E27FC236}">
                <a16:creationId xmlns:a16="http://schemas.microsoft.com/office/drawing/2014/main" id="{CAD51CB6-75EE-890F-DC90-87567C11A097}"/>
              </a:ext>
            </a:extLst>
          </p:cNvPr>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a:extLst>
              <a:ext uri="{FF2B5EF4-FFF2-40B4-BE49-F238E27FC236}">
                <a16:creationId xmlns:a16="http://schemas.microsoft.com/office/drawing/2014/main" id="{6BB9AE03-13E3-7E8B-CAE6-09998E8628AC}"/>
              </a:ext>
            </a:extLst>
          </p:cNvPr>
          <p:cNvSpPr txBox="1"/>
          <p:nvPr/>
        </p:nvSpPr>
        <p:spPr>
          <a:xfrm>
            <a:off x="684356" y="486903"/>
            <a:ext cx="8310823" cy="688047"/>
          </a:xfrm>
          <a:prstGeom prst="rect">
            <a:avLst/>
          </a:prstGeom>
        </p:spPr>
        <p:txBody>
          <a:bodyPr lIns="0" tIns="0" rIns="0" bIns="0" rtlCol="0" anchor="t">
            <a:spAutoFit/>
          </a:bodyPr>
          <a:lstStyle/>
          <a:p>
            <a:pPr marL="0" lvl="0" indent="0" algn="l">
              <a:lnSpc>
                <a:spcPts val="5651"/>
              </a:lnSpc>
              <a:spcBef>
                <a:spcPct val="0"/>
              </a:spcBef>
            </a:pPr>
            <a:r>
              <a:rPr lang="en-US" sz="4036">
                <a:solidFill>
                  <a:srgbClr val="38B6FF"/>
                </a:solidFill>
                <a:latin typeface="Anton"/>
                <a:ea typeface="Anton"/>
                <a:cs typeface="Anton"/>
                <a:sym typeface="Anton"/>
              </a:rPr>
              <a:t>BONUS - TESTING BACKUPS GUIDANCE</a:t>
            </a:r>
          </a:p>
        </p:txBody>
      </p:sp>
      <p:sp>
        <p:nvSpPr>
          <p:cNvPr id="6" name="TextBox 7">
            <a:extLst>
              <a:ext uri="{FF2B5EF4-FFF2-40B4-BE49-F238E27FC236}">
                <a16:creationId xmlns:a16="http://schemas.microsoft.com/office/drawing/2014/main" id="{369F5FE9-2756-387C-2B61-126DDB3AA70E}"/>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dirty="0">
                <a:solidFill>
                  <a:srgbClr val="FFFFFF"/>
                </a:solidFill>
                <a:latin typeface="Anton"/>
                <a:ea typeface="Anton"/>
                <a:cs typeface="Anton"/>
                <a:sym typeface="Anton"/>
              </a:rPr>
              <a:t>BONUS</a:t>
            </a:r>
          </a:p>
        </p:txBody>
      </p:sp>
      <p:sp>
        <p:nvSpPr>
          <p:cNvPr id="7" name="TextBox 5">
            <a:extLst>
              <a:ext uri="{FF2B5EF4-FFF2-40B4-BE49-F238E27FC236}">
                <a16:creationId xmlns:a16="http://schemas.microsoft.com/office/drawing/2014/main" id="{330F9391-2599-B365-22CC-50F5FCCDC044}"/>
              </a:ext>
            </a:extLst>
          </p:cNvPr>
          <p:cNvSpPr txBox="1"/>
          <p:nvPr/>
        </p:nvSpPr>
        <p:spPr>
          <a:xfrm>
            <a:off x="1076985" y="1509032"/>
            <a:ext cx="8510550" cy="1846659"/>
          </a:xfrm>
          <a:prstGeom prst="rect">
            <a:avLst/>
          </a:prstGeom>
        </p:spPr>
        <p:txBody>
          <a:bodyPr lIns="0" tIns="0" rIns="0" bIns="0" rtlCol="0" anchor="t">
            <a:spAutoFit/>
          </a:bodyPr>
          <a:lstStyle/>
          <a:p>
            <a:r>
              <a:rPr lang="en-US" sz="2400" i="1" dirty="0">
                <a:solidFill>
                  <a:srgbClr val="767676"/>
                </a:solidFill>
                <a:latin typeface="DM Sans Italics"/>
                <a:ea typeface="DM Sans Italics"/>
                <a:cs typeface="DM Sans Italics"/>
                <a:sym typeface="DM Sans Italics"/>
              </a:rPr>
              <a:t>Principals</a:t>
            </a:r>
          </a:p>
          <a:p>
            <a:pPr marL="755651" lvl="1" indent="-377825">
              <a:buFont typeface="Arial"/>
              <a:buChar char="•"/>
            </a:pPr>
            <a:r>
              <a:rPr lang="en-US" sz="2400" dirty="0">
                <a:solidFill>
                  <a:schemeClr val="bg1"/>
                </a:solidFill>
                <a:latin typeface="DM Sans"/>
                <a:ea typeface="DM Sans"/>
                <a:cs typeface="DM Sans"/>
                <a:sym typeface="DM Sans"/>
              </a:rPr>
              <a:t>Successful backups can still have issues</a:t>
            </a:r>
          </a:p>
          <a:p>
            <a:pPr marL="755651" lvl="1" indent="-377825">
              <a:buFont typeface="Arial"/>
              <a:buChar char="•"/>
            </a:pPr>
            <a:r>
              <a:rPr lang="en-US" sz="2400" dirty="0">
                <a:solidFill>
                  <a:schemeClr val="bg1"/>
                </a:solidFill>
                <a:latin typeface="DM Sans"/>
                <a:ea typeface="DM Sans"/>
                <a:cs typeface="DM Sans"/>
                <a:sym typeface="DM Sans"/>
              </a:rPr>
              <a:t>Testing is critical – Especially if you only have a manual recovery process. </a:t>
            </a:r>
          </a:p>
          <a:p>
            <a:pPr marL="755651" lvl="1" indent="-377825">
              <a:buFont typeface="Arial"/>
              <a:buChar char="•"/>
            </a:pPr>
            <a:r>
              <a:rPr lang="en-US" sz="2400" dirty="0">
                <a:solidFill>
                  <a:schemeClr val="bg1"/>
                </a:solidFill>
                <a:latin typeface="DM Sans"/>
                <a:ea typeface="DM Sans"/>
                <a:cs typeface="DM Sans"/>
                <a:sym typeface="DM Sans"/>
              </a:rPr>
              <a:t>Keep track of tombstone lifetime. </a:t>
            </a:r>
          </a:p>
        </p:txBody>
      </p:sp>
      <p:sp>
        <p:nvSpPr>
          <p:cNvPr id="8" name="TextBox 5">
            <a:extLst>
              <a:ext uri="{FF2B5EF4-FFF2-40B4-BE49-F238E27FC236}">
                <a16:creationId xmlns:a16="http://schemas.microsoft.com/office/drawing/2014/main" id="{DAC1284A-31FF-C9CD-2F4E-C1828E07DA8C}"/>
              </a:ext>
            </a:extLst>
          </p:cNvPr>
          <p:cNvSpPr txBox="1"/>
          <p:nvPr/>
        </p:nvSpPr>
        <p:spPr>
          <a:xfrm>
            <a:off x="1076985" y="3604603"/>
            <a:ext cx="8510550" cy="1477328"/>
          </a:xfrm>
          <a:prstGeom prst="rect">
            <a:avLst/>
          </a:prstGeom>
        </p:spPr>
        <p:txBody>
          <a:bodyPr lIns="0" tIns="0" rIns="0" bIns="0" rtlCol="0" anchor="t">
            <a:spAutoFit/>
          </a:bodyPr>
          <a:lstStyle/>
          <a:p>
            <a:r>
              <a:rPr lang="en-US" sz="2400" i="1" dirty="0">
                <a:solidFill>
                  <a:srgbClr val="737373"/>
                </a:solidFill>
                <a:latin typeface="DM Sans Italics"/>
                <a:ea typeface="DM Sans Italics"/>
                <a:cs typeface="DM Sans Italics"/>
                <a:sym typeface="DM Sans Italics"/>
              </a:rPr>
              <a:t>Test Environment</a:t>
            </a:r>
          </a:p>
          <a:p>
            <a:pPr marL="755651" lvl="1" indent="-377825">
              <a:buFont typeface="Arial"/>
              <a:buChar char="•"/>
            </a:pPr>
            <a:r>
              <a:rPr lang="en-US" sz="2400" dirty="0">
                <a:solidFill>
                  <a:schemeClr val="bg1"/>
                </a:solidFill>
                <a:latin typeface="DM Sans"/>
                <a:ea typeface="DM Sans"/>
                <a:cs typeface="DM Sans"/>
                <a:sym typeface="DM Sans"/>
              </a:rPr>
              <a:t>ALWAYS restore to an isolated test/lab environment</a:t>
            </a:r>
          </a:p>
          <a:p>
            <a:pPr marL="755651" lvl="1" indent="-377825">
              <a:buFont typeface="Arial"/>
              <a:buChar char="•"/>
            </a:pPr>
            <a:r>
              <a:rPr lang="en-US" sz="2400" dirty="0">
                <a:solidFill>
                  <a:schemeClr val="bg1"/>
                </a:solidFill>
                <a:latin typeface="DM Sans"/>
                <a:ea typeface="DM Sans"/>
                <a:cs typeface="DM Sans"/>
                <a:sym typeface="DM Sans"/>
              </a:rPr>
              <a:t>Restore copies of functioning systems</a:t>
            </a:r>
          </a:p>
          <a:p>
            <a:pPr marL="755651" lvl="1" indent="-377825">
              <a:buFont typeface="Arial"/>
              <a:buChar char="•"/>
            </a:pPr>
            <a:r>
              <a:rPr lang="en-US" sz="2400" dirty="0">
                <a:solidFill>
                  <a:schemeClr val="bg1"/>
                </a:solidFill>
                <a:latin typeface="DM Sans"/>
                <a:ea typeface="DM Sans"/>
                <a:cs typeface="DM Sans"/>
                <a:sym typeface="DM Sans"/>
              </a:rPr>
              <a:t>Resources can be lower – except disk</a:t>
            </a:r>
          </a:p>
        </p:txBody>
      </p:sp>
      <p:sp>
        <p:nvSpPr>
          <p:cNvPr id="9" name="TextBox 5">
            <a:extLst>
              <a:ext uri="{FF2B5EF4-FFF2-40B4-BE49-F238E27FC236}">
                <a16:creationId xmlns:a16="http://schemas.microsoft.com/office/drawing/2014/main" id="{DDA879DA-242A-049D-7141-E82D01988964}"/>
              </a:ext>
            </a:extLst>
          </p:cNvPr>
          <p:cNvSpPr txBox="1"/>
          <p:nvPr/>
        </p:nvSpPr>
        <p:spPr>
          <a:xfrm>
            <a:off x="1076985" y="5330843"/>
            <a:ext cx="8510550" cy="1846659"/>
          </a:xfrm>
          <a:prstGeom prst="rect">
            <a:avLst/>
          </a:prstGeom>
        </p:spPr>
        <p:txBody>
          <a:bodyPr lIns="0" tIns="0" rIns="0" bIns="0" rtlCol="0" anchor="t">
            <a:spAutoFit/>
          </a:bodyPr>
          <a:lstStyle/>
          <a:p>
            <a:r>
              <a:rPr lang="en-US" sz="2400" i="1" dirty="0">
                <a:solidFill>
                  <a:srgbClr val="737373"/>
                </a:solidFill>
                <a:latin typeface="DM Sans Italics"/>
                <a:ea typeface="DM Sans Italics"/>
                <a:cs typeface="DM Sans Italics"/>
                <a:sym typeface="DM Sans Italics"/>
              </a:rPr>
              <a:t>Verification</a:t>
            </a:r>
          </a:p>
          <a:p>
            <a:pPr marL="755651" lvl="1" indent="-377825">
              <a:buFont typeface="Arial"/>
              <a:buChar char="•"/>
            </a:pPr>
            <a:r>
              <a:rPr lang="en-US" sz="2400" dirty="0">
                <a:solidFill>
                  <a:schemeClr val="bg1"/>
                </a:solidFill>
                <a:latin typeface="DM Sans"/>
                <a:ea typeface="DM Sans"/>
                <a:cs typeface="DM Sans"/>
                <a:sym typeface="DM Sans"/>
              </a:rPr>
              <a:t>Check objects/groups/etc.</a:t>
            </a:r>
          </a:p>
          <a:p>
            <a:pPr marL="755651" lvl="1" indent="-377825">
              <a:buFont typeface="Arial"/>
              <a:buChar char="•"/>
            </a:pPr>
            <a:r>
              <a:rPr lang="en-US" sz="2400" dirty="0">
                <a:solidFill>
                  <a:schemeClr val="bg1"/>
                </a:solidFill>
                <a:latin typeface="DM Sans"/>
                <a:ea typeface="DM Sans"/>
                <a:cs typeface="DM Sans"/>
                <a:sym typeface="DM Sans"/>
              </a:rPr>
              <a:t>Test authentication</a:t>
            </a:r>
          </a:p>
          <a:p>
            <a:pPr marL="755651" lvl="1" indent="-377825">
              <a:buFont typeface="Arial"/>
              <a:buChar char="•"/>
            </a:pPr>
            <a:r>
              <a:rPr lang="en-US" sz="2400" dirty="0">
                <a:solidFill>
                  <a:schemeClr val="bg1"/>
                </a:solidFill>
                <a:latin typeface="DM Sans"/>
                <a:ea typeface="DM Sans"/>
                <a:cs typeface="DM Sans"/>
                <a:sym typeface="DM Sans"/>
              </a:rPr>
              <a:t>Check system health (there will be errors)</a:t>
            </a:r>
          </a:p>
          <a:p>
            <a:pPr marL="755651" lvl="1" indent="-377825">
              <a:buFont typeface="Arial"/>
              <a:buChar char="•"/>
            </a:pPr>
            <a:r>
              <a:rPr lang="en-US" sz="2400" dirty="0">
                <a:solidFill>
                  <a:schemeClr val="bg1"/>
                </a:solidFill>
                <a:latin typeface="DM Sans"/>
                <a:ea typeface="DM Sans"/>
                <a:cs typeface="DM Sans"/>
                <a:sym typeface="DM Sans"/>
              </a:rPr>
              <a:t>Check database integrity (optional)</a:t>
            </a:r>
          </a:p>
        </p:txBody>
      </p:sp>
      <p:sp>
        <p:nvSpPr>
          <p:cNvPr id="10" name="TextBox 5">
            <a:extLst>
              <a:ext uri="{FF2B5EF4-FFF2-40B4-BE49-F238E27FC236}">
                <a16:creationId xmlns:a16="http://schemas.microsoft.com/office/drawing/2014/main" id="{EEA89C49-A178-4640-49E0-639F20D975FC}"/>
              </a:ext>
            </a:extLst>
          </p:cNvPr>
          <p:cNvSpPr txBox="1"/>
          <p:nvPr/>
        </p:nvSpPr>
        <p:spPr>
          <a:xfrm>
            <a:off x="1076985" y="7741123"/>
            <a:ext cx="8510550" cy="369332"/>
          </a:xfrm>
          <a:prstGeom prst="rect">
            <a:avLst/>
          </a:prstGeom>
        </p:spPr>
        <p:txBody>
          <a:bodyPr lIns="0" tIns="0" rIns="0" bIns="0" rtlCol="0" anchor="t">
            <a:spAutoFit/>
          </a:bodyPr>
          <a:lstStyle/>
          <a:p>
            <a:r>
              <a:rPr lang="en-US" sz="2400" b="1" i="1" dirty="0">
                <a:solidFill>
                  <a:schemeClr val="bg1"/>
                </a:solidFill>
                <a:latin typeface="DM Sans Italics"/>
                <a:ea typeface="DM Sans Italics"/>
                <a:cs typeface="DM Sans Italics"/>
                <a:sym typeface="DM Sans Italics"/>
              </a:rPr>
              <a:t>DOCUMENT YOUR TESTING AND RECOVERY PROCESS</a:t>
            </a:r>
            <a:endParaRPr lang="en-US" sz="2400" b="1" dirty="0">
              <a:solidFill>
                <a:schemeClr val="bg1"/>
              </a:solidFill>
              <a:latin typeface="DM Sans"/>
              <a:ea typeface="DM Sans"/>
              <a:cs typeface="DM Sans"/>
              <a:sym typeface="DM Sans"/>
            </a:endParaRPr>
          </a:p>
        </p:txBody>
      </p:sp>
    </p:spTree>
    <p:extLst>
      <p:ext uri="{BB962C8B-B14F-4D97-AF65-F5344CB8AC3E}">
        <p14:creationId xmlns:p14="http://schemas.microsoft.com/office/powerpoint/2010/main" val="18783079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684356" y="486903"/>
            <a:ext cx="8310823" cy="688047"/>
          </a:xfrm>
          <a:prstGeom prst="rect">
            <a:avLst/>
          </a:prstGeom>
        </p:spPr>
        <p:txBody>
          <a:bodyPr lIns="0" tIns="0" rIns="0" bIns="0" rtlCol="0" anchor="t">
            <a:spAutoFit/>
          </a:bodyPr>
          <a:lstStyle/>
          <a:p>
            <a:pPr marL="0" lvl="0" indent="0" algn="l">
              <a:lnSpc>
                <a:spcPts val="5651"/>
              </a:lnSpc>
              <a:spcBef>
                <a:spcPct val="0"/>
              </a:spcBef>
            </a:pPr>
            <a:r>
              <a:rPr lang="en-US" sz="4036" dirty="0">
                <a:solidFill>
                  <a:srgbClr val="38B6FF"/>
                </a:solidFill>
                <a:latin typeface="Anton"/>
                <a:ea typeface="Anton"/>
                <a:cs typeface="Anton"/>
                <a:sym typeface="Anton"/>
              </a:rPr>
              <a:t>BONUS – BACKUP TEST WORKFLOW</a:t>
            </a:r>
          </a:p>
        </p:txBody>
      </p:sp>
      <p:sp>
        <p:nvSpPr>
          <p:cNvPr id="6" name="TextBox 7">
            <a:extLst>
              <a:ext uri="{FF2B5EF4-FFF2-40B4-BE49-F238E27FC236}">
                <a16:creationId xmlns:a16="http://schemas.microsoft.com/office/drawing/2014/main" id="{331614D7-129D-06C7-7C59-831BEE81F733}"/>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dirty="0">
                <a:solidFill>
                  <a:srgbClr val="FFFFFF"/>
                </a:solidFill>
                <a:latin typeface="Anton"/>
                <a:ea typeface="Anton"/>
                <a:cs typeface="Anton"/>
                <a:sym typeface="Anton"/>
              </a:rPr>
              <a:t>BONUS</a:t>
            </a:r>
          </a:p>
        </p:txBody>
      </p:sp>
      <p:sp>
        <p:nvSpPr>
          <p:cNvPr id="7" name="TextBox 5">
            <a:extLst>
              <a:ext uri="{FF2B5EF4-FFF2-40B4-BE49-F238E27FC236}">
                <a16:creationId xmlns:a16="http://schemas.microsoft.com/office/drawing/2014/main" id="{BC9747C4-78E0-BDD0-3B93-13F969BFAE89}"/>
              </a:ext>
            </a:extLst>
          </p:cNvPr>
          <p:cNvSpPr txBox="1"/>
          <p:nvPr/>
        </p:nvSpPr>
        <p:spPr>
          <a:xfrm>
            <a:off x="1072215" y="2364334"/>
            <a:ext cx="8510550" cy="4801314"/>
          </a:xfrm>
          <a:prstGeom prst="rect">
            <a:avLst/>
          </a:prstGeom>
        </p:spPr>
        <p:txBody>
          <a:bodyPr lIns="0" tIns="0" rIns="0" bIns="0" rtlCol="0" anchor="t">
            <a:spAutoFit/>
          </a:bodyPr>
          <a:lstStyle/>
          <a:p>
            <a:pPr marL="377826" lvl="1"/>
            <a:r>
              <a:rPr lang="en-US" sz="2400" b="1" dirty="0">
                <a:solidFill>
                  <a:schemeClr val="bg1"/>
                </a:solidFill>
                <a:latin typeface="DM Sans"/>
                <a:ea typeface="DM Sans"/>
                <a:cs typeface="DM Sans"/>
                <a:sym typeface="DM Sans"/>
              </a:rPr>
              <a:t>1. Encrypt Backups Before Moving</a:t>
            </a:r>
          </a:p>
          <a:p>
            <a:pPr marL="720726" lvl="1" indent="-342900">
              <a:buFont typeface="Arial" panose="020B0604020202020204" pitchFamily="34" charset="0"/>
              <a:buChar char="•"/>
            </a:pPr>
            <a:r>
              <a:rPr lang="en-US" sz="2400" dirty="0">
                <a:solidFill>
                  <a:schemeClr val="bg1"/>
                </a:solidFill>
                <a:latin typeface="DM Sans"/>
                <a:ea typeface="DM Sans"/>
                <a:cs typeface="DM Sans"/>
                <a:sym typeface="DM Sans"/>
              </a:rPr>
              <a:t>Create VHD locally.</a:t>
            </a:r>
          </a:p>
          <a:p>
            <a:pPr marL="720726" lvl="1" indent="-342900">
              <a:buFont typeface="Arial" panose="020B0604020202020204" pitchFamily="34" charset="0"/>
              <a:buChar char="•"/>
            </a:pPr>
            <a:r>
              <a:rPr lang="en-US" sz="2400" dirty="0">
                <a:solidFill>
                  <a:schemeClr val="bg1"/>
                </a:solidFill>
                <a:latin typeface="DM Sans"/>
                <a:ea typeface="DM Sans"/>
                <a:cs typeface="DM Sans"/>
                <a:sym typeface="DM Sans"/>
              </a:rPr>
              <a:t>Copy backup to VHD</a:t>
            </a:r>
          </a:p>
          <a:p>
            <a:pPr marL="720726" lvl="1" indent="-342900">
              <a:buFont typeface="Arial" panose="020B0604020202020204" pitchFamily="34" charset="0"/>
              <a:buChar char="•"/>
            </a:pPr>
            <a:r>
              <a:rPr lang="en-US" sz="2400" dirty="0">
                <a:solidFill>
                  <a:schemeClr val="bg1"/>
                </a:solidFill>
                <a:latin typeface="DM Sans"/>
                <a:ea typeface="DM Sans"/>
                <a:cs typeface="DM Sans"/>
                <a:sym typeface="DM Sans"/>
              </a:rPr>
              <a:t>BitLocker VHD</a:t>
            </a:r>
          </a:p>
          <a:p>
            <a:pPr marL="377826" lvl="1"/>
            <a:endParaRPr lang="en-US" sz="2400" dirty="0">
              <a:solidFill>
                <a:schemeClr val="bg1"/>
              </a:solidFill>
              <a:latin typeface="DM Sans"/>
              <a:ea typeface="DM Sans"/>
              <a:cs typeface="DM Sans"/>
              <a:sym typeface="DM Sans"/>
            </a:endParaRPr>
          </a:p>
          <a:p>
            <a:pPr marL="377826" lvl="1"/>
            <a:r>
              <a:rPr lang="en-US" sz="2400" b="1" dirty="0">
                <a:solidFill>
                  <a:schemeClr val="bg1"/>
                </a:solidFill>
                <a:latin typeface="DM Sans"/>
                <a:ea typeface="DM Sans"/>
                <a:cs typeface="DM Sans"/>
                <a:sym typeface="DM Sans"/>
              </a:rPr>
              <a:t>2. Create Hyper-V Setup</a:t>
            </a:r>
          </a:p>
          <a:p>
            <a:pPr marL="720726" lvl="1" indent="-342900">
              <a:buFont typeface="Arial" panose="020B0604020202020204" pitchFamily="34" charset="0"/>
              <a:buChar char="•"/>
            </a:pPr>
            <a:r>
              <a:rPr lang="en-US" sz="2400" dirty="0">
                <a:solidFill>
                  <a:schemeClr val="bg1"/>
                </a:solidFill>
                <a:latin typeface="DM Sans"/>
                <a:ea typeface="DM Sans"/>
                <a:cs typeface="DM Sans"/>
                <a:sym typeface="DM Sans"/>
              </a:rPr>
              <a:t>Private </a:t>
            </a:r>
            <a:r>
              <a:rPr lang="en-US" sz="2400" dirty="0" err="1">
                <a:solidFill>
                  <a:schemeClr val="bg1"/>
                </a:solidFill>
                <a:latin typeface="DM Sans"/>
                <a:ea typeface="DM Sans"/>
                <a:cs typeface="DM Sans"/>
                <a:sym typeface="DM Sans"/>
              </a:rPr>
              <a:t>vSwitch</a:t>
            </a:r>
            <a:r>
              <a:rPr lang="en-US" sz="2400" dirty="0">
                <a:solidFill>
                  <a:schemeClr val="bg1"/>
                </a:solidFill>
                <a:latin typeface="DM Sans"/>
                <a:ea typeface="DM Sans"/>
                <a:cs typeface="DM Sans"/>
                <a:sym typeface="DM Sans"/>
              </a:rPr>
              <a:t> – No internet. </a:t>
            </a:r>
          </a:p>
          <a:p>
            <a:pPr marL="720726" lvl="1" indent="-342900">
              <a:buFont typeface="Arial" panose="020B0604020202020204" pitchFamily="34" charset="0"/>
              <a:buChar char="•"/>
            </a:pPr>
            <a:r>
              <a:rPr lang="en-US" sz="2400" dirty="0">
                <a:solidFill>
                  <a:schemeClr val="bg1"/>
                </a:solidFill>
                <a:latin typeface="DM Sans"/>
                <a:ea typeface="DM Sans"/>
                <a:cs typeface="DM Sans"/>
                <a:sym typeface="DM Sans"/>
              </a:rPr>
              <a:t>Hyper-V VM should NOT be on the prod network</a:t>
            </a:r>
          </a:p>
          <a:p>
            <a:pPr marL="720726" lvl="1" indent="-342900">
              <a:buFont typeface="Arial" panose="020B0604020202020204" pitchFamily="34" charset="0"/>
              <a:buChar char="•"/>
            </a:pPr>
            <a:r>
              <a:rPr lang="en-US" sz="2400" dirty="0">
                <a:solidFill>
                  <a:schemeClr val="bg1"/>
                </a:solidFill>
                <a:latin typeface="DM Sans"/>
                <a:ea typeface="DM Sans"/>
                <a:cs typeface="DM Sans"/>
                <a:sym typeface="DM Sans"/>
              </a:rPr>
              <a:t>Can be done in Azure.</a:t>
            </a:r>
          </a:p>
          <a:p>
            <a:pPr marL="377826" lvl="1"/>
            <a:endParaRPr lang="en-US" sz="2400" dirty="0">
              <a:solidFill>
                <a:schemeClr val="bg1"/>
              </a:solidFill>
              <a:latin typeface="DM Sans"/>
              <a:ea typeface="DM Sans"/>
              <a:cs typeface="DM Sans"/>
              <a:sym typeface="DM Sans"/>
            </a:endParaRPr>
          </a:p>
          <a:p>
            <a:pPr marL="377826" lvl="1"/>
            <a:r>
              <a:rPr lang="en-US" sz="2400" b="1" dirty="0">
                <a:solidFill>
                  <a:schemeClr val="bg1"/>
                </a:solidFill>
                <a:latin typeface="DM Sans"/>
                <a:ea typeface="DM Sans"/>
                <a:cs typeface="DM Sans"/>
                <a:sym typeface="DM Sans"/>
              </a:rPr>
              <a:t>3. Copy Encrypted Backups to Hyper-V</a:t>
            </a:r>
          </a:p>
          <a:p>
            <a:pPr marL="377826" lvl="1"/>
            <a:endParaRPr lang="en-US" sz="2400" dirty="0">
              <a:solidFill>
                <a:schemeClr val="bg1"/>
              </a:solidFill>
              <a:latin typeface="DM Sans"/>
              <a:ea typeface="DM Sans"/>
              <a:cs typeface="DM Sans"/>
              <a:sym typeface="DM Sans"/>
            </a:endParaRPr>
          </a:p>
          <a:p>
            <a:pPr marL="377826" lvl="1"/>
            <a:endParaRPr lang="en-US" sz="2400" dirty="0">
              <a:solidFill>
                <a:schemeClr val="bg1"/>
              </a:solidFill>
              <a:latin typeface="DM Sans"/>
              <a:ea typeface="DM Sans"/>
              <a:cs typeface="DM Sans"/>
              <a:sym typeface="DM Sans"/>
            </a:endParaRPr>
          </a:p>
        </p:txBody>
      </p:sp>
      <p:sp>
        <p:nvSpPr>
          <p:cNvPr id="12" name="TextBox 11">
            <a:extLst>
              <a:ext uri="{FF2B5EF4-FFF2-40B4-BE49-F238E27FC236}">
                <a16:creationId xmlns:a16="http://schemas.microsoft.com/office/drawing/2014/main" id="{73F2B4E1-CCF6-9FFE-50F1-C94D7CAC74A1}"/>
              </a:ext>
            </a:extLst>
          </p:cNvPr>
          <p:cNvSpPr txBox="1"/>
          <p:nvPr/>
        </p:nvSpPr>
        <p:spPr>
          <a:xfrm>
            <a:off x="9048750" y="2364334"/>
            <a:ext cx="9239250" cy="4154984"/>
          </a:xfrm>
          <a:prstGeom prst="rect">
            <a:avLst/>
          </a:prstGeom>
          <a:noFill/>
        </p:spPr>
        <p:txBody>
          <a:bodyPr wrap="square">
            <a:spAutoFit/>
          </a:bodyPr>
          <a:lstStyle/>
          <a:p>
            <a:pPr marL="377826" lvl="1"/>
            <a:r>
              <a:rPr lang="en-US" sz="2400" b="1" dirty="0">
                <a:solidFill>
                  <a:schemeClr val="bg1"/>
                </a:solidFill>
                <a:latin typeface="DM Sans"/>
                <a:ea typeface="DM Sans"/>
                <a:cs typeface="DM Sans"/>
                <a:sym typeface="DM Sans"/>
              </a:rPr>
              <a:t>4. Create Guests on Hyper-V</a:t>
            </a:r>
          </a:p>
          <a:p>
            <a:pPr marL="720726" lvl="1" indent="-342900">
              <a:buFont typeface="Arial" panose="020B0604020202020204" pitchFamily="34" charset="0"/>
              <a:buChar char="•"/>
            </a:pPr>
            <a:r>
              <a:rPr lang="en-US" sz="2400" dirty="0">
                <a:solidFill>
                  <a:schemeClr val="bg1"/>
                </a:solidFill>
                <a:latin typeface="DM Sans"/>
                <a:ea typeface="DM Sans"/>
                <a:cs typeface="DM Sans"/>
                <a:sym typeface="DM Sans"/>
              </a:rPr>
              <a:t>2-4 vCPU, 4GB RAM should be enough</a:t>
            </a:r>
          </a:p>
          <a:p>
            <a:pPr marL="720726" lvl="1" indent="-342900">
              <a:buFont typeface="Arial" panose="020B0604020202020204" pitchFamily="34" charset="0"/>
              <a:buChar char="•"/>
            </a:pPr>
            <a:r>
              <a:rPr lang="en-US" sz="2400" dirty="0">
                <a:solidFill>
                  <a:schemeClr val="bg1"/>
                </a:solidFill>
                <a:latin typeface="DM Sans"/>
                <a:ea typeface="DM Sans"/>
                <a:cs typeface="DM Sans"/>
                <a:sym typeface="DM Sans"/>
              </a:rPr>
              <a:t>Disk should match the backed-up server.</a:t>
            </a:r>
          </a:p>
          <a:p>
            <a:pPr marL="720726" lvl="1" indent="-342900">
              <a:buFont typeface="Arial" panose="020B0604020202020204" pitchFamily="34" charset="0"/>
              <a:buChar char="•"/>
            </a:pPr>
            <a:r>
              <a:rPr lang="en-US" sz="2400" dirty="0">
                <a:solidFill>
                  <a:schemeClr val="bg1"/>
                </a:solidFill>
                <a:latin typeface="DM Sans"/>
                <a:ea typeface="DM Sans"/>
                <a:cs typeface="DM Sans"/>
                <a:sym typeface="DM Sans"/>
              </a:rPr>
              <a:t>Attach to the Private </a:t>
            </a:r>
            <a:r>
              <a:rPr lang="en-US" sz="2400" dirty="0" err="1">
                <a:solidFill>
                  <a:schemeClr val="bg1"/>
                </a:solidFill>
                <a:latin typeface="DM Sans"/>
                <a:ea typeface="DM Sans"/>
                <a:cs typeface="DM Sans"/>
                <a:sym typeface="DM Sans"/>
              </a:rPr>
              <a:t>vSwitch</a:t>
            </a:r>
            <a:endParaRPr lang="en-US" sz="2400" dirty="0">
              <a:solidFill>
                <a:schemeClr val="bg1"/>
              </a:solidFill>
              <a:latin typeface="DM Sans"/>
              <a:ea typeface="DM Sans"/>
              <a:cs typeface="DM Sans"/>
              <a:sym typeface="DM Sans"/>
            </a:endParaRPr>
          </a:p>
          <a:p>
            <a:pPr marL="720726" lvl="1" indent="-342900">
              <a:buFont typeface="Arial" panose="020B0604020202020204" pitchFamily="34" charset="0"/>
              <a:buChar char="•"/>
            </a:pPr>
            <a:r>
              <a:rPr lang="en-US" sz="2400" dirty="0">
                <a:solidFill>
                  <a:schemeClr val="bg1"/>
                </a:solidFill>
                <a:latin typeface="DM Sans"/>
                <a:ea typeface="DM Sans"/>
                <a:cs typeface="DM Sans"/>
                <a:sym typeface="DM Sans"/>
              </a:rPr>
              <a:t>Install windows (</a:t>
            </a:r>
            <a:r>
              <a:rPr lang="en-US" sz="2400" dirty="0" err="1">
                <a:solidFill>
                  <a:schemeClr val="bg1"/>
                </a:solidFill>
                <a:latin typeface="DM Sans"/>
                <a:ea typeface="DM Sans"/>
                <a:cs typeface="DM Sans"/>
                <a:sym typeface="DM Sans"/>
              </a:rPr>
              <a:t>sysprep</a:t>
            </a:r>
            <a:r>
              <a:rPr lang="en-US" sz="2400" dirty="0">
                <a:solidFill>
                  <a:schemeClr val="bg1"/>
                </a:solidFill>
                <a:latin typeface="DM Sans"/>
                <a:ea typeface="DM Sans"/>
                <a:cs typeface="DM Sans"/>
                <a:sym typeface="DM Sans"/>
              </a:rPr>
              <a:t> + differencing disks)</a:t>
            </a:r>
          </a:p>
          <a:p>
            <a:pPr marL="377826" lvl="1"/>
            <a:endParaRPr lang="en-US" sz="2400" dirty="0">
              <a:solidFill>
                <a:schemeClr val="bg1"/>
              </a:solidFill>
              <a:latin typeface="DM Sans"/>
              <a:ea typeface="DM Sans"/>
              <a:cs typeface="DM Sans"/>
              <a:sym typeface="DM Sans"/>
            </a:endParaRPr>
          </a:p>
          <a:p>
            <a:pPr marL="377826" lvl="1"/>
            <a:r>
              <a:rPr lang="en-US" sz="2400" b="1" dirty="0">
                <a:solidFill>
                  <a:schemeClr val="bg1"/>
                </a:solidFill>
                <a:latin typeface="DM Sans"/>
                <a:ea typeface="DM Sans"/>
                <a:cs typeface="DM Sans"/>
                <a:sym typeface="DM Sans"/>
              </a:rPr>
              <a:t>5. Restore To the Hyper-V VMs</a:t>
            </a:r>
          </a:p>
          <a:p>
            <a:pPr marL="720726" lvl="1" indent="-342900">
              <a:buFont typeface="Arial" panose="020B0604020202020204" pitchFamily="34" charset="0"/>
              <a:buChar char="•"/>
            </a:pPr>
            <a:r>
              <a:rPr lang="en-US" sz="2400" dirty="0">
                <a:solidFill>
                  <a:schemeClr val="bg1"/>
                </a:solidFill>
                <a:latin typeface="DM Sans"/>
                <a:ea typeface="DM Sans"/>
                <a:cs typeface="DM Sans"/>
                <a:sym typeface="DM Sans"/>
              </a:rPr>
              <a:t>Attach the backup disk to the VM</a:t>
            </a:r>
          </a:p>
          <a:p>
            <a:pPr marL="720726" lvl="1" indent="-342900">
              <a:buFont typeface="Arial" panose="020B0604020202020204" pitchFamily="34" charset="0"/>
              <a:buChar char="•"/>
            </a:pPr>
            <a:r>
              <a:rPr lang="en-US" sz="2400" dirty="0">
                <a:solidFill>
                  <a:schemeClr val="bg1"/>
                </a:solidFill>
                <a:latin typeface="DM Sans"/>
                <a:ea typeface="DM Sans"/>
                <a:cs typeface="DM Sans"/>
                <a:sym typeface="DM Sans"/>
              </a:rPr>
              <a:t>Boot into Windows Recovery</a:t>
            </a:r>
          </a:p>
          <a:p>
            <a:pPr marL="720726" lvl="1" indent="-342900">
              <a:buFont typeface="Arial" panose="020B0604020202020204" pitchFamily="34" charset="0"/>
              <a:buChar char="•"/>
            </a:pPr>
            <a:r>
              <a:rPr lang="en-US" sz="2400" dirty="0">
                <a:solidFill>
                  <a:schemeClr val="bg1"/>
                </a:solidFill>
                <a:latin typeface="DM Sans"/>
                <a:ea typeface="DM Sans"/>
                <a:cs typeface="DM Sans"/>
                <a:sym typeface="DM Sans"/>
              </a:rPr>
              <a:t>Restore the backup</a:t>
            </a:r>
          </a:p>
          <a:p>
            <a:pPr marL="720726" lvl="1" indent="-342900">
              <a:buFont typeface="Arial" panose="020B0604020202020204" pitchFamily="34" charset="0"/>
              <a:buChar char="•"/>
            </a:pPr>
            <a:r>
              <a:rPr lang="en-US" sz="2400" dirty="0">
                <a:solidFill>
                  <a:schemeClr val="bg1"/>
                </a:solidFill>
                <a:latin typeface="DM Sans"/>
                <a:ea typeface="DM Sans"/>
                <a:cs typeface="DM Sans"/>
                <a:sym typeface="DM Sans"/>
              </a:rPr>
              <a:t>Follow Forest Recovery Guide</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910"/>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4" name="TextBox 4"/>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7" name="TextBox 7"/>
          <p:cNvSpPr txBox="1"/>
          <p:nvPr/>
        </p:nvSpPr>
        <p:spPr>
          <a:xfrm>
            <a:off x="684356" y="486903"/>
            <a:ext cx="7598010" cy="606425"/>
          </a:xfrm>
          <a:prstGeom prst="rect">
            <a:avLst/>
          </a:prstGeom>
        </p:spPr>
        <p:txBody>
          <a:bodyPr lIns="0" tIns="0" rIns="0" bIns="0" rtlCol="0" anchor="t">
            <a:spAutoFit/>
          </a:bodyPr>
          <a:lstStyle/>
          <a:p>
            <a:pPr marL="0" lvl="0" indent="0" algn="l">
              <a:lnSpc>
                <a:spcPts val="4900"/>
              </a:lnSpc>
              <a:spcBef>
                <a:spcPct val="0"/>
              </a:spcBef>
            </a:pPr>
            <a:r>
              <a:rPr lang="en-US" sz="3500">
                <a:solidFill>
                  <a:srgbClr val="38B6FF"/>
                </a:solidFill>
                <a:latin typeface="Anton"/>
                <a:ea typeface="Anton"/>
                <a:cs typeface="Anton"/>
                <a:sym typeface="Anton"/>
              </a:rPr>
              <a:t>REAL SOLUTIONS = A PLAN</a:t>
            </a:r>
          </a:p>
        </p:txBody>
      </p:sp>
      <p:sp>
        <p:nvSpPr>
          <p:cNvPr id="8" name="TextBox 8"/>
          <p:cNvSpPr txBox="1"/>
          <p:nvPr/>
        </p:nvSpPr>
        <p:spPr>
          <a:xfrm>
            <a:off x="684356" y="2881503"/>
            <a:ext cx="9476591" cy="1844675"/>
          </a:xfrm>
          <a:prstGeom prst="rect">
            <a:avLst/>
          </a:prstGeom>
        </p:spPr>
        <p:txBody>
          <a:bodyPr lIns="0" tIns="0" rIns="0" bIns="0" rtlCol="0" anchor="t">
            <a:spAutoFit/>
          </a:bodyPr>
          <a:lstStyle/>
          <a:p>
            <a:pPr algn="l">
              <a:lnSpc>
                <a:spcPts val="4900"/>
              </a:lnSpc>
            </a:pPr>
            <a:r>
              <a:rPr lang="en-US" sz="3500" dirty="0">
                <a:solidFill>
                  <a:srgbClr val="FFFFFF"/>
                </a:solidFill>
                <a:latin typeface="DM Sans"/>
                <a:ea typeface="DM Sans"/>
                <a:cs typeface="DM Sans"/>
                <a:sym typeface="DM Sans"/>
              </a:rPr>
              <a:t>Windows Server Backup </a:t>
            </a:r>
          </a:p>
          <a:p>
            <a:pPr algn="l">
              <a:lnSpc>
                <a:spcPts val="4900"/>
              </a:lnSpc>
            </a:pPr>
            <a:endParaRPr lang="en-US" sz="3500" dirty="0">
              <a:solidFill>
                <a:srgbClr val="FFFFFF"/>
              </a:solidFill>
              <a:latin typeface="DM Sans"/>
              <a:ea typeface="DM Sans"/>
              <a:cs typeface="DM Sans"/>
              <a:sym typeface="DM Sans"/>
            </a:endParaRPr>
          </a:p>
          <a:p>
            <a:pPr marL="0" lvl="0" indent="0" algn="l">
              <a:lnSpc>
                <a:spcPts val="4900"/>
              </a:lnSpc>
              <a:spcBef>
                <a:spcPct val="0"/>
              </a:spcBef>
            </a:pPr>
            <a:r>
              <a:rPr lang="en-US" sz="3500" dirty="0">
                <a:solidFill>
                  <a:srgbClr val="FFFFFF"/>
                </a:solidFill>
                <a:latin typeface="DM Sans"/>
                <a:ea typeface="DM Sans"/>
                <a:cs typeface="DM Sans"/>
                <a:sym typeface="DM Sans"/>
              </a:rPr>
              <a:t>Azure Backups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910"/>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4" name="TextBox 4"/>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7" name="TextBox 7"/>
          <p:cNvSpPr txBox="1"/>
          <p:nvPr/>
        </p:nvSpPr>
        <p:spPr>
          <a:xfrm>
            <a:off x="684356" y="5316728"/>
            <a:ext cx="7419202" cy="606425"/>
          </a:xfrm>
          <a:prstGeom prst="rect">
            <a:avLst/>
          </a:prstGeom>
        </p:spPr>
        <p:txBody>
          <a:bodyPr lIns="0" tIns="0" rIns="0" bIns="0" rtlCol="0" anchor="t">
            <a:spAutoFit/>
          </a:bodyPr>
          <a:lstStyle/>
          <a:p>
            <a:pPr marL="0" lvl="0" indent="0" algn="l">
              <a:lnSpc>
                <a:spcPts val="4900"/>
              </a:lnSpc>
              <a:spcBef>
                <a:spcPct val="0"/>
              </a:spcBef>
            </a:pPr>
            <a:r>
              <a:rPr lang="en-US" sz="3500">
                <a:solidFill>
                  <a:srgbClr val="FFFFFF"/>
                </a:solidFill>
                <a:latin typeface="DM Sans"/>
                <a:ea typeface="DM Sans"/>
                <a:cs typeface="DM Sans"/>
                <a:sym typeface="DM Sans"/>
              </a:rPr>
              <a:t>IFM + DSInternals</a:t>
            </a:r>
          </a:p>
        </p:txBody>
      </p:sp>
      <p:grpSp>
        <p:nvGrpSpPr>
          <p:cNvPr id="8" name="Group 8"/>
          <p:cNvGrpSpPr/>
          <p:nvPr/>
        </p:nvGrpSpPr>
        <p:grpSpPr>
          <a:xfrm>
            <a:off x="684356" y="6589903"/>
            <a:ext cx="7419202" cy="866775"/>
            <a:chOff x="0" y="0"/>
            <a:chExt cx="9892269" cy="1155700"/>
          </a:xfrm>
        </p:grpSpPr>
        <p:sp>
          <p:nvSpPr>
            <p:cNvPr id="9" name="TextBox 9"/>
            <p:cNvSpPr txBox="1"/>
            <p:nvPr/>
          </p:nvSpPr>
          <p:spPr>
            <a:xfrm>
              <a:off x="0" y="-47625"/>
              <a:ext cx="9892269" cy="547158"/>
            </a:xfrm>
            <a:prstGeom prst="rect">
              <a:avLst/>
            </a:prstGeom>
          </p:spPr>
          <p:txBody>
            <a:bodyPr lIns="0" tIns="0" rIns="0" bIns="0" rtlCol="0" anchor="t">
              <a:spAutoFit/>
            </a:bodyPr>
            <a:lstStyle/>
            <a:p>
              <a:pPr marL="0" lvl="0" indent="0" algn="l">
                <a:lnSpc>
                  <a:spcPts val="3499"/>
                </a:lnSpc>
                <a:spcBef>
                  <a:spcPct val="0"/>
                </a:spcBef>
              </a:pPr>
              <a:r>
                <a:rPr lang="en-US" sz="2499" i="1">
                  <a:solidFill>
                    <a:srgbClr val="FFFFFF"/>
                  </a:solidFill>
                  <a:latin typeface="DM Sans Italics"/>
                  <a:ea typeface="DM Sans Italics"/>
                  <a:cs typeface="DM Sans Italics"/>
                  <a:sym typeface="DM Sans Italics"/>
                </a:rPr>
                <a:t>Coming Soon...</a:t>
              </a:r>
            </a:p>
          </p:txBody>
        </p:sp>
        <p:sp>
          <p:nvSpPr>
            <p:cNvPr id="10" name="TextBox 10"/>
            <p:cNvSpPr txBox="1"/>
            <p:nvPr/>
          </p:nvSpPr>
          <p:spPr>
            <a:xfrm>
              <a:off x="0" y="372533"/>
              <a:ext cx="9892269" cy="783167"/>
            </a:xfrm>
            <a:prstGeom prst="rect">
              <a:avLst/>
            </a:prstGeom>
          </p:spPr>
          <p:txBody>
            <a:bodyPr lIns="0" tIns="0" rIns="0" bIns="0" rtlCol="0" anchor="t">
              <a:spAutoFit/>
            </a:bodyPr>
            <a:lstStyle/>
            <a:p>
              <a:pPr marL="0" lvl="0" indent="0" algn="l">
                <a:lnSpc>
                  <a:spcPts val="4900"/>
                </a:lnSpc>
                <a:spcBef>
                  <a:spcPct val="0"/>
                </a:spcBef>
              </a:pPr>
              <a:r>
                <a:rPr lang="en-US" sz="3500" dirty="0">
                  <a:solidFill>
                    <a:srgbClr val="FFFFFF"/>
                  </a:solidFill>
                  <a:latin typeface="DM Sans"/>
                  <a:ea typeface="DM Sans"/>
                  <a:cs typeface="DM Sans"/>
                  <a:sym typeface="DM Sans"/>
                </a:rPr>
                <a:t>Not-So-Enterprise AD Backups</a:t>
              </a:r>
            </a:p>
          </p:txBody>
        </p:sp>
      </p:grpSp>
      <p:sp>
        <p:nvSpPr>
          <p:cNvPr id="11" name="TextBox 11"/>
          <p:cNvSpPr txBox="1"/>
          <p:nvPr/>
        </p:nvSpPr>
        <p:spPr>
          <a:xfrm>
            <a:off x="684356" y="486903"/>
            <a:ext cx="7598010" cy="606425"/>
          </a:xfrm>
          <a:prstGeom prst="rect">
            <a:avLst/>
          </a:prstGeom>
        </p:spPr>
        <p:txBody>
          <a:bodyPr lIns="0" tIns="0" rIns="0" bIns="0" rtlCol="0" anchor="t">
            <a:spAutoFit/>
          </a:bodyPr>
          <a:lstStyle/>
          <a:p>
            <a:pPr marL="0" lvl="0" indent="0" algn="l">
              <a:lnSpc>
                <a:spcPts val="4900"/>
              </a:lnSpc>
              <a:spcBef>
                <a:spcPct val="0"/>
              </a:spcBef>
            </a:pPr>
            <a:r>
              <a:rPr lang="en-US" sz="3500">
                <a:solidFill>
                  <a:srgbClr val="38B6FF"/>
                </a:solidFill>
                <a:latin typeface="Anton"/>
                <a:ea typeface="Anton"/>
                <a:cs typeface="Anton"/>
                <a:sym typeface="Anton"/>
              </a:rPr>
              <a:t>REAL SOLUTIONS = A PLAN</a:t>
            </a:r>
          </a:p>
        </p:txBody>
      </p:sp>
      <p:sp>
        <p:nvSpPr>
          <p:cNvPr id="12" name="TextBox 12"/>
          <p:cNvSpPr txBox="1"/>
          <p:nvPr/>
        </p:nvSpPr>
        <p:spPr>
          <a:xfrm>
            <a:off x="684356" y="2881503"/>
            <a:ext cx="9476591" cy="1844675"/>
          </a:xfrm>
          <a:prstGeom prst="rect">
            <a:avLst/>
          </a:prstGeom>
        </p:spPr>
        <p:txBody>
          <a:bodyPr lIns="0" tIns="0" rIns="0" bIns="0" rtlCol="0" anchor="t">
            <a:spAutoFit/>
          </a:bodyPr>
          <a:lstStyle/>
          <a:p>
            <a:pPr algn="l">
              <a:lnSpc>
                <a:spcPts val="4900"/>
              </a:lnSpc>
            </a:pPr>
            <a:r>
              <a:rPr lang="en-US" sz="3500" dirty="0">
                <a:solidFill>
                  <a:srgbClr val="737373"/>
                </a:solidFill>
                <a:latin typeface="DM Sans"/>
                <a:ea typeface="DM Sans"/>
                <a:cs typeface="DM Sans"/>
                <a:sym typeface="DM Sans"/>
              </a:rPr>
              <a:t>Windows Server Backup </a:t>
            </a:r>
          </a:p>
          <a:p>
            <a:pPr algn="l">
              <a:lnSpc>
                <a:spcPts val="4900"/>
              </a:lnSpc>
            </a:pPr>
            <a:endParaRPr lang="en-US" sz="3500" dirty="0">
              <a:solidFill>
                <a:srgbClr val="737373"/>
              </a:solidFill>
              <a:latin typeface="DM Sans"/>
              <a:ea typeface="DM Sans"/>
              <a:cs typeface="DM Sans"/>
              <a:sym typeface="DM Sans"/>
            </a:endParaRPr>
          </a:p>
          <a:p>
            <a:pPr marL="0" lvl="0" indent="0" algn="l">
              <a:lnSpc>
                <a:spcPts val="4900"/>
              </a:lnSpc>
              <a:spcBef>
                <a:spcPct val="0"/>
              </a:spcBef>
            </a:pPr>
            <a:r>
              <a:rPr lang="en-US" sz="3500" dirty="0">
                <a:solidFill>
                  <a:srgbClr val="737373"/>
                </a:solidFill>
                <a:latin typeface="DM Sans"/>
                <a:ea typeface="DM Sans"/>
                <a:cs typeface="DM Sans"/>
                <a:sym typeface="DM Sans"/>
              </a:rPr>
              <a:t>Azure Backups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a:extLst>
            <a:ext uri="{FF2B5EF4-FFF2-40B4-BE49-F238E27FC236}">
              <a16:creationId xmlns:a16="http://schemas.microsoft.com/office/drawing/2014/main" id="{18150852-461D-D379-5375-A583CDDCC995}"/>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106AFAA2-0057-845C-39EA-B3FAF81C8F9B}"/>
              </a:ext>
            </a:extLst>
          </p:cNvPr>
          <p:cNvSpPr/>
          <p:nvPr/>
        </p:nvSpPr>
        <p:spPr>
          <a:xfrm>
            <a:off x="0" y="9652910"/>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4" name="TextBox 4">
            <a:extLst>
              <a:ext uri="{FF2B5EF4-FFF2-40B4-BE49-F238E27FC236}">
                <a16:creationId xmlns:a16="http://schemas.microsoft.com/office/drawing/2014/main" id="{79CF68AC-24EE-D594-26A5-9D77C5CF4C4B}"/>
              </a:ext>
            </a:extLst>
          </p:cNvPr>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a:extLst>
              <a:ext uri="{FF2B5EF4-FFF2-40B4-BE49-F238E27FC236}">
                <a16:creationId xmlns:a16="http://schemas.microsoft.com/office/drawing/2014/main" id="{3DD625F3-F0E2-E789-1DE4-0D3363FFFECA}"/>
              </a:ext>
            </a:extLst>
          </p:cNvPr>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11" name="TextBox 11">
            <a:extLst>
              <a:ext uri="{FF2B5EF4-FFF2-40B4-BE49-F238E27FC236}">
                <a16:creationId xmlns:a16="http://schemas.microsoft.com/office/drawing/2014/main" id="{235A1009-9EA8-53F0-66C9-BA770DFB8182}"/>
              </a:ext>
            </a:extLst>
          </p:cNvPr>
          <p:cNvSpPr txBox="1"/>
          <p:nvPr/>
        </p:nvSpPr>
        <p:spPr>
          <a:xfrm>
            <a:off x="684356" y="486903"/>
            <a:ext cx="7598010" cy="606425"/>
          </a:xfrm>
          <a:prstGeom prst="rect">
            <a:avLst/>
          </a:prstGeom>
        </p:spPr>
        <p:txBody>
          <a:bodyPr lIns="0" tIns="0" rIns="0" bIns="0" rtlCol="0" anchor="t">
            <a:spAutoFit/>
          </a:bodyPr>
          <a:lstStyle/>
          <a:p>
            <a:pPr marL="0" lvl="0" indent="0" algn="l">
              <a:lnSpc>
                <a:spcPts val="4900"/>
              </a:lnSpc>
              <a:spcBef>
                <a:spcPct val="0"/>
              </a:spcBef>
            </a:pPr>
            <a:r>
              <a:rPr lang="en-US" sz="3500" dirty="0">
                <a:solidFill>
                  <a:srgbClr val="38B6FF"/>
                </a:solidFill>
                <a:latin typeface="Anton"/>
                <a:ea typeface="Anton"/>
                <a:cs typeface="Anton"/>
                <a:sym typeface="Anton"/>
              </a:rPr>
              <a:t>AD IFM</a:t>
            </a:r>
          </a:p>
        </p:txBody>
      </p:sp>
      <p:sp>
        <p:nvSpPr>
          <p:cNvPr id="3" name="TextBox 7">
            <a:extLst>
              <a:ext uri="{FF2B5EF4-FFF2-40B4-BE49-F238E27FC236}">
                <a16:creationId xmlns:a16="http://schemas.microsoft.com/office/drawing/2014/main" id="{3FDADE47-D10F-B1AA-9669-0C78E9B08EF7}"/>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dirty="0">
                <a:solidFill>
                  <a:srgbClr val="FFFFFF"/>
                </a:solidFill>
                <a:latin typeface="Anton"/>
                <a:ea typeface="Anton"/>
                <a:cs typeface="Anton"/>
                <a:sym typeface="Anton"/>
              </a:rPr>
              <a:t>BONUS</a:t>
            </a:r>
          </a:p>
        </p:txBody>
      </p:sp>
      <p:sp>
        <p:nvSpPr>
          <p:cNvPr id="6" name="TextBox 5">
            <a:extLst>
              <a:ext uri="{FF2B5EF4-FFF2-40B4-BE49-F238E27FC236}">
                <a16:creationId xmlns:a16="http://schemas.microsoft.com/office/drawing/2014/main" id="{676482CB-E10E-E285-4057-1048C3D3EFC1}"/>
              </a:ext>
            </a:extLst>
          </p:cNvPr>
          <p:cNvSpPr txBox="1"/>
          <p:nvPr/>
        </p:nvSpPr>
        <p:spPr>
          <a:xfrm>
            <a:off x="933450" y="1283139"/>
            <a:ext cx="15335250" cy="2165401"/>
          </a:xfrm>
          <a:prstGeom prst="rect">
            <a:avLst/>
          </a:prstGeom>
        </p:spPr>
        <p:txBody>
          <a:bodyPr wrap="square" lIns="0" tIns="0" rIns="0" bIns="0" rtlCol="0" anchor="t">
            <a:spAutoFit/>
          </a:bodyPr>
          <a:lstStyle/>
          <a:p>
            <a:pPr>
              <a:lnSpc>
                <a:spcPct val="150000"/>
              </a:lnSpc>
            </a:pPr>
            <a:r>
              <a:rPr lang="en-US" sz="2400" i="1" dirty="0">
                <a:solidFill>
                  <a:schemeClr val="bg1"/>
                </a:solidFill>
                <a:latin typeface="DM Sans Italics"/>
                <a:ea typeface="DM Sans Italics"/>
                <a:cs typeface="DM Sans Italics"/>
                <a:sym typeface="DM Sans Italics"/>
              </a:rPr>
              <a:t>What is IFM?</a:t>
            </a:r>
          </a:p>
          <a:p>
            <a:pPr marL="755651" lvl="1" indent="-377825">
              <a:lnSpc>
                <a:spcPct val="150000"/>
              </a:lnSpc>
              <a:buFont typeface="Arial"/>
              <a:buChar char="•"/>
            </a:pPr>
            <a:r>
              <a:rPr lang="en-US" sz="2400" dirty="0">
                <a:solidFill>
                  <a:schemeClr val="bg1"/>
                </a:solidFill>
                <a:latin typeface="DM Sans"/>
                <a:ea typeface="DM Sans"/>
                <a:cs typeface="DM Sans"/>
                <a:sym typeface="DM Sans"/>
              </a:rPr>
              <a:t>IFM = Installation from Media</a:t>
            </a:r>
          </a:p>
          <a:p>
            <a:pPr marL="755651" lvl="1" indent="-377825">
              <a:lnSpc>
                <a:spcPct val="150000"/>
              </a:lnSpc>
              <a:buFont typeface="Arial"/>
              <a:buChar char="•"/>
            </a:pPr>
            <a:r>
              <a:rPr lang="en-US" sz="2400" dirty="0">
                <a:solidFill>
                  <a:schemeClr val="bg1"/>
                </a:solidFill>
                <a:latin typeface="DM Sans"/>
                <a:ea typeface="DM Sans"/>
                <a:cs typeface="DM Sans"/>
                <a:sym typeface="DM Sans"/>
              </a:rPr>
              <a:t>Snapshot of the AD database that can be used to promote new domain controllers and reduce replication time by </a:t>
            </a:r>
            <a:r>
              <a:rPr lang="en-US" sz="2400" dirty="0" err="1">
                <a:solidFill>
                  <a:schemeClr val="bg1"/>
                </a:solidFill>
                <a:latin typeface="DM Sans"/>
                <a:ea typeface="DM Sans"/>
                <a:cs typeface="DM Sans"/>
                <a:sym typeface="DM Sans"/>
              </a:rPr>
              <a:t>preseeding</a:t>
            </a:r>
            <a:r>
              <a:rPr lang="en-US" sz="2400" dirty="0">
                <a:solidFill>
                  <a:schemeClr val="bg1"/>
                </a:solidFill>
                <a:latin typeface="DM Sans"/>
                <a:ea typeface="DM Sans"/>
                <a:cs typeface="DM Sans"/>
                <a:sym typeface="DM Sans"/>
              </a:rPr>
              <a:t> the replication data. </a:t>
            </a:r>
          </a:p>
        </p:txBody>
      </p:sp>
      <p:sp>
        <p:nvSpPr>
          <p:cNvPr id="13" name="TextBox 12">
            <a:extLst>
              <a:ext uri="{FF2B5EF4-FFF2-40B4-BE49-F238E27FC236}">
                <a16:creationId xmlns:a16="http://schemas.microsoft.com/office/drawing/2014/main" id="{57CB9DD6-C0C9-C490-EE0D-A9A092824D65}"/>
              </a:ext>
            </a:extLst>
          </p:cNvPr>
          <p:cNvSpPr txBox="1"/>
          <p:nvPr/>
        </p:nvSpPr>
        <p:spPr>
          <a:xfrm>
            <a:off x="1076985" y="3619108"/>
            <a:ext cx="7571715" cy="1846659"/>
          </a:xfrm>
          <a:prstGeom prst="rect">
            <a:avLst/>
          </a:prstGeom>
        </p:spPr>
        <p:txBody>
          <a:bodyPr wrap="square" lIns="0" tIns="0" rIns="0" bIns="0" rtlCol="0" anchor="t">
            <a:spAutoFit/>
          </a:bodyPr>
          <a:lstStyle/>
          <a:p>
            <a:pPr algn="just"/>
            <a:r>
              <a:rPr lang="en-US" sz="2400" b="1" dirty="0">
                <a:solidFill>
                  <a:schemeClr val="bg1"/>
                </a:solidFill>
                <a:latin typeface="DM Sans" pitchFamily="2" charset="0"/>
                <a:ea typeface="DM Sans Italics"/>
                <a:cs typeface="DM Sans Italics"/>
                <a:sym typeface="DM Sans Italics"/>
              </a:rPr>
              <a:t>Creating an IFM</a:t>
            </a:r>
          </a:p>
          <a:p>
            <a:pPr algn="just"/>
            <a:r>
              <a:rPr lang="en-US" sz="2400" dirty="0">
                <a:solidFill>
                  <a:schemeClr val="bg1"/>
                </a:solidFill>
                <a:latin typeface="DM Sans" pitchFamily="2" charset="0"/>
                <a:ea typeface="DM Sans Italics"/>
                <a:cs typeface="DM Sans Italics"/>
                <a:sym typeface="DM Sans Italics"/>
              </a:rPr>
              <a:t>Pre-</a:t>
            </a:r>
            <a:r>
              <a:rPr lang="en-US" sz="2400" dirty="0" err="1">
                <a:solidFill>
                  <a:schemeClr val="bg1"/>
                </a:solidFill>
                <a:latin typeface="DM Sans" pitchFamily="2" charset="0"/>
                <a:ea typeface="DM Sans Italics"/>
                <a:cs typeface="DM Sans Italics"/>
                <a:sym typeface="DM Sans Italics"/>
              </a:rPr>
              <a:t>reqs</a:t>
            </a:r>
            <a:endParaRPr lang="en-US" sz="2400" dirty="0">
              <a:solidFill>
                <a:schemeClr val="bg1"/>
              </a:solidFill>
              <a:latin typeface="DM Sans" pitchFamily="2" charset="0"/>
              <a:ea typeface="DM Sans Italics"/>
              <a:cs typeface="DM Sans Italics"/>
              <a:sym typeface="DM Sans Italics"/>
            </a:endParaRPr>
          </a:p>
          <a:p>
            <a:pPr marL="914400" lvl="1" indent="-457200" algn="just">
              <a:buFont typeface="+mj-lt"/>
              <a:buAutoNum type="arabicPeriod"/>
            </a:pPr>
            <a:r>
              <a:rPr lang="en-US" sz="2400" dirty="0">
                <a:solidFill>
                  <a:schemeClr val="bg1"/>
                </a:solidFill>
                <a:latin typeface="DM Sans" pitchFamily="2" charset="0"/>
                <a:ea typeface="DM Sans Italics"/>
                <a:cs typeface="DM Sans Italics"/>
                <a:sym typeface="DM Sans Italics"/>
              </a:rPr>
              <a:t>An existing writable DC (no RODC)</a:t>
            </a:r>
          </a:p>
          <a:p>
            <a:pPr marL="914400" lvl="1" indent="-457200" algn="just">
              <a:buFont typeface="+mj-lt"/>
              <a:buAutoNum type="arabicPeriod"/>
            </a:pPr>
            <a:r>
              <a:rPr lang="en-US" sz="2400" dirty="0">
                <a:solidFill>
                  <a:schemeClr val="bg1"/>
                </a:solidFill>
                <a:latin typeface="DM Sans" pitchFamily="2" charset="0"/>
                <a:ea typeface="DM Sans Italics"/>
                <a:cs typeface="DM Sans Italics"/>
                <a:sym typeface="DM Sans Italics"/>
              </a:rPr>
              <a:t>110% of the AD DB size in the %TMP% folder</a:t>
            </a:r>
          </a:p>
          <a:p>
            <a:pPr marL="914400" lvl="1" indent="-457200" algn="just">
              <a:buFont typeface="+mj-lt"/>
              <a:buAutoNum type="arabicPeriod"/>
            </a:pPr>
            <a:r>
              <a:rPr lang="en-US" sz="2400" dirty="0">
                <a:solidFill>
                  <a:schemeClr val="bg1"/>
                </a:solidFill>
                <a:latin typeface="DM Sans" pitchFamily="2" charset="0"/>
                <a:ea typeface="DM Sans Italics"/>
                <a:cs typeface="DM Sans Italics"/>
                <a:sym typeface="DM Sans Italics"/>
              </a:rPr>
              <a:t>Cannot be used for the first DC in a domain.</a:t>
            </a:r>
          </a:p>
        </p:txBody>
      </p:sp>
      <p:sp>
        <p:nvSpPr>
          <p:cNvPr id="14" name="TextBox 13">
            <a:extLst>
              <a:ext uri="{FF2B5EF4-FFF2-40B4-BE49-F238E27FC236}">
                <a16:creationId xmlns:a16="http://schemas.microsoft.com/office/drawing/2014/main" id="{5E769718-6D4A-E173-11FF-F6B0D7C79A4A}"/>
              </a:ext>
            </a:extLst>
          </p:cNvPr>
          <p:cNvSpPr txBox="1"/>
          <p:nvPr/>
        </p:nvSpPr>
        <p:spPr>
          <a:xfrm>
            <a:off x="1076984" y="5915131"/>
            <a:ext cx="13743916" cy="2954655"/>
          </a:xfrm>
          <a:prstGeom prst="rect">
            <a:avLst/>
          </a:prstGeom>
        </p:spPr>
        <p:txBody>
          <a:bodyPr wrap="square" lIns="0" tIns="0" rIns="0" bIns="0" rtlCol="0" anchor="t">
            <a:spAutoFit/>
          </a:bodyPr>
          <a:lstStyle/>
          <a:p>
            <a:r>
              <a:rPr lang="en-US" sz="2400" dirty="0">
                <a:solidFill>
                  <a:schemeClr val="bg1"/>
                </a:solidFill>
                <a:latin typeface="DM Sans" pitchFamily="2" charset="0"/>
                <a:ea typeface="DM Sans Italics"/>
                <a:cs typeface="DM Sans Italics"/>
                <a:sym typeface="DM Sans Italics"/>
              </a:rPr>
              <a:t>Procedure – Run the following commands from elevated command prompt. </a:t>
            </a:r>
          </a:p>
          <a:p>
            <a:endParaRPr lang="en-US" sz="2400" dirty="0">
              <a:solidFill>
                <a:schemeClr val="bg1"/>
              </a:solidFill>
              <a:latin typeface="DM Sans" pitchFamily="2" charset="0"/>
              <a:ea typeface="DM Sans Italics"/>
              <a:cs typeface="DM Sans Italics"/>
              <a:sym typeface="DM Sans Italics"/>
            </a:endParaRPr>
          </a:p>
          <a:p>
            <a:pPr lvl="1"/>
            <a:r>
              <a:rPr lang="en-US" sz="2400" dirty="0" err="1">
                <a:solidFill>
                  <a:schemeClr val="bg1"/>
                </a:solidFill>
                <a:latin typeface="Courier New" panose="02070309020205020404" pitchFamily="49" charset="0"/>
                <a:ea typeface="DM Sans Italics"/>
                <a:cs typeface="Courier New" panose="02070309020205020404" pitchFamily="49" charset="0"/>
                <a:sym typeface="DM Sans Italics"/>
              </a:rPr>
              <a:t>ntdsutil</a:t>
            </a:r>
            <a:r>
              <a:rPr lang="en-US" sz="2400" dirty="0">
                <a:solidFill>
                  <a:schemeClr val="bg1"/>
                </a:solidFill>
                <a:latin typeface="Courier New" panose="02070309020205020404" pitchFamily="49" charset="0"/>
                <a:ea typeface="DM Sans Italics"/>
                <a:cs typeface="Courier New" panose="02070309020205020404" pitchFamily="49" charset="0"/>
                <a:sym typeface="DM Sans Italics"/>
              </a:rPr>
              <a:t> </a:t>
            </a:r>
            <a:br>
              <a:rPr lang="en-US" sz="2400" dirty="0">
                <a:solidFill>
                  <a:schemeClr val="bg1"/>
                </a:solidFill>
                <a:latin typeface="Courier New" panose="02070309020205020404" pitchFamily="49" charset="0"/>
                <a:ea typeface="DM Sans Italics"/>
                <a:cs typeface="Courier New" panose="02070309020205020404" pitchFamily="49" charset="0"/>
                <a:sym typeface="DM Sans Italics"/>
              </a:rPr>
            </a:br>
            <a:r>
              <a:rPr lang="en-US" sz="2400" dirty="0">
                <a:solidFill>
                  <a:schemeClr val="bg1"/>
                </a:solidFill>
                <a:latin typeface="Courier New" panose="02070309020205020404" pitchFamily="49" charset="0"/>
                <a:ea typeface="DM Sans Italics"/>
                <a:cs typeface="Courier New" panose="02070309020205020404" pitchFamily="49" charset="0"/>
                <a:sym typeface="DM Sans Italics"/>
              </a:rPr>
              <a:t>activate instance </a:t>
            </a:r>
            <a:r>
              <a:rPr lang="en-US" sz="2400" dirty="0" err="1">
                <a:solidFill>
                  <a:schemeClr val="bg1"/>
                </a:solidFill>
                <a:latin typeface="Courier New" panose="02070309020205020404" pitchFamily="49" charset="0"/>
                <a:ea typeface="DM Sans Italics"/>
                <a:cs typeface="Courier New" panose="02070309020205020404" pitchFamily="49" charset="0"/>
                <a:sym typeface="DM Sans Italics"/>
              </a:rPr>
              <a:t>ntds</a:t>
            </a:r>
            <a:br>
              <a:rPr lang="en-US" sz="2400" dirty="0">
                <a:solidFill>
                  <a:schemeClr val="bg1"/>
                </a:solidFill>
                <a:latin typeface="Courier New" panose="02070309020205020404" pitchFamily="49" charset="0"/>
                <a:ea typeface="DM Sans Italics"/>
                <a:cs typeface="Courier New" panose="02070309020205020404" pitchFamily="49" charset="0"/>
                <a:sym typeface="DM Sans Italics"/>
              </a:rPr>
            </a:br>
            <a:r>
              <a:rPr lang="en-US" sz="2400" dirty="0" err="1">
                <a:solidFill>
                  <a:schemeClr val="bg1"/>
                </a:solidFill>
                <a:latin typeface="Courier New" panose="02070309020205020404" pitchFamily="49" charset="0"/>
                <a:ea typeface="DM Sans Italics"/>
                <a:cs typeface="Courier New" panose="02070309020205020404" pitchFamily="49" charset="0"/>
                <a:sym typeface="DM Sans Italics"/>
              </a:rPr>
              <a:t>ifm</a:t>
            </a:r>
            <a:br>
              <a:rPr lang="en-US" sz="2400" dirty="0">
                <a:solidFill>
                  <a:schemeClr val="bg1"/>
                </a:solidFill>
                <a:latin typeface="Courier New" panose="02070309020205020404" pitchFamily="49" charset="0"/>
                <a:ea typeface="DM Sans Italics"/>
                <a:cs typeface="Courier New" panose="02070309020205020404" pitchFamily="49" charset="0"/>
                <a:sym typeface="DM Sans Italics"/>
              </a:rPr>
            </a:br>
            <a:r>
              <a:rPr lang="en-US" sz="2400" dirty="0">
                <a:solidFill>
                  <a:schemeClr val="bg1"/>
                </a:solidFill>
                <a:latin typeface="Courier New" panose="02070309020205020404" pitchFamily="49" charset="0"/>
                <a:ea typeface="DM Sans Italics"/>
                <a:cs typeface="Courier New" panose="02070309020205020404" pitchFamily="49" charset="0"/>
                <a:sym typeface="DM Sans Italics"/>
              </a:rPr>
              <a:t>create </a:t>
            </a:r>
            <a:r>
              <a:rPr lang="en-US" sz="2400" dirty="0" err="1">
                <a:solidFill>
                  <a:schemeClr val="bg1"/>
                </a:solidFill>
                <a:latin typeface="Courier New" panose="02070309020205020404" pitchFamily="49" charset="0"/>
                <a:ea typeface="DM Sans Italics"/>
                <a:cs typeface="Courier New" panose="02070309020205020404" pitchFamily="49" charset="0"/>
                <a:sym typeface="DM Sans Italics"/>
              </a:rPr>
              <a:t>sysvol</a:t>
            </a:r>
            <a:r>
              <a:rPr lang="en-US" sz="2400" dirty="0">
                <a:solidFill>
                  <a:schemeClr val="bg1"/>
                </a:solidFill>
                <a:latin typeface="Courier New" panose="02070309020205020404" pitchFamily="49" charset="0"/>
                <a:ea typeface="DM Sans Italics"/>
                <a:cs typeface="Courier New" panose="02070309020205020404" pitchFamily="49" charset="0"/>
                <a:sym typeface="DM Sans Italics"/>
              </a:rPr>
              <a:t> full C:\IFM    </a:t>
            </a:r>
          </a:p>
          <a:p>
            <a:pPr lvl="1"/>
            <a:r>
              <a:rPr lang="en-US" sz="2400" dirty="0">
                <a:solidFill>
                  <a:schemeClr val="bg1"/>
                </a:solidFill>
                <a:latin typeface="Courier New" panose="02070309020205020404" pitchFamily="49" charset="0"/>
                <a:ea typeface="DM Sans Italics"/>
                <a:cs typeface="Courier New" panose="02070309020205020404" pitchFamily="49" charset="0"/>
                <a:sym typeface="DM Sans Italics"/>
              </a:rPr>
              <a:t>quit</a:t>
            </a:r>
          </a:p>
          <a:p>
            <a:pPr lvl="1"/>
            <a:r>
              <a:rPr lang="en-US" sz="2400" dirty="0">
                <a:solidFill>
                  <a:schemeClr val="bg1"/>
                </a:solidFill>
                <a:latin typeface="Courier New" panose="02070309020205020404" pitchFamily="49" charset="0"/>
                <a:ea typeface="DM Sans Italics"/>
                <a:cs typeface="Courier New" panose="02070309020205020404" pitchFamily="49" charset="0"/>
                <a:sym typeface="DM Sans Italics"/>
              </a:rPr>
              <a:t>quit</a:t>
            </a:r>
          </a:p>
        </p:txBody>
      </p:sp>
    </p:spTree>
    <p:extLst>
      <p:ext uri="{BB962C8B-B14F-4D97-AF65-F5344CB8AC3E}">
        <p14:creationId xmlns:p14="http://schemas.microsoft.com/office/powerpoint/2010/main" val="20224045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a:extLst>
            <a:ext uri="{FF2B5EF4-FFF2-40B4-BE49-F238E27FC236}">
              <a16:creationId xmlns:a16="http://schemas.microsoft.com/office/drawing/2014/main" id="{CEC70E1C-F276-7529-B7B0-26802B8C4977}"/>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08257FBE-EDD7-997B-F185-F8FC01C1F588}"/>
              </a:ext>
            </a:extLst>
          </p:cNvPr>
          <p:cNvSpPr/>
          <p:nvPr/>
        </p:nvSpPr>
        <p:spPr>
          <a:xfrm>
            <a:off x="0" y="9652910"/>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4" name="TextBox 4">
            <a:extLst>
              <a:ext uri="{FF2B5EF4-FFF2-40B4-BE49-F238E27FC236}">
                <a16:creationId xmlns:a16="http://schemas.microsoft.com/office/drawing/2014/main" id="{7A5048A7-3405-3991-3660-FD7FA54E7AC2}"/>
              </a:ext>
            </a:extLst>
          </p:cNvPr>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a:extLst>
              <a:ext uri="{FF2B5EF4-FFF2-40B4-BE49-F238E27FC236}">
                <a16:creationId xmlns:a16="http://schemas.microsoft.com/office/drawing/2014/main" id="{45B60074-8007-33B1-A356-26724F3353AE}"/>
              </a:ext>
            </a:extLst>
          </p:cNvPr>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11" name="TextBox 11">
            <a:extLst>
              <a:ext uri="{FF2B5EF4-FFF2-40B4-BE49-F238E27FC236}">
                <a16:creationId xmlns:a16="http://schemas.microsoft.com/office/drawing/2014/main" id="{C7E20E11-3F0E-33A9-32F1-3B5E657006F4}"/>
              </a:ext>
            </a:extLst>
          </p:cNvPr>
          <p:cNvSpPr txBox="1"/>
          <p:nvPr/>
        </p:nvSpPr>
        <p:spPr>
          <a:xfrm>
            <a:off x="684356" y="486903"/>
            <a:ext cx="7598010" cy="606425"/>
          </a:xfrm>
          <a:prstGeom prst="rect">
            <a:avLst/>
          </a:prstGeom>
        </p:spPr>
        <p:txBody>
          <a:bodyPr lIns="0" tIns="0" rIns="0" bIns="0" rtlCol="0" anchor="t">
            <a:spAutoFit/>
          </a:bodyPr>
          <a:lstStyle/>
          <a:p>
            <a:pPr marL="0" lvl="0" indent="0" algn="l">
              <a:lnSpc>
                <a:spcPts val="4900"/>
              </a:lnSpc>
              <a:spcBef>
                <a:spcPct val="0"/>
              </a:spcBef>
            </a:pPr>
            <a:r>
              <a:rPr lang="en-US" sz="3500" dirty="0">
                <a:solidFill>
                  <a:srgbClr val="38B6FF"/>
                </a:solidFill>
                <a:latin typeface="Anton"/>
                <a:ea typeface="Anton"/>
                <a:cs typeface="Anton"/>
                <a:sym typeface="Anton"/>
              </a:rPr>
              <a:t>BCDR ACTION PLAN</a:t>
            </a:r>
          </a:p>
        </p:txBody>
      </p:sp>
      <p:sp>
        <p:nvSpPr>
          <p:cNvPr id="21" name="TextBox 8">
            <a:extLst>
              <a:ext uri="{FF2B5EF4-FFF2-40B4-BE49-F238E27FC236}">
                <a16:creationId xmlns:a16="http://schemas.microsoft.com/office/drawing/2014/main" id="{BA3E5E4D-2E23-AF8A-3BEE-D097AEF045E7}"/>
              </a:ext>
            </a:extLst>
          </p:cNvPr>
          <p:cNvSpPr txBox="1"/>
          <p:nvPr/>
        </p:nvSpPr>
        <p:spPr>
          <a:xfrm>
            <a:off x="684356" y="2330230"/>
            <a:ext cx="9476591" cy="5626540"/>
          </a:xfrm>
          <a:prstGeom prst="rect">
            <a:avLst/>
          </a:prstGeom>
        </p:spPr>
        <p:txBody>
          <a:bodyPr lIns="0" tIns="0" rIns="0" bIns="0" rtlCol="0" anchor="t">
            <a:spAutoFit/>
          </a:bodyPr>
          <a:lstStyle/>
          <a:p>
            <a:pPr marL="514350" indent="-514350" algn="l">
              <a:lnSpc>
                <a:spcPts val="4900"/>
              </a:lnSpc>
              <a:buAutoNum type="arabicPeriod"/>
            </a:pPr>
            <a:r>
              <a:rPr lang="en-US" sz="3500" dirty="0">
                <a:solidFill>
                  <a:srgbClr val="FFFFFF"/>
                </a:solidFill>
                <a:latin typeface="DM Sans"/>
                <a:ea typeface="DM Sans"/>
                <a:cs typeface="DM Sans"/>
                <a:sym typeface="DM Sans"/>
              </a:rPr>
              <a:t>Get a backup solution.</a:t>
            </a:r>
          </a:p>
          <a:p>
            <a:pPr marL="514350" indent="-514350" algn="l">
              <a:lnSpc>
                <a:spcPts val="4900"/>
              </a:lnSpc>
              <a:buAutoNum type="arabicPeriod"/>
            </a:pPr>
            <a:r>
              <a:rPr lang="en-US" sz="3500" dirty="0">
                <a:solidFill>
                  <a:srgbClr val="FFFFFF"/>
                </a:solidFill>
                <a:latin typeface="DM Sans"/>
                <a:ea typeface="DM Sans"/>
                <a:cs typeface="DM Sans"/>
                <a:sym typeface="DM Sans"/>
              </a:rPr>
              <a:t>Make sure the solution supports AD.</a:t>
            </a:r>
          </a:p>
          <a:p>
            <a:pPr marL="514350" indent="-514350" algn="l">
              <a:lnSpc>
                <a:spcPts val="4900"/>
              </a:lnSpc>
              <a:buAutoNum type="arabicPeriod"/>
            </a:pPr>
            <a:r>
              <a:rPr lang="en-US" sz="3500" dirty="0">
                <a:solidFill>
                  <a:srgbClr val="FFFFFF"/>
                </a:solidFill>
                <a:latin typeface="DM Sans"/>
                <a:ea typeface="DM Sans"/>
                <a:cs typeface="DM Sans"/>
                <a:sym typeface="DM Sans"/>
              </a:rPr>
              <a:t>Make sure the solution can restore a full forest. </a:t>
            </a:r>
          </a:p>
          <a:p>
            <a:pPr marL="514350" indent="-514350" algn="l">
              <a:lnSpc>
                <a:spcPts val="4900"/>
              </a:lnSpc>
              <a:buAutoNum type="arabicPeriod"/>
            </a:pPr>
            <a:r>
              <a:rPr lang="en-US" sz="3500" dirty="0">
                <a:solidFill>
                  <a:srgbClr val="FFFFFF"/>
                </a:solidFill>
                <a:latin typeface="DM Sans"/>
                <a:ea typeface="DM Sans"/>
                <a:cs typeface="DM Sans"/>
                <a:sym typeface="DM Sans"/>
              </a:rPr>
              <a:t>Make sure it is secured and resilient</a:t>
            </a:r>
          </a:p>
          <a:p>
            <a:pPr marL="514350" indent="-514350" algn="l">
              <a:lnSpc>
                <a:spcPts val="4900"/>
              </a:lnSpc>
              <a:buAutoNum type="arabicPeriod"/>
            </a:pPr>
            <a:r>
              <a:rPr lang="en-US" sz="3500" dirty="0">
                <a:solidFill>
                  <a:srgbClr val="FFFFFF"/>
                </a:solidFill>
                <a:latin typeface="DM Sans"/>
                <a:ea typeface="DM Sans"/>
                <a:cs typeface="DM Sans"/>
                <a:sym typeface="DM Sans"/>
              </a:rPr>
              <a:t>Make sure that you’re not just using snapshots.</a:t>
            </a:r>
          </a:p>
          <a:p>
            <a:pPr marL="514350" indent="-514350" algn="l">
              <a:lnSpc>
                <a:spcPts val="4900"/>
              </a:lnSpc>
              <a:buAutoNum type="arabicPeriod"/>
            </a:pPr>
            <a:r>
              <a:rPr lang="en-US" sz="3500" dirty="0">
                <a:solidFill>
                  <a:srgbClr val="FFFFFF"/>
                </a:solidFill>
                <a:latin typeface="DM Sans"/>
                <a:ea typeface="DM Sans"/>
                <a:cs typeface="DM Sans"/>
                <a:sym typeface="DM Sans"/>
              </a:rPr>
              <a:t>Backup multiple DCs</a:t>
            </a:r>
          </a:p>
          <a:p>
            <a:pPr marL="514350" indent="-514350" algn="l">
              <a:lnSpc>
                <a:spcPts val="4900"/>
              </a:lnSpc>
              <a:buAutoNum type="arabicPeriod"/>
            </a:pPr>
            <a:r>
              <a:rPr lang="en-US" sz="3500" dirty="0">
                <a:solidFill>
                  <a:srgbClr val="FFFFFF"/>
                </a:solidFill>
                <a:latin typeface="DM Sans"/>
                <a:ea typeface="DM Sans"/>
                <a:cs typeface="DM Sans"/>
                <a:sym typeface="DM Sans"/>
              </a:rPr>
              <a:t>Test your backups</a:t>
            </a:r>
          </a:p>
        </p:txBody>
      </p:sp>
      <p:sp>
        <p:nvSpPr>
          <p:cNvPr id="22" name="Freeform 3">
            <a:extLst>
              <a:ext uri="{FF2B5EF4-FFF2-40B4-BE49-F238E27FC236}">
                <a16:creationId xmlns:a16="http://schemas.microsoft.com/office/drawing/2014/main" id="{78F6158C-B5D6-5765-F808-36DC3585CA6C}"/>
              </a:ext>
            </a:extLst>
          </p:cNvPr>
          <p:cNvSpPr/>
          <p:nvPr/>
        </p:nvSpPr>
        <p:spPr>
          <a:xfrm>
            <a:off x="10698977" y="2481512"/>
            <a:ext cx="6012486" cy="5323976"/>
          </a:xfrm>
          <a:custGeom>
            <a:avLst/>
            <a:gdLst/>
            <a:ahLst/>
            <a:cxnLst/>
            <a:rect l="l" t="t" r="r" b="b"/>
            <a:pathLst>
              <a:path w="6012486" h="5323976">
                <a:moveTo>
                  <a:pt x="0" y="0"/>
                </a:moveTo>
                <a:lnTo>
                  <a:pt x="6012486" y="0"/>
                </a:lnTo>
                <a:lnTo>
                  <a:pt x="6012486" y="5323977"/>
                </a:lnTo>
                <a:lnTo>
                  <a:pt x="0" y="5323977"/>
                </a:lnTo>
                <a:lnTo>
                  <a:pt x="0" y="0"/>
                </a:lnTo>
                <a:close/>
              </a:path>
            </a:pathLst>
          </a:custGeom>
          <a:blipFill>
            <a:blip r:embed="rId3"/>
            <a:stretch>
              <a:fillRect l="-10466" r="-19275"/>
            </a:stretch>
          </a:blipFill>
          <a:ln w="38100" cap="sq">
            <a:solidFill>
              <a:srgbClr val="38B6FF"/>
            </a:solidFill>
            <a:prstDash val="solid"/>
            <a:miter/>
          </a:ln>
        </p:spPr>
        <p:txBody>
          <a:bodyPr/>
          <a:lstStyle/>
          <a:p>
            <a:endParaRPr lang="en-US"/>
          </a:p>
        </p:txBody>
      </p:sp>
    </p:spTree>
    <p:extLst>
      <p:ext uri="{BB962C8B-B14F-4D97-AF65-F5344CB8AC3E}">
        <p14:creationId xmlns:p14="http://schemas.microsoft.com/office/powerpoint/2010/main" val="74813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306549" y="310617"/>
            <a:ext cx="9218481" cy="6510553"/>
          </a:xfrm>
          <a:custGeom>
            <a:avLst/>
            <a:gdLst/>
            <a:ahLst/>
            <a:cxnLst/>
            <a:rect l="l" t="t" r="r" b="b"/>
            <a:pathLst>
              <a:path w="9218481" h="6510553">
                <a:moveTo>
                  <a:pt x="0" y="0"/>
                </a:moveTo>
                <a:lnTo>
                  <a:pt x="9218481" y="0"/>
                </a:lnTo>
                <a:lnTo>
                  <a:pt x="9218481" y="6510553"/>
                </a:lnTo>
                <a:lnTo>
                  <a:pt x="0" y="6510553"/>
                </a:lnTo>
                <a:lnTo>
                  <a:pt x="0" y="0"/>
                </a:lnTo>
                <a:close/>
              </a:path>
            </a:pathLst>
          </a:custGeom>
          <a:blipFill>
            <a:blip r:embed="rId3"/>
            <a:stretch>
              <a:fillRect/>
            </a:stretch>
          </a:blipFill>
        </p:spPr>
        <p:txBody>
          <a:bodyPr/>
          <a:lstStyle/>
          <a:p>
            <a:endParaRPr lang="en-US"/>
          </a:p>
        </p:txBody>
      </p:sp>
      <p:sp>
        <p:nvSpPr>
          <p:cNvPr id="4" name="Freeform 4"/>
          <p:cNvSpPr/>
          <p:nvPr/>
        </p:nvSpPr>
        <p:spPr>
          <a:xfrm>
            <a:off x="7984090" y="5103317"/>
            <a:ext cx="9663749" cy="4348687"/>
          </a:xfrm>
          <a:custGeom>
            <a:avLst/>
            <a:gdLst/>
            <a:ahLst/>
            <a:cxnLst/>
            <a:rect l="l" t="t" r="r" b="b"/>
            <a:pathLst>
              <a:path w="9663749" h="4348687">
                <a:moveTo>
                  <a:pt x="0" y="0"/>
                </a:moveTo>
                <a:lnTo>
                  <a:pt x="9663749" y="0"/>
                </a:lnTo>
                <a:lnTo>
                  <a:pt x="9663749" y="4348687"/>
                </a:lnTo>
                <a:lnTo>
                  <a:pt x="0" y="4348687"/>
                </a:lnTo>
                <a:lnTo>
                  <a:pt x="0" y="0"/>
                </a:lnTo>
                <a:close/>
              </a:path>
            </a:pathLst>
          </a:custGeom>
          <a:blipFill>
            <a:blip r:embed="rId4"/>
            <a:stretch>
              <a:fillRect/>
            </a:stretch>
          </a:blipFill>
        </p:spPr>
        <p:txBody>
          <a:bodyPr/>
          <a:lstStyle/>
          <a:p>
            <a:endParaRPr lang="en-US"/>
          </a:p>
        </p:txBody>
      </p:sp>
      <p:sp>
        <p:nvSpPr>
          <p:cNvPr id="5" name="Freeform 5"/>
          <p:cNvSpPr/>
          <p:nvPr/>
        </p:nvSpPr>
        <p:spPr>
          <a:xfrm>
            <a:off x="10289097" y="310617"/>
            <a:ext cx="7358742" cy="4136286"/>
          </a:xfrm>
          <a:custGeom>
            <a:avLst/>
            <a:gdLst/>
            <a:ahLst/>
            <a:cxnLst/>
            <a:rect l="l" t="t" r="r" b="b"/>
            <a:pathLst>
              <a:path w="7358742" h="4136286">
                <a:moveTo>
                  <a:pt x="0" y="0"/>
                </a:moveTo>
                <a:lnTo>
                  <a:pt x="7358742" y="0"/>
                </a:lnTo>
                <a:lnTo>
                  <a:pt x="7358742" y="4136287"/>
                </a:lnTo>
                <a:lnTo>
                  <a:pt x="0" y="4136287"/>
                </a:lnTo>
                <a:lnTo>
                  <a:pt x="0" y="0"/>
                </a:lnTo>
                <a:close/>
              </a:path>
            </a:pathLst>
          </a:custGeom>
          <a:blipFill>
            <a:blip r:embed="rId5"/>
            <a:stretch>
              <a:fillRect/>
            </a:stretch>
          </a:blipFill>
        </p:spPr>
        <p:txBody>
          <a:bodyPr/>
          <a:lstStyle/>
          <a:p>
            <a:endParaRPr lang="en-US"/>
          </a:p>
        </p:txBody>
      </p:sp>
      <p:sp>
        <p:nvSpPr>
          <p:cNvPr id="6" name="TextBox 6"/>
          <p:cNvSpPr txBox="1"/>
          <p:nvPr/>
        </p:nvSpPr>
        <p:spPr>
          <a:xfrm>
            <a:off x="795880" y="7506970"/>
            <a:ext cx="6262680" cy="1751330"/>
          </a:xfrm>
          <a:prstGeom prst="rect">
            <a:avLst/>
          </a:prstGeom>
        </p:spPr>
        <p:txBody>
          <a:bodyPr lIns="0" tIns="0" rIns="0" bIns="0" rtlCol="0" anchor="t">
            <a:spAutoFit/>
          </a:bodyPr>
          <a:lstStyle/>
          <a:p>
            <a:pPr marL="0" lvl="0" indent="0" algn="l">
              <a:lnSpc>
                <a:spcPts val="6760"/>
              </a:lnSpc>
            </a:pPr>
            <a:r>
              <a:rPr lang="en-US" sz="6500">
                <a:solidFill>
                  <a:srgbClr val="FFFFFF"/>
                </a:solidFill>
                <a:latin typeface="Anton"/>
                <a:ea typeface="Anton"/>
                <a:cs typeface="Anton"/>
                <a:sym typeface="Anton"/>
              </a:rPr>
              <a:t>THE GHOST OF TOO MANY TOOLS</a:t>
            </a:r>
          </a:p>
        </p:txBody>
      </p:sp>
      <p:sp>
        <p:nvSpPr>
          <p:cNvPr id="7" name="TextBox 7"/>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8" name="TextBox 8"/>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5412584" y="4410286"/>
            <a:ext cx="7462831" cy="733214"/>
          </a:xfrm>
          <a:prstGeom prst="rect">
            <a:avLst/>
          </a:prstGeom>
        </p:spPr>
        <p:txBody>
          <a:bodyPr wrap="square" lIns="0" tIns="0" rIns="0" bIns="0" rtlCol="0" anchor="t">
            <a:spAutoFit/>
          </a:bodyPr>
          <a:lstStyle/>
          <a:p>
            <a:pPr algn="ctr">
              <a:lnSpc>
                <a:spcPts val="5965"/>
              </a:lnSpc>
              <a:spcBef>
                <a:spcPct val="0"/>
              </a:spcBef>
            </a:pPr>
            <a:r>
              <a:rPr lang="en-US" sz="4261" b="1">
                <a:solidFill>
                  <a:srgbClr val="FFFFFF"/>
                </a:solidFill>
                <a:latin typeface="DM Sans Bold"/>
                <a:ea typeface="DM Sans Bold"/>
                <a:cs typeface="DM Sans Bold"/>
                <a:sym typeface="DM Sans Bold"/>
              </a:rPr>
              <a:t>OPERATIONAL RISK IS RISK</a:t>
            </a:r>
          </a:p>
        </p:txBody>
      </p:sp>
      <p:sp>
        <p:nvSpPr>
          <p:cNvPr id="6" name="TextBox 11">
            <a:extLst>
              <a:ext uri="{FF2B5EF4-FFF2-40B4-BE49-F238E27FC236}">
                <a16:creationId xmlns:a16="http://schemas.microsoft.com/office/drawing/2014/main" id="{1562E71A-1A1E-FC80-9737-1978AAB11B55}"/>
              </a:ext>
            </a:extLst>
          </p:cNvPr>
          <p:cNvSpPr txBox="1"/>
          <p:nvPr/>
        </p:nvSpPr>
        <p:spPr>
          <a:xfrm>
            <a:off x="684356" y="486903"/>
            <a:ext cx="7598010" cy="1217449"/>
          </a:xfrm>
          <a:prstGeom prst="rect">
            <a:avLst/>
          </a:prstGeom>
        </p:spPr>
        <p:txBody>
          <a:bodyPr lIns="0" tIns="0" rIns="0" bIns="0" rtlCol="0" anchor="t">
            <a:spAutoFit/>
          </a:bodyPr>
          <a:lstStyle/>
          <a:p>
            <a:pPr>
              <a:lnSpc>
                <a:spcPts val="4900"/>
              </a:lnSpc>
              <a:spcBef>
                <a:spcPct val="0"/>
              </a:spcBef>
            </a:pPr>
            <a:r>
              <a:rPr lang="en-US" sz="3600" dirty="0">
                <a:solidFill>
                  <a:srgbClr val="38B6FF"/>
                </a:solidFill>
                <a:latin typeface="Anton"/>
                <a:ea typeface="Anton"/>
                <a:cs typeface="Anton"/>
                <a:sym typeface="Anton"/>
              </a:rPr>
              <a:t>PERFORMANCE / RELIABILITY MONITORING</a:t>
            </a:r>
          </a:p>
          <a:p>
            <a:pPr marL="0" lvl="0" indent="0" algn="l">
              <a:lnSpc>
                <a:spcPts val="4900"/>
              </a:lnSpc>
              <a:spcBef>
                <a:spcPct val="0"/>
              </a:spcBef>
            </a:pPr>
            <a:endParaRPr lang="en-US" sz="3500" dirty="0">
              <a:solidFill>
                <a:srgbClr val="38B6FF"/>
              </a:solidFill>
              <a:latin typeface="Anton"/>
              <a:ea typeface="Anton"/>
              <a:cs typeface="Anton"/>
              <a:sym typeface="Anto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520478" y="457984"/>
            <a:ext cx="7918194" cy="436500"/>
          </a:xfrm>
          <a:prstGeom prst="rect">
            <a:avLst/>
          </a:prstGeom>
        </p:spPr>
        <p:txBody>
          <a:bodyPr lIns="0" tIns="0" rIns="0" bIns="0" rtlCol="0" anchor="t">
            <a:spAutoFit/>
          </a:bodyPr>
          <a:lstStyle/>
          <a:p>
            <a:pPr marL="0" lvl="0" indent="0" algn="l">
              <a:lnSpc>
                <a:spcPts val="3328"/>
              </a:lnSpc>
            </a:pPr>
            <a:r>
              <a:rPr lang="en-US" sz="3200" dirty="0">
                <a:solidFill>
                  <a:srgbClr val="38B6FF"/>
                </a:solidFill>
                <a:latin typeface="Anton"/>
                <a:ea typeface="Anton"/>
                <a:cs typeface="Anton"/>
                <a:sym typeface="Anton"/>
              </a:rPr>
              <a:t>PERFORMANCE / RELIABILITY MONITORING</a:t>
            </a:r>
          </a:p>
        </p:txBody>
      </p:sp>
      <p:sp>
        <p:nvSpPr>
          <p:cNvPr id="4" name="TextBox 4"/>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p:cNvSpPr txBox="1"/>
          <p:nvPr/>
        </p:nvSpPr>
        <p:spPr>
          <a:xfrm>
            <a:off x="736136" y="1540127"/>
            <a:ext cx="7486877" cy="606425"/>
          </a:xfrm>
          <a:prstGeom prst="rect">
            <a:avLst/>
          </a:prstGeom>
        </p:spPr>
        <p:txBody>
          <a:bodyPr lIns="0" tIns="0" rIns="0" bIns="0" rtlCol="0" anchor="t">
            <a:spAutoFit/>
          </a:bodyPr>
          <a:lstStyle/>
          <a:p>
            <a:pPr algn="l">
              <a:lnSpc>
                <a:spcPts val="4900"/>
              </a:lnSpc>
            </a:pPr>
            <a:r>
              <a:rPr lang="en-US" sz="3500" b="1">
                <a:solidFill>
                  <a:srgbClr val="FFFFFF"/>
                </a:solidFill>
                <a:latin typeface="DM Sans Bold"/>
                <a:ea typeface="DM Sans Bold"/>
                <a:cs typeface="DM Sans Bold"/>
                <a:sym typeface="DM Sans Bold"/>
              </a:rPr>
              <a:t>WHAT DO YOU HAVE ALREADY?</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520478" y="457984"/>
            <a:ext cx="7918194" cy="436500"/>
          </a:xfrm>
          <a:prstGeom prst="rect">
            <a:avLst/>
          </a:prstGeom>
        </p:spPr>
        <p:txBody>
          <a:bodyPr lIns="0" tIns="0" rIns="0" bIns="0" rtlCol="0" anchor="t">
            <a:spAutoFit/>
          </a:bodyPr>
          <a:lstStyle/>
          <a:p>
            <a:pPr marL="0" lvl="0" indent="0" algn="l">
              <a:lnSpc>
                <a:spcPts val="3328"/>
              </a:lnSpc>
            </a:pPr>
            <a:r>
              <a:rPr lang="en-US" sz="3200">
                <a:solidFill>
                  <a:srgbClr val="38B6FF"/>
                </a:solidFill>
                <a:latin typeface="Anton"/>
                <a:ea typeface="Anton"/>
                <a:cs typeface="Anton"/>
                <a:sym typeface="Anton"/>
              </a:rPr>
              <a:t>PERFORMANCE / RELIABILITY MONITORING</a:t>
            </a:r>
          </a:p>
        </p:txBody>
      </p:sp>
      <p:sp>
        <p:nvSpPr>
          <p:cNvPr id="4" name="Freeform 4"/>
          <p:cNvSpPr/>
          <p:nvPr/>
        </p:nvSpPr>
        <p:spPr>
          <a:xfrm>
            <a:off x="12419900" y="2146552"/>
            <a:ext cx="5118631" cy="5722629"/>
          </a:xfrm>
          <a:custGeom>
            <a:avLst/>
            <a:gdLst/>
            <a:ahLst/>
            <a:cxnLst/>
            <a:rect l="l" t="t" r="r" b="b"/>
            <a:pathLst>
              <a:path w="5118631" h="5722629">
                <a:moveTo>
                  <a:pt x="0" y="0"/>
                </a:moveTo>
                <a:lnTo>
                  <a:pt x="5118631" y="0"/>
                </a:lnTo>
                <a:lnTo>
                  <a:pt x="5118631" y="5722629"/>
                </a:lnTo>
                <a:lnTo>
                  <a:pt x="0" y="5722629"/>
                </a:lnTo>
                <a:lnTo>
                  <a:pt x="0" y="0"/>
                </a:lnTo>
                <a:close/>
              </a:path>
            </a:pathLst>
          </a:custGeom>
          <a:blipFill>
            <a:blip r:embed="rId3"/>
            <a:stretch>
              <a:fillRect/>
            </a:stretch>
          </a:blipFill>
          <a:ln w="28575">
            <a:solidFill>
              <a:srgbClr val="38B6FF"/>
            </a:solidFill>
          </a:ln>
        </p:spPr>
        <p:txBody>
          <a:bodyPr/>
          <a:lstStyle/>
          <a:p>
            <a:endParaRPr lang="en-US"/>
          </a:p>
        </p:txBody>
      </p:sp>
      <p:sp>
        <p:nvSpPr>
          <p:cNvPr id="5" name="TextBox 5"/>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6" name="TextBox 6"/>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7" name="TextBox 7"/>
          <p:cNvSpPr txBox="1"/>
          <p:nvPr/>
        </p:nvSpPr>
        <p:spPr>
          <a:xfrm>
            <a:off x="736136" y="1540127"/>
            <a:ext cx="7486877" cy="606425"/>
          </a:xfrm>
          <a:prstGeom prst="rect">
            <a:avLst/>
          </a:prstGeom>
        </p:spPr>
        <p:txBody>
          <a:bodyPr lIns="0" tIns="0" rIns="0" bIns="0" rtlCol="0" anchor="t">
            <a:spAutoFit/>
          </a:bodyPr>
          <a:lstStyle/>
          <a:p>
            <a:pPr algn="l">
              <a:lnSpc>
                <a:spcPts val="4900"/>
              </a:lnSpc>
            </a:pPr>
            <a:r>
              <a:rPr lang="en-US" sz="3500" b="1">
                <a:solidFill>
                  <a:srgbClr val="FFFFFF"/>
                </a:solidFill>
                <a:latin typeface="DM Sans Bold"/>
                <a:ea typeface="DM Sans Bold"/>
                <a:cs typeface="DM Sans Bold"/>
                <a:sym typeface="DM Sans Bold"/>
              </a:rPr>
              <a:t>WHAT DO YOU HAVE ALREADY?</a:t>
            </a:r>
          </a:p>
        </p:txBody>
      </p:sp>
      <p:sp>
        <p:nvSpPr>
          <p:cNvPr id="8" name="TextBox 8"/>
          <p:cNvSpPr txBox="1"/>
          <p:nvPr/>
        </p:nvSpPr>
        <p:spPr>
          <a:xfrm>
            <a:off x="749469" y="2766984"/>
            <a:ext cx="8394531" cy="1225550"/>
          </a:xfrm>
          <a:prstGeom prst="rect">
            <a:avLst/>
          </a:prstGeom>
        </p:spPr>
        <p:txBody>
          <a:bodyPr lIns="0" tIns="0" rIns="0" bIns="0" rtlCol="0" anchor="t">
            <a:spAutoFit/>
          </a:bodyPr>
          <a:lstStyle/>
          <a:p>
            <a:pPr algn="l">
              <a:lnSpc>
                <a:spcPts val="4900"/>
              </a:lnSpc>
            </a:pPr>
            <a:r>
              <a:rPr lang="en-US" sz="3500">
                <a:solidFill>
                  <a:srgbClr val="FFFFFF"/>
                </a:solidFill>
                <a:latin typeface="DM Sans"/>
                <a:ea typeface="DM Sans"/>
                <a:cs typeface="DM Sans"/>
                <a:sym typeface="DM Sans"/>
              </a:rPr>
              <a:t>Systems Center Operations Manager (SCOM)</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2818161" y="5957846"/>
            <a:ext cx="11994918" cy="3317417"/>
          </a:xfrm>
          <a:custGeom>
            <a:avLst/>
            <a:gdLst/>
            <a:ahLst/>
            <a:cxnLst/>
            <a:rect l="l" t="t" r="r" b="b"/>
            <a:pathLst>
              <a:path w="11994918" h="3317417">
                <a:moveTo>
                  <a:pt x="0" y="0"/>
                </a:moveTo>
                <a:lnTo>
                  <a:pt x="11994918" y="0"/>
                </a:lnTo>
                <a:lnTo>
                  <a:pt x="11994918" y="3317417"/>
                </a:lnTo>
                <a:lnTo>
                  <a:pt x="0" y="3317417"/>
                </a:lnTo>
                <a:lnTo>
                  <a:pt x="0" y="0"/>
                </a:lnTo>
                <a:close/>
              </a:path>
            </a:pathLst>
          </a:custGeom>
          <a:blipFill>
            <a:blip r:embed="rId3"/>
            <a:stretch>
              <a:fillRect/>
            </a:stretch>
          </a:blipFill>
          <a:ln w="19050">
            <a:solidFill>
              <a:srgbClr val="38B6FF"/>
            </a:solidFill>
          </a:ln>
        </p:spPr>
        <p:txBody>
          <a:bodyPr/>
          <a:lstStyle/>
          <a:p>
            <a:endParaRPr lang="en-US"/>
          </a:p>
        </p:txBody>
      </p:sp>
      <p:sp>
        <p:nvSpPr>
          <p:cNvPr id="4" name="TextBox 4"/>
          <p:cNvSpPr txBox="1"/>
          <p:nvPr/>
        </p:nvSpPr>
        <p:spPr>
          <a:xfrm>
            <a:off x="520478" y="457984"/>
            <a:ext cx="7918194" cy="436500"/>
          </a:xfrm>
          <a:prstGeom prst="rect">
            <a:avLst/>
          </a:prstGeom>
        </p:spPr>
        <p:txBody>
          <a:bodyPr lIns="0" tIns="0" rIns="0" bIns="0" rtlCol="0" anchor="t">
            <a:spAutoFit/>
          </a:bodyPr>
          <a:lstStyle/>
          <a:p>
            <a:pPr marL="0" lvl="0" indent="0" algn="l">
              <a:lnSpc>
                <a:spcPts val="3328"/>
              </a:lnSpc>
            </a:pPr>
            <a:r>
              <a:rPr lang="en-US" sz="3200">
                <a:solidFill>
                  <a:srgbClr val="38B6FF"/>
                </a:solidFill>
                <a:latin typeface="Anton"/>
                <a:ea typeface="Anton"/>
                <a:cs typeface="Anton"/>
                <a:sym typeface="Anton"/>
              </a:rPr>
              <a:t>PERFORMANCE / RELIABILITY MONITORING</a:t>
            </a:r>
          </a:p>
        </p:txBody>
      </p:sp>
      <p:sp>
        <p:nvSpPr>
          <p:cNvPr id="5" name="TextBox 5"/>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6" name="TextBox 6"/>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7" name="TextBox 7"/>
          <p:cNvSpPr txBox="1"/>
          <p:nvPr/>
        </p:nvSpPr>
        <p:spPr>
          <a:xfrm>
            <a:off x="736136" y="1540127"/>
            <a:ext cx="7486877" cy="606425"/>
          </a:xfrm>
          <a:prstGeom prst="rect">
            <a:avLst/>
          </a:prstGeom>
        </p:spPr>
        <p:txBody>
          <a:bodyPr lIns="0" tIns="0" rIns="0" bIns="0" rtlCol="0" anchor="t">
            <a:spAutoFit/>
          </a:bodyPr>
          <a:lstStyle/>
          <a:p>
            <a:pPr algn="l">
              <a:lnSpc>
                <a:spcPts val="4900"/>
              </a:lnSpc>
            </a:pPr>
            <a:r>
              <a:rPr lang="en-US" sz="3500" b="1">
                <a:solidFill>
                  <a:srgbClr val="FFFFFF"/>
                </a:solidFill>
                <a:latin typeface="DM Sans Bold"/>
                <a:ea typeface="DM Sans Bold"/>
                <a:cs typeface="DM Sans Bold"/>
                <a:sym typeface="DM Sans Bold"/>
              </a:rPr>
              <a:t>WHAT DO YOU HAVE ALREADY?</a:t>
            </a:r>
          </a:p>
        </p:txBody>
      </p:sp>
      <p:sp>
        <p:nvSpPr>
          <p:cNvPr id="8" name="TextBox 8"/>
          <p:cNvSpPr txBox="1"/>
          <p:nvPr/>
        </p:nvSpPr>
        <p:spPr>
          <a:xfrm>
            <a:off x="749469" y="2766984"/>
            <a:ext cx="8394531" cy="1225550"/>
          </a:xfrm>
          <a:prstGeom prst="rect">
            <a:avLst/>
          </a:prstGeom>
        </p:spPr>
        <p:txBody>
          <a:bodyPr lIns="0" tIns="0" rIns="0" bIns="0" rtlCol="0" anchor="t">
            <a:spAutoFit/>
          </a:bodyPr>
          <a:lstStyle/>
          <a:p>
            <a:pPr algn="l">
              <a:lnSpc>
                <a:spcPts val="4900"/>
              </a:lnSpc>
            </a:pPr>
            <a:r>
              <a:rPr lang="en-US" sz="3500">
                <a:solidFill>
                  <a:srgbClr val="767676"/>
                </a:solidFill>
                <a:latin typeface="DM Sans"/>
                <a:ea typeface="DM Sans"/>
                <a:cs typeface="DM Sans"/>
                <a:sym typeface="DM Sans"/>
              </a:rPr>
              <a:t>Systems Center Operations Manager (SCOM)</a:t>
            </a:r>
          </a:p>
        </p:txBody>
      </p:sp>
      <p:sp>
        <p:nvSpPr>
          <p:cNvPr id="9" name="TextBox 9"/>
          <p:cNvSpPr txBox="1"/>
          <p:nvPr/>
        </p:nvSpPr>
        <p:spPr>
          <a:xfrm>
            <a:off x="749469" y="4611659"/>
            <a:ext cx="9557126" cy="977900"/>
          </a:xfrm>
          <a:prstGeom prst="rect">
            <a:avLst/>
          </a:prstGeom>
        </p:spPr>
        <p:txBody>
          <a:bodyPr lIns="0" tIns="0" rIns="0" bIns="0" rtlCol="0" anchor="t">
            <a:spAutoFit/>
          </a:bodyPr>
          <a:lstStyle/>
          <a:p>
            <a:pPr algn="l">
              <a:lnSpc>
                <a:spcPts val="4900"/>
              </a:lnSpc>
            </a:pPr>
            <a:r>
              <a:rPr lang="en-US" sz="3500">
                <a:solidFill>
                  <a:srgbClr val="FFFFFF"/>
                </a:solidFill>
                <a:latin typeface="DM Sans"/>
                <a:ea typeface="DM Sans"/>
                <a:cs typeface="DM Sans"/>
                <a:sym typeface="DM Sans"/>
              </a:rPr>
              <a:t>Azure Monitor (Paid)</a:t>
            </a:r>
          </a:p>
          <a:p>
            <a:pPr algn="l">
              <a:lnSpc>
                <a:spcPts val="2799"/>
              </a:lnSpc>
            </a:pPr>
            <a:r>
              <a:rPr lang="en-US" sz="1999">
                <a:solidFill>
                  <a:srgbClr val="2F7BD1"/>
                </a:solidFill>
                <a:latin typeface="DM Sans"/>
                <a:ea typeface="DM Sans"/>
                <a:cs typeface="DM Sans"/>
                <a:sym typeface="DM Sans"/>
              </a:rPr>
              <a:t>https://learn.microsoft.com/en-us/azure/azure-monitor/fundamentals/overview</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11563651" y="300254"/>
            <a:ext cx="5936474" cy="4728350"/>
          </a:xfrm>
          <a:custGeom>
            <a:avLst/>
            <a:gdLst/>
            <a:ahLst/>
            <a:cxnLst/>
            <a:rect l="l" t="t" r="r" b="b"/>
            <a:pathLst>
              <a:path w="5936474" h="4728350">
                <a:moveTo>
                  <a:pt x="0" y="0"/>
                </a:moveTo>
                <a:lnTo>
                  <a:pt x="5936475" y="0"/>
                </a:lnTo>
                <a:lnTo>
                  <a:pt x="5936475" y="4728350"/>
                </a:lnTo>
                <a:lnTo>
                  <a:pt x="0" y="4728350"/>
                </a:lnTo>
                <a:lnTo>
                  <a:pt x="0" y="0"/>
                </a:lnTo>
                <a:close/>
              </a:path>
            </a:pathLst>
          </a:custGeom>
          <a:blipFill>
            <a:blip r:embed="rId3"/>
            <a:stretch>
              <a:fillRect/>
            </a:stretch>
          </a:blipFill>
          <a:ln w="38100" cap="sq">
            <a:solidFill>
              <a:srgbClr val="2F7BD1"/>
            </a:solidFill>
            <a:prstDash val="solid"/>
            <a:miter/>
          </a:ln>
        </p:spPr>
        <p:txBody>
          <a:bodyPr/>
          <a:lstStyle/>
          <a:p>
            <a:endParaRPr lang="en-US"/>
          </a:p>
        </p:txBody>
      </p:sp>
      <p:sp>
        <p:nvSpPr>
          <p:cNvPr id="4" name="Freeform 4"/>
          <p:cNvSpPr/>
          <p:nvPr/>
        </p:nvSpPr>
        <p:spPr>
          <a:xfrm>
            <a:off x="3493371" y="7196109"/>
            <a:ext cx="11301259" cy="2076606"/>
          </a:xfrm>
          <a:custGeom>
            <a:avLst/>
            <a:gdLst/>
            <a:ahLst/>
            <a:cxnLst/>
            <a:rect l="l" t="t" r="r" b="b"/>
            <a:pathLst>
              <a:path w="11301259" h="2076606">
                <a:moveTo>
                  <a:pt x="0" y="0"/>
                </a:moveTo>
                <a:lnTo>
                  <a:pt x="11301258" y="0"/>
                </a:lnTo>
                <a:lnTo>
                  <a:pt x="11301258" y="2076606"/>
                </a:lnTo>
                <a:lnTo>
                  <a:pt x="0" y="2076606"/>
                </a:lnTo>
                <a:lnTo>
                  <a:pt x="0" y="0"/>
                </a:lnTo>
                <a:close/>
              </a:path>
            </a:pathLst>
          </a:custGeom>
          <a:blipFill>
            <a:blip r:embed="rId4"/>
            <a:stretch>
              <a:fillRect/>
            </a:stretch>
          </a:blipFill>
          <a:ln w="38100" cap="sq">
            <a:solidFill>
              <a:srgbClr val="2F7BD1"/>
            </a:solidFill>
            <a:prstDash val="solid"/>
            <a:miter/>
          </a:ln>
        </p:spPr>
        <p:txBody>
          <a:bodyPr/>
          <a:lstStyle/>
          <a:p>
            <a:endParaRPr lang="en-US"/>
          </a:p>
        </p:txBody>
      </p:sp>
      <p:sp>
        <p:nvSpPr>
          <p:cNvPr id="5" name="TextBox 5"/>
          <p:cNvSpPr txBox="1"/>
          <p:nvPr/>
        </p:nvSpPr>
        <p:spPr>
          <a:xfrm>
            <a:off x="520478" y="457984"/>
            <a:ext cx="7918194" cy="436500"/>
          </a:xfrm>
          <a:prstGeom prst="rect">
            <a:avLst/>
          </a:prstGeom>
        </p:spPr>
        <p:txBody>
          <a:bodyPr lIns="0" tIns="0" rIns="0" bIns="0" rtlCol="0" anchor="t">
            <a:spAutoFit/>
          </a:bodyPr>
          <a:lstStyle/>
          <a:p>
            <a:pPr marL="0" lvl="0" indent="0" algn="l">
              <a:lnSpc>
                <a:spcPts val="3328"/>
              </a:lnSpc>
            </a:pPr>
            <a:r>
              <a:rPr lang="en-US" sz="3200">
                <a:solidFill>
                  <a:srgbClr val="38B6FF"/>
                </a:solidFill>
                <a:latin typeface="Anton"/>
                <a:ea typeface="Anton"/>
                <a:cs typeface="Anton"/>
                <a:sym typeface="Anton"/>
              </a:rPr>
              <a:t>PERFORMANCE / RELIABILITY MONITORING</a:t>
            </a:r>
          </a:p>
        </p:txBody>
      </p:sp>
      <p:sp>
        <p:nvSpPr>
          <p:cNvPr id="6" name="TextBox 6"/>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7" name="TextBox 7"/>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8" name="TextBox 8"/>
          <p:cNvSpPr txBox="1"/>
          <p:nvPr/>
        </p:nvSpPr>
        <p:spPr>
          <a:xfrm>
            <a:off x="736136" y="1540127"/>
            <a:ext cx="7486877" cy="606425"/>
          </a:xfrm>
          <a:prstGeom prst="rect">
            <a:avLst/>
          </a:prstGeom>
        </p:spPr>
        <p:txBody>
          <a:bodyPr lIns="0" tIns="0" rIns="0" bIns="0" rtlCol="0" anchor="t">
            <a:spAutoFit/>
          </a:bodyPr>
          <a:lstStyle/>
          <a:p>
            <a:pPr algn="l">
              <a:lnSpc>
                <a:spcPts val="4900"/>
              </a:lnSpc>
            </a:pPr>
            <a:r>
              <a:rPr lang="en-US" sz="3500" b="1">
                <a:solidFill>
                  <a:srgbClr val="FFFFFF"/>
                </a:solidFill>
                <a:latin typeface="DM Sans Bold"/>
                <a:ea typeface="DM Sans Bold"/>
                <a:cs typeface="DM Sans Bold"/>
                <a:sym typeface="DM Sans Bold"/>
              </a:rPr>
              <a:t>WHAT DO YOU HAVE ALREADY?</a:t>
            </a:r>
          </a:p>
        </p:txBody>
      </p:sp>
      <p:sp>
        <p:nvSpPr>
          <p:cNvPr id="9" name="TextBox 9"/>
          <p:cNvSpPr txBox="1"/>
          <p:nvPr/>
        </p:nvSpPr>
        <p:spPr>
          <a:xfrm>
            <a:off x="749469" y="2766984"/>
            <a:ext cx="8394531" cy="1225550"/>
          </a:xfrm>
          <a:prstGeom prst="rect">
            <a:avLst/>
          </a:prstGeom>
        </p:spPr>
        <p:txBody>
          <a:bodyPr lIns="0" tIns="0" rIns="0" bIns="0" rtlCol="0" anchor="t">
            <a:spAutoFit/>
          </a:bodyPr>
          <a:lstStyle/>
          <a:p>
            <a:pPr algn="l">
              <a:lnSpc>
                <a:spcPts val="4900"/>
              </a:lnSpc>
            </a:pPr>
            <a:r>
              <a:rPr lang="en-US" sz="3500">
                <a:solidFill>
                  <a:srgbClr val="767676"/>
                </a:solidFill>
                <a:latin typeface="DM Sans"/>
                <a:ea typeface="DM Sans"/>
                <a:cs typeface="DM Sans"/>
                <a:sym typeface="DM Sans"/>
              </a:rPr>
              <a:t>Systems Center Operations Manager (SCOM)</a:t>
            </a:r>
          </a:p>
        </p:txBody>
      </p:sp>
      <p:sp>
        <p:nvSpPr>
          <p:cNvPr id="10" name="TextBox 10"/>
          <p:cNvSpPr txBox="1"/>
          <p:nvPr/>
        </p:nvSpPr>
        <p:spPr>
          <a:xfrm>
            <a:off x="736136" y="5865784"/>
            <a:ext cx="9962841" cy="977900"/>
          </a:xfrm>
          <a:prstGeom prst="rect">
            <a:avLst/>
          </a:prstGeom>
        </p:spPr>
        <p:txBody>
          <a:bodyPr lIns="0" tIns="0" rIns="0" bIns="0" rtlCol="0" anchor="t">
            <a:spAutoFit/>
          </a:bodyPr>
          <a:lstStyle/>
          <a:p>
            <a:pPr algn="l">
              <a:lnSpc>
                <a:spcPts val="4900"/>
              </a:lnSpc>
            </a:pPr>
            <a:r>
              <a:rPr lang="en-US" sz="3500">
                <a:solidFill>
                  <a:srgbClr val="FFFFFF"/>
                </a:solidFill>
                <a:latin typeface="DM Sans"/>
                <a:ea typeface="DM Sans"/>
                <a:cs typeface="DM Sans"/>
                <a:sym typeface="DM Sans"/>
              </a:rPr>
              <a:t>Zabbix (Free/Paid)</a:t>
            </a:r>
          </a:p>
          <a:p>
            <a:pPr algn="l">
              <a:lnSpc>
                <a:spcPts val="2800"/>
              </a:lnSpc>
            </a:pPr>
            <a:r>
              <a:rPr lang="en-US" sz="2000">
                <a:solidFill>
                  <a:srgbClr val="2F7BD1"/>
                </a:solidFill>
                <a:latin typeface="DM Sans"/>
                <a:ea typeface="DM Sans"/>
                <a:cs typeface="DM Sans"/>
                <a:sym typeface="DM Sans"/>
              </a:rPr>
              <a:t>https://www.zabbix.com/documentation/7.0/en/manual/installation/getting_zabbix</a:t>
            </a:r>
          </a:p>
        </p:txBody>
      </p:sp>
      <p:sp>
        <p:nvSpPr>
          <p:cNvPr id="11" name="TextBox 11"/>
          <p:cNvSpPr txBox="1"/>
          <p:nvPr/>
        </p:nvSpPr>
        <p:spPr>
          <a:xfrm>
            <a:off x="749469" y="4611659"/>
            <a:ext cx="9557126" cy="977900"/>
          </a:xfrm>
          <a:prstGeom prst="rect">
            <a:avLst/>
          </a:prstGeom>
        </p:spPr>
        <p:txBody>
          <a:bodyPr lIns="0" tIns="0" rIns="0" bIns="0" rtlCol="0" anchor="t">
            <a:spAutoFit/>
          </a:bodyPr>
          <a:lstStyle/>
          <a:p>
            <a:pPr algn="l">
              <a:lnSpc>
                <a:spcPts val="4900"/>
              </a:lnSpc>
            </a:pPr>
            <a:r>
              <a:rPr lang="en-US" sz="3500">
                <a:solidFill>
                  <a:srgbClr val="767676"/>
                </a:solidFill>
                <a:latin typeface="DM Sans"/>
                <a:ea typeface="DM Sans"/>
                <a:cs typeface="DM Sans"/>
                <a:sym typeface="DM Sans"/>
              </a:rPr>
              <a:t>Azure Monitor (Paid)</a:t>
            </a:r>
          </a:p>
          <a:p>
            <a:pPr algn="l">
              <a:lnSpc>
                <a:spcPts val="2799"/>
              </a:lnSpc>
            </a:pPr>
            <a:r>
              <a:rPr lang="en-US" sz="1999">
                <a:solidFill>
                  <a:srgbClr val="767676"/>
                </a:solidFill>
                <a:latin typeface="DM Sans"/>
                <a:ea typeface="DM Sans"/>
                <a:cs typeface="DM Sans"/>
                <a:sym typeface="DM Sans"/>
              </a:rPr>
              <a:t>https://learn.microsoft.com/en-us/azure/azure-monitor/fundamentals/overview</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520478" y="457984"/>
            <a:ext cx="7918194" cy="436500"/>
          </a:xfrm>
          <a:prstGeom prst="rect">
            <a:avLst/>
          </a:prstGeom>
        </p:spPr>
        <p:txBody>
          <a:bodyPr lIns="0" tIns="0" rIns="0" bIns="0" rtlCol="0" anchor="t">
            <a:spAutoFit/>
          </a:bodyPr>
          <a:lstStyle/>
          <a:p>
            <a:pPr marL="0" lvl="0" indent="0" algn="l">
              <a:lnSpc>
                <a:spcPts val="3328"/>
              </a:lnSpc>
            </a:pPr>
            <a:r>
              <a:rPr lang="en-US" sz="3200">
                <a:solidFill>
                  <a:srgbClr val="38B6FF"/>
                </a:solidFill>
                <a:latin typeface="Anton"/>
                <a:ea typeface="Anton"/>
                <a:cs typeface="Anton"/>
                <a:sym typeface="Anton"/>
              </a:rPr>
              <a:t>BONUS - PERFORMANCE / RELIABILITY MONITORING</a:t>
            </a:r>
          </a:p>
        </p:txBody>
      </p:sp>
      <p:sp>
        <p:nvSpPr>
          <p:cNvPr id="4" name="TextBox 4"/>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p:cNvSpPr txBox="1"/>
          <p:nvPr/>
        </p:nvSpPr>
        <p:spPr>
          <a:xfrm>
            <a:off x="736136" y="1540127"/>
            <a:ext cx="7486877" cy="606425"/>
          </a:xfrm>
          <a:prstGeom prst="rect">
            <a:avLst/>
          </a:prstGeom>
        </p:spPr>
        <p:txBody>
          <a:bodyPr lIns="0" tIns="0" rIns="0" bIns="0" rtlCol="0" anchor="t">
            <a:spAutoFit/>
          </a:bodyPr>
          <a:lstStyle/>
          <a:p>
            <a:pPr algn="l">
              <a:lnSpc>
                <a:spcPts val="4900"/>
              </a:lnSpc>
            </a:pPr>
            <a:r>
              <a:rPr lang="en-US" sz="3500" b="1">
                <a:solidFill>
                  <a:srgbClr val="FFFFFF"/>
                </a:solidFill>
                <a:latin typeface="DM Sans Bold"/>
                <a:ea typeface="DM Sans Bold"/>
                <a:cs typeface="DM Sans Bold"/>
                <a:sym typeface="DM Sans Bold"/>
              </a:rPr>
              <a:t>WHAT DO YOU HAVE ALREADY?</a:t>
            </a:r>
          </a:p>
        </p:txBody>
      </p:sp>
      <p:sp>
        <p:nvSpPr>
          <p:cNvPr id="7" name="TextBox 7"/>
          <p:cNvSpPr txBox="1"/>
          <p:nvPr/>
        </p:nvSpPr>
        <p:spPr>
          <a:xfrm>
            <a:off x="749469" y="7119909"/>
            <a:ext cx="7486877" cy="977900"/>
          </a:xfrm>
          <a:prstGeom prst="rect">
            <a:avLst/>
          </a:prstGeom>
        </p:spPr>
        <p:txBody>
          <a:bodyPr lIns="0" tIns="0" rIns="0" bIns="0" rtlCol="0" anchor="t">
            <a:spAutoFit/>
          </a:bodyPr>
          <a:lstStyle/>
          <a:p>
            <a:pPr algn="l">
              <a:lnSpc>
                <a:spcPts val="4900"/>
              </a:lnSpc>
            </a:pPr>
            <a:r>
              <a:rPr lang="en-US" sz="3500">
                <a:solidFill>
                  <a:srgbClr val="FFFFFF"/>
                </a:solidFill>
                <a:latin typeface="DM Sans"/>
                <a:ea typeface="DM Sans"/>
                <a:cs typeface="DM Sans"/>
                <a:sym typeface="DM Sans"/>
              </a:rPr>
              <a:t>ELK Stack</a:t>
            </a:r>
          </a:p>
          <a:p>
            <a:pPr algn="l">
              <a:lnSpc>
                <a:spcPts val="2800"/>
              </a:lnSpc>
            </a:pPr>
            <a:r>
              <a:rPr lang="en-US" sz="2000">
                <a:solidFill>
                  <a:srgbClr val="2F7BD1"/>
                </a:solidFill>
                <a:latin typeface="DM Sans"/>
                <a:ea typeface="DM Sans"/>
                <a:cs typeface="DM Sans"/>
                <a:sym typeface="DM Sans"/>
              </a:rPr>
              <a:t>https://www.elastic.co/elastic-stack/</a:t>
            </a:r>
          </a:p>
        </p:txBody>
      </p:sp>
      <p:sp>
        <p:nvSpPr>
          <p:cNvPr id="8" name="TextBox 8"/>
          <p:cNvSpPr txBox="1"/>
          <p:nvPr/>
        </p:nvSpPr>
        <p:spPr>
          <a:xfrm>
            <a:off x="749469" y="2766984"/>
            <a:ext cx="8394531" cy="1225550"/>
          </a:xfrm>
          <a:prstGeom prst="rect">
            <a:avLst/>
          </a:prstGeom>
        </p:spPr>
        <p:txBody>
          <a:bodyPr lIns="0" tIns="0" rIns="0" bIns="0" rtlCol="0" anchor="t">
            <a:spAutoFit/>
          </a:bodyPr>
          <a:lstStyle/>
          <a:p>
            <a:pPr algn="l">
              <a:lnSpc>
                <a:spcPts val="4900"/>
              </a:lnSpc>
            </a:pPr>
            <a:r>
              <a:rPr lang="en-US" sz="3500">
                <a:solidFill>
                  <a:srgbClr val="767676"/>
                </a:solidFill>
                <a:latin typeface="DM Sans"/>
                <a:ea typeface="DM Sans"/>
                <a:cs typeface="DM Sans"/>
                <a:sym typeface="DM Sans"/>
              </a:rPr>
              <a:t>Systems Center Operations Manager (SCOM)</a:t>
            </a:r>
          </a:p>
        </p:txBody>
      </p:sp>
      <p:sp>
        <p:nvSpPr>
          <p:cNvPr id="9" name="TextBox 9"/>
          <p:cNvSpPr txBox="1"/>
          <p:nvPr/>
        </p:nvSpPr>
        <p:spPr>
          <a:xfrm>
            <a:off x="736136" y="5865784"/>
            <a:ext cx="9962841" cy="977900"/>
          </a:xfrm>
          <a:prstGeom prst="rect">
            <a:avLst/>
          </a:prstGeom>
        </p:spPr>
        <p:txBody>
          <a:bodyPr lIns="0" tIns="0" rIns="0" bIns="0" rtlCol="0" anchor="t">
            <a:spAutoFit/>
          </a:bodyPr>
          <a:lstStyle/>
          <a:p>
            <a:pPr algn="l">
              <a:lnSpc>
                <a:spcPts val="4900"/>
              </a:lnSpc>
            </a:pPr>
            <a:r>
              <a:rPr lang="en-US" sz="3500">
                <a:solidFill>
                  <a:srgbClr val="767676"/>
                </a:solidFill>
                <a:latin typeface="DM Sans"/>
                <a:ea typeface="DM Sans"/>
                <a:cs typeface="DM Sans"/>
                <a:sym typeface="DM Sans"/>
              </a:rPr>
              <a:t>Zabbix (Free/Paid)</a:t>
            </a:r>
          </a:p>
          <a:p>
            <a:pPr algn="l">
              <a:lnSpc>
                <a:spcPts val="2800"/>
              </a:lnSpc>
            </a:pPr>
            <a:r>
              <a:rPr lang="en-US" sz="2000">
                <a:solidFill>
                  <a:srgbClr val="767676"/>
                </a:solidFill>
                <a:latin typeface="DM Sans"/>
                <a:ea typeface="DM Sans"/>
                <a:cs typeface="DM Sans"/>
                <a:sym typeface="DM Sans"/>
              </a:rPr>
              <a:t>https://www.zabbix.com/documentation/7.0/en/manual/installation/getting_zabbix</a:t>
            </a:r>
          </a:p>
        </p:txBody>
      </p:sp>
      <p:sp>
        <p:nvSpPr>
          <p:cNvPr id="10" name="TextBox 10"/>
          <p:cNvSpPr txBox="1"/>
          <p:nvPr/>
        </p:nvSpPr>
        <p:spPr>
          <a:xfrm>
            <a:off x="749469" y="4611659"/>
            <a:ext cx="9557126" cy="977900"/>
          </a:xfrm>
          <a:prstGeom prst="rect">
            <a:avLst/>
          </a:prstGeom>
        </p:spPr>
        <p:txBody>
          <a:bodyPr lIns="0" tIns="0" rIns="0" bIns="0" rtlCol="0" anchor="t">
            <a:spAutoFit/>
          </a:bodyPr>
          <a:lstStyle/>
          <a:p>
            <a:pPr algn="l">
              <a:lnSpc>
                <a:spcPts val="4900"/>
              </a:lnSpc>
            </a:pPr>
            <a:r>
              <a:rPr lang="en-US" sz="3500">
                <a:solidFill>
                  <a:srgbClr val="767676"/>
                </a:solidFill>
                <a:latin typeface="DM Sans"/>
                <a:ea typeface="DM Sans"/>
                <a:cs typeface="DM Sans"/>
                <a:sym typeface="DM Sans"/>
              </a:rPr>
              <a:t>Azure Monitor (Paid)</a:t>
            </a:r>
          </a:p>
          <a:p>
            <a:pPr algn="l">
              <a:lnSpc>
                <a:spcPts val="2799"/>
              </a:lnSpc>
            </a:pPr>
            <a:r>
              <a:rPr lang="en-US" sz="1999">
                <a:solidFill>
                  <a:srgbClr val="767676"/>
                </a:solidFill>
                <a:latin typeface="DM Sans"/>
                <a:ea typeface="DM Sans"/>
                <a:cs typeface="DM Sans"/>
                <a:sym typeface="DM Sans"/>
              </a:rPr>
              <a:t>https://learn.microsoft.com/en-us/azure/azure-monitor/fundamentals/overview</a:t>
            </a:r>
          </a:p>
        </p:txBody>
      </p:sp>
      <p:sp>
        <p:nvSpPr>
          <p:cNvPr id="12" name="TextBox 7">
            <a:extLst>
              <a:ext uri="{FF2B5EF4-FFF2-40B4-BE49-F238E27FC236}">
                <a16:creationId xmlns:a16="http://schemas.microsoft.com/office/drawing/2014/main" id="{380FA3D9-AEB3-B78A-9D84-110B4985ACDF}"/>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dirty="0">
                <a:solidFill>
                  <a:srgbClr val="FFFFFF"/>
                </a:solidFill>
                <a:latin typeface="Anton"/>
                <a:ea typeface="Anton"/>
                <a:cs typeface="Anton"/>
                <a:sym typeface="Anton"/>
              </a:rPr>
              <a:t>BONUS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558544"/>
            <a:ext cx="7918194" cy="451021"/>
          </a:xfrm>
          <a:prstGeom prst="rect">
            <a:avLst/>
          </a:prstGeom>
        </p:spPr>
        <p:txBody>
          <a:bodyPr lIns="0" tIns="0" rIns="0" bIns="0" rtlCol="0" anchor="t">
            <a:spAutoFit/>
          </a:bodyPr>
          <a:lstStyle/>
          <a:p>
            <a:pPr marL="0" lvl="0" indent="0" algn="l">
              <a:lnSpc>
                <a:spcPts val="3536"/>
              </a:lnSpc>
            </a:pPr>
            <a:r>
              <a:rPr lang="en-US" sz="3400">
                <a:solidFill>
                  <a:srgbClr val="38B6FF"/>
                </a:solidFill>
                <a:latin typeface="Anton"/>
                <a:ea typeface="Anton"/>
                <a:cs typeface="Anton"/>
                <a:sym typeface="Anton"/>
              </a:rPr>
              <a:t>BONUS - CHANGE MONITORING</a:t>
            </a:r>
          </a:p>
        </p:txBody>
      </p:sp>
      <p:sp>
        <p:nvSpPr>
          <p:cNvPr id="4" name="Freeform 4"/>
          <p:cNvSpPr/>
          <p:nvPr/>
        </p:nvSpPr>
        <p:spPr>
          <a:xfrm>
            <a:off x="1092225" y="1481280"/>
            <a:ext cx="6286915" cy="4715187"/>
          </a:xfrm>
          <a:custGeom>
            <a:avLst/>
            <a:gdLst/>
            <a:ahLst/>
            <a:cxnLst/>
            <a:rect l="l" t="t" r="r" b="b"/>
            <a:pathLst>
              <a:path w="6286915" h="4715187">
                <a:moveTo>
                  <a:pt x="0" y="0"/>
                </a:moveTo>
                <a:lnTo>
                  <a:pt x="6286915" y="0"/>
                </a:lnTo>
                <a:lnTo>
                  <a:pt x="6286915" y="4715187"/>
                </a:lnTo>
                <a:lnTo>
                  <a:pt x="0" y="4715187"/>
                </a:lnTo>
                <a:lnTo>
                  <a:pt x="0" y="0"/>
                </a:lnTo>
                <a:close/>
              </a:path>
            </a:pathLst>
          </a:custGeom>
          <a:blipFill>
            <a:blip r:embed="rId3"/>
            <a:stretch>
              <a:fillRect/>
            </a:stretch>
          </a:blipFill>
          <a:ln w="38100" cap="sq">
            <a:solidFill>
              <a:srgbClr val="2F7BD1"/>
            </a:solidFill>
            <a:prstDash val="solid"/>
            <a:miter/>
          </a:ln>
        </p:spPr>
        <p:txBody>
          <a:bodyPr/>
          <a:lstStyle/>
          <a:p>
            <a:endParaRPr lang="en-US"/>
          </a:p>
        </p:txBody>
      </p:sp>
      <p:sp>
        <p:nvSpPr>
          <p:cNvPr id="5" name="TextBox 5"/>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6" name="TextBox 6"/>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8" name="TextBox 8"/>
          <p:cNvSpPr txBox="1"/>
          <p:nvPr/>
        </p:nvSpPr>
        <p:spPr>
          <a:xfrm>
            <a:off x="9144000" y="2292552"/>
            <a:ext cx="7817194" cy="5117819"/>
          </a:xfrm>
          <a:prstGeom prst="rect">
            <a:avLst/>
          </a:prstGeom>
        </p:spPr>
        <p:txBody>
          <a:bodyPr lIns="0" tIns="0" rIns="0" bIns="0" rtlCol="0" anchor="t">
            <a:spAutoFit/>
          </a:bodyPr>
          <a:lstStyle/>
          <a:p>
            <a:pPr marL="704061" lvl="1" indent="-352031" algn="l">
              <a:lnSpc>
                <a:spcPts val="4565"/>
              </a:lnSpc>
              <a:buFont typeface="Arial"/>
              <a:buChar char="•"/>
            </a:pPr>
            <a:r>
              <a:rPr lang="en-US" sz="3261">
                <a:solidFill>
                  <a:srgbClr val="FFFFFF"/>
                </a:solidFill>
                <a:latin typeface="DM Sans"/>
                <a:ea typeface="DM Sans"/>
                <a:cs typeface="DM Sans"/>
                <a:sym typeface="DM Sans"/>
              </a:rPr>
              <a:t>Limited options</a:t>
            </a:r>
          </a:p>
          <a:p>
            <a:pPr algn="l">
              <a:lnSpc>
                <a:spcPts val="4565"/>
              </a:lnSpc>
            </a:pPr>
            <a:endParaRPr lang="en-US" sz="3261">
              <a:solidFill>
                <a:srgbClr val="FFFFFF"/>
              </a:solidFill>
              <a:latin typeface="DM Sans"/>
              <a:ea typeface="DM Sans"/>
              <a:cs typeface="DM Sans"/>
              <a:sym typeface="DM Sans"/>
            </a:endParaRPr>
          </a:p>
          <a:p>
            <a:pPr marL="704061" lvl="1" indent="-352031" algn="l">
              <a:lnSpc>
                <a:spcPts val="4565"/>
              </a:lnSpc>
              <a:buFont typeface="Arial"/>
              <a:buChar char="•"/>
            </a:pPr>
            <a:r>
              <a:rPr lang="en-US" sz="3261">
                <a:solidFill>
                  <a:srgbClr val="FFFFFF"/>
                </a:solidFill>
                <a:latin typeface="DM Sans"/>
                <a:ea typeface="DM Sans"/>
                <a:cs typeface="DM Sans"/>
                <a:sym typeface="DM Sans"/>
              </a:rPr>
              <a:t>Microsoft advanced Audit Policies</a:t>
            </a:r>
          </a:p>
          <a:p>
            <a:pPr marL="1408122" lvl="2" indent="-469374" algn="l">
              <a:lnSpc>
                <a:spcPts val="4565"/>
              </a:lnSpc>
              <a:buFont typeface="Arial"/>
              <a:buChar char="⚬"/>
            </a:pPr>
            <a:r>
              <a:rPr lang="en-US" sz="3261">
                <a:solidFill>
                  <a:srgbClr val="FFFFFF"/>
                </a:solidFill>
                <a:latin typeface="DM Sans"/>
                <a:ea typeface="DM Sans"/>
                <a:cs typeface="DM Sans"/>
                <a:sym typeface="DM Sans"/>
              </a:rPr>
              <a:t>Not traditional audit policies!</a:t>
            </a:r>
          </a:p>
          <a:p>
            <a:pPr algn="l">
              <a:lnSpc>
                <a:spcPts val="4565"/>
              </a:lnSpc>
            </a:pPr>
            <a:endParaRPr lang="en-US" sz="3261">
              <a:solidFill>
                <a:srgbClr val="FFFFFF"/>
              </a:solidFill>
              <a:latin typeface="DM Sans"/>
              <a:ea typeface="DM Sans"/>
              <a:cs typeface="DM Sans"/>
              <a:sym typeface="DM Sans"/>
            </a:endParaRPr>
          </a:p>
          <a:p>
            <a:pPr marL="704061" lvl="1" indent="-352031" algn="l">
              <a:lnSpc>
                <a:spcPts val="4565"/>
              </a:lnSpc>
              <a:buFont typeface="Arial"/>
              <a:buChar char="•"/>
            </a:pPr>
            <a:r>
              <a:rPr lang="en-US" sz="3261">
                <a:solidFill>
                  <a:srgbClr val="FFFFFF"/>
                </a:solidFill>
                <a:latin typeface="DM Sans"/>
                <a:ea typeface="DM Sans"/>
                <a:cs typeface="DM Sans"/>
                <a:sym typeface="DM Sans"/>
              </a:rPr>
              <a:t>myADMonitor = Point in Time</a:t>
            </a:r>
          </a:p>
          <a:p>
            <a:pPr algn="l">
              <a:lnSpc>
                <a:spcPts val="4565"/>
              </a:lnSpc>
            </a:pPr>
            <a:endParaRPr lang="en-US" sz="3261">
              <a:solidFill>
                <a:srgbClr val="FFFFFF"/>
              </a:solidFill>
              <a:latin typeface="DM Sans"/>
              <a:ea typeface="DM Sans"/>
              <a:cs typeface="DM Sans"/>
              <a:sym typeface="DM Sans"/>
            </a:endParaRPr>
          </a:p>
          <a:p>
            <a:pPr marL="704061" lvl="1" indent="-352031" algn="l">
              <a:lnSpc>
                <a:spcPts val="4565"/>
              </a:lnSpc>
              <a:buFont typeface="Arial"/>
              <a:buChar char="•"/>
            </a:pPr>
            <a:r>
              <a:rPr lang="en-US" sz="3261">
                <a:solidFill>
                  <a:srgbClr val="FFFFFF"/>
                </a:solidFill>
                <a:latin typeface="DM Sans"/>
                <a:ea typeface="DM Sans"/>
                <a:cs typeface="DM Sans"/>
                <a:sym typeface="DM Sans"/>
              </a:rPr>
              <a:t>Cayosoft Guardian = Trial-&gt;Free</a:t>
            </a:r>
          </a:p>
          <a:p>
            <a:pPr marL="1408122" lvl="2" indent="-469374" algn="l">
              <a:lnSpc>
                <a:spcPts val="4565"/>
              </a:lnSpc>
              <a:buFont typeface="Arial"/>
              <a:buChar char="⚬"/>
            </a:pPr>
            <a:r>
              <a:rPr lang="en-US" sz="3261">
                <a:solidFill>
                  <a:srgbClr val="FFFFFF"/>
                </a:solidFill>
                <a:latin typeface="DM Sans"/>
                <a:ea typeface="DM Sans"/>
                <a:cs typeface="DM Sans"/>
                <a:sym typeface="DM Sans"/>
              </a:rPr>
              <a:t>Only 7 days of retention</a:t>
            </a:r>
          </a:p>
        </p:txBody>
      </p:sp>
      <p:sp>
        <p:nvSpPr>
          <p:cNvPr id="9" name="TextBox 7">
            <a:extLst>
              <a:ext uri="{FF2B5EF4-FFF2-40B4-BE49-F238E27FC236}">
                <a16:creationId xmlns:a16="http://schemas.microsoft.com/office/drawing/2014/main" id="{86F11D42-4F80-9A38-E348-A895BEE37EB2}"/>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a:solidFill>
                  <a:srgbClr val="FFFFFF"/>
                </a:solidFill>
                <a:latin typeface="Anton"/>
                <a:ea typeface="Anton"/>
                <a:cs typeface="Anton"/>
                <a:sym typeface="Anton"/>
              </a:rPr>
              <a:t>BONUS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486750" y="548005"/>
            <a:ext cx="9278888" cy="480695"/>
          </a:xfrm>
          <a:prstGeom prst="rect">
            <a:avLst/>
          </a:prstGeom>
        </p:spPr>
        <p:txBody>
          <a:bodyPr lIns="0" tIns="0" rIns="0" bIns="0" rtlCol="0" anchor="t">
            <a:spAutoFit/>
          </a:bodyPr>
          <a:lstStyle/>
          <a:p>
            <a:pPr marL="0" lvl="0" indent="0" algn="l">
              <a:lnSpc>
                <a:spcPts val="3640"/>
              </a:lnSpc>
            </a:pPr>
            <a:r>
              <a:rPr lang="en-US" sz="3500">
                <a:solidFill>
                  <a:srgbClr val="38B6FF"/>
                </a:solidFill>
                <a:latin typeface="Anton"/>
                <a:ea typeface="Anton"/>
                <a:cs typeface="Anton"/>
                <a:sym typeface="Anton"/>
              </a:rPr>
              <a:t>MONITORING ACTION PLAN</a:t>
            </a:r>
          </a:p>
        </p:txBody>
      </p:sp>
      <p:sp>
        <p:nvSpPr>
          <p:cNvPr id="4" name="TextBox 4"/>
          <p:cNvSpPr txBox="1"/>
          <p:nvPr/>
        </p:nvSpPr>
        <p:spPr>
          <a:xfrm>
            <a:off x="1028700" y="1460553"/>
            <a:ext cx="10564514" cy="1682166"/>
          </a:xfrm>
          <a:prstGeom prst="rect">
            <a:avLst/>
          </a:prstGeom>
        </p:spPr>
        <p:txBody>
          <a:bodyPr lIns="0" tIns="0" rIns="0" bIns="0" rtlCol="0" anchor="t">
            <a:spAutoFit/>
          </a:bodyPr>
          <a:lstStyle/>
          <a:p>
            <a:pPr marL="765581" lvl="1" indent="-382791" algn="l">
              <a:lnSpc>
                <a:spcPts val="4964"/>
              </a:lnSpc>
              <a:buFont typeface="Arial"/>
              <a:buChar char="•"/>
            </a:pPr>
            <a:r>
              <a:rPr lang="en-US" sz="3546">
                <a:solidFill>
                  <a:srgbClr val="FFFFFF"/>
                </a:solidFill>
                <a:latin typeface="DM Sans"/>
                <a:ea typeface="DM Sans"/>
                <a:cs typeface="DM Sans"/>
                <a:sym typeface="DM Sans"/>
              </a:rPr>
              <a:t>Configure AD Advanced Auditing</a:t>
            </a:r>
          </a:p>
          <a:p>
            <a:pPr marL="863604" lvl="2" indent="-287868" algn="l">
              <a:lnSpc>
                <a:spcPts val="2800"/>
              </a:lnSpc>
              <a:buFont typeface="Arial"/>
              <a:buChar char="⚬"/>
            </a:pPr>
            <a:r>
              <a:rPr lang="en-US" sz="2000">
                <a:solidFill>
                  <a:srgbClr val="737373"/>
                </a:solidFill>
                <a:latin typeface="DM Sans"/>
                <a:ea typeface="DM Sans"/>
                <a:cs typeface="DM Sans"/>
                <a:sym typeface="DM Sans"/>
              </a:rPr>
              <a:t>Group Policy \ Computer Settings \ Security Settings \ Security Options</a:t>
            </a:r>
          </a:p>
          <a:p>
            <a:pPr marL="863604" lvl="2" indent="-287868" algn="l">
              <a:lnSpc>
                <a:spcPts val="2800"/>
              </a:lnSpc>
              <a:buFont typeface="Arial"/>
              <a:buChar char="⚬"/>
            </a:pPr>
            <a:r>
              <a:rPr lang="en-US" sz="2000">
                <a:solidFill>
                  <a:srgbClr val="737373"/>
                </a:solidFill>
                <a:latin typeface="DM Sans"/>
                <a:ea typeface="DM Sans"/>
                <a:cs typeface="DM Sans"/>
                <a:sym typeface="DM Sans"/>
              </a:rPr>
              <a:t>Group Policy \ Computer Settings \ Security Settings \ Windows Settings \ Advanced Audit Policies</a:t>
            </a:r>
          </a:p>
        </p:txBody>
      </p:sp>
      <p:sp>
        <p:nvSpPr>
          <p:cNvPr id="5" name="TextBox 5"/>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6" name="TextBox 6"/>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486750" y="548005"/>
            <a:ext cx="9278888" cy="480695"/>
          </a:xfrm>
          <a:prstGeom prst="rect">
            <a:avLst/>
          </a:prstGeom>
        </p:spPr>
        <p:txBody>
          <a:bodyPr lIns="0" tIns="0" rIns="0" bIns="0" rtlCol="0" anchor="t">
            <a:spAutoFit/>
          </a:bodyPr>
          <a:lstStyle/>
          <a:p>
            <a:pPr marL="0" lvl="0" indent="0" algn="l">
              <a:lnSpc>
                <a:spcPts val="3640"/>
              </a:lnSpc>
            </a:pPr>
            <a:r>
              <a:rPr lang="en-US" sz="3500">
                <a:solidFill>
                  <a:srgbClr val="38B6FF"/>
                </a:solidFill>
                <a:latin typeface="Anton"/>
                <a:ea typeface="Anton"/>
                <a:cs typeface="Anton"/>
                <a:sym typeface="Anton"/>
              </a:rPr>
              <a:t>MONITORING ACTION PLAN</a:t>
            </a:r>
          </a:p>
        </p:txBody>
      </p:sp>
      <p:sp>
        <p:nvSpPr>
          <p:cNvPr id="4" name="TextBox 4"/>
          <p:cNvSpPr txBox="1"/>
          <p:nvPr/>
        </p:nvSpPr>
        <p:spPr>
          <a:xfrm>
            <a:off x="1028700" y="1460553"/>
            <a:ext cx="10564514" cy="3989756"/>
          </a:xfrm>
          <a:prstGeom prst="rect">
            <a:avLst/>
          </a:prstGeom>
        </p:spPr>
        <p:txBody>
          <a:bodyPr lIns="0" tIns="0" rIns="0" bIns="0" rtlCol="0" anchor="t">
            <a:spAutoFit/>
          </a:bodyPr>
          <a:lstStyle/>
          <a:p>
            <a:pPr marL="765581" lvl="1" indent="-382791" algn="l">
              <a:lnSpc>
                <a:spcPts val="4964"/>
              </a:lnSpc>
              <a:buFont typeface="Arial"/>
              <a:buChar char="•"/>
            </a:pPr>
            <a:r>
              <a:rPr lang="en-US" sz="3546" dirty="0">
                <a:solidFill>
                  <a:srgbClr val="737373"/>
                </a:solidFill>
                <a:latin typeface="DM Sans"/>
                <a:ea typeface="DM Sans"/>
                <a:cs typeface="DM Sans"/>
                <a:sym typeface="DM Sans"/>
              </a:rPr>
              <a:t>Configure AD Advanced Auditing</a:t>
            </a:r>
          </a:p>
          <a:p>
            <a:pPr marL="863604" lvl="2" indent="-287868" algn="l">
              <a:lnSpc>
                <a:spcPts val="2800"/>
              </a:lnSpc>
              <a:buFont typeface="Arial"/>
              <a:buChar char="⚬"/>
            </a:pPr>
            <a:r>
              <a:rPr lang="en-US" sz="2000" dirty="0">
                <a:solidFill>
                  <a:srgbClr val="737373"/>
                </a:solidFill>
                <a:latin typeface="DM Sans"/>
                <a:ea typeface="DM Sans"/>
                <a:cs typeface="DM Sans"/>
                <a:sym typeface="DM Sans"/>
              </a:rPr>
              <a:t>Group Policy \ Computer Settings \ Security Settings \ Security Options</a:t>
            </a:r>
          </a:p>
          <a:p>
            <a:pPr marL="863604" lvl="2" indent="-287868" algn="l">
              <a:lnSpc>
                <a:spcPts val="2800"/>
              </a:lnSpc>
              <a:buFont typeface="Arial"/>
              <a:buChar char="⚬"/>
            </a:pPr>
            <a:r>
              <a:rPr lang="en-US" sz="2000" dirty="0">
                <a:solidFill>
                  <a:srgbClr val="737373"/>
                </a:solidFill>
                <a:latin typeface="DM Sans"/>
                <a:ea typeface="DM Sans"/>
                <a:cs typeface="DM Sans"/>
                <a:sym typeface="DM Sans"/>
              </a:rPr>
              <a:t>Group Policy \ Computer Settings \ Security Settings \ Windows Settings \ Advanced Audit Policies</a:t>
            </a:r>
          </a:p>
          <a:p>
            <a:pPr algn="l">
              <a:lnSpc>
                <a:spcPts val="4964"/>
              </a:lnSpc>
            </a:pPr>
            <a:endParaRPr lang="en-US" sz="2000" dirty="0">
              <a:solidFill>
                <a:srgbClr val="737373"/>
              </a:solidFill>
              <a:latin typeface="DM Sans"/>
              <a:ea typeface="DM Sans"/>
              <a:cs typeface="DM Sans"/>
              <a:sym typeface="DM Sans"/>
            </a:endParaRPr>
          </a:p>
          <a:p>
            <a:pPr marL="765581" lvl="1" indent="-382791" algn="l">
              <a:lnSpc>
                <a:spcPts val="4964"/>
              </a:lnSpc>
              <a:buFont typeface="Arial"/>
              <a:buChar char="•"/>
            </a:pPr>
            <a:r>
              <a:rPr lang="en-US" sz="3546" dirty="0">
                <a:solidFill>
                  <a:srgbClr val="FFFFFF"/>
                </a:solidFill>
                <a:latin typeface="DM Sans"/>
                <a:ea typeface="DM Sans"/>
                <a:cs typeface="DM Sans"/>
                <a:sym typeface="DM Sans"/>
              </a:rPr>
              <a:t>Configure Data Collector Sets</a:t>
            </a:r>
          </a:p>
          <a:p>
            <a:pPr marL="1036320" lvl="2" indent="-345440" algn="l">
              <a:lnSpc>
                <a:spcPts val="3359"/>
              </a:lnSpc>
              <a:buFont typeface="Arial"/>
              <a:buChar char="⚬"/>
            </a:pPr>
            <a:r>
              <a:rPr lang="en-US" sz="2400" dirty="0" err="1">
                <a:solidFill>
                  <a:srgbClr val="FFFFFF"/>
                </a:solidFill>
                <a:latin typeface="DM Sans"/>
                <a:ea typeface="DM Sans"/>
                <a:cs typeface="DM Sans"/>
                <a:sym typeface="DM Sans"/>
              </a:rPr>
              <a:t>Perfmon</a:t>
            </a:r>
            <a:r>
              <a:rPr lang="en-US" sz="2400" dirty="0">
                <a:solidFill>
                  <a:srgbClr val="FFFFFF"/>
                </a:solidFill>
                <a:latin typeface="DM Sans"/>
                <a:ea typeface="DM Sans"/>
                <a:cs typeface="DM Sans"/>
                <a:sym typeface="DM Sans"/>
              </a:rPr>
              <a:t> \ Data Collector Sets</a:t>
            </a:r>
          </a:p>
          <a:p>
            <a:pPr marL="777240" lvl="2" indent="-259080" algn="l">
              <a:lnSpc>
                <a:spcPts val="2520"/>
              </a:lnSpc>
              <a:buFont typeface="Arial"/>
              <a:buChar char="⚬"/>
            </a:pPr>
            <a:r>
              <a:rPr lang="en-US" sz="1800" dirty="0">
                <a:solidFill>
                  <a:srgbClr val="737373"/>
                </a:solidFill>
                <a:latin typeface="DM Sans"/>
                <a:ea typeface="DM Sans"/>
                <a:cs typeface="DM Sans"/>
                <a:sym typeface="DM Sans"/>
              </a:rPr>
              <a:t>https://techcommunity.microsoft.com/blog/coreinfrastructureandsecurityblog/taming-perfmon-data-collector-sets/255521</a:t>
            </a:r>
          </a:p>
        </p:txBody>
      </p:sp>
      <p:sp>
        <p:nvSpPr>
          <p:cNvPr id="5" name="TextBox 5"/>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6" name="TextBox 6"/>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486750" y="548005"/>
            <a:ext cx="9278888" cy="480695"/>
          </a:xfrm>
          <a:prstGeom prst="rect">
            <a:avLst/>
          </a:prstGeom>
        </p:spPr>
        <p:txBody>
          <a:bodyPr lIns="0" tIns="0" rIns="0" bIns="0" rtlCol="0" anchor="t">
            <a:spAutoFit/>
          </a:bodyPr>
          <a:lstStyle/>
          <a:p>
            <a:pPr marL="0" lvl="0" indent="0" algn="l">
              <a:lnSpc>
                <a:spcPts val="3640"/>
              </a:lnSpc>
            </a:pPr>
            <a:r>
              <a:rPr lang="en-US" sz="3500">
                <a:solidFill>
                  <a:srgbClr val="38B6FF"/>
                </a:solidFill>
                <a:latin typeface="Anton"/>
                <a:ea typeface="Anton"/>
                <a:cs typeface="Anton"/>
                <a:sym typeface="Anton"/>
              </a:rPr>
              <a:t>MONITORING ACTION PLAN</a:t>
            </a:r>
          </a:p>
        </p:txBody>
      </p:sp>
      <p:sp>
        <p:nvSpPr>
          <p:cNvPr id="4" name="TextBox 4"/>
          <p:cNvSpPr txBox="1"/>
          <p:nvPr/>
        </p:nvSpPr>
        <p:spPr>
          <a:xfrm>
            <a:off x="1028700" y="1460553"/>
            <a:ext cx="10564514" cy="6016041"/>
          </a:xfrm>
          <a:prstGeom prst="rect">
            <a:avLst/>
          </a:prstGeom>
        </p:spPr>
        <p:txBody>
          <a:bodyPr lIns="0" tIns="0" rIns="0" bIns="0" rtlCol="0" anchor="t">
            <a:spAutoFit/>
          </a:bodyPr>
          <a:lstStyle/>
          <a:p>
            <a:pPr marL="765581" lvl="1" indent="-382791" algn="l">
              <a:lnSpc>
                <a:spcPts val="4964"/>
              </a:lnSpc>
              <a:buFont typeface="Arial"/>
              <a:buChar char="•"/>
            </a:pPr>
            <a:r>
              <a:rPr lang="en-US" sz="3546">
                <a:solidFill>
                  <a:srgbClr val="737373"/>
                </a:solidFill>
                <a:latin typeface="DM Sans"/>
                <a:ea typeface="DM Sans"/>
                <a:cs typeface="DM Sans"/>
                <a:sym typeface="DM Sans"/>
              </a:rPr>
              <a:t>Configure AD Advanced Auditing</a:t>
            </a:r>
          </a:p>
          <a:p>
            <a:pPr marL="863604" lvl="2" indent="-287868" algn="l">
              <a:lnSpc>
                <a:spcPts val="2800"/>
              </a:lnSpc>
              <a:buFont typeface="Arial"/>
              <a:buChar char="⚬"/>
            </a:pPr>
            <a:r>
              <a:rPr lang="en-US" sz="2000">
                <a:solidFill>
                  <a:srgbClr val="737373"/>
                </a:solidFill>
                <a:latin typeface="DM Sans"/>
                <a:ea typeface="DM Sans"/>
                <a:cs typeface="DM Sans"/>
                <a:sym typeface="DM Sans"/>
              </a:rPr>
              <a:t>Group Policy \ Computer Settings \ Security Settings \ Security Options</a:t>
            </a:r>
          </a:p>
          <a:p>
            <a:pPr marL="863604" lvl="2" indent="-287868" algn="l">
              <a:lnSpc>
                <a:spcPts val="2800"/>
              </a:lnSpc>
              <a:buFont typeface="Arial"/>
              <a:buChar char="⚬"/>
            </a:pPr>
            <a:r>
              <a:rPr lang="en-US" sz="2000">
                <a:solidFill>
                  <a:srgbClr val="737373"/>
                </a:solidFill>
                <a:latin typeface="DM Sans"/>
                <a:ea typeface="DM Sans"/>
                <a:cs typeface="DM Sans"/>
                <a:sym typeface="DM Sans"/>
              </a:rPr>
              <a:t>Group Policy \ Computer Settings \ Security Settings \ Windows Settings \ Advanced Audit Policies</a:t>
            </a:r>
          </a:p>
          <a:p>
            <a:pPr algn="l">
              <a:lnSpc>
                <a:spcPts val="4964"/>
              </a:lnSpc>
            </a:pPr>
            <a:endParaRPr lang="en-US" sz="2000">
              <a:solidFill>
                <a:srgbClr val="737373"/>
              </a:solidFill>
              <a:latin typeface="DM Sans"/>
              <a:ea typeface="DM Sans"/>
              <a:cs typeface="DM Sans"/>
              <a:sym typeface="DM Sans"/>
            </a:endParaRPr>
          </a:p>
          <a:p>
            <a:pPr marL="765581" lvl="1" indent="-382791" algn="l">
              <a:lnSpc>
                <a:spcPts val="4964"/>
              </a:lnSpc>
              <a:buFont typeface="Arial"/>
              <a:buChar char="•"/>
            </a:pPr>
            <a:r>
              <a:rPr lang="en-US" sz="3546">
                <a:solidFill>
                  <a:srgbClr val="737373"/>
                </a:solidFill>
                <a:latin typeface="DM Sans"/>
                <a:ea typeface="DM Sans"/>
                <a:cs typeface="DM Sans"/>
                <a:sym typeface="DM Sans"/>
              </a:rPr>
              <a:t>Configure Data Collector Sets</a:t>
            </a:r>
          </a:p>
          <a:p>
            <a:pPr marL="1036320" lvl="2" indent="-345440" algn="l">
              <a:lnSpc>
                <a:spcPts val="3359"/>
              </a:lnSpc>
              <a:buFont typeface="Arial"/>
              <a:buChar char="⚬"/>
            </a:pPr>
            <a:r>
              <a:rPr lang="en-US" sz="2400">
                <a:solidFill>
                  <a:srgbClr val="737373"/>
                </a:solidFill>
                <a:latin typeface="DM Sans"/>
                <a:ea typeface="DM Sans"/>
                <a:cs typeface="DM Sans"/>
                <a:sym typeface="DM Sans"/>
              </a:rPr>
              <a:t>Perfmon \ Data Collector Sets</a:t>
            </a:r>
          </a:p>
          <a:p>
            <a:pPr marL="777240" lvl="2" indent="-259080" algn="l">
              <a:lnSpc>
                <a:spcPts val="2520"/>
              </a:lnSpc>
              <a:buFont typeface="Arial"/>
              <a:buChar char="⚬"/>
            </a:pPr>
            <a:r>
              <a:rPr lang="en-US" sz="1800">
                <a:solidFill>
                  <a:srgbClr val="737373"/>
                </a:solidFill>
                <a:latin typeface="DM Sans"/>
                <a:ea typeface="DM Sans"/>
                <a:cs typeface="DM Sans"/>
                <a:sym typeface="DM Sans"/>
              </a:rPr>
              <a:t>https://techcommunity.microsoft.com/blog/coreinfrastructureandsecurityblog/taming-perfmon-data-collector-sets/255521</a:t>
            </a:r>
          </a:p>
          <a:p>
            <a:pPr algn="l">
              <a:lnSpc>
                <a:spcPts val="4964"/>
              </a:lnSpc>
            </a:pPr>
            <a:endParaRPr lang="en-US" sz="1800">
              <a:solidFill>
                <a:srgbClr val="737373"/>
              </a:solidFill>
              <a:latin typeface="DM Sans"/>
              <a:ea typeface="DM Sans"/>
              <a:cs typeface="DM Sans"/>
              <a:sym typeface="DM Sans"/>
            </a:endParaRPr>
          </a:p>
          <a:p>
            <a:pPr marL="765581" lvl="1" indent="-382791" algn="l">
              <a:lnSpc>
                <a:spcPts val="4964"/>
              </a:lnSpc>
              <a:buFont typeface="Arial"/>
              <a:buChar char="•"/>
            </a:pPr>
            <a:r>
              <a:rPr lang="en-US" sz="3546">
                <a:solidFill>
                  <a:srgbClr val="FFFFFF"/>
                </a:solidFill>
                <a:latin typeface="DM Sans"/>
                <a:ea typeface="DM Sans"/>
                <a:cs typeface="DM Sans"/>
                <a:sym typeface="DM Sans"/>
              </a:rPr>
              <a:t>Get a tool (Zabbix)</a:t>
            </a:r>
          </a:p>
          <a:p>
            <a:pPr marL="1036320" lvl="2" indent="-345440" algn="l">
              <a:lnSpc>
                <a:spcPts val="3359"/>
              </a:lnSpc>
              <a:buFont typeface="Arial"/>
              <a:buChar char="⚬"/>
            </a:pPr>
            <a:r>
              <a:rPr lang="en-US" sz="2400">
                <a:solidFill>
                  <a:srgbClr val="FFFFFF"/>
                </a:solidFill>
                <a:latin typeface="DM Sans"/>
                <a:ea typeface="DM Sans"/>
                <a:cs typeface="DM Sans"/>
                <a:sym typeface="DM Sans"/>
              </a:rPr>
              <a:t>My github has a template for AD</a:t>
            </a:r>
          </a:p>
          <a:p>
            <a:pPr marL="863604" lvl="2" indent="-287868" algn="l">
              <a:lnSpc>
                <a:spcPts val="2800"/>
              </a:lnSpc>
              <a:buFont typeface="Arial"/>
              <a:buChar char="⚬"/>
            </a:pPr>
            <a:r>
              <a:rPr lang="en-US" sz="2000">
                <a:solidFill>
                  <a:srgbClr val="737373"/>
                </a:solidFill>
                <a:latin typeface="DM Sans"/>
                <a:ea typeface="DM Sans"/>
                <a:cs typeface="DM Sans"/>
                <a:sym typeface="DM Sans"/>
              </a:rPr>
              <a:t>https://github.com/ActiveDirectoryKC/Zabbix-AD-Health-Monitors</a:t>
            </a:r>
          </a:p>
        </p:txBody>
      </p:sp>
      <p:sp>
        <p:nvSpPr>
          <p:cNvPr id="5" name="TextBox 5"/>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6" name="TextBox 6"/>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486750" y="548005"/>
            <a:ext cx="9278888" cy="480695"/>
          </a:xfrm>
          <a:prstGeom prst="rect">
            <a:avLst/>
          </a:prstGeom>
        </p:spPr>
        <p:txBody>
          <a:bodyPr lIns="0" tIns="0" rIns="0" bIns="0" rtlCol="0" anchor="t">
            <a:spAutoFit/>
          </a:bodyPr>
          <a:lstStyle/>
          <a:p>
            <a:pPr marL="0" lvl="0" indent="0" algn="l">
              <a:lnSpc>
                <a:spcPts val="3640"/>
              </a:lnSpc>
            </a:pPr>
            <a:r>
              <a:rPr lang="en-US" sz="3500">
                <a:solidFill>
                  <a:srgbClr val="38B6FF"/>
                </a:solidFill>
                <a:latin typeface="Anton"/>
                <a:ea typeface="Anton"/>
                <a:cs typeface="Anton"/>
                <a:sym typeface="Anton"/>
              </a:rPr>
              <a:t>MONITORING ACTION PLAN</a:t>
            </a:r>
          </a:p>
        </p:txBody>
      </p:sp>
      <p:sp>
        <p:nvSpPr>
          <p:cNvPr id="4" name="TextBox 4"/>
          <p:cNvSpPr txBox="1"/>
          <p:nvPr/>
        </p:nvSpPr>
        <p:spPr>
          <a:xfrm>
            <a:off x="1028700" y="1460553"/>
            <a:ext cx="10564514" cy="7139407"/>
          </a:xfrm>
          <a:prstGeom prst="rect">
            <a:avLst/>
          </a:prstGeom>
        </p:spPr>
        <p:txBody>
          <a:bodyPr lIns="0" tIns="0" rIns="0" bIns="0" rtlCol="0" anchor="t">
            <a:spAutoFit/>
          </a:bodyPr>
          <a:lstStyle/>
          <a:p>
            <a:pPr marL="765581" lvl="1" indent="-382791" algn="l">
              <a:lnSpc>
                <a:spcPts val="4964"/>
              </a:lnSpc>
              <a:buFont typeface="Arial"/>
              <a:buChar char="•"/>
            </a:pPr>
            <a:r>
              <a:rPr lang="en-US" sz="3546">
                <a:solidFill>
                  <a:srgbClr val="737373"/>
                </a:solidFill>
                <a:latin typeface="DM Sans"/>
                <a:ea typeface="DM Sans"/>
                <a:cs typeface="DM Sans"/>
                <a:sym typeface="DM Sans"/>
              </a:rPr>
              <a:t>Configure AD Advanced Auditing</a:t>
            </a:r>
          </a:p>
          <a:p>
            <a:pPr marL="863604" lvl="2" indent="-287868" algn="l">
              <a:lnSpc>
                <a:spcPts val="2800"/>
              </a:lnSpc>
              <a:buFont typeface="Arial"/>
              <a:buChar char="⚬"/>
            </a:pPr>
            <a:r>
              <a:rPr lang="en-US" sz="2000">
                <a:solidFill>
                  <a:srgbClr val="737373"/>
                </a:solidFill>
                <a:latin typeface="DM Sans"/>
                <a:ea typeface="DM Sans"/>
                <a:cs typeface="DM Sans"/>
                <a:sym typeface="DM Sans"/>
              </a:rPr>
              <a:t>Group Policy \ Computer Settings \ Security Settings \ Security Options</a:t>
            </a:r>
          </a:p>
          <a:p>
            <a:pPr marL="863604" lvl="2" indent="-287868" algn="l">
              <a:lnSpc>
                <a:spcPts val="2800"/>
              </a:lnSpc>
              <a:buFont typeface="Arial"/>
              <a:buChar char="⚬"/>
            </a:pPr>
            <a:r>
              <a:rPr lang="en-US" sz="2000">
                <a:solidFill>
                  <a:srgbClr val="737373"/>
                </a:solidFill>
                <a:latin typeface="DM Sans"/>
                <a:ea typeface="DM Sans"/>
                <a:cs typeface="DM Sans"/>
                <a:sym typeface="DM Sans"/>
              </a:rPr>
              <a:t>Group Policy \ Computer Settings \ Security Settings \ Windows Settings \ Advanced Audit Policies</a:t>
            </a:r>
          </a:p>
          <a:p>
            <a:pPr algn="l">
              <a:lnSpc>
                <a:spcPts val="4964"/>
              </a:lnSpc>
            </a:pPr>
            <a:endParaRPr lang="en-US" sz="2000">
              <a:solidFill>
                <a:srgbClr val="737373"/>
              </a:solidFill>
              <a:latin typeface="DM Sans"/>
              <a:ea typeface="DM Sans"/>
              <a:cs typeface="DM Sans"/>
              <a:sym typeface="DM Sans"/>
            </a:endParaRPr>
          </a:p>
          <a:p>
            <a:pPr marL="765581" lvl="1" indent="-382791" algn="l">
              <a:lnSpc>
                <a:spcPts val="4964"/>
              </a:lnSpc>
              <a:buFont typeface="Arial"/>
              <a:buChar char="•"/>
            </a:pPr>
            <a:r>
              <a:rPr lang="en-US" sz="3546">
                <a:solidFill>
                  <a:srgbClr val="737373"/>
                </a:solidFill>
                <a:latin typeface="DM Sans"/>
                <a:ea typeface="DM Sans"/>
                <a:cs typeface="DM Sans"/>
                <a:sym typeface="DM Sans"/>
              </a:rPr>
              <a:t>Configure Data Collector Sets</a:t>
            </a:r>
          </a:p>
          <a:p>
            <a:pPr marL="1036320" lvl="2" indent="-345440" algn="l">
              <a:lnSpc>
                <a:spcPts val="3359"/>
              </a:lnSpc>
              <a:buFont typeface="Arial"/>
              <a:buChar char="⚬"/>
            </a:pPr>
            <a:r>
              <a:rPr lang="en-US" sz="2400">
                <a:solidFill>
                  <a:srgbClr val="737373"/>
                </a:solidFill>
                <a:latin typeface="DM Sans"/>
                <a:ea typeface="DM Sans"/>
                <a:cs typeface="DM Sans"/>
                <a:sym typeface="DM Sans"/>
              </a:rPr>
              <a:t>Perfmon \ Data Collector Sets</a:t>
            </a:r>
          </a:p>
          <a:p>
            <a:pPr marL="777240" lvl="2" indent="-259080" algn="l">
              <a:lnSpc>
                <a:spcPts val="2520"/>
              </a:lnSpc>
              <a:buFont typeface="Arial"/>
              <a:buChar char="⚬"/>
            </a:pPr>
            <a:r>
              <a:rPr lang="en-US" sz="1800">
                <a:solidFill>
                  <a:srgbClr val="737373"/>
                </a:solidFill>
                <a:latin typeface="DM Sans"/>
                <a:ea typeface="DM Sans"/>
                <a:cs typeface="DM Sans"/>
                <a:sym typeface="DM Sans"/>
              </a:rPr>
              <a:t>https://techcommunity.microsoft.com/blog/coreinfrastructureandsecurityblog/taming-perfmon-data-collector-sets/255521</a:t>
            </a:r>
          </a:p>
          <a:p>
            <a:pPr algn="l">
              <a:lnSpc>
                <a:spcPts val="4964"/>
              </a:lnSpc>
            </a:pPr>
            <a:endParaRPr lang="en-US" sz="1800">
              <a:solidFill>
                <a:srgbClr val="737373"/>
              </a:solidFill>
              <a:latin typeface="DM Sans"/>
              <a:ea typeface="DM Sans"/>
              <a:cs typeface="DM Sans"/>
              <a:sym typeface="DM Sans"/>
            </a:endParaRPr>
          </a:p>
          <a:p>
            <a:pPr marL="765581" lvl="1" indent="-382791" algn="l">
              <a:lnSpc>
                <a:spcPts val="4964"/>
              </a:lnSpc>
              <a:buFont typeface="Arial"/>
              <a:buChar char="•"/>
            </a:pPr>
            <a:r>
              <a:rPr lang="en-US" sz="3546">
                <a:solidFill>
                  <a:srgbClr val="737373"/>
                </a:solidFill>
                <a:latin typeface="DM Sans"/>
                <a:ea typeface="DM Sans"/>
                <a:cs typeface="DM Sans"/>
                <a:sym typeface="DM Sans"/>
              </a:rPr>
              <a:t>Get a tool (Zabbix)</a:t>
            </a:r>
          </a:p>
          <a:p>
            <a:pPr marL="1036320" lvl="2" indent="-345440" algn="l">
              <a:lnSpc>
                <a:spcPts val="3359"/>
              </a:lnSpc>
              <a:buFont typeface="Arial"/>
              <a:buChar char="⚬"/>
            </a:pPr>
            <a:r>
              <a:rPr lang="en-US" sz="2400">
                <a:solidFill>
                  <a:srgbClr val="737373"/>
                </a:solidFill>
                <a:latin typeface="DM Sans"/>
                <a:ea typeface="DM Sans"/>
                <a:cs typeface="DM Sans"/>
                <a:sym typeface="DM Sans"/>
              </a:rPr>
              <a:t>My github has a template for AD</a:t>
            </a:r>
          </a:p>
          <a:p>
            <a:pPr marL="863604" lvl="2" indent="-287868" algn="l">
              <a:lnSpc>
                <a:spcPts val="2800"/>
              </a:lnSpc>
              <a:buFont typeface="Arial"/>
              <a:buChar char="⚬"/>
            </a:pPr>
            <a:r>
              <a:rPr lang="en-US" sz="2000">
                <a:solidFill>
                  <a:srgbClr val="737373"/>
                </a:solidFill>
                <a:latin typeface="DM Sans"/>
                <a:ea typeface="DM Sans"/>
                <a:cs typeface="DM Sans"/>
                <a:sym typeface="DM Sans"/>
              </a:rPr>
              <a:t>https://github.com/ActiveDirectoryKC/Zabbix-AD-Health-Monitors</a:t>
            </a:r>
          </a:p>
          <a:p>
            <a:pPr algn="l">
              <a:lnSpc>
                <a:spcPts val="4059"/>
              </a:lnSpc>
            </a:pPr>
            <a:endParaRPr lang="en-US" sz="2000">
              <a:solidFill>
                <a:srgbClr val="737373"/>
              </a:solidFill>
              <a:latin typeface="DM Sans"/>
              <a:ea typeface="DM Sans"/>
              <a:cs typeface="DM Sans"/>
              <a:sym typeface="DM Sans"/>
            </a:endParaRPr>
          </a:p>
          <a:p>
            <a:pPr marL="765581" lvl="1" indent="-382791" algn="l">
              <a:lnSpc>
                <a:spcPts val="4964"/>
              </a:lnSpc>
              <a:buFont typeface="Arial"/>
              <a:buChar char="•"/>
            </a:pPr>
            <a:r>
              <a:rPr lang="en-US" sz="3546">
                <a:solidFill>
                  <a:srgbClr val="FFFFFF"/>
                </a:solidFill>
                <a:latin typeface="DM Sans"/>
                <a:ea typeface="DM Sans"/>
                <a:cs typeface="DM Sans"/>
                <a:sym typeface="DM Sans"/>
              </a:rPr>
              <a:t>Review it the monitors / Alert</a:t>
            </a:r>
          </a:p>
        </p:txBody>
      </p:sp>
      <p:sp>
        <p:nvSpPr>
          <p:cNvPr id="5" name="TextBox 5"/>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6" name="TextBox 6"/>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7">
            <a:extLst>
              <a:ext uri="{FF2B5EF4-FFF2-40B4-BE49-F238E27FC236}">
                <a16:creationId xmlns:a16="http://schemas.microsoft.com/office/drawing/2014/main" id="{71DBEB04-1015-1889-FFC8-C79738B2F471}"/>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a:solidFill>
                  <a:srgbClr val="FFFFFF"/>
                </a:solidFill>
                <a:latin typeface="Anton"/>
                <a:ea typeface="Anton"/>
                <a:cs typeface="Anton"/>
                <a:sym typeface="Anton"/>
              </a:rPr>
              <a:t>BONUS</a:t>
            </a:r>
          </a:p>
        </p:txBody>
      </p:sp>
      <p:sp>
        <p:nvSpPr>
          <p:cNvPr id="6" name="TextBox 3">
            <a:extLst>
              <a:ext uri="{FF2B5EF4-FFF2-40B4-BE49-F238E27FC236}">
                <a16:creationId xmlns:a16="http://schemas.microsoft.com/office/drawing/2014/main" id="{56C8244C-870A-F60D-BEC8-4043B4212C2B}"/>
              </a:ext>
            </a:extLst>
          </p:cNvPr>
          <p:cNvSpPr txBox="1"/>
          <p:nvPr/>
        </p:nvSpPr>
        <p:spPr>
          <a:xfrm>
            <a:off x="486750" y="548005"/>
            <a:ext cx="9278888" cy="480695"/>
          </a:xfrm>
          <a:prstGeom prst="rect">
            <a:avLst/>
          </a:prstGeom>
        </p:spPr>
        <p:txBody>
          <a:bodyPr lIns="0" tIns="0" rIns="0" bIns="0" rtlCol="0" anchor="t">
            <a:spAutoFit/>
          </a:bodyPr>
          <a:lstStyle/>
          <a:p>
            <a:pPr marL="0" lvl="0" indent="0" algn="l">
              <a:lnSpc>
                <a:spcPts val="3640"/>
              </a:lnSpc>
            </a:pPr>
            <a:r>
              <a:rPr lang="en-US" sz="3500" dirty="0">
                <a:solidFill>
                  <a:srgbClr val="38B6FF"/>
                </a:solidFill>
                <a:latin typeface="Anton"/>
                <a:ea typeface="Anton"/>
                <a:cs typeface="Anton"/>
                <a:sym typeface="Anton"/>
              </a:rPr>
              <a:t>BONUS – AD Performance Monitoring</a:t>
            </a:r>
          </a:p>
        </p:txBody>
      </p:sp>
      <p:sp>
        <p:nvSpPr>
          <p:cNvPr id="7" name="TextBox 4">
            <a:extLst>
              <a:ext uri="{FF2B5EF4-FFF2-40B4-BE49-F238E27FC236}">
                <a16:creationId xmlns:a16="http://schemas.microsoft.com/office/drawing/2014/main" id="{E713179B-AEDE-D82C-989F-91E937945442}"/>
              </a:ext>
            </a:extLst>
          </p:cNvPr>
          <p:cNvSpPr txBox="1"/>
          <p:nvPr/>
        </p:nvSpPr>
        <p:spPr>
          <a:xfrm>
            <a:off x="1028700" y="1460553"/>
            <a:ext cx="11430000" cy="2954655"/>
          </a:xfrm>
          <a:prstGeom prst="rect">
            <a:avLst/>
          </a:prstGeom>
        </p:spPr>
        <p:txBody>
          <a:bodyPr wrap="square" lIns="0" tIns="0" rIns="0" bIns="0" rtlCol="0" anchor="t">
            <a:spAutoFit/>
          </a:bodyPr>
          <a:lstStyle/>
          <a:p>
            <a:pPr marL="382790" lvl="1" algn="l"/>
            <a:r>
              <a:rPr lang="en-US" sz="2400" dirty="0">
                <a:solidFill>
                  <a:srgbClr val="767676"/>
                </a:solidFill>
                <a:latin typeface="DM Sans"/>
                <a:ea typeface="DM Sans"/>
                <a:cs typeface="DM Sans"/>
                <a:sym typeface="DM Sans"/>
              </a:rPr>
              <a:t>Procedural Guidelines</a:t>
            </a:r>
          </a:p>
          <a:p>
            <a:pPr marL="725690" lvl="1" indent="-342900" algn="l">
              <a:buFont typeface="Arial" panose="020B0604020202020204" pitchFamily="34" charset="0"/>
              <a:buChar char="•"/>
            </a:pPr>
            <a:r>
              <a:rPr lang="en-US" sz="2400" dirty="0">
                <a:solidFill>
                  <a:schemeClr val="bg1"/>
                </a:solidFill>
                <a:latin typeface="DM Sans"/>
                <a:ea typeface="DM Sans"/>
                <a:cs typeface="DM Sans"/>
                <a:sym typeface="DM Sans"/>
              </a:rPr>
              <a:t>Collect performance data in 15-30 min intervals. </a:t>
            </a:r>
          </a:p>
          <a:p>
            <a:pPr marL="1182890" lvl="2" indent="-342900">
              <a:buFont typeface="Arial" panose="020B0604020202020204" pitchFamily="34" charset="0"/>
              <a:buChar char="•"/>
            </a:pPr>
            <a:r>
              <a:rPr lang="en-US" sz="2400" dirty="0">
                <a:solidFill>
                  <a:schemeClr val="bg1"/>
                </a:solidFill>
                <a:latin typeface="DM Sans"/>
                <a:ea typeface="DM Sans"/>
                <a:cs typeface="DM Sans"/>
                <a:sym typeface="DM Sans"/>
              </a:rPr>
              <a:t>Lower generates too much noise.</a:t>
            </a:r>
          </a:p>
          <a:p>
            <a:pPr marL="725690" lvl="1" indent="-342900">
              <a:buFont typeface="Arial" panose="020B0604020202020204" pitchFamily="34" charset="0"/>
              <a:buChar char="•"/>
            </a:pPr>
            <a:r>
              <a:rPr lang="en-US" sz="2400" dirty="0">
                <a:solidFill>
                  <a:schemeClr val="bg1"/>
                </a:solidFill>
                <a:latin typeface="DM Sans"/>
                <a:ea typeface="DM Sans"/>
                <a:cs typeface="DM Sans"/>
                <a:sym typeface="DM Sans"/>
              </a:rPr>
              <a:t>Average / Normalize the data </a:t>
            </a:r>
          </a:p>
          <a:p>
            <a:pPr marL="1182890" lvl="2" indent="-342900">
              <a:buFont typeface="Arial" panose="020B0604020202020204" pitchFamily="34" charset="0"/>
              <a:buChar char="•"/>
            </a:pPr>
            <a:r>
              <a:rPr lang="en-US" sz="2400" dirty="0">
                <a:solidFill>
                  <a:schemeClr val="bg1"/>
                </a:solidFill>
                <a:latin typeface="DM Sans"/>
                <a:ea typeface="DM Sans"/>
                <a:cs typeface="DM Sans"/>
                <a:sym typeface="DM Sans"/>
              </a:rPr>
              <a:t>Keep the highs and lows for reference.</a:t>
            </a:r>
          </a:p>
          <a:p>
            <a:pPr marL="725690" lvl="1" indent="-342900">
              <a:buFont typeface="Arial" panose="020B0604020202020204" pitchFamily="34" charset="0"/>
              <a:buChar char="•"/>
            </a:pPr>
            <a:r>
              <a:rPr lang="en-US" sz="2400" dirty="0">
                <a:solidFill>
                  <a:schemeClr val="bg1"/>
                </a:solidFill>
                <a:latin typeface="DM Sans"/>
                <a:ea typeface="DM Sans"/>
                <a:cs typeface="DM Sans"/>
                <a:sym typeface="DM Sans"/>
              </a:rPr>
              <a:t>Any raw counter (not performance counter) is just a count. </a:t>
            </a:r>
          </a:p>
          <a:p>
            <a:pPr marL="725690" lvl="1" indent="-342900">
              <a:buFont typeface="Arial" panose="020B0604020202020204" pitchFamily="34" charset="0"/>
              <a:buChar char="•"/>
            </a:pPr>
            <a:r>
              <a:rPr lang="en-US" sz="2400" dirty="0">
                <a:solidFill>
                  <a:schemeClr val="bg1"/>
                </a:solidFill>
                <a:latin typeface="DM Sans"/>
                <a:ea typeface="DM Sans"/>
                <a:cs typeface="DM Sans"/>
                <a:sym typeface="DM Sans"/>
              </a:rPr>
              <a:t>Define your thresholds. </a:t>
            </a:r>
          </a:p>
          <a:p>
            <a:pPr marL="1182890" lvl="2" indent="-342900">
              <a:buFont typeface="Arial" panose="020B0604020202020204" pitchFamily="34" charset="0"/>
              <a:buChar char="•"/>
            </a:pPr>
            <a:r>
              <a:rPr lang="en-US" sz="2400" dirty="0">
                <a:solidFill>
                  <a:schemeClr val="bg1"/>
                </a:solidFill>
                <a:latin typeface="DM Sans"/>
                <a:ea typeface="DM Sans"/>
                <a:cs typeface="DM Sans"/>
                <a:sym typeface="DM Sans"/>
              </a:rPr>
              <a:t>When do you notify? Alert? Page Out?</a:t>
            </a:r>
          </a:p>
        </p:txBody>
      </p:sp>
      <p:sp>
        <p:nvSpPr>
          <p:cNvPr id="8" name="TextBox 4">
            <a:extLst>
              <a:ext uri="{FF2B5EF4-FFF2-40B4-BE49-F238E27FC236}">
                <a16:creationId xmlns:a16="http://schemas.microsoft.com/office/drawing/2014/main" id="{E9A7FD00-EA32-4A0F-8DC4-5811029152DD}"/>
              </a:ext>
            </a:extLst>
          </p:cNvPr>
          <p:cNvSpPr txBox="1"/>
          <p:nvPr/>
        </p:nvSpPr>
        <p:spPr>
          <a:xfrm>
            <a:off x="1076985" y="4394465"/>
            <a:ext cx="11430000" cy="3693319"/>
          </a:xfrm>
          <a:prstGeom prst="rect">
            <a:avLst/>
          </a:prstGeom>
        </p:spPr>
        <p:txBody>
          <a:bodyPr wrap="square" lIns="0" tIns="0" rIns="0" bIns="0" rtlCol="0" anchor="t">
            <a:spAutoFit/>
          </a:bodyPr>
          <a:lstStyle/>
          <a:p>
            <a:pPr marL="382790" lvl="1" algn="l"/>
            <a:r>
              <a:rPr lang="en-US" sz="2400" dirty="0">
                <a:solidFill>
                  <a:srgbClr val="767676"/>
                </a:solidFill>
                <a:latin typeface="DM Sans"/>
                <a:ea typeface="DM Sans"/>
                <a:cs typeface="DM Sans"/>
                <a:sym typeface="DM Sans"/>
              </a:rPr>
              <a:t>Notable Counters</a:t>
            </a:r>
          </a:p>
          <a:p>
            <a:pPr marL="725690" lvl="1" indent="-342900" algn="l">
              <a:buFont typeface="Arial" panose="020B0604020202020204" pitchFamily="34" charset="0"/>
              <a:buChar char="•"/>
            </a:pPr>
            <a:r>
              <a:rPr lang="en-US" sz="2400" dirty="0">
                <a:solidFill>
                  <a:schemeClr val="bg1"/>
                </a:solidFill>
                <a:latin typeface="DM Sans"/>
                <a:ea typeface="DM Sans"/>
                <a:cs typeface="DM Sans"/>
                <a:sym typeface="DM Sans"/>
              </a:rPr>
              <a:t>CPU, Disk, Memory Utilization </a:t>
            </a:r>
          </a:p>
          <a:p>
            <a:pPr marL="725690" lvl="1" indent="-342900" algn="l">
              <a:buFont typeface="Arial" panose="020B0604020202020204" pitchFamily="34" charset="0"/>
              <a:buChar char="•"/>
            </a:pPr>
            <a:r>
              <a:rPr lang="en-US" sz="2400" dirty="0">
                <a:solidFill>
                  <a:schemeClr val="bg1"/>
                </a:solidFill>
                <a:latin typeface="DM Sans"/>
                <a:ea typeface="DM Sans"/>
                <a:cs typeface="DM Sans"/>
                <a:sym typeface="DM Sans"/>
              </a:rPr>
              <a:t>ATQ Latency (Estimated Queue Delay, Request Latency, Outstanding Queued Requests) – Keep as low as possible.</a:t>
            </a:r>
          </a:p>
          <a:p>
            <a:pPr marL="1182890" lvl="2" indent="-342900">
              <a:buFont typeface="Arial" panose="020B0604020202020204" pitchFamily="34" charset="0"/>
              <a:buChar char="•"/>
            </a:pPr>
            <a:r>
              <a:rPr lang="en-US" sz="2400" dirty="0">
                <a:solidFill>
                  <a:schemeClr val="bg1"/>
                </a:solidFill>
                <a:latin typeface="DM Sans"/>
                <a:ea typeface="DM Sans"/>
                <a:cs typeface="DM Sans"/>
                <a:sym typeface="DM Sans"/>
              </a:rPr>
              <a:t>Auth issues. </a:t>
            </a:r>
          </a:p>
          <a:p>
            <a:pPr marL="725690" lvl="1" indent="-342900" algn="l">
              <a:buFont typeface="Arial" panose="020B0604020202020204" pitchFamily="34" charset="0"/>
              <a:buChar char="•"/>
            </a:pPr>
            <a:r>
              <a:rPr lang="en-US" sz="2400" dirty="0">
                <a:solidFill>
                  <a:schemeClr val="bg1"/>
                </a:solidFill>
                <a:latin typeface="DM Sans"/>
                <a:ea typeface="DM Sans"/>
                <a:cs typeface="DM Sans"/>
                <a:sym typeface="DM Sans"/>
              </a:rPr>
              <a:t>DRA Pending Replication Syncs – Keep low. </a:t>
            </a:r>
          </a:p>
          <a:p>
            <a:pPr marL="1182890" lvl="2" indent="-342900">
              <a:buFont typeface="Arial" panose="020B0604020202020204" pitchFamily="34" charset="0"/>
              <a:buChar char="•"/>
            </a:pPr>
            <a:r>
              <a:rPr lang="en-US" sz="2400" dirty="0">
                <a:solidFill>
                  <a:schemeClr val="bg1"/>
                </a:solidFill>
                <a:latin typeface="DM Sans"/>
                <a:ea typeface="DM Sans"/>
                <a:cs typeface="DM Sans"/>
                <a:sym typeface="DM Sans"/>
              </a:rPr>
              <a:t>Can be replication issue. </a:t>
            </a:r>
          </a:p>
          <a:p>
            <a:pPr marL="725690" lvl="1" indent="-342900">
              <a:buFont typeface="Arial" panose="020B0604020202020204" pitchFamily="34" charset="0"/>
              <a:buChar char="•"/>
            </a:pPr>
            <a:r>
              <a:rPr lang="en-US" sz="2400" dirty="0">
                <a:solidFill>
                  <a:schemeClr val="bg1"/>
                </a:solidFill>
                <a:latin typeface="DM Sans"/>
                <a:ea typeface="DM Sans"/>
                <a:cs typeface="DM Sans"/>
                <a:sym typeface="DM Sans"/>
              </a:rPr>
              <a:t>Page File % Usage and Pages / Sec – Memory issues indicator</a:t>
            </a:r>
          </a:p>
          <a:p>
            <a:pPr marL="1182890" lvl="2" indent="-342900">
              <a:buFont typeface="Arial" panose="020B0604020202020204" pitchFamily="34" charset="0"/>
              <a:buChar char="•"/>
            </a:pPr>
            <a:r>
              <a:rPr lang="en-US" sz="2400" dirty="0">
                <a:solidFill>
                  <a:schemeClr val="bg1"/>
                </a:solidFill>
                <a:latin typeface="DM Sans"/>
                <a:ea typeface="DM Sans"/>
                <a:cs typeface="DM Sans"/>
                <a:sym typeface="DM Sans"/>
              </a:rPr>
              <a:t>Windows always uses the page file so it will never be 0.</a:t>
            </a:r>
          </a:p>
          <a:p>
            <a:pPr marL="725690" lvl="1" indent="-342900">
              <a:buFont typeface="Arial" panose="020B0604020202020204" pitchFamily="34" charset="0"/>
              <a:buChar char="•"/>
            </a:pPr>
            <a:r>
              <a:rPr lang="en-US" sz="2400" dirty="0">
                <a:solidFill>
                  <a:schemeClr val="bg1"/>
                </a:solidFill>
                <a:latin typeface="DM Sans"/>
                <a:ea typeface="DM Sans"/>
                <a:cs typeface="DM Sans"/>
                <a:sym typeface="DM Sans"/>
              </a:rPr>
              <a:t>Disk I/O Latency – Disk issues.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666" b="-666"/>
            </a:stretch>
          </a:blipFill>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AutoShape 4"/>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p:cNvSpPr txBox="1"/>
          <p:nvPr/>
        </p:nvSpPr>
        <p:spPr>
          <a:xfrm>
            <a:off x="1028700" y="3137270"/>
            <a:ext cx="6262680" cy="2277740"/>
          </a:xfrm>
          <a:prstGeom prst="rect">
            <a:avLst/>
          </a:prstGeom>
        </p:spPr>
        <p:txBody>
          <a:bodyPr lIns="0" tIns="0" rIns="0" bIns="0" rtlCol="0" anchor="t">
            <a:spAutoFit/>
          </a:bodyPr>
          <a:lstStyle/>
          <a:p>
            <a:pPr marL="0" lvl="0" indent="0" algn="l">
              <a:lnSpc>
                <a:spcPts val="8839"/>
              </a:lnSpc>
            </a:pPr>
            <a:r>
              <a:rPr lang="en-US" sz="8499">
                <a:solidFill>
                  <a:srgbClr val="FFFFFF"/>
                </a:solidFill>
                <a:latin typeface="Anton"/>
                <a:ea typeface="Anton"/>
                <a:cs typeface="Anton"/>
                <a:sym typeface="Anton"/>
              </a:rPr>
              <a:t>THE GHOST OF PERFECTION</a:t>
            </a:r>
          </a:p>
        </p:txBody>
      </p:sp>
      <p:sp>
        <p:nvSpPr>
          <p:cNvPr id="7" name="TextBox 7"/>
          <p:cNvSpPr txBox="1"/>
          <p:nvPr/>
        </p:nvSpPr>
        <p:spPr>
          <a:xfrm>
            <a:off x="1028700" y="5820839"/>
            <a:ext cx="6262680" cy="1535049"/>
          </a:xfrm>
          <a:prstGeom prst="rect">
            <a:avLst/>
          </a:prstGeom>
        </p:spPr>
        <p:txBody>
          <a:bodyPr lIns="0" tIns="0" rIns="0" bIns="0" rtlCol="0" anchor="t">
            <a:spAutoFit/>
          </a:bodyPr>
          <a:lstStyle/>
          <a:p>
            <a:pPr marL="0" lvl="0" indent="0" algn="l">
              <a:lnSpc>
                <a:spcPts val="5928"/>
              </a:lnSpc>
            </a:pPr>
            <a:r>
              <a:rPr lang="en-US" sz="5700">
                <a:solidFill>
                  <a:srgbClr val="38B6FF"/>
                </a:solidFill>
                <a:latin typeface="DM Sans"/>
                <a:ea typeface="DM Sans"/>
                <a:cs typeface="DM Sans"/>
                <a:sym typeface="DM Sans"/>
              </a:rPr>
              <a:t>Baselines, STIGS, &amp; Benchmarks</a:t>
            </a:r>
          </a:p>
        </p:txBody>
      </p:sp>
      <p:sp>
        <p:nvSpPr>
          <p:cNvPr id="8" name="Freeform 8"/>
          <p:cNvSpPr/>
          <p:nvPr/>
        </p:nvSpPr>
        <p:spPr>
          <a:xfrm>
            <a:off x="9144000" y="2420487"/>
            <a:ext cx="7261368" cy="5446026"/>
          </a:xfrm>
          <a:custGeom>
            <a:avLst/>
            <a:gdLst/>
            <a:ahLst/>
            <a:cxnLst/>
            <a:rect l="l" t="t" r="r" b="b"/>
            <a:pathLst>
              <a:path w="7261368" h="5446026">
                <a:moveTo>
                  <a:pt x="0" y="0"/>
                </a:moveTo>
                <a:lnTo>
                  <a:pt x="7261368" y="0"/>
                </a:lnTo>
                <a:lnTo>
                  <a:pt x="7261368" y="5446026"/>
                </a:lnTo>
                <a:lnTo>
                  <a:pt x="0" y="5446026"/>
                </a:lnTo>
                <a:lnTo>
                  <a:pt x="0" y="0"/>
                </a:lnTo>
                <a:close/>
              </a:path>
            </a:pathLst>
          </a:custGeom>
          <a:blipFill>
            <a:blip r:embed="rId4"/>
            <a:stretch>
              <a:fillRect/>
            </a:stretch>
          </a:blipFill>
          <a:ln w="38100" cap="sq">
            <a:solidFill>
              <a:srgbClr val="38B6FF"/>
            </a:solidFill>
            <a:prstDash val="solid"/>
            <a:miter/>
          </a:ln>
        </p:spPr>
        <p:txBody>
          <a:bodyPr/>
          <a:lstStyle/>
          <a:p>
            <a:endParaRPr lang="en-US"/>
          </a:p>
        </p:txBody>
      </p:sp>
      <p:sp>
        <p:nvSpPr>
          <p:cNvPr id="9" name="TextBox 9"/>
          <p:cNvSpPr txBox="1"/>
          <p:nvPr/>
        </p:nvSpPr>
        <p:spPr>
          <a:xfrm>
            <a:off x="9269312" y="3325495"/>
            <a:ext cx="5894488" cy="2039020"/>
          </a:xfrm>
          <a:prstGeom prst="rect">
            <a:avLst/>
          </a:prstGeom>
        </p:spPr>
        <p:txBody>
          <a:bodyPr wrap="square" lIns="0" tIns="0" rIns="0" bIns="0" rtlCol="0" anchor="t">
            <a:spAutoFit/>
          </a:bodyPr>
          <a:lstStyle/>
          <a:p>
            <a:pPr algn="ctr">
              <a:lnSpc>
                <a:spcPts val="6333"/>
              </a:lnSpc>
            </a:pPr>
            <a:r>
              <a:rPr lang="en-US" sz="4523">
                <a:solidFill>
                  <a:srgbClr val="0B2132"/>
                </a:solidFill>
                <a:latin typeface="Canva Student Font"/>
                <a:ea typeface="Canva Student Font"/>
                <a:cs typeface="Canva Student Font"/>
                <a:sym typeface="Canva Student Font"/>
              </a:rPr>
              <a:t>Perfection is the enemy of good</a:t>
            </a:r>
          </a:p>
          <a:p>
            <a:pPr algn="r">
              <a:lnSpc>
                <a:spcPts val="4796"/>
              </a:lnSpc>
            </a:pPr>
            <a:r>
              <a:rPr lang="en-US" sz="3426">
                <a:solidFill>
                  <a:srgbClr val="0B2132"/>
                </a:solidFill>
                <a:latin typeface="Canva Student Font"/>
                <a:ea typeface="Canva Student Font"/>
                <a:cs typeface="Canva Student Font"/>
                <a:sym typeface="Canva Student Font"/>
              </a:rPr>
              <a:t>- Voltaire       </a:t>
            </a:r>
          </a:p>
          <a:p>
            <a:pPr algn="r">
              <a:lnSpc>
                <a:spcPts val="4796"/>
              </a:lnSpc>
              <a:spcBef>
                <a:spcPct val="0"/>
              </a:spcBef>
            </a:pPr>
            <a:r>
              <a:rPr lang="en-US" sz="3426">
                <a:solidFill>
                  <a:srgbClr val="0B2132"/>
                </a:solidFill>
                <a:latin typeface="Canva Student Font"/>
                <a:ea typeface="Canva Student Font"/>
                <a:cs typeface="Canva Student Font"/>
                <a:sym typeface="Canva Student Font"/>
              </a:rPr>
              <a:t>- Michael Scott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11045023" y="3244386"/>
            <a:ext cx="5697343" cy="3798229"/>
          </a:xfrm>
          <a:custGeom>
            <a:avLst/>
            <a:gdLst/>
            <a:ahLst/>
            <a:cxnLst/>
            <a:rect l="l" t="t" r="r" b="b"/>
            <a:pathLst>
              <a:path w="5697343" h="3798229">
                <a:moveTo>
                  <a:pt x="0" y="0"/>
                </a:moveTo>
                <a:lnTo>
                  <a:pt x="5697342" y="0"/>
                </a:lnTo>
                <a:lnTo>
                  <a:pt x="5697342" y="3798228"/>
                </a:lnTo>
                <a:lnTo>
                  <a:pt x="0" y="3798228"/>
                </a:lnTo>
                <a:lnTo>
                  <a:pt x="0" y="0"/>
                </a:lnTo>
                <a:close/>
              </a:path>
            </a:pathLst>
          </a:custGeom>
          <a:blipFill>
            <a:blip r:embed="rId3"/>
            <a:stretch>
              <a:fillRect/>
            </a:stretch>
          </a:blipFill>
          <a:ln w="38100" cap="sq">
            <a:solidFill>
              <a:srgbClr val="38B6FF"/>
            </a:solidFill>
            <a:prstDash val="solid"/>
            <a:miter/>
          </a:ln>
        </p:spPr>
        <p:txBody>
          <a:bodyPr/>
          <a:lstStyle/>
          <a:p>
            <a:endParaRPr lang="en-US"/>
          </a:p>
        </p:txBody>
      </p:sp>
      <p:sp>
        <p:nvSpPr>
          <p:cNvPr id="4" name="TextBox 4"/>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p:cNvSpPr txBox="1"/>
          <p:nvPr/>
        </p:nvSpPr>
        <p:spPr>
          <a:xfrm>
            <a:off x="1028700" y="1605302"/>
            <a:ext cx="7918194" cy="469139"/>
          </a:xfrm>
          <a:prstGeom prst="rect">
            <a:avLst/>
          </a:prstGeom>
        </p:spPr>
        <p:txBody>
          <a:bodyPr lIns="0" tIns="0" rIns="0" bIns="0" rtlCol="0" anchor="t">
            <a:spAutoFit/>
          </a:bodyPr>
          <a:lstStyle/>
          <a:p>
            <a:pPr marL="0" lvl="0" indent="0" algn="l">
              <a:lnSpc>
                <a:spcPts val="3536"/>
              </a:lnSpc>
            </a:pPr>
            <a:r>
              <a:rPr lang="en-US" sz="3400">
                <a:solidFill>
                  <a:srgbClr val="38B6FF"/>
                </a:solidFill>
                <a:latin typeface="Anton"/>
                <a:ea typeface="Anton"/>
                <a:cs typeface="Anton"/>
                <a:sym typeface="Anton"/>
              </a:rPr>
              <a:t>MICROSOFT SECURITY BASELINES</a:t>
            </a:r>
          </a:p>
        </p:txBody>
      </p:sp>
      <p:sp>
        <p:nvSpPr>
          <p:cNvPr id="7" name="TextBox 7"/>
          <p:cNvSpPr txBox="1"/>
          <p:nvPr/>
        </p:nvSpPr>
        <p:spPr>
          <a:xfrm>
            <a:off x="1028700" y="2245890"/>
            <a:ext cx="8267700" cy="414922"/>
          </a:xfrm>
          <a:prstGeom prst="rect">
            <a:avLst/>
          </a:prstGeom>
        </p:spPr>
        <p:txBody>
          <a:bodyPr wrap="square" lIns="0" tIns="0" rIns="0" bIns="0" rtlCol="0" anchor="t">
            <a:spAutoFit/>
          </a:bodyPr>
          <a:lstStyle/>
          <a:p>
            <a:pPr algn="l">
              <a:lnSpc>
                <a:spcPts val="3360"/>
              </a:lnSpc>
              <a:spcBef>
                <a:spcPct val="0"/>
              </a:spcBef>
            </a:pPr>
            <a:r>
              <a:rPr lang="en-US" sz="2400" b="1">
                <a:solidFill>
                  <a:srgbClr val="FFFFFF"/>
                </a:solidFill>
                <a:latin typeface="DM Sans Bold"/>
                <a:ea typeface="DM Sans Bold"/>
                <a:cs typeface="DM Sans Bold"/>
                <a:sym typeface="DM Sans Bold"/>
              </a:rPr>
              <a:t>MICROSOFT SECURITY AND COMPLIANCE TOOLKIT</a:t>
            </a:r>
          </a:p>
        </p:txBody>
      </p:sp>
      <p:sp>
        <p:nvSpPr>
          <p:cNvPr id="8" name="TextBox 8"/>
          <p:cNvSpPr txBox="1"/>
          <p:nvPr/>
        </p:nvSpPr>
        <p:spPr>
          <a:xfrm>
            <a:off x="1028700" y="3288384"/>
            <a:ext cx="6838161" cy="4672329"/>
          </a:xfrm>
          <a:prstGeom prst="rect">
            <a:avLst/>
          </a:prstGeom>
        </p:spPr>
        <p:txBody>
          <a:bodyPr lIns="0" tIns="0" rIns="0" bIns="0" rtlCol="0" anchor="t">
            <a:spAutoFit/>
          </a:bodyPr>
          <a:lstStyle/>
          <a:p>
            <a:pPr marL="604524" lvl="1" indent="-302262" algn="l">
              <a:lnSpc>
                <a:spcPts val="3920"/>
              </a:lnSpc>
              <a:buFont typeface="Arial"/>
              <a:buChar char="•"/>
            </a:pPr>
            <a:r>
              <a:rPr lang="en-US" sz="2800">
                <a:solidFill>
                  <a:srgbClr val="FFFFFF"/>
                </a:solidFill>
                <a:latin typeface="DM Sans"/>
                <a:ea typeface="DM Sans"/>
                <a:cs typeface="DM Sans"/>
                <a:sym typeface="DM Sans"/>
              </a:rPr>
              <a:t>Free download from MS</a:t>
            </a:r>
          </a:p>
          <a:p>
            <a:pPr marL="863601" lvl="2" indent="-287867" algn="l">
              <a:lnSpc>
                <a:spcPts val="2800"/>
              </a:lnSpc>
              <a:buFont typeface="Arial"/>
              <a:buChar char="⚬"/>
            </a:pPr>
            <a:r>
              <a:rPr lang="en-US" sz="2000">
                <a:solidFill>
                  <a:srgbClr val="737373"/>
                </a:solidFill>
                <a:latin typeface="DM Sans"/>
                <a:ea typeface="DM Sans"/>
                <a:cs typeface="DM Sans"/>
                <a:sym typeface="DM Sans"/>
              </a:rPr>
              <a:t>https://www.microsoft.com/en-us/download/details.aspx?id=55319</a:t>
            </a:r>
          </a:p>
          <a:p>
            <a:pPr marL="604524" lvl="1" indent="-302262" algn="l">
              <a:lnSpc>
                <a:spcPts val="3920"/>
              </a:lnSpc>
              <a:buFont typeface="Arial"/>
              <a:buChar char="•"/>
            </a:pPr>
            <a:r>
              <a:rPr lang="en-US" sz="2800">
                <a:solidFill>
                  <a:srgbClr val="FFFFFF"/>
                </a:solidFill>
                <a:latin typeface="DM Sans"/>
                <a:ea typeface="DM Sans"/>
                <a:cs typeface="DM Sans"/>
                <a:sym typeface="DM Sans"/>
              </a:rPr>
              <a:t>Per-OS Version</a:t>
            </a:r>
          </a:p>
          <a:p>
            <a:pPr marL="604524" lvl="1" indent="-302262" algn="l">
              <a:lnSpc>
                <a:spcPts val="3920"/>
              </a:lnSpc>
              <a:buFont typeface="Arial"/>
              <a:buChar char="•"/>
            </a:pPr>
            <a:r>
              <a:rPr lang="en-US" sz="2800">
                <a:solidFill>
                  <a:srgbClr val="FFFFFF"/>
                </a:solidFill>
                <a:latin typeface="DM Sans"/>
                <a:ea typeface="DM Sans"/>
                <a:cs typeface="DM Sans"/>
                <a:sym typeface="DM Sans"/>
              </a:rPr>
              <a:t>Includes</a:t>
            </a:r>
          </a:p>
          <a:p>
            <a:pPr marL="1209049" lvl="2" indent="-403016" algn="l">
              <a:lnSpc>
                <a:spcPts val="3920"/>
              </a:lnSpc>
              <a:buFont typeface="Arial"/>
              <a:buChar char="⚬"/>
            </a:pPr>
            <a:r>
              <a:rPr lang="en-US" sz="2800">
                <a:solidFill>
                  <a:srgbClr val="FFFFFF"/>
                </a:solidFill>
                <a:latin typeface="DM Sans"/>
                <a:ea typeface="DM Sans"/>
                <a:cs typeface="DM Sans"/>
                <a:sym typeface="DM Sans"/>
              </a:rPr>
              <a:t>GPO Templates</a:t>
            </a:r>
          </a:p>
          <a:p>
            <a:pPr marL="1209049" lvl="2" indent="-403016" algn="l">
              <a:lnSpc>
                <a:spcPts val="3920"/>
              </a:lnSpc>
              <a:buFont typeface="Arial"/>
              <a:buChar char="⚬"/>
            </a:pPr>
            <a:r>
              <a:rPr lang="en-US" sz="2800">
                <a:solidFill>
                  <a:srgbClr val="FFFFFF"/>
                </a:solidFill>
                <a:latin typeface="DM Sans"/>
                <a:ea typeface="DM Sans"/>
                <a:cs typeface="DM Sans"/>
                <a:sym typeface="DM Sans"/>
              </a:rPr>
              <a:t>Policy Analyzer</a:t>
            </a:r>
          </a:p>
          <a:p>
            <a:pPr marL="1209049" lvl="2" indent="-403016" algn="l">
              <a:lnSpc>
                <a:spcPts val="3920"/>
              </a:lnSpc>
              <a:buFont typeface="Arial"/>
              <a:buChar char="⚬"/>
            </a:pPr>
            <a:r>
              <a:rPr lang="en-US" sz="2800">
                <a:solidFill>
                  <a:srgbClr val="FFFFFF"/>
                </a:solidFill>
                <a:latin typeface="DM Sans"/>
                <a:ea typeface="DM Sans"/>
                <a:cs typeface="DM Sans"/>
                <a:sym typeface="DM Sans"/>
              </a:rPr>
              <a:t>Policy to Reg Key Reference</a:t>
            </a:r>
          </a:p>
          <a:p>
            <a:pPr marL="1209049" lvl="2" indent="-403016" algn="l">
              <a:lnSpc>
                <a:spcPts val="3920"/>
              </a:lnSpc>
              <a:buFont typeface="Arial"/>
              <a:buChar char="⚬"/>
            </a:pPr>
            <a:r>
              <a:rPr lang="en-US" sz="2800">
                <a:solidFill>
                  <a:srgbClr val="FFFFFF"/>
                </a:solidFill>
                <a:latin typeface="DM Sans"/>
                <a:ea typeface="DM Sans"/>
                <a:cs typeface="DM Sans"/>
                <a:sym typeface="DM Sans"/>
              </a:rPr>
              <a:t>LGPO</a:t>
            </a:r>
          </a:p>
          <a:p>
            <a:pPr marL="604524" lvl="1" indent="-302262" algn="l">
              <a:lnSpc>
                <a:spcPts val="3920"/>
              </a:lnSpc>
              <a:buFont typeface="Arial"/>
              <a:buChar char="•"/>
            </a:pPr>
            <a:r>
              <a:rPr lang="en-US" sz="2800">
                <a:solidFill>
                  <a:srgbClr val="FFFFFF"/>
                </a:solidFill>
                <a:latin typeface="DM Sans"/>
                <a:ea typeface="DM Sans"/>
                <a:cs typeface="DM Sans"/>
                <a:sym typeface="DM Sans"/>
              </a:rPr>
              <a:t>Windows Admin Center</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12039600" y="1898510"/>
            <a:ext cx="5382915" cy="4340600"/>
          </a:xfrm>
          <a:custGeom>
            <a:avLst/>
            <a:gdLst/>
            <a:ahLst/>
            <a:cxnLst/>
            <a:rect l="l" t="t" r="r" b="b"/>
            <a:pathLst>
              <a:path w="5382915" h="4340600">
                <a:moveTo>
                  <a:pt x="0" y="0"/>
                </a:moveTo>
                <a:lnTo>
                  <a:pt x="5382916" y="0"/>
                </a:lnTo>
                <a:lnTo>
                  <a:pt x="5382916" y="4340600"/>
                </a:lnTo>
                <a:lnTo>
                  <a:pt x="0" y="4340600"/>
                </a:lnTo>
                <a:lnTo>
                  <a:pt x="0" y="0"/>
                </a:lnTo>
                <a:close/>
              </a:path>
            </a:pathLst>
          </a:custGeom>
          <a:blipFill>
            <a:blip r:embed="rId3"/>
            <a:stretch>
              <a:fillRect/>
            </a:stretch>
          </a:blipFill>
          <a:ln w="19050">
            <a:solidFill>
              <a:srgbClr val="38B6FF"/>
            </a:solidFill>
          </a:ln>
        </p:spPr>
        <p:txBody>
          <a:bodyPr/>
          <a:lstStyle/>
          <a:p>
            <a:endParaRPr lang="en-US"/>
          </a:p>
        </p:txBody>
      </p:sp>
      <p:sp>
        <p:nvSpPr>
          <p:cNvPr id="4" name="Freeform 4"/>
          <p:cNvSpPr/>
          <p:nvPr/>
        </p:nvSpPr>
        <p:spPr>
          <a:xfrm>
            <a:off x="9270908" y="7808720"/>
            <a:ext cx="8521360" cy="1449580"/>
          </a:xfrm>
          <a:custGeom>
            <a:avLst/>
            <a:gdLst/>
            <a:ahLst/>
            <a:cxnLst/>
            <a:rect l="l" t="t" r="r" b="b"/>
            <a:pathLst>
              <a:path w="8521360" h="1449580">
                <a:moveTo>
                  <a:pt x="0" y="0"/>
                </a:moveTo>
                <a:lnTo>
                  <a:pt x="8521361" y="0"/>
                </a:lnTo>
                <a:lnTo>
                  <a:pt x="8521361" y="1449580"/>
                </a:lnTo>
                <a:lnTo>
                  <a:pt x="0" y="1449580"/>
                </a:lnTo>
                <a:lnTo>
                  <a:pt x="0" y="0"/>
                </a:lnTo>
                <a:close/>
              </a:path>
            </a:pathLst>
          </a:custGeom>
          <a:blipFill>
            <a:blip r:embed="rId4"/>
            <a:stretch>
              <a:fillRect/>
            </a:stretch>
          </a:blipFill>
          <a:ln w="19050">
            <a:solidFill>
              <a:srgbClr val="38B6FF"/>
            </a:solidFill>
          </a:ln>
        </p:spPr>
        <p:txBody>
          <a:bodyPr/>
          <a:lstStyle/>
          <a:p>
            <a:endParaRPr lang="en-US"/>
          </a:p>
        </p:txBody>
      </p:sp>
      <p:sp>
        <p:nvSpPr>
          <p:cNvPr id="5" name="TextBox 5"/>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6" name="TextBox 6"/>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7" name="TextBox 7"/>
          <p:cNvSpPr txBox="1"/>
          <p:nvPr/>
        </p:nvSpPr>
        <p:spPr>
          <a:xfrm>
            <a:off x="1076985" y="3640867"/>
            <a:ext cx="10319068" cy="5196487"/>
          </a:xfrm>
          <a:prstGeom prst="rect">
            <a:avLst/>
          </a:prstGeom>
        </p:spPr>
        <p:txBody>
          <a:bodyPr lIns="0" tIns="0" rIns="0" bIns="0" rtlCol="0" anchor="t">
            <a:spAutoFit/>
          </a:bodyPr>
          <a:lstStyle/>
          <a:p>
            <a:pPr algn="l">
              <a:lnSpc>
                <a:spcPts val="3359"/>
              </a:lnSpc>
            </a:pPr>
            <a:r>
              <a:rPr lang="en-US" sz="2000" b="1">
                <a:solidFill>
                  <a:srgbClr val="FFFFFF"/>
                </a:solidFill>
                <a:latin typeface="DM Sans Bold"/>
                <a:ea typeface="DM Sans Bold"/>
                <a:cs typeface="DM Sans Bold"/>
                <a:sym typeface="DM Sans Bold"/>
              </a:rPr>
              <a:t>COMPARE POLICIES WITH POLICY ANALYZER</a:t>
            </a:r>
          </a:p>
          <a:p>
            <a:pPr marL="518160" lvl="1" indent="-259080" algn="l">
              <a:lnSpc>
                <a:spcPts val="3359"/>
              </a:lnSpc>
              <a:buAutoNum type="arabicPeriod"/>
            </a:pPr>
            <a:r>
              <a:rPr lang="en-US" sz="2000">
                <a:solidFill>
                  <a:srgbClr val="FFFFFF"/>
                </a:solidFill>
                <a:latin typeface="DM Sans"/>
                <a:ea typeface="DM Sans"/>
                <a:cs typeface="DM Sans"/>
                <a:sym typeface="DM Sans"/>
              </a:rPr>
              <a:t>Launch Policy Analyzer</a:t>
            </a:r>
          </a:p>
          <a:p>
            <a:pPr marL="518160" lvl="1" indent="-259080" algn="l">
              <a:lnSpc>
                <a:spcPts val="3359"/>
              </a:lnSpc>
              <a:buAutoNum type="arabicPeriod"/>
            </a:pPr>
            <a:r>
              <a:rPr lang="en-US" sz="2000">
                <a:solidFill>
                  <a:srgbClr val="FFFFFF"/>
                </a:solidFill>
                <a:latin typeface="DM Sans"/>
                <a:ea typeface="DM Sans"/>
                <a:cs typeface="DM Sans"/>
                <a:sym typeface="DM Sans"/>
              </a:rPr>
              <a:t>Click “Add”</a:t>
            </a:r>
          </a:p>
          <a:p>
            <a:pPr marL="518160" lvl="1" indent="-259080" algn="l">
              <a:lnSpc>
                <a:spcPts val="3359"/>
              </a:lnSpc>
              <a:buAutoNum type="arabicPeriod"/>
            </a:pPr>
            <a:r>
              <a:rPr lang="en-US" sz="2000">
                <a:solidFill>
                  <a:srgbClr val="FFFFFF"/>
                </a:solidFill>
                <a:latin typeface="DM Sans"/>
                <a:ea typeface="DM Sans"/>
                <a:cs typeface="DM Sans"/>
                <a:sym typeface="DM Sans"/>
              </a:rPr>
              <a:t>File \ Add. </a:t>
            </a:r>
          </a:p>
          <a:p>
            <a:pPr marL="518160" lvl="1" indent="-259080" algn="l">
              <a:lnSpc>
                <a:spcPts val="3359"/>
              </a:lnSpc>
              <a:buAutoNum type="arabicPeriod"/>
            </a:pPr>
            <a:r>
              <a:rPr lang="en-US" sz="2000">
                <a:solidFill>
                  <a:srgbClr val="FFFFFF"/>
                </a:solidFill>
                <a:latin typeface="DM Sans"/>
                <a:ea typeface="DM Sans"/>
                <a:cs typeface="DM Sans"/>
                <a:sym typeface="DM Sans"/>
              </a:rPr>
              <a:t>Locate the GPO you exported you want to compare against.</a:t>
            </a:r>
          </a:p>
          <a:p>
            <a:pPr marL="518160" lvl="1" indent="-259080" algn="l">
              <a:lnSpc>
                <a:spcPts val="3359"/>
              </a:lnSpc>
              <a:buAutoNum type="arabicPeriod"/>
            </a:pPr>
            <a:r>
              <a:rPr lang="en-US" sz="2000">
                <a:solidFill>
                  <a:srgbClr val="FFFFFF"/>
                </a:solidFill>
                <a:latin typeface="DM Sans"/>
                <a:ea typeface="DM Sans"/>
                <a:cs typeface="DM Sans"/>
                <a:sym typeface="DM Sans"/>
              </a:rPr>
              <a:t>Save a Policy Rules File in %</a:t>
            </a:r>
            <a:r>
              <a:rPr lang="en-US" sz="2000" err="1">
                <a:solidFill>
                  <a:srgbClr val="FFFFFF"/>
                </a:solidFill>
                <a:latin typeface="DM Sans"/>
                <a:ea typeface="DM Sans"/>
                <a:cs typeface="DM Sans"/>
                <a:sym typeface="DM Sans"/>
              </a:rPr>
              <a:t>UserProfile</a:t>
            </a:r>
            <a:r>
              <a:rPr lang="en-US" sz="2000">
                <a:solidFill>
                  <a:srgbClr val="FFFFFF"/>
                </a:solidFill>
                <a:latin typeface="DM Sans"/>
                <a:ea typeface="DM Sans"/>
                <a:cs typeface="DM Sans"/>
                <a:sym typeface="DM Sans"/>
              </a:rPr>
              <a:t>%\Documents\</a:t>
            </a:r>
            <a:r>
              <a:rPr lang="en-US" sz="2000" err="1">
                <a:solidFill>
                  <a:srgbClr val="FFFFFF"/>
                </a:solidFill>
                <a:latin typeface="DM Sans"/>
                <a:ea typeface="DM Sans"/>
                <a:cs typeface="DM Sans"/>
                <a:sym typeface="DM Sans"/>
              </a:rPr>
              <a:t>PolicyAnalyzer</a:t>
            </a:r>
            <a:endParaRPr lang="en-US" sz="2000">
              <a:solidFill>
                <a:srgbClr val="FFFFFF"/>
              </a:solidFill>
              <a:latin typeface="DM Sans"/>
              <a:ea typeface="DM Sans"/>
              <a:cs typeface="DM Sans"/>
              <a:sym typeface="DM Sans"/>
            </a:endParaRPr>
          </a:p>
          <a:p>
            <a:pPr marL="518160" lvl="1" indent="-259080" algn="l">
              <a:lnSpc>
                <a:spcPts val="3359"/>
              </a:lnSpc>
              <a:buAutoNum type="arabicPeriod"/>
            </a:pPr>
            <a:r>
              <a:rPr lang="en-US" sz="2000">
                <a:solidFill>
                  <a:srgbClr val="FFFFFF"/>
                </a:solidFill>
                <a:latin typeface="DM Sans"/>
                <a:ea typeface="DM Sans"/>
                <a:cs typeface="DM Sans"/>
                <a:sym typeface="DM Sans"/>
              </a:rPr>
              <a:t>Copy the policy rules included with Policy Analyzer to the above path.</a:t>
            </a:r>
          </a:p>
          <a:p>
            <a:pPr marL="518160" lvl="1" indent="-259080" algn="l">
              <a:lnSpc>
                <a:spcPts val="3359"/>
              </a:lnSpc>
              <a:buAutoNum type="arabicPeriod"/>
            </a:pPr>
            <a:r>
              <a:rPr lang="en-US" sz="2000">
                <a:solidFill>
                  <a:srgbClr val="FFFFFF"/>
                </a:solidFill>
                <a:latin typeface="DM Sans"/>
                <a:ea typeface="DM Sans"/>
                <a:cs typeface="DM Sans"/>
                <a:sym typeface="DM Sans"/>
              </a:rPr>
              <a:t>Click “Reset” next to the “Policy Rule Sets in” directory. </a:t>
            </a:r>
          </a:p>
          <a:p>
            <a:pPr marL="518160" lvl="1" indent="-259080" algn="l">
              <a:lnSpc>
                <a:spcPts val="3359"/>
              </a:lnSpc>
              <a:buAutoNum type="arabicPeriod"/>
            </a:pPr>
            <a:r>
              <a:rPr lang="en-US" sz="2000">
                <a:solidFill>
                  <a:srgbClr val="FFFFFF"/>
                </a:solidFill>
                <a:latin typeface="DM Sans"/>
                <a:ea typeface="DM Sans"/>
                <a:cs typeface="DM Sans"/>
                <a:sym typeface="DM Sans"/>
              </a:rPr>
              <a:t>Select the policies to compare</a:t>
            </a:r>
          </a:p>
          <a:p>
            <a:pPr marL="518160" lvl="1" indent="-259080" algn="l">
              <a:lnSpc>
                <a:spcPts val="3359"/>
              </a:lnSpc>
              <a:buAutoNum type="arabicPeriod"/>
            </a:pPr>
            <a:r>
              <a:rPr lang="en-US" sz="2000">
                <a:solidFill>
                  <a:srgbClr val="FFFFFF"/>
                </a:solidFill>
                <a:latin typeface="DM Sans"/>
                <a:ea typeface="DM Sans"/>
                <a:cs typeface="DM Sans"/>
                <a:sym typeface="DM Sans"/>
              </a:rPr>
              <a:t>Click “View / Compare”</a:t>
            </a:r>
          </a:p>
          <a:p>
            <a:pPr marL="518160" lvl="1" indent="-259080" algn="l">
              <a:lnSpc>
                <a:spcPts val="3359"/>
              </a:lnSpc>
              <a:buAutoNum type="arabicPeriod"/>
            </a:pPr>
            <a:r>
              <a:rPr lang="en-US" sz="2000">
                <a:solidFill>
                  <a:srgbClr val="FFFFFF"/>
                </a:solidFill>
                <a:latin typeface="DM Sans"/>
                <a:ea typeface="DM Sans"/>
                <a:cs typeface="DM Sans"/>
                <a:sym typeface="DM Sans"/>
              </a:rPr>
              <a:t>Go down the list. Differences are highlighted.</a:t>
            </a:r>
          </a:p>
          <a:p>
            <a:pPr marL="1036320" lvl="2" indent="-345440" algn="l">
              <a:lnSpc>
                <a:spcPts val="3359"/>
              </a:lnSpc>
              <a:spcBef>
                <a:spcPct val="0"/>
              </a:spcBef>
              <a:buAutoNum type="alphaLcPeriod"/>
            </a:pPr>
            <a:r>
              <a:rPr lang="en-US" sz="2000">
                <a:solidFill>
                  <a:srgbClr val="FFFFFF"/>
                </a:solidFill>
                <a:latin typeface="DM Sans"/>
                <a:ea typeface="DM Sans"/>
                <a:cs typeface="DM Sans"/>
                <a:sym typeface="DM Sans"/>
              </a:rPr>
              <a:t>The bottom will show more information. </a:t>
            </a:r>
          </a:p>
        </p:txBody>
      </p:sp>
      <p:sp>
        <p:nvSpPr>
          <p:cNvPr id="8" name="TextBox 8"/>
          <p:cNvSpPr txBox="1"/>
          <p:nvPr/>
        </p:nvSpPr>
        <p:spPr>
          <a:xfrm>
            <a:off x="1076985" y="847346"/>
            <a:ext cx="6494621" cy="2580386"/>
          </a:xfrm>
          <a:prstGeom prst="rect">
            <a:avLst/>
          </a:prstGeom>
        </p:spPr>
        <p:txBody>
          <a:bodyPr lIns="0" tIns="0" rIns="0" bIns="0" rtlCol="0" anchor="t">
            <a:spAutoFit/>
          </a:bodyPr>
          <a:lstStyle/>
          <a:p>
            <a:pPr algn="l">
              <a:lnSpc>
                <a:spcPts val="3359"/>
              </a:lnSpc>
            </a:pPr>
            <a:r>
              <a:rPr lang="en-US" sz="2000" b="1">
                <a:solidFill>
                  <a:srgbClr val="FFFFFF"/>
                </a:solidFill>
                <a:latin typeface="DM Sans Bold"/>
                <a:ea typeface="DM Sans Bold"/>
                <a:cs typeface="DM Sans Bold"/>
                <a:sym typeface="DM Sans Bold"/>
              </a:rPr>
              <a:t>EXPORT GROUP POLICIES</a:t>
            </a:r>
          </a:p>
          <a:p>
            <a:pPr marL="518160" lvl="1" indent="-259080" algn="l">
              <a:lnSpc>
                <a:spcPts val="3359"/>
              </a:lnSpc>
              <a:buAutoNum type="arabicPeriod"/>
            </a:pPr>
            <a:r>
              <a:rPr lang="en-US" sz="2000">
                <a:solidFill>
                  <a:srgbClr val="FFFFFF"/>
                </a:solidFill>
                <a:latin typeface="DM Sans"/>
                <a:ea typeface="DM Sans"/>
                <a:cs typeface="DM Sans"/>
                <a:sym typeface="DM Sans"/>
              </a:rPr>
              <a:t>LAUNCH GROUP POILCY MANAGEMENT (GPMC)</a:t>
            </a:r>
          </a:p>
          <a:p>
            <a:pPr marL="518160" lvl="1" indent="-259080" algn="l">
              <a:lnSpc>
                <a:spcPts val="3359"/>
              </a:lnSpc>
              <a:buAutoNum type="arabicPeriod"/>
            </a:pPr>
            <a:r>
              <a:rPr lang="en-US" sz="2000">
                <a:solidFill>
                  <a:srgbClr val="FFFFFF"/>
                </a:solidFill>
                <a:latin typeface="DM Sans"/>
                <a:ea typeface="DM Sans"/>
                <a:cs typeface="DM Sans"/>
                <a:sym typeface="DM Sans"/>
              </a:rPr>
              <a:t>Expand the domain.</a:t>
            </a:r>
          </a:p>
          <a:p>
            <a:pPr marL="518160" lvl="1" indent="-259080" algn="l">
              <a:lnSpc>
                <a:spcPts val="3359"/>
              </a:lnSpc>
              <a:buAutoNum type="arabicPeriod"/>
            </a:pPr>
            <a:r>
              <a:rPr lang="en-US" sz="2000">
                <a:solidFill>
                  <a:srgbClr val="FFFFFF"/>
                </a:solidFill>
                <a:latin typeface="DM Sans"/>
                <a:ea typeface="DM Sans"/>
                <a:cs typeface="DM Sans"/>
                <a:sym typeface="DM Sans"/>
              </a:rPr>
              <a:t>Locate “Group Policy Objects”</a:t>
            </a:r>
          </a:p>
          <a:p>
            <a:pPr marL="518160" lvl="1" indent="-259080" algn="l">
              <a:lnSpc>
                <a:spcPts val="3359"/>
              </a:lnSpc>
              <a:buAutoNum type="arabicPeriod"/>
            </a:pPr>
            <a:r>
              <a:rPr lang="en-US" sz="2000">
                <a:solidFill>
                  <a:srgbClr val="FFFFFF"/>
                </a:solidFill>
                <a:latin typeface="DM Sans"/>
                <a:ea typeface="DM Sans"/>
                <a:cs typeface="DM Sans"/>
                <a:sym typeface="DM Sans"/>
              </a:rPr>
              <a:t>Right-Click the policy \ “Back Up..”</a:t>
            </a:r>
          </a:p>
          <a:p>
            <a:pPr marL="518160" lvl="1" indent="-259080" algn="l">
              <a:lnSpc>
                <a:spcPts val="3359"/>
              </a:lnSpc>
              <a:spcBef>
                <a:spcPct val="0"/>
              </a:spcBef>
              <a:buAutoNum type="arabicPeriod"/>
            </a:pPr>
            <a:r>
              <a:rPr lang="en-US" sz="2000">
                <a:solidFill>
                  <a:srgbClr val="FFFFFF"/>
                </a:solidFill>
                <a:latin typeface="DM Sans"/>
                <a:ea typeface="DM Sans"/>
                <a:cs typeface="DM Sans"/>
                <a:sym typeface="DM Sans"/>
              </a:rPr>
              <a:t>Select a directory to store the backup.</a:t>
            </a:r>
          </a:p>
        </p:txBody>
      </p:sp>
      <p:sp>
        <p:nvSpPr>
          <p:cNvPr id="9" name="TextBox 3">
            <a:extLst>
              <a:ext uri="{FF2B5EF4-FFF2-40B4-BE49-F238E27FC236}">
                <a16:creationId xmlns:a16="http://schemas.microsoft.com/office/drawing/2014/main" id="{392099DE-C943-72C6-EE97-7D95A2E6F9EE}"/>
              </a:ext>
            </a:extLst>
          </p:cNvPr>
          <p:cNvSpPr txBox="1"/>
          <p:nvPr/>
        </p:nvSpPr>
        <p:spPr>
          <a:xfrm>
            <a:off x="304800" y="262752"/>
            <a:ext cx="9278888" cy="480695"/>
          </a:xfrm>
          <a:prstGeom prst="rect">
            <a:avLst/>
          </a:prstGeom>
        </p:spPr>
        <p:txBody>
          <a:bodyPr lIns="0" tIns="0" rIns="0" bIns="0" rtlCol="0" anchor="t">
            <a:spAutoFit/>
          </a:bodyPr>
          <a:lstStyle/>
          <a:p>
            <a:pPr marL="0" lvl="0" indent="0" algn="l">
              <a:lnSpc>
                <a:spcPts val="3640"/>
              </a:lnSpc>
            </a:pPr>
            <a:r>
              <a:rPr lang="en-US" sz="3500">
                <a:solidFill>
                  <a:srgbClr val="38B6FF"/>
                </a:solidFill>
                <a:latin typeface="Anton"/>
                <a:ea typeface="Anton"/>
                <a:cs typeface="Anton"/>
                <a:sym typeface="Anton"/>
              </a:rPr>
              <a:t>BONUS – Using Policy Analyzer</a:t>
            </a:r>
          </a:p>
        </p:txBody>
      </p:sp>
      <p:sp>
        <p:nvSpPr>
          <p:cNvPr id="10" name="TextBox 7">
            <a:extLst>
              <a:ext uri="{FF2B5EF4-FFF2-40B4-BE49-F238E27FC236}">
                <a16:creationId xmlns:a16="http://schemas.microsoft.com/office/drawing/2014/main" id="{819787CA-60B9-C3AB-4974-46DAD7A37E9E}"/>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a:solidFill>
                  <a:srgbClr val="FFFFFF"/>
                </a:solidFill>
                <a:latin typeface="Anton"/>
                <a:ea typeface="Anton"/>
                <a:cs typeface="Anton"/>
                <a:sym typeface="Anton"/>
              </a:rPr>
              <a:t>BONUS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28700" y="1605302"/>
            <a:ext cx="7918194" cy="469139"/>
          </a:xfrm>
          <a:prstGeom prst="rect">
            <a:avLst/>
          </a:prstGeom>
        </p:spPr>
        <p:txBody>
          <a:bodyPr lIns="0" tIns="0" rIns="0" bIns="0" rtlCol="0" anchor="t">
            <a:spAutoFit/>
          </a:bodyPr>
          <a:lstStyle/>
          <a:p>
            <a:pPr marL="0" lvl="0" indent="0" algn="l">
              <a:lnSpc>
                <a:spcPts val="3536"/>
              </a:lnSpc>
            </a:pPr>
            <a:r>
              <a:rPr lang="en-US" sz="3400">
                <a:solidFill>
                  <a:srgbClr val="38B6FF"/>
                </a:solidFill>
                <a:latin typeface="Anton"/>
                <a:ea typeface="Anton"/>
                <a:cs typeface="Anton"/>
                <a:sym typeface="Anton"/>
              </a:rPr>
              <a:t>DISA SITGS</a:t>
            </a:r>
          </a:p>
        </p:txBody>
      </p:sp>
      <p:sp>
        <p:nvSpPr>
          <p:cNvPr id="6" name="TextBox 6"/>
          <p:cNvSpPr txBox="1"/>
          <p:nvPr/>
        </p:nvSpPr>
        <p:spPr>
          <a:xfrm>
            <a:off x="1028700" y="2233206"/>
            <a:ext cx="7734300" cy="414922"/>
          </a:xfrm>
          <a:prstGeom prst="rect">
            <a:avLst/>
          </a:prstGeom>
        </p:spPr>
        <p:txBody>
          <a:bodyPr wrap="square" lIns="0" tIns="0" rIns="0" bIns="0" rtlCol="0" anchor="t">
            <a:spAutoFit/>
          </a:bodyPr>
          <a:lstStyle/>
          <a:p>
            <a:pPr algn="l">
              <a:lnSpc>
                <a:spcPts val="3360"/>
              </a:lnSpc>
              <a:spcBef>
                <a:spcPct val="0"/>
              </a:spcBef>
            </a:pPr>
            <a:r>
              <a:rPr lang="en-US" sz="2400" b="1">
                <a:solidFill>
                  <a:srgbClr val="737373"/>
                </a:solidFill>
                <a:latin typeface="DM Sans Bold"/>
                <a:ea typeface="DM Sans Bold"/>
                <a:cs typeface="DM Sans Bold"/>
                <a:sym typeface="DM Sans Bold"/>
              </a:rPr>
              <a:t>DISA = DEFENSE INFORMATION SECURITY AGENCY</a:t>
            </a:r>
          </a:p>
        </p:txBody>
      </p:sp>
      <p:sp>
        <p:nvSpPr>
          <p:cNvPr id="7" name="TextBox 7"/>
          <p:cNvSpPr txBox="1"/>
          <p:nvPr/>
        </p:nvSpPr>
        <p:spPr>
          <a:xfrm>
            <a:off x="1028700" y="3288384"/>
            <a:ext cx="6114610" cy="4796154"/>
          </a:xfrm>
          <a:prstGeom prst="rect">
            <a:avLst/>
          </a:prstGeom>
        </p:spPr>
        <p:txBody>
          <a:bodyPr lIns="0" tIns="0" rIns="0" bIns="0" rtlCol="0" anchor="t">
            <a:spAutoFit/>
          </a:bodyPr>
          <a:lstStyle/>
          <a:p>
            <a:pPr marL="604524" lvl="1" indent="-302262" algn="l">
              <a:lnSpc>
                <a:spcPts val="3920"/>
              </a:lnSpc>
              <a:buFont typeface="Arial"/>
              <a:buChar char="•"/>
            </a:pPr>
            <a:r>
              <a:rPr lang="en-US" sz="2800">
                <a:solidFill>
                  <a:srgbClr val="FFFFFF"/>
                </a:solidFill>
                <a:latin typeface="DM Sans"/>
                <a:ea typeface="DM Sans"/>
                <a:cs typeface="DM Sans"/>
                <a:sym typeface="DM Sans"/>
              </a:rPr>
              <a:t>US Gov. focused. </a:t>
            </a:r>
          </a:p>
          <a:p>
            <a:pPr marL="604524" lvl="1" indent="-302262" algn="l">
              <a:lnSpc>
                <a:spcPts val="3920"/>
              </a:lnSpc>
              <a:buFont typeface="Arial"/>
              <a:buChar char="•"/>
            </a:pPr>
            <a:r>
              <a:rPr lang="en-US" sz="2800">
                <a:solidFill>
                  <a:srgbClr val="FFFFFF"/>
                </a:solidFill>
                <a:latin typeface="DM Sans"/>
                <a:ea typeface="DM Sans"/>
                <a:cs typeface="DM Sans"/>
                <a:sym typeface="DM Sans"/>
              </a:rPr>
              <a:t>Not just Microsoft</a:t>
            </a:r>
          </a:p>
          <a:p>
            <a:pPr marL="604524" lvl="1" indent="-302262" algn="l">
              <a:lnSpc>
                <a:spcPts val="3920"/>
              </a:lnSpc>
              <a:buFont typeface="Arial"/>
              <a:buChar char="•"/>
            </a:pPr>
            <a:r>
              <a:rPr lang="en-US" sz="2800">
                <a:solidFill>
                  <a:srgbClr val="FFFFFF"/>
                </a:solidFill>
                <a:latin typeface="DM Sans"/>
                <a:ea typeface="DM Sans"/>
                <a:cs typeface="DM Sans"/>
                <a:sym typeface="DM Sans"/>
              </a:rPr>
              <a:t>More comprehensive than MS</a:t>
            </a:r>
          </a:p>
          <a:p>
            <a:pPr marL="604524" lvl="1" indent="-302262" algn="l">
              <a:lnSpc>
                <a:spcPts val="3920"/>
              </a:lnSpc>
              <a:buFont typeface="Arial"/>
              <a:buChar char="•"/>
            </a:pPr>
            <a:r>
              <a:rPr lang="en-US" sz="2800">
                <a:solidFill>
                  <a:srgbClr val="FFFFFF"/>
                </a:solidFill>
                <a:latin typeface="DM Sans"/>
                <a:ea typeface="DM Sans"/>
                <a:cs typeface="DM Sans"/>
                <a:sym typeface="DM Sans"/>
              </a:rPr>
              <a:t>Needs some tweaking</a:t>
            </a:r>
          </a:p>
          <a:p>
            <a:pPr marL="431809" lvl="1" indent="-215904" algn="l">
              <a:lnSpc>
                <a:spcPts val="2800"/>
              </a:lnSpc>
              <a:buFont typeface="Arial"/>
              <a:buChar char="•"/>
            </a:pPr>
            <a:r>
              <a:rPr lang="en-US" sz="2000">
                <a:solidFill>
                  <a:srgbClr val="2F7BD1"/>
                </a:solidFill>
                <a:latin typeface="DM Sans"/>
                <a:ea typeface="DM Sans"/>
                <a:cs typeface="DM Sans"/>
                <a:sym typeface="DM Sans"/>
              </a:rPr>
              <a:t>https://www.cyber.mil/stigs/</a:t>
            </a:r>
          </a:p>
          <a:p>
            <a:pPr algn="l">
              <a:lnSpc>
                <a:spcPts val="3920"/>
              </a:lnSpc>
            </a:pPr>
            <a:endParaRPr lang="en-US" sz="2000">
              <a:solidFill>
                <a:srgbClr val="2F7BD1"/>
              </a:solidFill>
              <a:latin typeface="DM Sans"/>
              <a:ea typeface="DM Sans"/>
              <a:cs typeface="DM Sans"/>
              <a:sym typeface="DM Sans"/>
            </a:endParaRPr>
          </a:p>
          <a:p>
            <a:pPr marL="604524" lvl="1" indent="-302262" algn="l">
              <a:lnSpc>
                <a:spcPts val="3920"/>
              </a:lnSpc>
              <a:buFont typeface="Arial"/>
              <a:buChar char="•"/>
            </a:pPr>
            <a:r>
              <a:rPr lang="en-US" sz="2800">
                <a:solidFill>
                  <a:srgbClr val="FFFFFF"/>
                </a:solidFill>
                <a:latin typeface="DM Sans"/>
                <a:ea typeface="DM Sans"/>
                <a:cs typeface="DM Sans"/>
                <a:sym typeface="DM Sans"/>
              </a:rPr>
              <a:t>Includes</a:t>
            </a:r>
          </a:p>
          <a:p>
            <a:pPr marL="1209049" lvl="2" indent="-403016" algn="l">
              <a:lnSpc>
                <a:spcPts val="3920"/>
              </a:lnSpc>
              <a:buFont typeface="Arial"/>
              <a:buChar char="⚬"/>
            </a:pPr>
            <a:r>
              <a:rPr lang="en-US" sz="2800">
                <a:solidFill>
                  <a:srgbClr val="FFFFFF"/>
                </a:solidFill>
                <a:latin typeface="DM Sans"/>
                <a:ea typeface="DM Sans"/>
                <a:cs typeface="DM Sans"/>
                <a:sym typeface="DM Sans"/>
              </a:rPr>
              <a:t>GPO Templates</a:t>
            </a:r>
          </a:p>
          <a:p>
            <a:pPr marL="1209049" lvl="2" indent="-403016" algn="l">
              <a:lnSpc>
                <a:spcPts val="3920"/>
              </a:lnSpc>
              <a:buFont typeface="Arial"/>
              <a:buChar char="⚬"/>
            </a:pPr>
            <a:r>
              <a:rPr lang="en-US" sz="2800">
                <a:solidFill>
                  <a:srgbClr val="FFFFFF"/>
                </a:solidFill>
                <a:latin typeface="DM Sans"/>
                <a:ea typeface="DM Sans"/>
                <a:cs typeface="DM Sans"/>
                <a:sym typeface="DM Sans"/>
              </a:rPr>
              <a:t>SCAP Tool</a:t>
            </a:r>
          </a:p>
          <a:p>
            <a:pPr marL="1209049" lvl="2" indent="-403016" algn="l">
              <a:lnSpc>
                <a:spcPts val="3920"/>
              </a:lnSpc>
              <a:buFont typeface="Arial"/>
              <a:buChar char="⚬"/>
            </a:pPr>
            <a:r>
              <a:rPr lang="en-US" sz="2800">
                <a:solidFill>
                  <a:srgbClr val="FFFFFF"/>
                </a:solidFill>
                <a:latin typeface="DM Sans"/>
                <a:ea typeface="DM Sans"/>
                <a:cs typeface="DM Sans"/>
                <a:sym typeface="DM Sans"/>
              </a:rPr>
              <a:t>Guides</a:t>
            </a:r>
          </a:p>
        </p:txBody>
      </p:sp>
      <p:sp>
        <p:nvSpPr>
          <p:cNvPr id="8" name="TextBox 8"/>
          <p:cNvSpPr txBox="1"/>
          <p:nvPr/>
        </p:nvSpPr>
        <p:spPr>
          <a:xfrm>
            <a:off x="1008759" y="2765557"/>
            <a:ext cx="7938135" cy="405764"/>
          </a:xfrm>
          <a:prstGeom prst="rect">
            <a:avLst/>
          </a:prstGeom>
        </p:spPr>
        <p:txBody>
          <a:bodyPr lIns="0" tIns="0" rIns="0" bIns="0" rtlCol="0" anchor="t">
            <a:spAutoFit/>
          </a:bodyPr>
          <a:lstStyle/>
          <a:p>
            <a:pPr algn="l">
              <a:lnSpc>
                <a:spcPts val="3360"/>
              </a:lnSpc>
              <a:spcBef>
                <a:spcPct val="0"/>
              </a:spcBef>
            </a:pPr>
            <a:r>
              <a:rPr lang="en-US" sz="2400" b="1">
                <a:solidFill>
                  <a:srgbClr val="737373"/>
                </a:solidFill>
                <a:latin typeface="DM Sans Bold"/>
                <a:ea typeface="DM Sans Bold"/>
                <a:cs typeface="DM Sans Bold"/>
                <a:sym typeface="DM Sans Bold"/>
              </a:rPr>
              <a:t>STIG = SECURITY TECHNICAL IMPLEMENTATION GUIDE </a:t>
            </a:r>
          </a:p>
        </p:txBody>
      </p:sp>
      <p:sp>
        <p:nvSpPr>
          <p:cNvPr id="9" name="Freeform 9"/>
          <p:cNvSpPr/>
          <p:nvPr/>
        </p:nvSpPr>
        <p:spPr>
          <a:xfrm>
            <a:off x="10291075" y="2074441"/>
            <a:ext cx="5885116" cy="6275795"/>
          </a:xfrm>
          <a:custGeom>
            <a:avLst/>
            <a:gdLst/>
            <a:ahLst/>
            <a:cxnLst/>
            <a:rect l="l" t="t" r="r" b="b"/>
            <a:pathLst>
              <a:path w="5885116" h="6275795">
                <a:moveTo>
                  <a:pt x="0" y="0"/>
                </a:moveTo>
                <a:lnTo>
                  <a:pt x="5885116" y="0"/>
                </a:lnTo>
                <a:lnTo>
                  <a:pt x="5885116" y="6275795"/>
                </a:lnTo>
                <a:lnTo>
                  <a:pt x="0" y="6275795"/>
                </a:lnTo>
                <a:lnTo>
                  <a:pt x="0" y="0"/>
                </a:lnTo>
                <a:close/>
              </a:path>
            </a:pathLst>
          </a:custGeom>
          <a:blipFill>
            <a:blip r:embed="rId3"/>
            <a:stretch>
              <a:fillRect/>
            </a:stretch>
          </a:blipFill>
          <a:ln w="38100" cap="sq">
            <a:solidFill>
              <a:srgbClr val="2F7BD1"/>
            </a:solidFill>
            <a:prstDash val="solid"/>
            <a:miter/>
          </a:ln>
        </p:spPr>
        <p:txBody>
          <a:bodyPr/>
          <a:lstStyle/>
          <a:p>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8558194" y="1557677"/>
            <a:ext cx="8407117" cy="5884982"/>
          </a:xfrm>
          <a:custGeom>
            <a:avLst/>
            <a:gdLst/>
            <a:ahLst/>
            <a:cxnLst/>
            <a:rect l="l" t="t" r="r" b="b"/>
            <a:pathLst>
              <a:path w="8407117" h="5884982">
                <a:moveTo>
                  <a:pt x="0" y="0"/>
                </a:moveTo>
                <a:lnTo>
                  <a:pt x="8407117" y="0"/>
                </a:lnTo>
                <a:lnTo>
                  <a:pt x="8407117" y="5884983"/>
                </a:lnTo>
                <a:lnTo>
                  <a:pt x="0" y="5884983"/>
                </a:lnTo>
                <a:lnTo>
                  <a:pt x="0" y="0"/>
                </a:lnTo>
                <a:close/>
              </a:path>
            </a:pathLst>
          </a:custGeom>
          <a:blipFill>
            <a:blip r:embed="rId3"/>
            <a:stretch>
              <a:fillRect/>
            </a:stretch>
          </a:blipFill>
          <a:ln w="38100" cap="sq">
            <a:solidFill>
              <a:srgbClr val="2F7BD1"/>
            </a:solidFill>
            <a:prstDash val="solid"/>
            <a:miter/>
          </a:ln>
        </p:spPr>
        <p:txBody>
          <a:bodyPr/>
          <a:lstStyle/>
          <a:p>
            <a:endParaRPr lang="en-US"/>
          </a:p>
        </p:txBody>
      </p:sp>
      <p:sp>
        <p:nvSpPr>
          <p:cNvPr id="4" name="TextBox 4"/>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p:cNvSpPr txBox="1"/>
          <p:nvPr/>
        </p:nvSpPr>
        <p:spPr>
          <a:xfrm>
            <a:off x="1028700" y="1605302"/>
            <a:ext cx="7918194" cy="469139"/>
          </a:xfrm>
          <a:prstGeom prst="rect">
            <a:avLst/>
          </a:prstGeom>
        </p:spPr>
        <p:txBody>
          <a:bodyPr lIns="0" tIns="0" rIns="0" bIns="0" rtlCol="0" anchor="t">
            <a:spAutoFit/>
          </a:bodyPr>
          <a:lstStyle/>
          <a:p>
            <a:pPr marL="0" lvl="0" indent="0" algn="l">
              <a:lnSpc>
                <a:spcPts val="3536"/>
              </a:lnSpc>
            </a:pPr>
            <a:r>
              <a:rPr lang="en-US" sz="3400">
                <a:solidFill>
                  <a:srgbClr val="38B6FF"/>
                </a:solidFill>
                <a:latin typeface="Anton"/>
                <a:ea typeface="Anton"/>
                <a:cs typeface="Anton"/>
                <a:sym typeface="Anton"/>
              </a:rPr>
              <a:t>CIS BENCHMARKS</a:t>
            </a:r>
          </a:p>
        </p:txBody>
      </p:sp>
      <p:sp>
        <p:nvSpPr>
          <p:cNvPr id="7" name="TextBox 7"/>
          <p:cNvSpPr txBox="1"/>
          <p:nvPr/>
        </p:nvSpPr>
        <p:spPr>
          <a:xfrm>
            <a:off x="1028700" y="2233206"/>
            <a:ext cx="5707380" cy="405764"/>
          </a:xfrm>
          <a:prstGeom prst="rect">
            <a:avLst/>
          </a:prstGeom>
        </p:spPr>
        <p:txBody>
          <a:bodyPr lIns="0" tIns="0" rIns="0" bIns="0" rtlCol="0" anchor="t">
            <a:spAutoFit/>
          </a:bodyPr>
          <a:lstStyle/>
          <a:p>
            <a:pPr algn="l">
              <a:lnSpc>
                <a:spcPts val="3360"/>
              </a:lnSpc>
              <a:spcBef>
                <a:spcPct val="0"/>
              </a:spcBef>
            </a:pPr>
            <a:r>
              <a:rPr lang="en-US" sz="2400" b="1">
                <a:solidFill>
                  <a:srgbClr val="737373"/>
                </a:solidFill>
                <a:latin typeface="DM Sans Bold"/>
                <a:ea typeface="DM Sans Bold"/>
                <a:cs typeface="DM Sans Bold"/>
                <a:sym typeface="DM Sans Bold"/>
              </a:rPr>
              <a:t>CIS = CENTER FOR INTERNET SECURITY </a:t>
            </a:r>
          </a:p>
        </p:txBody>
      </p:sp>
      <p:sp>
        <p:nvSpPr>
          <p:cNvPr id="8" name="TextBox 8"/>
          <p:cNvSpPr txBox="1"/>
          <p:nvPr/>
        </p:nvSpPr>
        <p:spPr>
          <a:xfrm>
            <a:off x="1028700" y="3288384"/>
            <a:ext cx="6901078" cy="3177539"/>
          </a:xfrm>
          <a:prstGeom prst="rect">
            <a:avLst/>
          </a:prstGeom>
        </p:spPr>
        <p:txBody>
          <a:bodyPr lIns="0" tIns="0" rIns="0" bIns="0" rtlCol="0" anchor="t">
            <a:spAutoFit/>
          </a:bodyPr>
          <a:lstStyle/>
          <a:p>
            <a:pPr marL="604524" lvl="1" indent="-302262" algn="l">
              <a:lnSpc>
                <a:spcPts val="3920"/>
              </a:lnSpc>
              <a:buFont typeface="Arial"/>
              <a:buChar char="•"/>
            </a:pPr>
            <a:r>
              <a:rPr lang="en-US" sz="2800">
                <a:solidFill>
                  <a:srgbClr val="FFFFFF"/>
                </a:solidFill>
                <a:latin typeface="DM Sans"/>
                <a:ea typeface="DM Sans"/>
                <a:cs typeface="DM Sans"/>
                <a:sym typeface="DM Sans"/>
              </a:rPr>
              <a:t>Like STIGs but less government</a:t>
            </a:r>
          </a:p>
          <a:p>
            <a:pPr marL="604524" lvl="1" indent="-302262" algn="l">
              <a:lnSpc>
                <a:spcPts val="3920"/>
              </a:lnSpc>
              <a:buFont typeface="Arial"/>
              <a:buChar char="•"/>
            </a:pPr>
            <a:r>
              <a:rPr lang="en-US" sz="2800">
                <a:solidFill>
                  <a:srgbClr val="FFFFFF"/>
                </a:solidFill>
                <a:latin typeface="DM Sans"/>
                <a:ea typeface="DM Sans"/>
                <a:cs typeface="DM Sans"/>
                <a:sym typeface="DM Sans"/>
              </a:rPr>
              <a:t>Requires email address for the guide</a:t>
            </a:r>
          </a:p>
          <a:p>
            <a:pPr marL="604524" lvl="1" indent="-302262" algn="l">
              <a:lnSpc>
                <a:spcPts val="3920"/>
              </a:lnSpc>
              <a:buFont typeface="Arial"/>
              <a:buChar char="•"/>
            </a:pPr>
            <a:r>
              <a:rPr lang="en-US" sz="2800">
                <a:solidFill>
                  <a:srgbClr val="FFFFFF"/>
                </a:solidFill>
                <a:latin typeface="DM Sans"/>
                <a:ea typeface="DM Sans"/>
                <a:cs typeface="DM Sans"/>
                <a:sym typeface="DM Sans"/>
              </a:rPr>
              <a:t>CIS CAT-Lite Scanner (req. email)</a:t>
            </a:r>
          </a:p>
          <a:p>
            <a:pPr marL="863601" lvl="2" indent="-287867" algn="l">
              <a:lnSpc>
                <a:spcPts val="2800"/>
              </a:lnSpc>
              <a:buFont typeface="Arial"/>
              <a:buChar char="⚬"/>
            </a:pPr>
            <a:r>
              <a:rPr lang="en-US" sz="2000">
                <a:solidFill>
                  <a:srgbClr val="FFFFFF"/>
                </a:solidFill>
                <a:latin typeface="DM Sans"/>
                <a:ea typeface="DM Sans"/>
                <a:cs typeface="DM Sans"/>
                <a:sym typeface="DM Sans"/>
              </a:rPr>
              <a:t>Limited to client OSes</a:t>
            </a:r>
          </a:p>
          <a:p>
            <a:pPr marL="604524" lvl="1" indent="-302262" algn="l">
              <a:lnSpc>
                <a:spcPts val="3920"/>
              </a:lnSpc>
              <a:buFont typeface="Arial"/>
              <a:buChar char="•"/>
            </a:pPr>
            <a:r>
              <a:rPr lang="en-US" sz="2800">
                <a:solidFill>
                  <a:srgbClr val="FFFFFF"/>
                </a:solidFill>
                <a:latin typeface="DM Sans"/>
                <a:ea typeface="DM Sans"/>
                <a:cs typeface="DM Sans"/>
                <a:sym typeface="DM Sans"/>
              </a:rPr>
              <a:t>Extremely comprehensive = Harder to navigate</a:t>
            </a:r>
          </a:p>
          <a:p>
            <a:pPr marL="431809" lvl="1" indent="-215904" algn="l">
              <a:lnSpc>
                <a:spcPts val="2800"/>
              </a:lnSpc>
              <a:buFont typeface="Arial"/>
              <a:buChar char="•"/>
            </a:pPr>
            <a:r>
              <a:rPr lang="en-US" sz="2000">
                <a:solidFill>
                  <a:srgbClr val="2F7BD1"/>
                </a:solidFill>
                <a:latin typeface="DM Sans"/>
                <a:ea typeface="DM Sans"/>
                <a:cs typeface="DM Sans"/>
                <a:sym typeface="DM Sans"/>
              </a:rPr>
              <a:t>https://downloads.cisecurity.org/#/</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76985" y="559561"/>
            <a:ext cx="7918194" cy="469139"/>
          </a:xfrm>
          <a:prstGeom prst="rect">
            <a:avLst/>
          </a:prstGeom>
        </p:spPr>
        <p:txBody>
          <a:bodyPr lIns="0" tIns="0" rIns="0" bIns="0" rtlCol="0" anchor="t">
            <a:spAutoFit/>
          </a:bodyPr>
          <a:lstStyle/>
          <a:p>
            <a:pPr marL="0" lvl="0" indent="0" algn="l">
              <a:lnSpc>
                <a:spcPts val="3536"/>
              </a:lnSpc>
            </a:pPr>
            <a:r>
              <a:rPr lang="en-US" sz="3400">
                <a:solidFill>
                  <a:srgbClr val="38B6FF"/>
                </a:solidFill>
                <a:latin typeface="Anton"/>
                <a:ea typeface="Anton"/>
                <a:cs typeface="Anton"/>
                <a:sym typeface="Anton"/>
              </a:rPr>
              <a:t>NOTABLE SECURITY SETTINGS</a:t>
            </a:r>
          </a:p>
        </p:txBody>
      </p:sp>
      <p:sp>
        <p:nvSpPr>
          <p:cNvPr id="6" name="TextBox 6"/>
          <p:cNvSpPr txBox="1"/>
          <p:nvPr/>
        </p:nvSpPr>
        <p:spPr>
          <a:xfrm>
            <a:off x="1094679" y="1488284"/>
            <a:ext cx="7593170" cy="1437005"/>
          </a:xfrm>
          <a:prstGeom prst="rect">
            <a:avLst/>
          </a:prstGeom>
        </p:spPr>
        <p:txBody>
          <a:bodyPr lIns="0" tIns="0" rIns="0" bIns="0" rtlCol="0" anchor="t">
            <a:spAutoFit/>
          </a:bodyPr>
          <a:lstStyle/>
          <a:p>
            <a:pPr algn="l">
              <a:lnSpc>
                <a:spcPts val="3920"/>
              </a:lnSpc>
            </a:pPr>
            <a:r>
              <a:rPr lang="en-US" sz="2800">
                <a:solidFill>
                  <a:srgbClr val="FFFFFF"/>
                </a:solidFill>
                <a:latin typeface="DM Sans"/>
                <a:ea typeface="DM Sans"/>
                <a:cs typeface="DM Sans"/>
                <a:sym typeface="DM Sans"/>
              </a:rPr>
              <a:t>LDAP Signing</a:t>
            </a:r>
          </a:p>
          <a:p>
            <a:pPr algn="just">
              <a:lnSpc>
                <a:spcPts val="2520"/>
              </a:lnSpc>
            </a:pPr>
            <a:r>
              <a:rPr lang="en-US" sz="1800">
                <a:solidFill>
                  <a:srgbClr val="737373"/>
                </a:solidFill>
                <a:latin typeface="DM Sans"/>
                <a:ea typeface="DM Sans"/>
                <a:cs typeface="DM Sans"/>
                <a:sym typeface="DM Sans"/>
              </a:rPr>
              <a:t>https://learn.microsoft.com/en-us/windows-server/identity/manage-ldap-signing-group-policy?tabs=windows-server-2025#identify-clients-using-unsigned-ldap-binds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76985" y="559561"/>
            <a:ext cx="7918194" cy="469139"/>
          </a:xfrm>
          <a:prstGeom prst="rect">
            <a:avLst/>
          </a:prstGeom>
        </p:spPr>
        <p:txBody>
          <a:bodyPr lIns="0" tIns="0" rIns="0" bIns="0" rtlCol="0" anchor="t">
            <a:spAutoFit/>
          </a:bodyPr>
          <a:lstStyle/>
          <a:p>
            <a:pPr marL="0" lvl="0" indent="0" algn="l">
              <a:lnSpc>
                <a:spcPts val="3536"/>
              </a:lnSpc>
            </a:pPr>
            <a:r>
              <a:rPr lang="en-US" sz="3400">
                <a:solidFill>
                  <a:srgbClr val="38B6FF"/>
                </a:solidFill>
                <a:latin typeface="Anton"/>
                <a:ea typeface="Anton"/>
                <a:cs typeface="Anton"/>
                <a:sym typeface="Anton"/>
              </a:rPr>
              <a:t>NOTABLE SECURITY SETTINGS</a:t>
            </a:r>
          </a:p>
        </p:txBody>
      </p:sp>
      <p:sp>
        <p:nvSpPr>
          <p:cNvPr id="6" name="TextBox 6"/>
          <p:cNvSpPr txBox="1"/>
          <p:nvPr/>
        </p:nvSpPr>
        <p:spPr>
          <a:xfrm>
            <a:off x="1094679" y="1488284"/>
            <a:ext cx="7593170" cy="1437005"/>
          </a:xfrm>
          <a:prstGeom prst="rect">
            <a:avLst/>
          </a:prstGeom>
        </p:spPr>
        <p:txBody>
          <a:bodyPr lIns="0" tIns="0" rIns="0" bIns="0" rtlCol="0" anchor="t">
            <a:spAutoFit/>
          </a:bodyPr>
          <a:lstStyle/>
          <a:p>
            <a:pPr algn="l">
              <a:lnSpc>
                <a:spcPts val="3920"/>
              </a:lnSpc>
            </a:pPr>
            <a:r>
              <a:rPr lang="en-US" sz="2800">
                <a:solidFill>
                  <a:srgbClr val="737373"/>
                </a:solidFill>
                <a:latin typeface="DM Sans"/>
                <a:ea typeface="DM Sans"/>
                <a:cs typeface="DM Sans"/>
                <a:sym typeface="DM Sans"/>
              </a:rPr>
              <a:t>LDAP Signing</a:t>
            </a:r>
          </a:p>
          <a:p>
            <a:pPr algn="just">
              <a:lnSpc>
                <a:spcPts val="2520"/>
              </a:lnSpc>
            </a:pPr>
            <a:r>
              <a:rPr lang="en-US" sz="1800">
                <a:solidFill>
                  <a:srgbClr val="737373"/>
                </a:solidFill>
                <a:latin typeface="DM Sans"/>
                <a:ea typeface="DM Sans"/>
                <a:cs typeface="DM Sans"/>
                <a:sym typeface="DM Sans"/>
              </a:rPr>
              <a:t>https://learn.microsoft.com/en-us/windows-server/identity/manage-ldap-signing-group-policy?tabs=windows-server-2025#identify-clients-using-unsigned-ldap-binds</a:t>
            </a:r>
          </a:p>
        </p:txBody>
      </p:sp>
      <p:sp>
        <p:nvSpPr>
          <p:cNvPr id="7" name="TextBox 7"/>
          <p:cNvSpPr txBox="1"/>
          <p:nvPr/>
        </p:nvSpPr>
        <p:spPr>
          <a:xfrm>
            <a:off x="1076985" y="3382489"/>
            <a:ext cx="7026913" cy="1437005"/>
          </a:xfrm>
          <a:prstGeom prst="rect">
            <a:avLst/>
          </a:prstGeom>
        </p:spPr>
        <p:txBody>
          <a:bodyPr lIns="0" tIns="0" rIns="0" bIns="0" rtlCol="0" anchor="t">
            <a:spAutoFit/>
          </a:bodyPr>
          <a:lstStyle/>
          <a:p>
            <a:pPr algn="just">
              <a:lnSpc>
                <a:spcPts val="3920"/>
              </a:lnSpc>
            </a:pPr>
            <a:r>
              <a:rPr lang="en-US" sz="2800">
                <a:solidFill>
                  <a:srgbClr val="FFFFFF"/>
                </a:solidFill>
                <a:latin typeface="DM Sans"/>
                <a:ea typeface="DM Sans"/>
                <a:cs typeface="DM Sans"/>
                <a:sym typeface="DM Sans"/>
              </a:rPr>
              <a:t>LDAP Channel Binding</a:t>
            </a:r>
          </a:p>
          <a:p>
            <a:pPr algn="l">
              <a:lnSpc>
                <a:spcPts val="2520"/>
              </a:lnSpc>
            </a:pPr>
            <a:r>
              <a:rPr lang="en-US" sz="1800">
                <a:solidFill>
                  <a:srgbClr val="737373"/>
                </a:solidFill>
                <a:latin typeface="DM Sans"/>
                <a:ea typeface="DM Sans"/>
                <a:cs typeface="DM Sans"/>
                <a:sym typeface="DM Sans"/>
              </a:rPr>
              <a:t>Reg Add HKEY_LOCAL_MACHINE\SYSTEM\CurrentControlSet\Services\NTDS\Diagnostics /v "16 LDAP Interface Events" /t REG_DWORD /d 2</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76985" y="559561"/>
            <a:ext cx="7918194" cy="469139"/>
          </a:xfrm>
          <a:prstGeom prst="rect">
            <a:avLst/>
          </a:prstGeom>
        </p:spPr>
        <p:txBody>
          <a:bodyPr lIns="0" tIns="0" rIns="0" bIns="0" rtlCol="0" anchor="t">
            <a:spAutoFit/>
          </a:bodyPr>
          <a:lstStyle/>
          <a:p>
            <a:pPr marL="0" lvl="0" indent="0" algn="l">
              <a:lnSpc>
                <a:spcPts val="3536"/>
              </a:lnSpc>
            </a:pPr>
            <a:r>
              <a:rPr lang="en-US" sz="3400">
                <a:solidFill>
                  <a:srgbClr val="38B6FF"/>
                </a:solidFill>
                <a:latin typeface="Anton"/>
                <a:ea typeface="Anton"/>
                <a:cs typeface="Anton"/>
                <a:sym typeface="Anton"/>
              </a:rPr>
              <a:t>NOTABLE SECURITY SETTINGS</a:t>
            </a:r>
          </a:p>
        </p:txBody>
      </p:sp>
      <p:sp>
        <p:nvSpPr>
          <p:cNvPr id="6" name="TextBox 6"/>
          <p:cNvSpPr txBox="1"/>
          <p:nvPr/>
        </p:nvSpPr>
        <p:spPr>
          <a:xfrm>
            <a:off x="1094679" y="1488284"/>
            <a:ext cx="7593170" cy="1437005"/>
          </a:xfrm>
          <a:prstGeom prst="rect">
            <a:avLst/>
          </a:prstGeom>
        </p:spPr>
        <p:txBody>
          <a:bodyPr lIns="0" tIns="0" rIns="0" bIns="0" rtlCol="0" anchor="t">
            <a:spAutoFit/>
          </a:bodyPr>
          <a:lstStyle/>
          <a:p>
            <a:pPr algn="l">
              <a:lnSpc>
                <a:spcPts val="3920"/>
              </a:lnSpc>
            </a:pPr>
            <a:r>
              <a:rPr lang="en-US" sz="2800">
                <a:solidFill>
                  <a:srgbClr val="737373"/>
                </a:solidFill>
                <a:latin typeface="DM Sans"/>
                <a:ea typeface="DM Sans"/>
                <a:cs typeface="DM Sans"/>
                <a:sym typeface="DM Sans"/>
              </a:rPr>
              <a:t>LDAP Signing</a:t>
            </a:r>
          </a:p>
          <a:p>
            <a:pPr algn="just">
              <a:lnSpc>
                <a:spcPts val="2520"/>
              </a:lnSpc>
            </a:pPr>
            <a:r>
              <a:rPr lang="en-US" sz="1800">
                <a:solidFill>
                  <a:srgbClr val="737373"/>
                </a:solidFill>
                <a:latin typeface="DM Sans"/>
                <a:ea typeface="DM Sans"/>
                <a:cs typeface="DM Sans"/>
                <a:sym typeface="DM Sans"/>
              </a:rPr>
              <a:t>https://learn.microsoft.com/en-us/windows-server/identity/manage-ldap-signing-group-policy?tabs=windows-server-2025#identify-clients-using-unsigned-ldap-binds</a:t>
            </a:r>
          </a:p>
        </p:txBody>
      </p:sp>
      <p:sp>
        <p:nvSpPr>
          <p:cNvPr id="7" name="TextBox 7"/>
          <p:cNvSpPr txBox="1"/>
          <p:nvPr/>
        </p:nvSpPr>
        <p:spPr>
          <a:xfrm>
            <a:off x="1076985" y="3382489"/>
            <a:ext cx="7026913" cy="1437005"/>
          </a:xfrm>
          <a:prstGeom prst="rect">
            <a:avLst/>
          </a:prstGeom>
        </p:spPr>
        <p:txBody>
          <a:bodyPr lIns="0" tIns="0" rIns="0" bIns="0" rtlCol="0" anchor="t">
            <a:spAutoFit/>
          </a:bodyPr>
          <a:lstStyle/>
          <a:p>
            <a:pPr algn="just">
              <a:lnSpc>
                <a:spcPts val="3920"/>
              </a:lnSpc>
            </a:pPr>
            <a:r>
              <a:rPr lang="en-US" sz="2800">
                <a:solidFill>
                  <a:srgbClr val="737373"/>
                </a:solidFill>
                <a:latin typeface="DM Sans"/>
                <a:ea typeface="DM Sans"/>
                <a:cs typeface="DM Sans"/>
                <a:sym typeface="DM Sans"/>
              </a:rPr>
              <a:t>LDAP Channel Binding</a:t>
            </a:r>
          </a:p>
          <a:p>
            <a:pPr algn="l">
              <a:lnSpc>
                <a:spcPts val="2520"/>
              </a:lnSpc>
            </a:pPr>
            <a:r>
              <a:rPr lang="en-US" sz="1800">
                <a:solidFill>
                  <a:srgbClr val="737373"/>
                </a:solidFill>
                <a:latin typeface="DM Sans"/>
                <a:ea typeface="DM Sans"/>
                <a:cs typeface="DM Sans"/>
                <a:sym typeface="DM Sans"/>
              </a:rPr>
              <a:t>Reg Add HKEY_LOCAL_MACHINE\SYSTEM\CurrentControlSet\Services\NTDS\Diagnostics /v "16 LDAP Interface Events" /t REG_DWORD /d 2</a:t>
            </a:r>
          </a:p>
        </p:txBody>
      </p:sp>
      <p:sp>
        <p:nvSpPr>
          <p:cNvPr id="8" name="TextBox 8"/>
          <p:cNvSpPr txBox="1"/>
          <p:nvPr/>
        </p:nvSpPr>
        <p:spPr>
          <a:xfrm>
            <a:off x="1094679" y="5276693"/>
            <a:ext cx="7593170" cy="1196340"/>
          </a:xfrm>
          <a:prstGeom prst="rect">
            <a:avLst/>
          </a:prstGeom>
        </p:spPr>
        <p:txBody>
          <a:bodyPr lIns="0" tIns="0" rIns="0" bIns="0" rtlCol="0" anchor="t">
            <a:spAutoFit/>
          </a:bodyPr>
          <a:lstStyle/>
          <a:p>
            <a:pPr algn="l">
              <a:lnSpc>
                <a:spcPts val="3920"/>
              </a:lnSpc>
            </a:pPr>
            <a:r>
              <a:rPr lang="en-US" sz="2800">
                <a:solidFill>
                  <a:srgbClr val="FFFFFF"/>
                </a:solidFill>
                <a:latin typeface="DM Sans"/>
                <a:ea typeface="DM Sans"/>
                <a:cs typeface="DM Sans"/>
                <a:sym typeface="DM Sans"/>
              </a:rPr>
              <a:t>SMB Signing</a:t>
            </a:r>
          </a:p>
          <a:p>
            <a:pPr algn="just">
              <a:lnSpc>
                <a:spcPts val="2800"/>
              </a:lnSpc>
            </a:pPr>
            <a:r>
              <a:rPr lang="en-US" sz="2000">
                <a:solidFill>
                  <a:srgbClr val="737373"/>
                </a:solidFill>
                <a:latin typeface="DM Sans"/>
                <a:ea typeface="DM Sans"/>
                <a:cs typeface="DM Sans"/>
                <a:sym typeface="DM Sans"/>
              </a:rPr>
              <a:t>https://learn.microsoft.com/en-us/windows-server/storage/file-server/smb-signing-overview</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76985" y="559561"/>
            <a:ext cx="7918194" cy="469139"/>
          </a:xfrm>
          <a:prstGeom prst="rect">
            <a:avLst/>
          </a:prstGeom>
        </p:spPr>
        <p:txBody>
          <a:bodyPr lIns="0" tIns="0" rIns="0" bIns="0" rtlCol="0" anchor="t">
            <a:spAutoFit/>
          </a:bodyPr>
          <a:lstStyle/>
          <a:p>
            <a:pPr marL="0" lvl="0" indent="0" algn="l">
              <a:lnSpc>
                <a:spcPts val="3536"/>
              </a:lnSpc>
            </a:pPr>
            <a:r>
              <a:rPr lang="en-US" sz="3400">
                <a:solidFill>
                  <a:srgbClr val="38B6FF"/>
                </a:solidFill>
                <a:latin typeface="Anton"/>
                <a:ea typeface="Anton"/>
                <a:cs typeface="Anton"/>
                <a:sym typeface="Anton"/>
              </a:rPr>
              <a:t>NOTABLE SECURITY SETTINGS</a:t>
            </a:r>
          </a:p>
        </p:txBody>
      </p:sp>
      <p:sp>
        <p:nvSpPr>
          <p:cNvPr id="6" name="TextBox 6"/>
          <p:cNvSpPr txBox="1"/>
          <p:nvPr/>
        </p:nvSpPr>
        <p:spPr>
          <a:xfrm>
            <a:off x="1094679" y="1488284"/>
            <a:ext cx="7593170" cy="1437005"/>
          </a:xfrm>
          <a:prstGeom prst="rect">
            <a:avLst/>
          </a:prstGeom>
        </p:spPr>
        <p:txBody>
          <a:bodyPr lIns="0" tIns="0" rIns="0" bIns="0" rtlCol="0" anchor="t">
            <a:spAutoFit/>
          </a:bodyPr>
          <a:lstStyle/>
          <a:p>
            <a:pPr algn="l">
              <a:lnSpc>
                <a:spcPts val="3920"/>
              </a:lnSpc>
            </a:pPr>
            <a:r>
              <a:rPr lang="en-US" sz="2800">
                <a:solidFill>
                  <a:srgbClr val="737373"/>
                </a:solidFill>
                <a:latin typeface="DM Sans"/>
                <a:ea typeface="DM Sans"/>
                <a:cs typeface="DM Sans"/>
                <a:sym typeface="DM Sans"/>
              </a:rPr>
              <a:t>LDAP Signing</a:t>
            </a:r>
          </a:p>
          <a:p>
            <a:pPr algn="just">
              <a:lnSpc>
                <a:spcPts val="2520"/>
              </a:lnSpc>
            </a:pPr>
            <a:r>
              <a:rPr lang="en-US" sz="1800">
                <a:solidFill>
                  <a:srgbClr val="737373"/>
                </a:solidFill>
                <a:latin typeface="DM Sans"/>
                <a:ea typeface="DM Sans"/>
                <a:cs typeface="DM Sans"/>
                <a:sym typeface="DM Sans"/>
              </a:rPr>
              <a:t>https://learn.microsoft.com/en-us/windows-server/identity/manage-ldap-signing-group-policy?tabs=windows-server-2025#identify-clients-using-unsigned-ldap-binds</a:t>
            </a:r>
          </a:p>
        </p:txBody>
      </p:sp>
      <p:sp>
        <p:nvSpPr>
          <p:cNvPr id="7" name="TextBox 7"/>
          <p:cNvSpPr txBox="1"/>
          <p:nvPr/>
        </p:nvSpPr>
        <p:spPr>
          <a:xfrm>
            <a:off x="1076985" y="3382489"/>
            <a:ext cx="7026913" cy="1437005"/>
          </a:xfrm>
          <a:prstGeom prst="rect">
            <a:avLst/>
          </a:prstGeom>
        </p:spPr>
        <p:txBody>
          <a:bodyPr lIns="0" tIns="0" rIns="0" bIns="0" rtlCol="0" anchor="t">
            <a:spAutoFit/>
          </a:bodyPr>
          <a:lstStyle/>
          <a:p>
            <a:pPr algn="just">
              <a:lnSpc>
                <a:spcPts val="3920"/>
              </a:lnSpc>
            </a:pPr>
            <a:r>
              <a:rPr lang="en-US" sz="2800">
                <a:solidFill>
                  <a:srgbClr val="737373"/>
                </a:solidFill>
                <a:latin typeface="DM Sans"/>
                <a:ea typeface="DM Sans"/>
                <a:cs typeface="DM Sans"/>
                <a:sym typeface="DM Sans"/>
              </a:rPr>
              <a:t>LDAP Channel Binding</a:t>
            </a:r>
          </a:p>
          <a:p>
            <a:pPr algn="l">
              <a:lnSpc>
                <a:spcPts val="2520"/>
              </a:lnSpc>
            </a:pPr>
            <a:r>
              <a:rPr lang="en-US" sz="1800">
                <a:solidFill>
                  <a:srgbClr val="737373"/>
                </a:solidFill>
                <a:latin typeface="DM Sans"/>
                <a:ea typeface="DM Sans"/>
                <a:cs typeface="DM Sans"/>
                <a:sym typeface="DM Sans"/>
              </a:rPr>
              <a:t>Reg Add HKEY_LOCAL_MACHINE\SYSTEM\CurrentControlSet\Services\NTDS\Diagnostics /v "16 LDAP Interface Events" /t REG_DWORD /d 2</a:t>
            </a:r>
          </a:p>
        </p:txBody>
      </p:sp>
      <p:sp>
        <p:nvSpPr>
          <p:cNvPr id="8" name="TextBox 8"/>
          <p:cNvSpPr txBox="1"/>
          <p:nvPr/>
        </p:nvSpPr>
        <p:spPr>
          <a:xfrm>
            <a:off x="1094679" y="5276693"/>
            <a:ext cx="7593170" cy="1196340"/>
          </a:xfrm>
          <a:prstGeom prst="rect">
            <a:avLst/>
          </a:prstGeom>
        </p:spPr>
        <p:txBody>
          <a:bodyPr lIns="0" tIns="0" rIns="0" bIns="0" rtlCol="0" anchor="t">
            <a:spAutoFit/>
          </a:bodyPr>
          <a:lstStyle/>
          <a:p>
            <a:pPr algn="l">
              <a:lnSpc>
                <a:spcPts val="3920"/>
              </a:lnSpc>
            </a:pPr>
            <a:r>
              <a:rPr lang="en-US" sz="2800">
                <a:solidFill>
                  <a:srgbClr val="737373"/>
                </a:solidFill>
                <a:latin typeface="DM Sans"/>
                <a:ea typeface="DM Sans"/>
                <a:cs typeface="DM Sans"/>
                <a:sym typeface="DM Sans"/>
              </a:rPr>
              <a:t>SMB Signing</a:t>
            </a:r>
          </a:p>
          <a:p>
            <a:pPr algn="just">
              <a:lnSpc>
                <a:spcPts val="2800"/>
              </a:lnSpc>
            </a:pPr>
            <a:r>
              <a:rPr lang="en-US" sz="2000">
                <a:solidFill>
                  <a:srgbClr val="737373"/>
                </a:solidFill>
                <a:latin typeface="DM Sans"/>
                <a:ea typeface="DM Sans"/>
                <a:cs typeface="DM Sans"/>
                <a:sym typeface="DM Sans"/>
              </a:rPr>
              <a:t>https://learn.microsoft.com/en-us/windows-server/storage/file-server/smb-signing-overview</a:t>
            </a:r>
          </a:p>
        </p:txBody>
      </p:sp>
      <p:sp>
        <p:nvSpPr>
          <p:cNvPr id="9" name="TextBox 9"/>
          <p:cNvSpPr txBox="1"/>
          <p:nvPr/>
        </p:nvSpPr>
        <p:spPr>
          <a:xfrm>
            <a:off x="1076985" y="6930233"/>
            <a:ext cx="9276211" cy="1548764"/>
          </a:xfrm>
          <a:prstGeom prst="rect">
            <a:avLst/>
          </a:prstGeom>
        </p:spPr>
        <p:txBody>
          <a:bodyPr lIns="0" tIns="0" rIns="0" bIns="0" rtlCol="0" anchor="t">
            <a:spAutoFit/>
          </a:bodyPr>
          <a:lstStyle/>
          <a:p>
            <a:pPr algn="l">
              <a:lnSpc>
                <a:spcPts val="3920"/>
              </a:lnSpc>
            </a:pPr>
            <a:r>
              <a:rPr lang="en-US" sz="2800">
                <a:solidFill>
                  <a:srgbClr val="FFFFFF"/>
                </a:solidFill>
                <a:latin typeface="DM Sans"/>
                <a:ea typeface="DM Sans"/>
                <a:cs typeface="DM Sans"/>
                <a:sym typeface="DM Sans"/>
              </a:rPr>
              <a:t>NTLM Hardening</a:t>
            </a:r>
          </a:p>
          <a:p>
            <a:pPr marL="431809" lvl="1" indent="-215904" algn="l">
              <a:lnSpc>
                <a:spcPts val="2800"/>
              </a:lnSpc>
              <a:buFont typeface="Arial"/>
              <a:buChar char="•"/>
            </a:pPr>
            <a:r>
              <a:rPr lang="en-US" sz="2000">
                <a:solidFill>
                  <a:srgbClr val="737373"/>
                </a:solidFill>
                <a:latin typeface="DM Sans"/>
                <a:ea typeface="DM Sans"/>
                <a:cs typeface="DM Sans"/>
                <a:sym typeface="DM Sans"/>
              </a:rPr>
              <a:t>NTLMv1 blocking forced enforcement Oct 2026</a:t>
            </a:r>
          </a:p>
          <a:p>
            <a:pPr marL="431809" lvl="1" indent="-215904" algn="l">
              <a:lnSpc>
                <a:spcPts val="2800"/>
              </a:lnSpc>
              <a:buFont typeface="Arial"/>
              <a:buChar char="•"/>
            </a:pPr>
            <a:r>
              <a:rPr lang="en-US" sz="2000">
                <a:solidFill>
                  <a:srgbClr val="737373"/>
                </a:solidFill>
                <a:latin typeface="DM Sans"/>
                <a:ea typeface="DM Sans"/>
                <a:cs typeface="DM Sans"/>
                <a:sym typeface="DM Sans"/>
              </a:rPr>
              <a:t>Auditing: GPMC \ Computer Settings \ Admin. Templates \ System \ NTLM \ NTLM Enhanced Logging</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76985" y="559561"/>
            <a:ext cx="7918194" cy="469139"/>
          </a:xfrm>
          <a:prstGeom prst="rect">
            <a:avLst/>
          </a:prstGeom>
        </p:spPr>
        <p:txBody>
          <a:bodyPr lIns="0" tIns="0" rIns="0" bIns="0" rtlCol="0" anchor="t">
            <a:spAutoFit/>
          </a:bodyPr>
          <a:lstStyle/>
          <a:p>
            <a:pPr marL="0" lvl="0" indent="0" algn="l">
              <a:lnSpc>
                <a:spcPts val="3536"/>
              </a:lnSpc>
            </a:pPr>
            <a:r>
              <a:rPr lang="en-US" sz="3400">
                <a:solidFill>
                  <a:srgbClr val="38B6FF"/>
                </a:solidFill>
                <a:latin typeface="Anton"/>
                <a:ea typeface="Anton"/>
                <a:cs typeface="Anton"/>
                <a:sym typeface="Anton"/>
              </a:rPr>
              <a:t>NOTABLE SECURITY SETTINGS</a:t>
            </a:r>
          </a:p>
        </p:txBody>
      </p:sp>
      <p:sp>
        <p:nvSpPr>
          <p:cNvPr id="6" name="TextBox 6"/>
          <p:cNvSpPr txBox="1"/>
          <p:nvPr/>
        </p:nvSpPr>
        <p:spPr>
          <a:xfrm>
            <a:off x="1094679" y="1488284"/>
            <a:ext cx="7593170" cy="1437005"/>
          </a:xfrm>
          <a:prstGeom prst="rect">
            <a:avLst/>
          </a:prstGeom>
        </p:spPr>
        <p:txBody>
          <a:bodyPr lIns="0" tIns="0" rIns="0" bIns="0" rtlCol="0" anchor="t">
            <a:spAutoFit/>
          </a:bodyPr>
          <a:lstStyle/>
          <a:p>
            <a:pPr algn="l">
              <a:lnSpc>
                <a:spcPts val="3920"/>
              </a:lnSpc>
            </a:pPr>
            <a:r>
              <a:rPr lang="en-US" sz="2800">
                <a:solidFill>
                  <a:srgbClr val="737373"/>
                </a:solidFill>
                <a:latin typeface="DM Sans"/>
                <a:ea typeface="DM Sans"/>
                <a:cs typeface="DM Sans"/>
                <a:sym typeface="DM Sans"/>
              </a:rPr>
              <a:t>LDAP Signing</a:t>
            </a:r>
          </a:p>
          <a:p>
            <a:pPr algn="just">
              <a:lnSpc>
                <a:spcPts val="2520"/>
              </a:lnSpc>
            </a:pPr>
            <a:r>
              <a:rPr lang="en-US" sz="1800">
                <a:solidFill>
                  <a:srgbClr val="737373"/>
                </a:solidFill>
                <a:latin typeface="DM Sans"/>
                <a:ea typeface="DM Sans"/>
                <a:cs typeface="DM Sans"/>
                <a:sym typeface="DM Sans"/>
              </a:rPr>
              <a:t>https://learn.microsoft.com/en-us/windows-server/identity/manage-ldap-signing-group-policy?tabs=windows-server-2025#identify-clients-using-unsigned-ldap-binds</a:t>
            </a:r>
          </a:p>
        </p:txBody>
      </p:sp>
      <p:sp>
        <p:nvSpPr>
          <p:cNvPr id="7" name="TextBox 7"/>
          <p:cNvSpPr txBox="1"/>
          <p:nvPr/>
        </p:nvSpPr>
        <p:spPr>
          <a:xfrm>
            <a:off x="1076985" y="3382489"/>
            <a:ext cx="7026913" cy="1437005"/>
          </a:xfrm>
          <a:prstGeom prst="rect">
            <a:avLst/>
          </a:prstGeom>
        </p:spPr>
        <p:txBody>
          <a:bodyPr lIns="0" tIns="0" rIns="0" bIns="0" rtlCol="0" anchor="t">
            <a:spAutoFit/>
          </a:bodyPr>
          <a:lstStyle/>
          <a:p>
            <a:pPr algn="just">
              <a:lnSpc>
                <a:spcPts val="3920"/>
              </a:lnSpc>
            </a:pPr>
            <a:r>
              <a:rPr lang="en-US" sz="2800">
                <a:solidFill>
                  <a:srgbClr val="737373"/>
                </a:solidFill>
                <a:latin typeface="DM Sans"/>
                <a:ea typeface="DM Sans"/>
                <a:cs typeface="DM Sans"/>
                <a:sym typeface="DM Sans"/>
              </a:rPr>
              <a:t>LDAP Channel Binding</a:t>
            </a:r>
          </a:p>
          <a:p>
            <a:pPr algn="l">
              <a:lnSpc>
                <a:spcPts val="2520"/>
              </a:lnSpc>
            </a:pPr>
            <a:r>
              <a:rPr lang="en-US" sz="1800">
                <a:solidFill>
                  <a:srgbClr val="737373"/>
                </a:solidFill>
                <a:latin typeface="DM Sans"/>
                <a:ea typeface="DM Sans"/>
                <a:cs typeface="DM Sans"/>
                <a:sym typeface="DM Sans"/>
              </a:rPr>
              <a:t>Reg Add HKEY_LOCAL_MACHINE\SYSTEM\CurrentControlSet\Services\NTDS\Diagnostics /v "16 LDAP Interface Events" /t REG_DWORD /d 2</a:t>
            </a:r>
          </a:p>
        </p:txBody>
      </p:sp>
      <p:sp>
        <p:nvSpPr>
          <p:cNvPr id="8" name="TextBox 8"/>
          <p:cNvSpPr txBox="1"/>
          <p:nvPr/>
        </p:nvSpPr>
        <p:spPr>
          <a:xfrm>
            <a:off x="1094679" y="5276693"/>
            <a:ext cx="7593170" cy="1196340"/>
          </a:xfrm>
          <a:prstGeom prst="rect">
            <a:avLst/>
          </a:prstGeom>
        </p:spPr>
        <p:txBody>
          <a:bodyPr lIns="0" tIns="0" rIns="0" bIns="0" rtlCol="0" anchor="t">
            <a:spAutoFit/>
          </a:bodyPr>
          <a:lstStyle/>
          <a:p>
            <a:pPr algn="l">
              <a:lnSpc>
                <a:spcPts val="3920"/>
              </a:lnSpc>
            </a:pPr>
            <a:r>
              <a:rPr lang="en-US" sz="2800">
                <a:solidFill>
                  <a:srgbClr val="737373"/>
                </a:solidFill>
                <a:latin typeface="DM Sans"/>
                <a:ea typeface="DM Sans"/>
                <a:cs typeface="DM Sans"/>
                <a:sym typeface="DM Sans"/>
              </a:rPr>
              <a:t>SMB Signing</a:t>
            </a:r>
          </a:p>
          <a:p>
            <a:pPr algn="just">
              <a:lnSpc>
                <a:spcPts val="2800"/>
              </a:lnSpc>
            </a:pPr>
            <a:r>
              <a:rPr lang="en-US" sz="2000">
                <a:solidFill>
                  <a:srgbClr val="737373"/>
                </a:solidFill>
                <a:latin typeface="DM Sans"/>
                <a:ea typeface="DM Sans"/>
                <a:cs typeface="DM Sans"/>
                <a:sym typeface="DM Sans"/>
              </a:rPr>
              <a:t>https://learn.microsoft.com/en-us/windows-server/storage/file-server/smb-signing-overview</a:t>
            </a:r>
          </a:p>
        </p:txBody>
      </p:sp>
      <p:sp>
        <p:nvSpPr>
          <p:cNvPr id="9" name="TextBox 9"/>
          <p:cNvSpPr txBox="1"/>
          <p:nvPr/>
        </p:nvSpPr>
        <p:spPr>
          <a:xfrm>
            <a:off x="1076985" y="6930233"/>
            <a:ext cx="9276211" cy="1548764"/>
          </a:xfrm>
          <a:prstGeom prst="rect">
            <a:avLst/>
          </a:prstGeom>
        </p:spPr>
        <p:txBody>
          <a:bodyPr lIns="0" tIns="0" rIns="0" bIns="0" rtlCol="0" anchor="t">
            <a:spAutoFit/>
          </a:bodyPr>
          <a:lstStyle/>
          <a:p>
            <a:pPr algn="l">
              <a:lnSpc>
                <a:spcPts val="3920"/>
              </a:lnSpc>
            </a:pPr>
            <a:r>
              <a:rPr lang="en-US" sz="2800">
                <a:solidFill>
                  <a:srgbClr val="737373"/>
                </a:solidFill>
                <a:latin typeface="DM Sans"/>
                <a:ea typeface="DM Sans"/>
                <a:cs typeface="DM Sans"/>
                <a:sym typeface="DM Sans"/>
              </a:rPr>
              <a:t>NTLM Hardening</a:t>
            </a:r>
          </a:p>
          <a:p>
            <a:pPr marL="431809" lvl="1" indent="-215904" algn="l">
              <a:lnSpc>
                <a:spcPts val="2800"/>
              </a:lnSpc>
              <a:buFont typeface="Arial"/>
              <a:buChar char="•"/>
            </a:pPr>
            <a:r>
              <a:rPr lang="en-US" sz="2000">
                <a:solidFill>
                  <a:srgbClr val="737373"/>
                </a:solidFill>
                <a:latin typeface="DM Sans"/>
                <a:ea typeface="DM Sans"/>
                <a:cs typeface="DM Sans"/>
                <a:sym typeface="DM Sans"/>
              </a:rPr>
              <a:t>NTLMv1 blocking forced enforcement Oct 2026</a:t>
            </a:r>
          </a:p>
          <a:p>
            <a:pPr marL="431809" lvl="1" indent="-215904" algn="l">
              <a:lnSpc>
                <a:spcPts val="2800"/>
              </a:lnSpc>
              <a:buFont typeface="Arial"/>
              <a:buChar char="•"/>
            </a:pPr>
            <a:r>
              <a:rPr lang="en-US" sz="2000">
                <a:solidFill>
                  <a:srgbClr val="737373"/>
                </a:solidFill>
                <a:latin typeface="DM Sans"/>
                <a:ea typeface="DM Sans"/>
                <a:cs typeface="DM Sans"/>
                <a:sym typeface="DM Sans"/>
              </a:rPr>
              <a:t>Auditing: GPMC \ Computer Settings \ Admin. Templates \ System \ NTLM \ NTLM Enhanced Logging</a:t>
            </a:r>
          </a:p>
        </p:txBody>
      </p:sp>
      <p:sp>
        <p:nvSpPr>
          <p:cNvPr id="10" name="TextBox 10"/>
          <p:cNvSpPr txBox="1"/>
          <p:nvPr/>
        </p:nvSpPr>
        <p:spPr>
          <a:xfrm>
            <a:off x="10698977" y="1488284"/>
            <a:ext cx="6901078" cy="2065655"/>
          </a:xfrm>
          <a:prstGeom prst="rect">
            <a:avLst/>
          </a:prstGeom>
        </p:spPr>
        <p:txBody>
          <a:bodyPr lIns="0" tIns="0" rIns="0" bIns="0" rtlCol="0" anchor="t">
            <a:spAutoFit/>
          </a:bodyPr>
          <a:lstStyle/>
          <a:p>
            <a:pPr algn="l">
              <a:lnSpc>
                <a:spcPts val="3920"/>
              </a:lnSpc>
            </a:pPr>
            <a:r>
              <a:rPr lang="en-US" sz="2800">
                <a:solidFill>
                  <a:srgbClr val="FFFFFF"/>
                </a:solidFill>
                <a:latin typeface="DM Sans"/>
                <a:ea typeface="DM Sans"/>
                <a:cs typeface="DM Sans"/>
                <a:sym typeface="DM Sans"/>
              </a:rPr>
              <a:t>Kerberos Encryption Types</a:t>
            </a:r>
          </a:p>
          <a:p>
            <a:pPr algn="l">
              <a:lnSpc>
                <a:spcPts val="2520"/>
              </a:lnSpc>
            </a:pPr>
            <a:r>
              <a:rPr lang="en-US" sz="1800">
                <a:solidFill>
                  <a:srgbClr val="737373"/>
                </a:solidFill>
                <a:latin typeface="DM Sans"/>
                <a:ea typeface="DM Sans"/>
                <a:cs typeface="DM Sans"/>
                <a:sym typeface="DM Sans"/>
              </a:rPr>
              <a:t>Get-ADUser -Filter "'msDS-SupportedEncryptionTypes' -band 0x4 -or 'msDS-SupportedEncryptionTypes' -band 0x1 -or 'msDS-SupportedEncryptionTypes' -band 0x2" -Properties msDS-SupportedEncryptionTypes</a:t>
            </a:r>
          </a:p>
          <a:p>
            <a:pPr algn="l">
              <a:lnSpc>
                <a:spcPts val="2520"/>
              </a:lnSpc>
            </a:pPr>
            <a:endParaRPr lang="en-US" sz="1800">
              <a:solidFill>
                <a:srgbClr val="737373"/>
              </a:solidFill>
              <a:latin typeface="DM Sans"/>
              <a:ea typeface="DM Sans"/>
              <a:cs typeface="DM Sans"/>
              <a:sym typeface="DM Sans"/>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76985" y="559561"/>
            <a:ext cx="7918194" cy="469139"/>
          </a:xfrm>
          <a:prstGeom prst="rect">
            <a:avLst/>
          </a:prstGeom>
        </p:spPr>
        <p:txBody>
          <a:bodyPr lIns="0" tIns="0" rIns="0" bIns="0" rtlCol="0" anchor="t">
            <a:spAutoFit/>
          </a:bodyPr>
          <a:lstStyle/>
          <a:p>
            <a:pPr marL="0" lvl="0" indent="0" algn="l">
              <a:lnSpc>
                <a:spcPts val="3536"/>
              </a:lnSpc>
            </a:pPr>
            <a:r>
              <a:rPr lang="en-US" sz="3400">
                <a:solidFill>
                  <a:srgbClr val="38B6FF"/>
                </a:solidFill>
                <a:latin typeface="Anton"/>
                <a:ea typeface="Anton"/>
                <a:cs typeface="Anton"/>
                <a:sym typeface="Anton"/>
              </a:rPr>
              <a:t>NOTABLE SECURITY SETTINGS</a:t>
            </a:r>
          </a:p>
        </p:txBody>
      </p:sp>
      <p:sp>
        <p:nvSpPr>
          <p:cNvPr id="6" name="TextBox 6"/>
          <p:cNvSpPr txBox="1"/>
          <p:nvPr/>
        </p:nvSpPr>
        <p:spPr>
          <a:xfrm>
            <a:off x="10698977" y="3728564"/>
            <a:ext cx="6901078" cy="1605279"/>
          </a:xfrm>
          <a:prstGeom prst="rect">
            <a:avLst/>
          </a:prstGeom>
        </p:spPr>
        <p:txBody>
          <a:bodyPr lIns="0" tIns="0" rIns="0" bIns="0" rtlCol="0" anchor="t">
            <a:spAutoFit/>
          </a:bodyPr>
          <a:lstStyle/>
          <a:p>
            <a:pPr algn="l">
              <a:lnSpc>
                <a:spcPts val="3920"/>
              </a:lnSpc>
            </a:pPr>
            <a:r>
              <a:rPr lang="en-US" sz="2800">
                <a:solidFill>
                  <a:srgbClr val="FFFFFF"/>
                </a:solidFill>
                <a:latin typeface="DM Sans"/>
                <a:ea typeface="DM Sans"/>
                <a:cs typeface="DM Sans"/>
                <a:sym typeface="DM Sans"/>
              </a:rPr>
              <a:t>Kerberos Delegations</a:t>
            </a:r>
          </a:p>
          <a:p>
            <a:pPr algn="l">
              <a:lnSpc>
                <a:spcPts val="2520"/>
              </a:lnSpc>
            </a:pPr>
            <a:r>
              <a:rPr lang="en-US" sz="1800">
                <a:solidFill>
                  <a:srgbClr val="737373"/>
                </a:solidFill>
                <a:latin typeface="DM Sans"/>
                <a:ea typeface="DM Sans"/>
                <a:cs typeface="DM Sans"/>
                <a:sym typeface="DM Sans"/>
              </a:rPr>
              <a:t>Get-ADComputer -Filter "'TrustedForDelegation' -eq $true -or 'TrustedToAuthenticateForDelegation' -eq $true"</a:t>
            </a:r>
          </a:p>
          <a:p>
            <a:pPr algn="l">
              <a:lnSpc>
                <a:spcPts val="3920"/>
              </a:lnSpc>
            </a:pPr>
            <a:endParaRPr lang="en-US" sz="1800">
              <a:solidFill>
                <a:srgbClr val="737373"/>
              </a:solidFill>
              <a:latin typeface="DM Sans"/>
              <a:ea typeface="DM Sans"/>
              <a:cs typeface="DM Sans"/>
              <a:sym typeface="DM Sans"/>
            </a:endParaRPr>
          </a:p>
        </p:txBody>
      </p:sp>
      <p:sp>
        <p:nvSpPr>
          <p:cNvPr id="7" name="TextBox 7"/>
          <p:cNvSpPr txBox="1"/>
          <p:nvPr/>
        </p:nvSpPr>
        <p:spPr>
          <a:xfrm>
            <a:off x="1094679" y="1488284"/>
            <a:ext cx="7593170" cy="1437005"/>
          </a:xfrm>
          <a:prstGeom prst="rect">
            <a:avLst/>
          </a:prstGeom>
        </p:spPr>
        <p:txBody>
          <a:bodyPr lIns="0" tIns="0" rIns="0" bIns="0" rtlCol="0" anchor="t">
            <a:spAutoFit/>
          </a:bodyPr>
          <a:lstStyle/>
          <a:p>
            <a:pPr algn="l">
              <a:lnSpc>
                <a:spcPts val="3920"/>
              </a:lnSpc>
            </a:pPr>
            <a:r>
              <a:rPr lang="en-US" sz="2800">
                <a:solidFill>
                  <a:srgbClr val="737373"/>
                </a:solidFill>
                <a:latin typeface="DM Sans"/>
                <a:ea typeface="DM Sans"/>
                <a:cs typeface="DM Sans"/>
                <a:sym typeface="DM Sans"/>
              </a:rPr>
              <a:t>LDAP Signing</a:t>
            </a:r>
          </a:p>
          <a:p>
            <a:pPr algn="just">
              <a:lnSpc>
                <a:spcPts val="2520"/>
              </a:lnSpc>
            </a:pPr>
            <a:r>
              <a:rPr lang="en-US" sz="1800">
                <a:solidFill>
                  <a:srgbClr val="737373"/>
                </a:solidFill>
                <a:latin typeface="DM Sans"/>
                <a:ea typeface="DM Sans"/>
                <a:cs typeface="DM Sans"/>
                <a:sym typeface="DM Sans"/>
              </a:rPr>
              <a:t>https://learn.microsoft.com/en-us/windows-server/identity/manage-ldap-signing-group-policy?tabs=windows-server-2025#identify-clients-using-unsigned-ldap-binds</a:t>
            </a:r>
          </a:p>
        </p:txBody>
      </p:sp>
      <p:sp>
        <p:nvSpPr>
          <p:cNvPr id="8" name="TextBox 8"/>
          <p:cNvSpPr txBox="1"/>
          <p:nvPr/>
        </p:nvSpPr>
        <p:spPr>
          <a:xfrm>
            <a:off x="1076985" y="3382489"/>
            <a:ext cx="7026913" cy="1437005"/>
          </a:xfrm>
          <a:prstGeom prst="rect">
            <a:avLst/>
          </a:prstGeom>
        </p:spPr>
        <p:txBody>
          <a:bodyPr lIns="0" tIns="0" rIns="0" bIns="0" rtlCol="0" anchor="t">
            <a:spAutoFit/>
          </a:bodyPr>
          <a:lstStyle/>
          <a:p>
            <a:pPr algn="just">
              <a:lnSpc>
                <a:spcPts val="3920"/>
              </a:lnSpc>
            </a:pPr>
            <a:r>
              <a:rPr lang="en-US" sz="2800">
                <a:solidFill>
                  <a:srgbClr val="737373"/>
                </a:solidFill>
                <a:latin typeface="DM Sans"/>
                <a:ea typeface="DM Sans"/>
                <a:cs typeface="DM Sans"/>
                <a:sym typeface="DM Sans"/>
              </a:rPr>
              <a:t>LDAP Channel Binding</a:t>
            </a:r>
          </a:p>
          <a:p>
            <a:pPr algn="l">
              <a:lnSpc>
                <a:spcPts val="2520"/>
              </a:lnSpc>
            </a:pPr>
            <a:r>
              <a:rPr lang="en-US" sz="1800">
                <a:solidFill>
                  <a:srgbClr val="737373"/>
                </a:solidFill>
                <a:latin typeface="DM Sans"/>
                <a:ea typeface="DM Sans"/>
                <a:cs typeface="DM Sans"/>
                <a:sym typeface="DM Sans"/>
              </a:rPr>
              <a:t>Reg Add HKEY_LOCAL_MACHINE\SYSTEM\CurrentControlSet\Services\NTDS\Diagnostics /v "16 LDAP Interface Events" /t REG_DWORD /d 2</a:t>
            </a:r>
          </a:p>
        </p:txBody>
      </p:sp>
      <p:sp>
        <p:nvSpPr>
          <p:cNvPr id="9" name="TextBox 9"/>
          <p:cNvSpPr txBox="1"/>
          <p:nvPr/>
        </p:nvSpPr>
        <p:spPr>
          <a:xfrm>
            <a:off x="1094679" y="5276693"/>
            <a:ext cx="7593170" cy="1196340"/>
          </a:xfrm>
          <a:prstGeom prst="rect">
            <a:avLst/>
          </a:prstGeom>
        </p:spPr>
        <p:txBody>
          <a:bodyPr lIns="0" tIns="0" rIns="0" bIns="0" rtlCol="0" anchor="t">
            <a:spAutoFit/>
          </a:bodyPr>
          <a:lstStyle/>
          <a:p>
            <a:pPr algn="l">
              <a:lnSpc>
                <a:spcPts val="3920"/>
              </a:lnSpc>
            </a:pPr>
            <a:r>
              <a:rPr lang="en-US" sz="2800">
                <a:solidFill>
                  <a:srgbClr val="737373"/>
                </a:solidFill>
                <a:latin typeface="DM Sans"/>
                <a:ea typeface="DM Sans"/>
                <a:cs typeface="DM Sans"/>
                <a:sym typeface="DM Sans"/>
              </a:rPr>
              <a:t>SMB Signing</a:t>
            </a:r>
          </a:p>
          <a:p>
            <a:pPr algn="just">
              <a:lnSpc>
                <a:spcPts val="2800"/>
              </a:lnSpc>
            </a:pPr>
            <a:r>
              <a:rPr lang="en-US" sz="2000">
                <a:solidFill>
                  <a:srgbClr val="737373"/>
                </a:solidFill>
                <a:latin typeface="DM Sans"/>
                <a:ea typeface="DM Sans"/>
                <a:cs typeface="DM Sans"/>
                <a:sym typeface="DM Sans"/>
              </a:rPr>
              <a:t>https://learn.microsoft.com/en-us/windows-server/storage/file-server/smb-signing-overview</a:t>
            </a:r>
          </a:p>
        </p:txBody>
      </p:sp>
      <p:sp>
        <p:nvSpPr>
          <p:cNvPr id="10" name="TextBox 10"/>
          <p:cNvSpPr txBox="1"/>
          <p:nvPr/>
        </p:nvSpPr>
        <p:spPr>
          <a:xfrm>
            <a:off x="1076985" y="6930233"/>
            <a:ext cx="9276211" cy="1548764"/>
          </a:xfrm>
          <a:prstGeom prst="rect">
            <a:avLst/>
          </a:prstGeom>
        </p:spPr>
        <p:txBody>
          <a:bodyPr lIns="0" tIns="0" rIns="0" bIns="0" rtlCol="0" anchor="t">
            <a:spAutoFit/>
          </a:bodyPr>
          <a:lstStyle/>
          <a:p>
            <a:pPr algn="l">
              <a:lnSpc>
                <a:spcPts val="3920"/>
              </a:lnSpc>
            </a:pPr>
            <a:r>
              <a:rPr lang="en-US" sz="2800">
                <a:solidFill>
                  <a:srgbClr val="737373"/>
                </a:solidFill>
                <a:latin typeface="DM Sans"/>
                <a:ea typeface="DM Sans"/>
                <a:cs typeface="DM Sans"/>
                <a:sym typeface="DM Sans"/>
              </a:rPr>
              <a:t>NTLM Hardening</a:t>
            </a:r>
          </a:p>
          <a:p>
            <a:pPr marL="431809" lvl="1" indent="-215904" algn="l">
              <a:lnSpc>
                <a:spcPts val="2800"/>
              </a:lnSpc>
              <a:buFont typeface="Arial"/>
              <a:buChar char="•"/>
            </a:pPr>
            <a:r>
              <a:rPr lang="en-US" sz="2000">
                <a:solidFill>
                  <a:srgbClr val="737373"/>
                </a:solidFill>
                <a:latin typeface="DM Sans"/>
                <a:ea typeface="DM Sans"/>
                <a:cs typeface="DM Sans"/>
                <a:sym typeface="DM Sans"/>
              </a:rPr>
              <a:t>NTLMv1 blocking forced enforcement Oct 2026</a:t>
            </a:r>
          </a:p>
          <a:p>
            <a:pPr marL="431809" lvl="1" indent="-215904" algn="l">
              <a:lnSpc>
                <a:spcPts val="2800"/>
              </a:lnSpc>
              <a:buFont typeface="Arial"/>
              <a:buChar char="•"/>
            </a:pPr>
            <a:r>
              <a:rPr lang="en-US" sz="2000">
                <a:solidFill>
                  <a:srgbClr val="737373"/>
                </a:solidFill>
                <a:latin typeface="DM Sans"/>
                <a:ea typeface="DM Sans"/>
                <a:cs typeface="DM Sans"/>
                <a:sym typeface="DM Sans"/>
              </a:rPr>
              <a:t>Auditing: GPMC \ Computer Settings \ Admin. Templates \ System \ NTLM \ NTLM Enhanced Logging</a:t>
            </a:r>
          </a:p>
        </p:txBody>
      </p:sp>
      <p:sp>
        <p:nvSpPr>
          <p:cNvPr id="11" name="TextBox 11"/>
          <p:cNvSpPr txBox="1"/>
          <p:nvPr/>
        </p:nvSpPr>
        <p:spPr>
          <a:xfrm>
            <a:off x="10698977" y="1488284"/>
            <a:ext cx="6901078" cy="2065655"/>
          </a:xfrm>
          <a:prstGeom prst="rect">
            <a:avLst/>
          </a:prstGeom>
        </p:spPr>
        <p:txBody>
          <a:bodyPr lIns="0" tIns="0" rIns="0" bIns="0" rtlCol="0" anchor="t">
            <a:spAutoFit/>
          </a:bodyPr>
          <a:lstStyle/>
          <a:p>
            <a:pPr algn="l">
              <a:lnSpc>
                <a:spcPts val="3920"/>
              </a:lnSpc>
            </a:pPr>
            <a:r>
              <a:rPr lang="en-US" sz="2800">
                <a:solidFill>
                  <a:srgbClr val="737373"/>
                </a:solidFill>
                <a:latin typeface="DM Sans"/>
                <a:ea typeface="DM Sans"/>
                <a:cs typeface="DM Sans"/>
                <a:sym typeface="DM Sans"/>
              </a:rPr>
              <a:t>Kerberos Encryption Types</a:t>
            </a:r>
          </a:p>
          <a:p>
            <a:pPr algn="l">
              <a:lnSpc>
                <a:spcPts val="2520"/>
              </a:lnSpc>
            </a:pPr>
            <a:r>
              <a:rPr lang="en-US" sz="1800">
                <a:solidFill>
                  <a:srgbClr val="737373"/>
                </a:solidFill>
                <a:latin typeface="DM Sans"/>
                <a:ea typeface="DM Sans"/>
                <a:cs typeface="DM Sans"/>
                <a:sym typeface="DM Sans"/>
              </a:rPr>
              <a:t>Get-ADUser -Filter "'msDS-SupportedEncryptionTypes' -band 0x4 -or 'msDS-SupportedEncryptionTypes' -band 0x1 -or 'msDS-SupportedEncryptionTypes' -band 0x2" -Properties msDS-SupportedEncryptionTypes</a:t>
            </a:r>
          </a:p>
          <a:p>
            <a:pPr algn="l">
              <a:lnSpc>
                <a:spcPts val="2520"/>
              </a:lnSpc>
            </a:pPr>
            <a:endParaRPr lang="en-US" sz="1800">
              <a:solidFill>
                <a:srgbClr val="737373"/>
              </a:solidFill>
              <a:latin typeface="DM Sans"/>
              <a:ea typeface="DM Sans"/>
              <a:cs typeface="DM Sans"/>
              <a:sym typeface="DM San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28700" y="1605302"/>
            <a:ext cx="7918194" cy="469139"/>
          </a:xfrm>
          <a:prstGeom prst="rect">
            <a:avLst/>
          </a:prstGeom>
        </p:spPr>
        <p:txBody>
          <a:bodyPr lIns="0" tIns="0" rIns="0" bIns="0" rtlCol="0" anchor="t">
            <a:spAutoFit/>
          </a:bodyPr>
          <a:lstStyle/>
          <a:p>
            <a:pPr marL="0" lvl="0" indent="0" algn="l">
              <a:lnSpc>
                <a:spcPts val="3536"/>
              </a:lnSpc>
            </a:pPr>
            <a:r>
              <a:rPr lang="en-US" sz="3400">
                <a:solidFill>
                  <a:srgbClr val="38B6FF"/>
                </a:solidFill>
                <a:latin typeface="Anton"/>
                <a:ea typeface="Anton"/>
                <a:cs typeface="Anton"/>
                <a:sym typeface="Anton"/>
              </a:rPr>
              <a:t>BASELINES IMPLEMENTATION - WHERE TO START?</a:t>
            </a:r>
          </a:p>
        </p:txBody>
      </p:sp>
      <p:sp>
        <p:nvSpPr>
          <p:cNvPr id="6" name="TextBox 6"/>
          <p:cNvSpPr txBox="1"/>
          <p:nvPr/>
        </p:nvSpPr>
        <p:spPr>
          <a:xfrm>
            <a:off x="1028700" y="2543376"/>
            <a:ext cx="6901078" cy="693800"/>
          </a:xfrm>
          <a:prstGeom prst="rect">
            <a:avLst/>
          </a:prstGeom>
        </p:spPr>
        <p:txBody>
          <a:bodyPr lIns="0" tIns="0" rIns="0" bIns="0" rtlCol="0" anchor="t">
            <a:spAutoFit/>
          </a:bodyPr>
          <a:lstStyle/>
          <a:p>
            <a:pPr algn="l">
              <a:lnSpc>
                <a:spcPts val="5952"/>
              </a:lnSpc>
            </a:pPr>
            <a:r>
              <a:rPr lang="en-US" sz="3200" dirty="0">
                <a:solidFill>
                  <a:srgbClr val="FFFFFF"/>
                </a:solidFill>
                <a:latin typeface="DM Sans"/>
                <a:ea typeface="DM Sans"/>
                <a:cs typeface="DM Sans"/>
                <a:sym typeface="DM Sans"/>
              </a:rPr>
              <a:t>Start with MS Security Baselines</a:t>
            </a:r>
          </a:p>
        </p:txBody>
      </p:sp>
      <p:sp>
        <p:nvSpPr>
          <p:cNvPr id="7" name="TextBox 7"/>
          <p:cNvSpPr txBox="1"/>
          <p:nvPr/>
        </p:nvSpPr>
        <p:spPr>
          <a:xfrm>
            <a:off x="1028700" y="3496538"/>
            <a:ext cx="6901078" cy="693800"/>
          </a:xfrm>
          <a:prstGeom prst="rect">
            <a:avLst/>
          </a:prstGeom>
        </p:spPr>
        <p:txBody>
          <a:bodyPr lIns="0" tIns="0" rIns="0" bIns="0" rtlCol="0" anchor="t">
            <a:spAutoFit/>
          </a:bodyPr>
          <a:lstStyle/>
          <a:p>
            <a:pPr algn="l">
              <a:lnSpc>
                <a:spcPts val="5952"/>
              </a:lnSpc>
            </a:pPr>
            <a:r>
              <a:rPr lang="en-US" sz="3200" dirty="0">
                <a:solidFill>
                  <a:srgbClr val="FFFFFF"/>
                </a:solidFill>
                <a:latin typeface="DM Sans"/>
                <a:ea typeface="DM Sans"/>
                <a:cs typeface="DM Sans"/>
                <a:sym typeface="DM Sans"/>
              </a:rPr>
              <a:t>Sort Settings by Impact vs. Risk</a:t>
            </a:r>
          </a:p>
        </p:txBody>
      </p:sp>
      <p:sp>
        <p:nvSpPr>
          <p:cNvPr id="8" name="TextBox 8"/>
          <p:cNvSpPr txBox="1"/>
          <p:nvPr/>
        </p:nvSpPr>
        <p:spPr>
          <a:xfrm>
            <a:off x="1028700" y="4449700"/>
            <a:ext cx="6901078" cy="693800"/>
          </a:xfrm>
          <a:prstGeom prst="rect">
            <a:avLst/>
          </a:prstGeom>
        </p:spPr>
        <p:txBody>
          <a:bodyPr lIns="0" tIns="0" rIns="0" bIns="0" rtlCol="0" anchor="t">
            <a:spAutoFit/>
          </a:bodyPr>
          <a:lstStyle/>
          <a:p>
            <a:pPr algn="l">
              <a:lnSpc>
                <a:spcPts val="5952"/>
              </a:lnSpc>
            </a:pPr>
            <a:r>
              <a:rPr lang="en-US" sz="3200" dirty="0">
                <a:solidFill>
                  <a:srgbClr val="FFFFFF"/>
                </a:solidFill>
                <a:latin typeface="DM Sans"/>
                <a:ea typeface="DM Sans"/>
                <a:cs typeface="DM Sans"/>
                <a:sym typeface="DM Sans"/>
              </a:rPr>
              <a:t>Deploy to Non-Critical Servers First</a:t>
            </a:r>
          </a:p>
        </p:txBody>
      </p:sp>
      <p:sp>
        <p:nvSpPr>
          <p:cNvPr id="9" name="TextBox 9"/>
          <p:cNvSpPr txBox="1"/>
          <p:nvPr/>
        </p:nvSpPr>
        <p:spPr>
          <a:xfrm>
            <a:off x="1028700" y="5400675"/>
            <a:ext cx="7552902" cy="693800"/>
          </a:xfrm>
          <a:prstGeom prst="rect">
            <a:avLst/>
          </a:prstGeom>
        </p:spPr>
        <p:txBody>
          <a:bodyPr lIns="0" tIns="0" rIns="0" bIns="0" rtlCol="0" anchor="t">
            <a:spAutoFit/>
          </a:bodyPr>
          <a:lstStyle/>
          <a:p>
            <a:pPr algn="l">
              <a:lnSpc>
                <a:spcPts val="5952"/>
              </a:lnSpc>
            </a:pPr>
            <a:r>
              <a:rPr lang="en-US" sz="3200" dirty="0">
                <a:solidFill>
                  <a:srgbClr val="FFFFFF"/>
                </a:solidFill>
                <a:latin typeface="DM Sans"/>
                <a:ea typeface="DM Sans"/>
                <a:cs typeface="DM Sans"/>
                <a:sym typeface="DM Sans"/>
              </a:rPr>
              <a:t>Coordinate with Depts. for Deployment</a:t>
            </a:r>
          </a:p>
        </p:txBody>
      </p:sp>
      <p:sp>
        <p:nvSpPr>
          <p:cNvPr id="10" name="TextBox 10"/>
          <p:cNvSpPr txBox="1"/>
          <p:nvPr/>
        </p:nvSpPr>
        <p:spPr>
          <a:xfrm>
            <a:off x="1028700" y="6351650"/>
            <a:ext cx="8038807" cy="693800"/>
          </a:xfrm>
          <a:prstGeom prst="rect">
            <a:avLst/>
          </a:prstGeom>
        </p:spPr>
        <p:txBody>
          <a:bodyPr lIns="0" tIns="0" rIns="0" bIns="0" rtlCol="0" anchor="t">
            <a:spAutoFit/>
          </a:bodyPr>
          <a:lstStyle/>
          <a:p>
            <a:pPr algn="l">
              <a:lnSpc>
                <a:spcPts val="5952"/>
              </a:lnSpc>
            </a:pPr>
            <a:r>
              <a:rPr lang="en-US" sz="3200" dirty="0">
                <a:solidFill>
                  <a:srgbClr val="FFFFFF"/>
                </a:solidFill>
                <a:latin typeface="DM Sans"/>
                <a:ea typeface="DM Sans"/>
                <a:cs typeface="DM Sans"/>
                <a:sym typeface="DM Sans"/>
              </a:rPr>
              <a:t>Review STIGs/CIS Benchmarks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666" b="-666"/>
            </a:stretch>
          </a:blipFill>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AutoShape 4"/>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grpSp>
        <p:nvGrpSpPr>
          <p:cNvPr id="6" name="Group 6"/>
          <p:cNvGrpSpPr/>
          <p:nvPr/>
        </p:nvGrpSpPr>
        <p:grpSpPr>
          <a:xfrm>
            <a:off x="1028700" y="1121569"/>
            <a:ext cx="7777772" cy="3497100"/>
            <a:chOff x="0" y="123825"/>
            <a:chExt cx="10370362" cy="4662800"/>
          </a:xfrm>
        </p:grpSpPr>
        <p:sp>
          <p:nvSpPr>
            <p:cNvPr id="7" name="TextBox 7"/>
            <p:cNvSpPr txBox="1"/>
            <p:nvPr/>
          </p:nvSpPr>
          <p:spPr>
            <a:xfrm>
              <a:off x="0" y="123825"/>
              <a:ext cx="10370362" cy="3078262"/>
            </a:xfrm>
            <a:prstGeom prst="rect">
              <a:avLst/>
            </a:prstGeom>
          </p:spPr>
          <p:txBody>
            <a:bodyPr lIns="0" tIns="0" rIns="0" bIns="0" rtlCol="0" anchor="t">
              <a:spAutoFit/>
            </a:bodyPr>
            <a:lstStyle/>
            <a:p>
              <a:pPr marL="0" lvl="0" indent="0" algn="l">
                <a:lnSpc>
                  <a:spcPts val="8839"/>
                </a:lnSpc>
              </a:pPr>
              <a:r>
                <a:rPr lang="en-US" sz="8499" dirty="0">
                  <a:solidFill>
                    <a:srgbClr val="FFFFFF"/>
                  </a:solidFill>
                  <a:latin typeface="Anton"/>
                  <a:ea typeface="Anton"/>
                  <a:cs typeface="Anton"/>
                  <a:sym typeface="Anton"/>
                </a:rPr>
                <a:t>THE GHOST OF WEAK PASSWORDS</a:t>
              </a:r>
            </a:p>
          </p:txBody>
        </p:sp>
        <p:sp>
          <p:nvSpPr>
            <p:cNvPr id="8" name="TextBox 8"/>
            <p:cNvSpPr txBox="1"/>
            <p:nvPr/>
          </p:nvSpPr>
          <p:spPr>
            <a:xfrm>
              <a:off x="0" y="3714617"/>
              <a:ext cx="9296399" cy="1072008"/>
            </a:xfrm>
            <a:prstGeom prst="rect">
              <a:avLst/>
            </a:prstGeom>
          </p:spPr>
          <p:txBody>
            <a:bodyPr wrap="square" lIns="0" tIns="0" rIns="0" bIns="0" rtlCol="0" anchor="t">
              <a:spAutoFit/>
            </a:bodyPr>
            <a:lstStyle/>
            <a:p>
              <a:pPr marL="0" lvl="0" indent="0" algn="l">
                <a:lnSpc>
                  <a:spcPts val="5928"/>
                </a:lnSpc>
              </a:pPr>
              <a:r>
                <a:rPr lang="en-US" sz="5700">
                  <a:solidFill>
                    <a:srgbClr val="38B6FF"/>
                  </a:solidFill>
                  <a:latin typeface="DM Sans"/>
                  <a:ea typeface="DM Sans"/>
                  <a:cs typeface="DM Sans"/>
                  <a:sym typeface="DM Sans"/>
                </a:rPr>
                <a:t>Password Controls</a:t>
              </a:r>
            </a:p>
          </p:txBody>
        </p:sp>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Freeform 2"/>
          <p:cNvSpPr/>
          <p:nvPr/>
        </p:nvSpPr>
        <p:spPr>
          <a:xfrm>
            <a:off x="1076985" y="2176920"/>
            <a:ext cx="8123929" cy="5933161"/>
          </a:xfrm>
          <a:custGeom>
            <a:avLst/>
            <a:gdLst/>
            <a:ahLst/>
            <a:cxnLst/>
            <a:rect l="l" t="t" r="r" b="b"/>
            <a:pathLst>
              <a:path w="8123929" h="5933161">
                <a:moveTo>
                  <a:pt x="0" y="0"/>
                </a:moveTo>
                <a:lnTo>
                  <a:pt x="8123928" y="0"/>
                </a:lnTo>
                <a:lnTo>
                  <a:pt x="8123928" y="5933160"/>
                </a:lnTo>
                <a:lnTo>
                  <a:pt x="0" y="5933160"/>
                </a:lnTo>
                <a:lnTo>
                  <a:pt x="0" y="0"/>
                </a:lnTo>
                <a:close/>
              </a:path>
            </a:pathLst>
          </a:custGeom>
          <a:blipFill>
            <a:blip r:embed="rId3"/>
            <a:stretch>
              <a:fillRect l="-19942" r="-19168"/>
            </a:stretch>
          </a:blipFill>
          <a:ln w="38100" cap="sq">
            <a:solidFill>
              <a:srgbClr val="38B6FF"/>
            </a:solidFill>
            <a:prstDash val="solid"/>
            <a:miter/>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p:cNvSpPr txBox="1"/>
          <p:nvPr/>
        </p:nvSpPr>
        <p:spPr>
          <a:xfrm>
            <a:off x="10309937" y="2735815"/>
            <a:ext cx="6901078" cy="4096827"/>
          </a:xfrm>
          <a:prstGeom prst="rect">
            <a:avLst/>
          </a:prstGeom>
        </p:spPr>
        <p:txBody>
          <a:bodyPr lIns="0" tIns="0" rIns="0" bIns="0" rtlCol="0" anchor="t">
            <a:spAutoFit/>
          </a:bodyPr>
          <a:lstStyle/>
          <a:p>
            <a:pPr marL="712472" lvl="1" indent="-356236" algn="l">
              <a:lnSpc>
                <a:spcPts val="6138"/>
              </a:lnSpc>
              <a:buAutoNum type="arabicPeriod"/>
            </a:pPr>
            <a:r>
              <a:rPr lang="en-US" sz="3300" dirty="0">
                <a:solidFill>
                  <a:srgbClr val="FFFFFF"/>
                </a:solidFill>
                <a:latin typeface="DM Sans"/>
                <a:ea typeface="DM Sans"/>
                <a:cs typeface="DM Sans"/>
                <a:sym typeface="DM Sans"/>
              </a:rPr>
              <a:t>Password Length </a:t>
            </a:r>
            <a:r>
              <a:rPr lang="en-US" sz="3300" b="1" dirty="0">
                <a:solidFill>
                  <a:srgbClr val="FFFFFF"/>
                </a:solidFill>
                <a:latin typeface="DM Sans Bold"/>
                <a:ea typeface="DM Sans Bold"/>
                <a:cs typeface="DM Sans Bold"/>
                <a:sym typeface="DM Sans Bold"/>
              </a:rPr>
              <a:t>&gt;</a:t>
            </a:r>
            <a:r>
              <a:rPr lang="en-US" sz="3300" dirty="0">
                <a:solidFill>
                  <a:srgbClr val="FFFFFF"/>
                </a:solidFill>
                <a:latin typeface="DM Sans"/>
                <a:ea typeface="DM Sans"/>
                <a:cs typeface="DM Sans"/>
                <a:sym typeface="DM Sans"/>
              </a:rPr>
              <a:t> Complexity</a:t>
            </a:r>
          </a:p>
          <a:p>
            <a:pPr marL="690882" lvl="1" indent="-345441" algn="l">
              <a:lnSpc>
                <a:spcPts val="5952"/>
              </a:lnSpc>
              <a:buAutoNum type="arabicPeriod"/>
            </a:pPr>
            <a:r>
              <a:rPr lang="en-US" sz="3200" dirty="0">
                <a:solidFill>
                  <a:srgbClr val="FFFFFF"/>
                </a:solidFill>
                <a:latin typeface="DM Sans"/>
                <a:ea typeface="DM Sans"/>
                <a:cs typeface="DM Sans"/>
                <a:sym typeface="DM Sans"/>
              </a:rPr>
              <a:t>Bad Password Lists</a:t>
            </a:r>
          </a:p>
          <a:p>
            <a:pPr marL="1036333" lvl="2" indent="-345444" algn="l">
              <a:lnSpc>
                <a:spcPts val="4464"/>
              </a:lnSpc>
              <a:buAutoNum type="alphaLcPeriod"/>
            </a:pPr>
            <a:r>
              <a:rPr lang="en-US" sz="2400" dirty="0">
                <a:solidFill>
                  <a:srgbClr val="FFFFFF"/>
                </a:solidFill>
                <a:latin typeface="DM Sans"/>
                <a:ea typeface="DM Sans"/>
                <a:cs typeface="DM Sans"/>
                <a:sym typeface="DM Sans"/>
              </a:rPr>
              <a:t>(credential screening)</a:t>
            </a:r>
          </a:p>
          <a:p>
            <a:pPr marL="690882" lvl="1" indent="-345441" algn="l">
              <a:lnSpc>
                <a:spcPts val="5952"/>
              </a:lnSpc>
              <a:buAutoNum type="arabicPeriod"/>
            </a:pPr>
            <a:r>
              <a:rPr lang="en-US" sz="3200" dirty="0" err="1">
                <a:solidFill>
                  <a:srgbClr val="FFFFFF"/>
                </a:solidFill>
                <a:latin typeface="DM Sans"/>
                <a:ea typeface="DM Sans"/>
                <a:cs typeface="DM Sans"/>
                <a:sym typeface="DM Sans"/>
              </a:rPr>
              <a:t>Passwordless</a:t>
            </a:r>
            <a:r>
              <a:rPr lang="en-US" sz="3200" dirty="0">
                <a:solidFill>
                  <a:srgbClr val="FFFFFF"/>
                </a:solidFill>
                <a:latin typeface="DM Sans"/>
                <a:ea typeface="DM Sans"/>
                <a:cs typeface="DM Sans"/>
                <a:sym typeface="DM Sans"/>
              </a:rPr>
              <a:t> = Win</a:t>
            </a:r>
          </a:p>
          <a:p>
            <a:pPr marL="690882" lvl="1" indent="-345441" algn="l">
              <a:lnSpc>
                <a:spcPts val="5952"/>
              </a:lnSpc>
              <a:buAutoNum type="arabicPeriod"/>
            </a:pPr>
            <a:r>
              <a:rPr lang="en-US" sz="3200" dirty="0">
                <a:solidFill>
                  <a:srgbClr val="FFFFFF"/>
                </a:solidFill>
                <a:latin typeface="DM Sans"/>
                <a:ea typeface="DM Sans"/>
                <a:cs typeface="DM Sans"/>
                <a:sym typeface="DM Sans"/>
              </a:rPr>
              <a:t>Forced Expiration = Not Win</a:t>
            </a:r>
          </a:p>
          <a:p>
            <a:pPr algn="r">
              <a:lnSpc>
                <a:spcPts val="3720"/>
              </a:lnSpc>
            </a:pPr>
            <a:r>
              <a:rPr lang="en-US" sz="2000" dirty="0">
                <a:solidFill>
                  <a:srgbClr val="2F7BD1"/>
                </a:solidFill>
                <a:latin typeface="DM Sans"/>
                <a:ea typeface="DM Sans"/>
                <a:cs typeface="DM Sans"/>
                <a:sym typeface="DM Sans"/>
              </a:rPr>
              <a:t>https://pages.nist.gov/800-63-3/sp800-63b.html</a:t>
            </a:r>
          </a:p>
        </p:txBody>
      </p:sp>
      <p:sp>
        <p:nvSpPr>
          <p:cNvPr id="7" name="AutoShape 7"/>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8" name="TextBox 5">
            <a:extLst>
              <a:ext uri="{FF2B5EF4-FFF2-40B4-BE49-F238E27FC236}">
                <a16:creationId xmlns:a16="http://schemas.microsoft.com/office/drawing/2014/main" id="{BA84E74C-E55C-4D04-4604-D2C8350D57BF}"/>
              </a:ext>
            </a:extLst>
          </p:cNvPr>
          <p:cNvSpPr txBox="1"/>
          <p:nvPr/>
        </p:nvSpPr>
        <p:spPr>
          <a:xfrm>
            <a:off x="1076985" y="841963"/>
            <a:ext cx="7068808" cy="538480"/>
          </a:xfrm>
          <a:prstGeom prst="rect">
            <a:avLst/>
          </a:prstGeom>
        </p:spPr>
        <p:txBody>
          <a:bodyPr lIns="0" tIns="0" rIns="0" bIns="0" rtlCol="0" anchor="t">
            <a:spAutoFit/>
          </a:bodyPr>
          <a:lstStyle/>
          <a:p>
            <a:pPr marL="0" lvl="0" indent="0" algn="l">
              <a:lnSpc>
                <a:spcPts val="4160"/>
              </a:lnSpc>
            </a:pPr>
            <a:r>
              <a:rPr lang="en-US" sz="4000" dirty="0">
                <a:solidFill>
                  <a:srgbClr val="38B6FF"/>
                </a:solidFill>
                <a:latin typeface="Anton"/>
                <a:ea typeface="Anton"/>
                <a:cs typeface="Anton"/>
                <a:sym typeface="Anton"/>
              </a:rPr>
              <a:t>NIST SPECIAL PUBLICATION 800-63B</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76985" y="1095375"/>
            <a:ext cx="7068808" cy="538480"/>
          </a:xfrm>
          <a:prstGeom prst="rect">
            <a:avLst/>
          </a:prstGeom>
        </p:spPr>
        <p:txBody>
          <a:bodyPr lIns="0" tIns="0" rIns="0" bIns="0" rtlCol="0" anchor="t">
            <a:spAutoFit/>
          </a:bodyPr>
          <a:lstStyle/>
          <a:p>
            <a:pPr marL="0" lvl="0" indent="0" algn="l">
              <a:lnSpc>
                <a:spcPts val="4160"/>
              </a:lnSpc>
            </a:pPr>
            <a:r>
              <a:rPr lang="en-US" sz="4000" dirty="0">
                <a:solidFill>
                  <a:srgbClr val="38B6FF"/>
                </a:solidFill>
                <a:latin typeface="Anton"/>
                <a:ea typeface="Anton"/>
                <a:cs typeface="Anton"/>
                <a:sym typeface="Anton"/>
              </a:rPr>
              <a:t>BAD PASSWORD LISTS</a:t>
            </a:r>
          </a:p>
        </p:txBody>
      </p:sp>
      <p:sp>
        <p:nvSpPr>
          <p:cNvPr id="6" name="TextBox 6"/>
          <p:cNvSpPr txBox="1"/>
          <p:nvPr/>
        </p:nvSpPr>
        <p:spPr>
          <a:xfrm>
            <a:off x="1474092" y="2349516"/>
            <a:ext cx="8842353" cy="1297799"/>
          </a:xfrm>
          <a:prstGeom prst="rect">
            <a:avLst/>
          </a:prstGeom>
        </p:spPr>
        <p:txBody>
          <a:bodyPr lIns="0" tIns="0" rIns="0" bIns="0" rtlCol="0" anchor="t">
            <a:spAutoFit/>
          </a:bodyPr>
          <a:lstStyle/>
          <a:p>
            <a:pPr algn="l">
              <a:lnSpc>
                <a:spcPts val="4565"/>
              </a:lnSpc>
            </a:pPr>
            <a:r>
              <a:rPr lang="en-US" sz="3261" b="1">
                <a:solidFill>
                  <a:srgbClr val="FFFFFF"/>
                </a:solidFill>
                <a:latin typeface="DM Sans Bold"/>
                <a:ea typeface="DM Sans Bold"/>
                <a:cs typeface="DM Sans Bold"/>
                <a:sym typeface="DM Sans Bold"/>
              </a:rPr>
              <a:t>Microsoft has had them forever</a:t>
            </a:r>
          </a:p>
          <a:p>
            <a:pPr algn="l">
              <a:lnSpc>
                <a:spcPts val="3359"/>
              </a:lnSpc>
            </a:pPr>
            <a:r>
              <a:rPr lang="en-US" sz="2400" b="1">
                <a:solidFill>
                  <a:srgbClr val="FFFFFF"/>
                </a:solidFill>
                <a:latin typeface="DM Sans Bold"/>
                <a:ea typeface="DM Sans Bold"/>
                <a:cs typeface="DM Sans Bold"/>
                <a:sym typeface="DM Sans Bold"/>
              </a:rPr>
              <a:t>Password Filters</a:t>
            </a:r>
          </a:p>
          <a:p>
            <a:pPr algn="l">
              <a:lnSpc>
                <a:spcPts val="2520"/>
              </a:lnSpc>
              <a:spcBef>
                <a:spcPct val="0"/>
              </a:spcBef>
            </a:pPr>
            <a:r>
              <a:rPr lang="en-US" sz="1800" b="1">
                <a:solidFill>
                  <a:srgbClr val="737373"/>
                </a:solidFill>
                <a:latin typeface="DM Sans Bold"/>
                <a:ea typeface="DM Sans Bold"/>
                <a:cs typeface="DM Sans Bold"/>
                <a:sym typeface="DM Sans Bold"/>
              </a:rPr>
              <a:t>https://learn.microsoft.com/en-us/windows/win32/secmgmt/password-filters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10553734" y="455629"/>
            <a:ext cx="6705566" cy="4014958"/>
          </a:xfrm>
          <a:custGeom>
            <a:avLst/>
            <a:gdLst/>
            <a:ahLst/>
            <a:cxnLst/>
            <a:rect l="l" t="t" r="r" b="b"/>
            <a:pathLst>
              <a:path w="6705566" h="4014958">
                <a:moveTo>
                  <a:pt x="0" y="0"/>
                </a:moveTo>
                <a:lnTo>
                  <a:pt x="6705566" y="0"/>
                </a:lnTo>
                <a:lnTo>
                  <a:pt x="6705566" y="4014958"/>
                </a:lnTo>
                <a:lnTo>
                  <a:pt x="0" y="4014958"/>
                </a:lnTo>
                <a:lnTo>
                  <a:pt x="0" y="0"/>
                </a:lnTo>
                <a:close/>
              </a:path>
            </a:pathLst>
          </a:custGeom>
          <a:blipFill>
            <a:blip r:embed="rId3"/>
            <a:stretch>
              <a:fillRect/>
            </a:stretch>
          </a:blipFill>
          <a:ln w="38100" cap="sq">
            <a:solidFill>
              <a:srgbClr val="2F7BD1"/>
            </a:solidFill>
            <a:prstDash val="solid"/>
            <a:miter/>
          </a:ln>
        </p:spPr>
        <p:txBody>
          <a:bodyPr/>
          <a:lstStyle/>
          <a:p>
            <a:endParaRPr lang="en-US"/>
          </a:p>
        </p:txBody>
      </p:sp>
      <p:sp>
        <p:nvSpPr>
          <p:cNvPr id="4" name="TextBox 4"/>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p:cNvSpPr txBox="1"/>
          <p:nvPr/>
        </p:nvSpPr>
        <p:spPr>
          <a:xfrm>
            <a:off x="1076985" y="1095375"/>
            <a:ext cx="7068808"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BAD PASSWORD LISTS</a:t>
            </a:r>
          </a:p>
        </p:txBody>
      </p:sp>
      <p:sp>
        <p:nvSpPr>
          <p:cNvPr id="7" name="TextBox 7"/>
          <p:cNvSpPr txBox="1"/>
          <p:nvPr/>
        </p:nvSpPr>
        <p:spPr>
          <a:xfrm>
            <a:off x="1474092" y="2349516"/>
            <a:ext cx="8842353" cy="1297799"/>
          </a:xfrm>
          <a:prstGeom prst="rect">
            <a:avLst/>
          </a:prstGeom>
        </p:spPr>
        <p:txBody>
          <a:bodyPr lIns="0" tIns="0" rIns="0" bIns="0" rtlCol="0" anchor="t">
            <a:spAutoFit/>
          </a:bodyPr>
          <a:lstStyle/>
          <a:p>
            <a:pPr algn="l">
              <a:lnSpc>
                <a:spcPts val="4565"/>
              </a:lnSpc>
            </a:pPr>
            <a:r>
              <a:rPr lang="en-US" sz="3261" b="1">
                <a:solidFill>
                  <a:srgbClr val="737373"/>
                </a:solidFill>
                <a:latin typeface="DM Sans Bold"/>
                <a:ea typeface="DM Sans Bold"/>
                <a:cs typeface="DM Sans Bold"/>
                <a:sym typeface="DM Sans Bold"/>
              </a:rPr>
              <a:t>Microsoft has had them forever</a:t>
            </a:r>
          </a:p>
          <a:p>
            <a:pPr algn="l">
              <a:lnSpc>
                <a:spcPts val="3359"/>
              </a:lnSpc>
            </a:pPr>
            <a:r>
              <a:rPr lang="en-US" sz="2400" b="1">
                <a:solidFill>
                  <a:srgbClr val="737373"/>
                </a:solidFill>
                <a:latin typeface="DM Sans Bold"/>
                <a:ea typeface="DM Sans Bold"/>
                <a:cs typeface="DM Sans Bold"/>
                <a:sym typeface="DM Sans Bold"/>
              </a:rPr>
              <a:t>Password Filters</a:t>
            </a:r>
          </a:p>
          <a:p>
            <a:pPr algn="l">
              <a:lnSpc>
                <a:spcPts val="2520"/>
              </a:lnSpc>
              <a:spcBef>
                <a:spcPct val="0"/>
              </a:spcBef>
            </a:pPr>
            <a:r>
              <a:rPr lang="en-US" sz="1800" b="1">
                <a:solidFill>
                  <a:srgbClr val="737373"/>
                </a:solidFill>
                <a:latin typeface="DM Sans Bold"/>
                <a:ea typeface="DM Sans Bold"/>
                <a:cs typeface="DM Sans Bold"/>
                <a:sym typeface="DM Sans Bold"/>
              </a:rPr>
              <a:t>https://learn.microsoft.com/en-us/windows/win32/secmgmt/password-filters</a:t>
            </a:r>
          </a:p>
        </p:txBody>
      </p:sp>
      <p:sp>
        <p:nvSpPr>
          <p:cNvPr id="8" name="TextBox 8"/>
          <p:cNvSpPr txBox="1"/>
          <p:nvPr/>
        </p:nvSpPr>
        <p:spPr>
          <a:xfrm>
            <a:off x="1580754" y="4062483"/>
            <a:ext cx="7080664" cy="2104885"/>
          </a:xfrm>
          <a:prstGeom prst="rect">
            <a:avLst/>
          </a:prstGeom>
        </p:spPr>
        <p:txBody>
          <a:bodyPr lIns="0" tIns="0" rIns="0" bIns="0" rtlCol="0" anchor="t">
            <a:spAutoFit/>
          </a:bodyPr>
          <a:lstStyle/>
          <a:p>
            <a:pPr algn="l">
              <a:lnSpc>
                <a:spcPts val="4565"/>
              </a:lnSpc>
            </a:pPr>
            <a:r>
              <a:rPr lang="en-US" sz="3261" b="1">
                <a:solidFill>
                  <a:srgbClr val="FFFFFF"/>
                </a:solidFill>
                <a:latin typeface="DM Sans Bold"/>
                <a:ea typeface="DM Sans Bold"/>
                <a:cs typeface="DM Sans Bold"/>
                <a:sym typeface="DM Sans Bold"/>
              </a:rPr>
              <a:t>Entra Password Protection (EPP)</a:t>
            </a:r>
          </a:p>
          <a:p>
            <a:pPr marL="518160" lvl="1" indent="-259080" algn="l">
              <a:lnSpc>
                <a:spcPts val="3359"/>
              </a:lnSpc>
              <a:buFont typeface="Arial"/>
              <a:buChar char="•"/>
            </a:pPr>
            <a:r>
              <a:rPr lang="en-US" sz="2400" b="1">
                <a:solidFill>
                  <a:srgbClr val="FFFFFF"/>
                </a:solidFill>
                <a:latin typeface="DM Sans Bold"/>
                <a:ea typeface="DM Sans Bold"/>
                <a:cs typeface="DM Sans Bold"/>
                <a:sym typeface="DM Sans Bold"/>
              </a:rPr>
              <a:t>Cloud Solution + Not Free</a:t>
            </a:r>
          </a:p>
          <a:p>
            <a:pPr marL="518160" lvl="1" indent="-259080" algn="l">
              <a:lnSpc>
                <a:spcPts val="3359"/>
              </a:lnSpc>
              <a:buFont typeface="Arial"/>
              <a:buChar char="•"/>
            </a:pPr>
            <a:r>
              <a:rPr lang="en-US" sz="2400" b="1">
                <a:solidFill>
                  <a:srgbClr val="FFFFFF"/>
                </a:solidFill>
                <a:latin typeface="DM Sans Bold"/>
                <a:ea typeface="DM Sans Bold"/>
                <a:cs typeface="DM Sans Bold"/>
                <a:sym typeface="DM Sans Bold"/>
              </a:rPr>
              <a:t>Formerly Azure Password Protection (APP)</a:t>
            </a:r>
          </a:p>
          <a:p>
            <a:pPr algn="l">
              <a:lnSpc>
                <a:spcPts val="2800"/>
              </a:lnSpc>
              <a:spcBef>
                <a:spcPct val="0"/>
              </a:spcBef>
            </a:pPr>
            <a:r>
              <a:rPr lang="en-US" sz="2000" b="1">
                <a:solidFill>
                  <a:srgbClr val="737373"/>
                </a:solidFill>
                <a:latin typeface="DM Sans Bold"/>
                <a:ea typeface="DM Sans Bold"/>
                <a:cs typeface="DM Sans Bold"/>
                <a:sym typeface="DM Sans Bold"/>
              </a:rPr>
              <a:t>https://learn.microsoft.com/en-us/entra/identity/authentication/concept-password-ban-bad</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10553734" y="4774989"/>
            <a:ext cx="2905358" cy="4772662"/>
          </a:xfrm>
          <a:custGeom>
            <a:avLst/>
            <a:gdLst/>
            <a:ahLst/>
            <a:cxnLst/>
            <a:rect l="l" t="t" r="r" b="b"/>
            <a:pathLst>
              <a:path w="2905358" h="4772662">
                <a:moveTo>
                  <a:pt x="0" y="0"/>
                </a:moveTo>
                <a:lnTo>
                  <a:pt x="2905358" y="0"/>
                </a:lnTo>
                <a:lnTo>
                  <a:pt x="2905358" y="4772663"/>
                </a:lnTo>
                <a:lnTo>
                  <a:pt x="0" y="4772663"/>
                </a:lnTo>
                <a:lnTo>
                  <a:pt x="0" y="0"/>
                </a:lnTo>
                <a:close/>
              </a:path>
            </a:pathLst>
          </a:custGeom>
          <a:blipFill>
            <a:blip r:embed="rId3"/>
            <a:stretch>
              <a:fillRect/>
            </a:stretch>
          </a:blipFill>
          <a:ln w="38100" cap="sq">
            <a:solidFill>
              <a:srgbClr val="38B6FF"/>
            </a:solidFill>
            <a:prstDash val="solid"/>
            <a:miter/>
          </a:ln>
        </p:spPr>
        <p:txBody>
          <a:bodyPr/>
          <a:lstStyle/>
          <a:p>
            <a:endParaRPr lang="en-US"/>
          </a:p>
        </p:txBody>
      </p:sp>
      <p:sp>
        <p:nvSpPr>
          <p:cNvPr id="4" name="Freeform 4"/>
          <p:cNvSpPr/>
          <p:nvPr/>
        </p:nvSpPr>
        <p:spPr>
          <a:xfrm>
            <a:off x="10553734" y="455629"/>
            <a:ext cx="6705566" cy="4014958"/>
          </a:xfrm>
          <a:custGeom>
            <a:avLst/>
            <a:gdLst/>
            <a:ahLst/>
            <a:cxnLst/>
            <a:rect l="l" t="t" r="r" b="b"/>
            <a:pathLst>
              <a:path w="6705566" h="4014958">
                <a:moveTo>
                  <a:pt x="0" y="0"/>
                </a:moveTo>
                <a:lnTo>
                  <a:pt x="6705566" y="0"/>
                </a:lnTo>
                <a:lnTo>
                  <a:pt x="6705566" y="4014958"/>
                </a:lnTo>
                <a:lnTo>
                  <a:pt x="0" y="4014958"/>
                </a:lnTo>
                <a:lnTo>
                  <a:pt x="0" y="0"/>
                </a:lnTo>
                <a:close/>
              </a:path>
            </a:pathLst>
          </a:custGeom>
          <a:blipFill>
            <a:blip r:embed="rId4">
              <a:alphaModFix amt="51000"/>
            </a:blip>
            <a:stretch>
              <a:fillRect/>
            </a:stretch>
          </a:blipFill>
        </p:spPr>
        <p:txBody>
          <a:bodyPr/>
          <a:lstStyle/>
          <a:p>
            <a:endParaRPr lang="en-US"/>
          </a:p>
        </p:txBody>
      </p:sp>
      <p:sp>
        <p:nvSpPr>
          <p:cNvPr id="5" name="TextBox 5"/>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6" name="TextBox 6"/>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7" name="TextBox 7"/>
          <p:cNvSpPr txBox="1"/>
          <p:nvPr/>
        </p:nvSpPr>
        <p:spPr>
          <a:xfrm>
            <a:off x="1076985" y="1095375"/>
            <a:ext cx="7068808" cy="538480"/>
          </a:xfrm>
          <a:prstGeom prst="rect">
            <a:avLst/>
          </a:prstGeom>
        </p:spPr>
        <p:txBody>
          <a:bodyPr lIns="0" tIns="0" rIns="0" bIns="0" rtlCol="0" anchor="t">
            <a:spAutoFit/>
          </a:bodyPr>
          <a:lstStyle/>
          <a:p>
            <a:pPr marL="0" lvl="0" indent="0" algn="l">
              <a:lnSpc>
                <a:spcPts val="4160"/>
              </a:lnSpc>
            </a:pPr>
            <a:r>
              <a:rPr lang="en-US" sz="4000" dirty="0">
                <a:solidFill>
                  <a:srgbClr val="38B6FF"/>
                </a:solidFill>
                <a:latin typeface="Anton"/>
                <a:ea typeface="Anton"/>
                <a:cs typeface="Anton"/>
                <a:sym typeface="Anton"/>
              </a:rPr>
              <a:t>BAD PASSWORD LISTS</a:t>
            </a:r>
          </a:p>
        </p:txBody>
      </p:sp>
      <p:sp>
        <p:nvSpPr>
          <p:cNvPr id="8" name="TextBox 8"/>
          <p:cNvSpPr txBox="1"/>
          <p:nvPr/>
        </p:nvSpPr>
        <p:spPr>
          <a:xfrm>
            <a:off x="1474092" y="2349516"/>
            <a:ext cx="8842353" cy="1297799"/>
          </a:xfrm>
          <a:prstGeom prst="rect">
            <a:avLst/>
          </a:prstGeom>
        </p:spPr>
        <p:txBody>
          <a:bodyPr lIns="0" tIns="0" rIns="0" bIns="0" rtlCol="0" anchor="t">
            <a:spAutoFit/>
          </a:bodyPr>
          <a:lstStyle/>
          <a:p>
            <a:pPr algn="l">
              <a:lnSpc>
                <a:spcPts val="4565"/>
              </a:lnSpc>
            </a:pPr>
            <a:r>
              <a:rPr lang="en-US" sz="3261" b="1" dirty="0">
                <a:solidFill>
                  <a:srgbClr val="737373"/>
                </a:solidFill>
                <a:latin typeface="DM Sans Bold"/>
                <a:ea typeface="DM Sans Bold"/>
                <a:cs typeface="DM Sans Bold"/>
                <a:sym typeface="DM Sans Bold"/>
              </a:rPr>
              <a:t>Microsoft has had them forever</a:t>
            </a:r>
          </a:p>
          <a:p>
            <a:pPr algn="l">
              <a:lnSpc>
                <a:spcPts val="3359"/>
              </a:lnSpc>
            </a:pPr>
            <a:r>
              <a:rPr lang="en-US" sz="2400" b="1" dirty="0">
                <a:solidFill>
                  <a:srgbClr val="737373"/>
                </a:solidFill>
                <a:latin typeface="DM Sans Bold"/>
                <a:ea typeface="DM Sans Bold"/>
                <a:cs typeface="DM Sans Bold"/>
                <a:sym typeface="DM Sans Bold"/>
              </a:rPr>
              <a:t>Password Filters</a:t>
            </a:r>
          </a:p>
          <a:p>
            <a:pPr algn="l">
              <a:lnSpc>
                <a:spcPts val="2520"/>
              </a:lnSpc>
              <a:spcBef>
                <a:spcPct val="0"/>
              </a:spcBef>
            </a:pPr>
            <a:r>
              <a:rPr lang="en-US" sz="1800" b="1" dirty="0">
                <a:solidFill>
                  <a:srgbClr val="737373"/>
                </a:solidFill>
                <a:latin typeface="DM Sans Bold"/>
                <a:ea typeface="DM Sans Bold"/>
                <a:cs typeface="DM Sans Bold"/>
                <a:sym typeface="DM Sans Bold"/>
              </a:rPr>
              <a:t>https://learn.microsoft.com/en-us/windows/win32/secmgmt/password-filters</a:t>
            </a:r>
          </a:p>
        </p:txBody>
      </p:sp>
      <p:sp>
        <p:nvSpPr>
          <p:cNvPr id="9" name="TextBox 9"/>
          <p:cNvSpPr txBox="1"/>
          <p:nvPr/>
        </p:nvSpPr>
        <p:spPr>
          <a:xfrm>
            <a:off x="1580754" y="4062483"/>
            <a:ext cx="7080664" cy="2104885"/>
          </a:xfrm>
          <a:prstGeom prst="rect">
            <a:avLst/>
          </a:prstGeom>
        </p:spPr>
        <p:txBody>
          <a:bodyPr lIns="0" tIns="0" rIns="0" bIns="0" rtlCol="0" anchor="t">
            <a:spAutoFit/>
          </a:bodyPr>
          <a:lstStyle/>
          <a:p>
            <a:pPr algn="l">
              <a:lnSpc>
                <a:spcPts val="4565"/>
              </a:lnSpc>
            </a:pPr>
            <a:r>
              <a:rPr lang="en-US" sz="3261" b="1">
                <a:solidFill>
                  <a:srgbClr val="737373"/>
                </a:solidFill>
                <a:latin typeface="DM Sans Bold"/>
                <a:ea typeface="DM Sans Bold"/>
                <a:cs typeface="DM Sans Bold"/>
                <a:sym typeface="DM Sans Bold"/>
              </a:rPr>
              <a:t>Entra Password Protection (EPP)</a:t>
            </a:r>
          </a:p>
          <a:p>
            <a:pPr marL="518160" lvl="1" indent="-259080" algn="l">
              <a:lnSpc>
                <a:spcPts val="3359"/>
              </a:lnSpc>
              <a:buFont typeface="Arial"/>
              <a:buChar char="•"/>
            </a:pPr>
            <a:r>
              <a:rPr lang="en-US" sz="2400" b="1">
                <a:solidFill>
                  <a:srgbClr val="737373"/>
                </a:solidFill>
                <a:latin typeface="DM Sans Bold"/>
                <a:ea typeface="DM Sans Bold"/>
                <a:cs typeface="DM Sans Bold"/>
                <a:sym typeface="DM Sans Bold"/>
              </a:rPr>
              <a:t>Cloud Solution + Not Free</a:t>
            </a:r>
          </a:p>
          <a:p>
            <a:pPr marL="518160" lvl="1" indent="-259080" algn="l">
              <a:lnSpc>
                <a:spcPts val="3359"/>
              </a:lnSpc>
              <a:buFont typeface="Arial"/>
              <a:buChar char="•"/>
            </a:pPr>
            <a:r>
              <a:rPr lang="en-US" sz="2400" b="1">
                <a:solidFill>
                  <a:srgbClr val="737373"/>
                </a:solidFill>
                <a:latin typeface="DM Sans Bold"/>
                <a:ea typeface="DM Sans Bold"/>
                <a:cs typeface="DM Sans Bold"/>
                <a:sym typeface="DM Sans Bold"/>
              </a:rPr>
              <a:t>Formerly Azure Password Protection (APP)</a:t>
            </a:r>
          </a:p>
          <a:p>
            <a:pPr algn="l">
              <a:lnSpc>
                <a:spcPts val="2800"/>
              </a:lnSpc>
              <a:spcBef>
                <a:spcPct val="0"/>
              </a:spcBef>
            </a:pPr>
            <a:r>
              <a:rPr lang="en-US" sz="2000" b="1">
                <a:solidFill>
                  <a:srgbClr val="737373"/>
                </a:solidFill>
                <a:latin typeface="DM Sans Bold"/>
                <a:ea typeface="DM Sans Bold"/>
                <a:cs typeface="DM Sans Bold"/>
                <a:sym typeface="DM Sans Bold"/>
              </a:rPr>
              <a:t>https://learn.microsoft.com/en-us/entra/identity/authentication/concept-password-ban-bad</a:t>
            </a:r>
          </a:p>
        </p:txBody>
      </p:sp>
      <p:sp>
        <p:nvSpPr>
          <p:cNvPr id="10" name="TextBox 10"/>
          <p:cNvSpPr txBox="1"/>
          <p:nvPr/>
        </p:nvSpPr>
        <p:spPr>
          <a:xfrm>
            <a:off x="1474092" y="6774752"/>
            <a:ext cx="7080664" cy="2345549"/>
          </a:xfrm>
          <a:prstGeom prst="rect">
            <a:avLst/>
          </a:prstGeom>
        </p:spPr>
        <p:txBody>
          <a:bodyPr lIns="0" tIns="0" rIns="0" bIns="0" rtlCol="0" anchor="t">
            <a:spAutoFit/>
          </a:bodyPr>
          <a:lstStyle/>
          <a:p>
            <a:pPr algn="l">
              <a:lnSpc>
                <a:spcPts val="4565"/>
              </a:lnSpc>
            </a:pPr>
            <a:r>
              <a:rPr lang="en-US" sz="3261" b="1">
                <a:solidFill>
                  <a:srgbClr val="FFFFFF"/>
                </a:solidFill>
                <a:latin typeface="DM Sans Bold"/>
                <a:ea typeface="DM Sans Bold"/>
                <a:cs typeface="DM Sans Bold"/>
                <a:sym typeface="DM Sans Bold"/>
              </a:rPr>
              <a:t>Open Source / Freemium</a:t>
            </a:r>
          </a:p>
          <a:p>
            <a:pPr marL="518160" lvl="1" indent="-259080" algn="l">
              <a:lnSpc>
                <a:spcPts val="3359"/>
              </a:lnSpc>
              <a:buFont typeface="Arial"/>
              <a:buChar char="•"/>
            </a:pPr>
            <a:r>
              <a:rPr lang="en-US" sz="2400" b="1">
                <a:solidFill>
                  <a:srgbClr val="FFFFFF"/>
                </a:solidFill>
                <a:latin typeface="DM Sans Bold"/>
                <a:ea typeface="DM Sans Bold"/>
                <a:cs typeface="DM Sans Bold"/>
                <a:sym typeface="DM Sans Bold"/>
              </a:rPr>
              <a:t>Lithnet Password Protection (freemium)</a:t>
            </a:r>
          </a:p>
          <a:p>
            <a:pPr marL="777246" lvl="2" indent="-259082" algn="l">
              <a:lnSpc>
                <a:spcPts val="2520"/>
              </a:lnSpc>
              <a:buFont typeface="Arial"/>
              <a:buChar char="⚬"/>
            </a:pPr>
            <a:r>
              <a:rPr lang="en-US" sz="1800" b="1">
                <a:solidFill>
                  <a:srgbClr val="737373"/>
                </a:solidFill>
                <a:latin typeface="DM Sans Bold"/>
                <a:ea typeface="DM Sans Bold"/>
                <a:cs typeface="DM Sans Bold"/>
                <a:sym typeface="DM Sans Bold"/>
              </a:rPr>
              <a:t>https://github.com/lithnet/ad-password-protection</a:t>
            </a:r>
          </a:p>
          <a:p>
            <a:pPr algn="l">
              <a:lnSpc>
                <a:spcPts val="2520"/>
              </a:lnSpc>
            </a:pPr>
            <a:endParaRPr lang="en-US" sz="1800" b="1">
              <a:solidFill>
                <a:srgbClr val="737373"/>
              </a:solidFill>
              <a:latin typeface="DM Sans Bold"/>
              <a:ea typeface="DM Sans Bold"/>
              <a:cs typeface="DM Sans Bold"/>
              <a:sym typeface="DM Sans Bold"/>
            </a:endParaRPr>
          </a:p>
          <a:p>
            <a:pPr marL="518160" lvl="1" indent="-259080" algn="l">
              <a:lnSpc>
                <a:spcPts val="3359"/>
              </a:lnSpc>
              <a:buFont typeface="Arial"/>
              <a:buChar char="•"/>
            </a:pPr>
            <a:r>
              <a:rPr lang="en-US" sz="2400" b="1">
                <a:solidFill>
                  <a:srgbClr val="FFFFFF"/>
                </a:solidFill>
                <a:latin typeface="DM Sans Bold"/>
                <a:ea typeface="DM Sans Bold"/>
                <a:cs typeface="DM Sans Bold"/>
                <a:sym typeface="DM Sans Bold"/>
              </a:rPr>
              <a:t>PassFiltEx (FOSS + Expertise)</a:t>
            </a:r>
          </a:p>
          <a:p>
            <a:pPr marL="777246" lvl="2" indent="-259082" algn="l">
              <a:lnSpc>
                <a:spcPts val="2520"/>
              </a:lnSpc>
              <a:spcBef>
                <a:spcPct val="0"/>
              </a:spcBef>
              <a:buFont typeface="Arial"/>
              <a:buChar char="⚬"/>
            </a:pPr>
            <a:r>
              <a:rPr lang="en-US" sz="1800" b="1">
                <a:solidFill>
                  <a:srgbClr val="737373"/>
                </a:solidFill>
                <a:latin typeface="DM Sans Bold"/>
                <a:ea typeface="DM Sans Bold"/>
                <a:cs typeface="DM Sans Bold"/>
                <a:sym typeface="DM Sans Bold"/>
              </a:rPr>
              <a:t>github.com/ryanries/PassFiltEx</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1076985" y="1195308"/>
            <a:ext cx="4582053" cy="7704808"/>
          </a:xfrm>
          <a:custGeom>
            <a:avLst/>
            <a:gdLst/>
            <a:ahLst/>
            <a:cxnLst/>
            <a:rect l="l" t="t" r="r" b="b"/>
            <a:pathLst>
              <a:path w="4582053" h="7704808">
                <a:moveTo>
                  <a:pt x="0" y="0"/>
                </a:moveTo>
                <a:lnTo>
                  <a:pt x="4582053" y="0"/>
                </a:lnTo>
                <a:lnTo>
                  <a:pt x="4582053" y="7704808"/>
                </a:lnTo>
                <a:lnTo>
                  <a:pt x="0" y="7704808"/>
                </a:lnTo>
                <a:lnTo>
                  <a:pt x="0" y="0"/>
                </a:lnTo>
                <a:close/>
              </a:path>
            </a:pathLst>
          </a:custGeom>
          <a:blipFill>
            <a:blip r:embed="rId3"/>
            <a:stretch>
              <a:fillRect t="-21065" r="-14509"/>
            </a:stretch>
          </a:blipFill>
          <a:ln w="38100" cap="sq">
            <a:solidFill>
              <a:srgbClr val="38B6FF"/>
            </a:solidFill>
            <a:prstDash val="solid"/>
            <a:miter/>
          </a:ln>
        </p:spPr>
        <p:txBody>
          <a:bodyPr/>
          <a:lstStyle/>
          <a:p>
            <a:endParaRPr lang="en-US"/>
          </a:p>
        </p:txBody>
      </p:sp>
      <p:sp>
        <p:nvSpPr>
          <p:cNvPr id="4" name="TextBox 4"/>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7" name="TextBox 7"/>
          <p:cNvSpPr txBox="1"/>
          <p:nvPr/>
        </p:nvSpPr>
        <p:spPr>
          <a:xfrm>
            <a:off x="6641219" y="2396704"/>
            <a:ext cx="9741781" cy="561885"/>
          </a:xfrm>
          <a:prstGeom prst="rect">
            <a:avLst/>
          </a:prstGeom>
        </p:spPr>
        <p:txBody>
          <a:bodyPr wrap="square" lIns="0" tIns="0" rIns="0" bIns="0" rtlCol="0" anchor="t">
            <a:spAutoFit/>
          </a:bodyPr>
          <a:lstStyle/>
          <a:p>
            <a:pPr algn="ctr">
              <a:lnSpc>
                <a:spcPts val="4565"/>
              </a:lnSpc>
              <a:spcBef>
                <a:spcPct val="0"/>
              </a:spcBef>
            </a:pPr>
            <a:r>
              <a:rPr lang="en-US" sz="3261" b="1">
                <a:solidFill>
                  <a:srgbClr val="FFFFFF"/>
                </a:solidFill>
                <a:latin typeface="DM Sans Bold"/>
                <a:ea typeface="DM Sans Bold"/>
                <a:cs typeface="DM Sans Bold"/>
                <a:sym typeface="DM Sans Bold"/>
              </a:rPr>
              <a:t>CAN I HAVE MULTIPLE PASSWORD FILTERS?</a:t>
            </a:r>
          </a:p>
        </p:txBody>
      </p:sp>
      <p:sp>
        <p:nvSpPr>
          <p:cNvPr id="8" name="TextBox 8"/>
          <p:cNvSpPr txBox="1"/>
          <p:nvPr/>
        </p:nvSpPr>
        <p:spPr>
          <a:xfrm>
            <a:off x="7291380" y="3230360"/>
            <a:ext cx="2450941" cy="481330"/>
          </a:xfrm>
          <a:prstGeom prst="rect">
            <a:avLst/>
          </a:prstGeom>
        </p:spPr>
        <p:txBody>
          <a:bodyPr lIns="0" tIns="0" rIns="0" bIns="0" rtlCol="0" anchor="t">
            <a:spAutoFit/>
          </a:bodyPr>
          <a:lstStyle/>
          <a:p>
            <a:pPr algn="l">
              <a:lnSpc>
                <a:spcPts val="3919"/>
              </a:lnSpc>
              <a:spcBef>
                <a:spcPct val="0"/>
              </a:spcBef>
            </a:pPr>
            <a:r>
              <a:rPr lang="en-US" sz="2799">
                <a:solidFill>
                  <a:srgbClr val="FFFFFF"/>
                </a:solidFill>
                <a:latin typeface="DM Sans"/>
                <a:ea typeface="DM Sans"/>
                <a:cs typeface="DM Sans"/>
                <a:sym typeface="DM Sans"/>
              </a:rPr>
              <a:t>Yes. But.. Don’t.</a:t>
            </a:r>
          </a:p>
        </p:txBody>
      </p:sp>
      <p:sp>
        <p:nvSpPr>
          <p:cNvPr id="9" name="TextBox 7">
            <a:extLst>
              <a:ext uri="{FF2B5EF4-FFF2-40B4-BE49-F238E27FC236}">
                <a16:creationId xmlns:a16="http://schemas.microsoft.com/office/drawing/2014/main" id="{54C011D2-89F9-F3F6-847D-D2FA7CC3EA15}"/>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a:solidFill>
                  <a:srgbClr val="FFFFFF"/>
                </a:solidFill>
                <a:latin typeface="Anton"/>
                <a:ea typeface="Anton"/>
                <a:cs typeface="Anton"/>
                <a:sym typeface="Anton"/>
              </a:rPr>
              <a:t>BONUS</a:t>
            </a:r>
          </a:p>
        </p:txBody>
      </p:sp>
      <p:sp>
        <p:nvSpPr>
          <p:cNvPr id="6" name="TextBox 7">
            <a:extLst>
              <a:ext uri="{FF2B5EF4-FFF2-40B4-BE49-F238E27FC236}">
                <a16:creationId xmlns:a16="http://schemas.microsoft.com/office/drawing/2014/main" id="{DD90E562-E2EF-13E1-CA35-654196283AC7}"/>
              </a:ext>
            </a:extLst>
          </p:cNvPr>
          <p:cNvSpPr txBox="1"/>
          <p:nvPr/>
        </p:nvSpPr>
        <p:spPr>
          <a:xfrm>
            <a:off x="1076984" y="406993"/>
            <a:ext cx="7762215" cy="538609"/>
          </a:xfrm>
          <a:prstGeom prst="rect">
            <a:avLst/>
          </a:prstGeom>
        </p:spPr>
        <p:txBody>
          <a:bodyPr wrap="square"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BONUS – Can I have multiple filters? </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753135" y="2725444"/>
            <a:ext cx="4159616" cy="2695251"/>
          </a:xfrm>
          <a:custGeom>
            <a:avLst/>
            <a:gdLst/>
            <a:ahLst/>
            <a:cxnLst/>
            <a:rect l="l" t="t" r="r" b="b"/>
            <a:pathLst>
              <a:path w="4159616" h="2695251">
                <a:moveTo>
                  <a:pt x="0" y="0"/>
                </a:moveTo>
                <a:lnTo>
                  <a:pt x="4159616" y="0"/>
                </a:lnTo>
                <a:lnTo>
                  <a:pt x="4159616" y="2695251"/>
                </a:lnTo>
                <a:lnTo>
                  <a:pt x="0" y="2695251"/>
                </a:lnTo>
                <a:lnTo>
                  <a:pt x="0" y="0"/>
                </a:lnTo>
                <a:close/>
              </a:path>
            </a:pathLst>
          </a:custGeom>
          <a:blipFill>
            <a:blip r:embed="rId3"/>
            <a:stretch>
              <a:fillRect t="-45048"/>
            </a:stretch>
          </a:blipFill>
          <a:ln w="38100" cap="sq">
            <a:solidFill>
              <a:srgbClr val="38B6FF"/>
            </a:solidFill>
            <a:prstDash val="solid"/>
            <a:miter/>
          </a:ln>
        </p:spPr>
        <p:txBody>
          <a:bodyPr/>
          <a:lstStyle/>
          <a:p>
            <a:endParaRPr lang="en-US"/>
          </a:p>
        </p:txBody>
      </p:sp>
      <p:sp>
        <p:nvSpPr>
          <p:cNvPr id="4" name="Freeform 4"/>
          <p:cNvSpPr/>
          <p:nvPr/>
        </p:nvSpPr>
        <p:spPr>
          <a:xfrm>
            <a:off x="3976456" y="3895777"/>
            <a:ext cx="3803731" cy="4585919"/>
          </a:xfrm>
          <a:custGeom>
            <a:avLst/>
            <a:gdLst/>
            <a:ahLst/>
            <a:cxnLst/>
            <a:rect l="l" t="t" r="r" b="b"/>
            <a:pathLst>
              <a:path w="4123389" h="5491348">
                <a:moveTo>
                  <a:pt x="0" y="0"/>
                </a:moveTo>
                <a:lnTo>
                  <a:pt x="4123389" y="0"/>
                </a:lnTo>
                <a:lnTo>
                  <a:pt x="4123389" y="5491348"/>
                </a:lnTo>
                <a:lnTo>
                  <a:pt x="0" y="5491348"/>
                </a:lnTo>
                <a:lnTo>
                  <a:pt x="0" y="0"/>
                </a:lnTo>
                <a:close/>
              </a:path>
            </a:pathLst>
          </a:custGeom>
          <a:blipFill>
            <a:blip r:embed="rId4"/>
            <a:stretch>
              <a:fillRect l="-28610" t="-8593" r="-25558" b="-7169"/>
            </a:stretch>
          </a:blipFill>
          <a:ln w="38100" cap="sq">
            <a:solidFill>
              <a:srgbClr val="38B6FF"/>
            </a:solidFill>
            <a:prstDash val="solid"/>
            <a:miter/>
          </a:ln>
        </p:spPr>
        <p:txBody>
          <a:bodyPr/>
          <a:lstStyle/>
          <a:p>
            <a:endParaRPr lang="en-US"/>
          </a:p>
        </p:txBody>
      </p:sp>
      <p:sp>
        <p:nvSpPr>
          <p:cNvPr id="5" name="TextBox 5"/>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6" name="TextBox 6"/>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7" name="TextBox 7"/>
          <p:cNvSpPr txBox="1"/>
          <p:nvPr/>
        </p:nvSpPr>
        <p:spPr>
          <a:xfrm>
            <a:off x="9102485" y="1277427"/>
            <a:ext cx="8688975" cy="2181431"/>
          </a:xfrm>
          <a:prstGeom prst="rect">
            <a:avLst/>
          </a:prstGeom>
        </p:spPr>
        <p:txBody>
          <a:bodyPr wrap="square" lIns="0" tIns="0" rIns="0" bIns="0" rtlCol="0" anchor="t">
            <a:spAutoFit/>
          </a:bodyPr>
          <a:lstStyle/>
          <a:p>
            <a:pPr marL="457200" indent="-457200" algn="l">
              <a:buFont typeface="Arial" panose="020B0604020202020204" pitchFamily="34" charset="0"/>
              <a:buChar char="•"/>
            </a:pPr>
            <a:r>
              <a:rPr lang="en-US" sz="3099">
                <a:solidFill>
                  <a:srgbClr val="FFFFFF"/>
                </a:solidFill>
                <a:latin typeface="DM Sans"/>
                <a:ea typeface="DM Sans"/>
                <a:cs typeface="DM Sans"/>
                <a:sym typeface="DM Sans"/>
              </a:rPr>
              <a:t>Many on-prem MFA solutions are theater</a:t>
            </a:r>
          </a:p>
          <a:p>
            <a:pPr marL="457200" indent="-457200" algn="l">
              <a:lnSpc>
                <a:spcPts val="4339"/>
              </a:lnSpc>
              <a:buFont typeface="Arial" panose="020B0604020202020204" pitchFamily="34" charset="0"/>
              <a:buChar char="•"/>
            </a:pPr>
            <a:r>
              <a:rPr lang="en-US" sz="3099">
                <a:solidFill>
                  <a:srgbClr val="FFFFFF"/>
                </a:solidFill>
                <a:latin typeface="DM Sans"/>
                <a:ea typeface="DM Sans"/>
                <a:cs typeface="DM Sans"/>
                <a:sym typeface="DM Sans"/>
              </a:rPr>
              <a:t>MFA is great</a:t>
            </a:r>
          </a:p>
          <a:p>
            <a:pPr marL="457200" indent="-457200" algn="l">
              <a:lnSpc>
                <a:spcPts val="4339"/>
              </a:lnSpc>
              <a:buFont typeface="Arial" panose="020B0604020202020204" pitchFamily="34" charset="0"/>
              <a:buChar char="•"/>
            </a:pPr>
            <a:r>
              <a:rPr lang="en-US" sz="3099">
                <a:solidFill>
                  <a:srgbClr val="FFFFFF"/>
                </a:solidFill>
                <a:latin typeface="DM Sans"/>
                <a:ea typeface="DM Sans"/>
                <a:cs typeface="DM Sans"/>
                <a:sym typeface="DM Sans"/>
              </a:rPr>
              <a:t>MS says don’t sync privileged accounts</a:t>
            </a:r>
          </a:p>
          <a:p>
            <a:pPr algn="l">
              <a:lnSpc>
                <a:spcPts val="4339"/>
              </a:lnSpc>
            </a:pPr>
            <a:endParaRPr lang="en-US" sz="3099">
              <a:solidFill>
                <a:srgbClr val="FFFFFF"/>
              </a:solidFill>
              <a:latin typeface="DM Sans"/>
              <a:ea typeface="DM Sans"/>
              <a:cs typeface="DM Sans"/>
              <a:sym typeface="DM Sans"/>
            </a:endParaRPr>
          </a:p>
        </p:txBody>
      </p:sp>
      <p:sp>
        <p:nvSpPr>
          <p:cNvPr id="8" name="TextBox 8"/>
          <p:cNvSpPr txBox="1"/>
          <p:nvPr/>
        </p:nvSpPr>
        <p:spPr>
          <a:xfrm>
            <a:off x="9144000" y="634970"/>
            <a:ext cx="7775689"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FACT</a:t>
            </a:r>
          </a:p>
        </p:txBody>
      </p:sp>
      <p:sp>
        <p:nvSpPr>
          <p:cNvPr id="9" name="TextBox 9"/>
          <p:cNvSpPr txBox="1"/>
          <p:nvPr/>
        </p:nvSpPr>
        <p:spPr>
          <a:xfrm>
            <a:off x="9144000" y="4106778"/>
            <a:ext cx="7775689"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OPTIONS?</a:t>
            </a:r>
          </a:p>
        </p:txBody>
      </p:sp>
      <p:sp>
        <p:nvSpPr>
          <p:cNvPr id="10" name="TextBox 10"/>
          <p:cNvSpPr txBox="1"/>
          <p:nvPr/>
        </p:nvSpPr>
        <p:spPr>
          <a:xfrm>
            <a:off x="9187760" y="4642851"/>
            <a:ext cx="6812960" cy="3284297"/>
          </a:xfrm>
          <a:prstGeom prst="rect">
            <a:avLst/>
          </a:prstGeom>
        </p:spPr>
        <p:txBody>
          <a:bodyPr lIns="0" tIns="0" rIns="0" bIns="0" rtlCol="0" anchor="t">
            <a:spAutoFit/>
          </a:bodyPr>
          <a:lstStyle/>
          <a:p>
            <a:pPr marL="669286" lvl="1" indent="-334643" algn="l">
              <a:lnSpc>
                <a:spcPts val="4339"/>
              </a:lnSpc>
              <a:buFont typeface="Arial"/>
              <a:buChar char="•"/>
            </a:pPr>
            <a:r>
              <a:rPr lang="en-US" sz="3099">
                <a:solidFill>
                  <a:srgbClr val="737373"/>
                </a:solidFill>
                <a:latin typeface="DM Sans"/>
                <a:ea typeface="DM Sans"/>
                <a:cs typeface="DM Sans"/>
                <a:sym typeface="DM Sans"/>
              </a:rPr>
              <a:t>Passkeys (limited)</a:t>
            </a:r>
          </a:p>
          <a:p>
            <a:pPr marL="669286" lvl="1" indent="-334643" algn="l">
              <a:lnSpc>
                <a:spcPts val="4339"/>
              </a:lnSpc>
              <a:buFont typeface="Arial"/>
              <a:buChar char="•"/>
            </a:pPr>
            <a:r>
              <a:rPr lang="en-US" sz="3099">
                <a:solidFill>
                  <a:srgbClr val="FFFFFF"/>
                </a:solidFill>
                <a:latin typeface="DM Sans"/>
                <a:ea typeface="DM Sans"/>
                <a:cs typeface="DM Sans"/>
                <a:sym typeface="DM Sans"/>
              </a:rPr>
              <a:t>Duo Free Tier - 5 Accounts</a:t>
            </a:r>
          </a:p>
          <a:p>
            <a:pPr marL="669286" lvl="1" indent="-334643" algn="l">
              <a:lnSpc>
                <a:spcPts val="4339"/>
              </a:lnSpc>
              <a:buFont typeface="Arial"/>
              <a:buChar char="•"/>
            </a:pPr>
            <a:r>
              <a:rPr lang="en-US" sz="3099">
                <a:solidFill>
                  <a:srgbClr val="FFFFFF"/>
                </a:solidFill>
                <a:latin typeface="DM Sans"/>
                <a:ea typeface="DM Sans"/>
                <a:cs typeface="DM Sans"/>
                <a:sym typeface="DM Sans"/>
              </a:rPr>
              <a:t>Entra MFA for Cloud*</a:t>
            </a:r>
          </a:p>
          <a:p>
            <a:pPr marL="669286" lvl="1" indent="-334643" algn="l">
              <a:lnSpc>
                <a:spcPts val="4339"/>
              </a:lnSpc>
              <a:buFont typeface="Arial"/>
              <a:buChar char="•"/>
            </a:pPr>
            <a:r>
              <a:rPr lang="en-US" sz="3099">
                <a:solidFill>
                  <a:srgbClr val="FFFFFF"/>
                </a:solidFill>
                <a:latin typeface="DM Sans"/>
                <a:ea typeface="DM Sans"/>
                <a:cs typeface="DM Sans"/>
                <a:sym typeface="DM Sans"/>
              </a:rPr>
              <a:t>Windows Hello for Business</a:t>
            </a:r>
          </a:p>
          <a:p>
            <a:pPr marL="669286" lvl="1" indent="-334643" algn="l">
              <a:lnSpc>
                <a:spcPts val="4339"/>
              </a:lnSpc>
              <a:buFont typeface="Arial"/>
              <a:buChar char="•"/>
            </a:pPr>
            <a:r>
              <a:rPr lang="en-US" sz="3099">
                <a:solidFill>
                  <a:srgbClr val="FFFFFF"/>
                </a:solidFill>
                <a:latin typeface="DM Sans"/>
                <a:ea typeface="DM Sans"/>
                <a:cs typeface="DM Sans"/>
                <a:sym typeface="DM Sans"/>
              </a:rPr>
              <a:t>Cert-based Auth</a:t>
            </a:r>
          </a:p>
          <a:p>
            <a:pPr marL="1338572" lvl="2" indent="-446191" algn="l">
              <a:lnSpc>
                <a:spcPts val="4339"/>
              </a:lnSpc>
              <a:buFont typeface="Arial"/>
              <a:buChar char="⚬"/>
            </a:pPr>
            <a:r>
              <a:rPr lang="en-US" sz="3099">
                <a:solidFill>
                  <a:srgbClr val="FFFFFF"/>
                </a:solidFill>
                <a:latin typeface="DM Sans"/>
                <a:ea typeface="DM Sans"/>
                <a:cs typeface="DM Sans"/>
                <a:sym typeface="DM Sans"/>
              </a:rPr>
              <a:t>Smart Cards + PKI</a:t>
            </a:r>
          </a:p>
        </p:txBody>
      </p:sp>
      <p:sp>
        <p:nvSpPr>
          <p:cNvPr id="12" name="TextBox 7">
            <a:extLst>
              <a:ext uri="{FF2B5EF4-FFF2-40B4-BE49-F238E27FC236}">
                <a16:creationId xmlns:a16="http://schemas.microsoft.com/office/drawing/2014/main" id="{9EB5FE31-D65A-A521-D816-89C6C2437ED3}"/>
              </a:ext>
            </a:extLst>
          </p:cNvPr>
          <p:cNvSpPr txBox="1"/>
          <p:nvPr/>
        </p:nvSpPr>
        <p:spPr>
          <a:xfrm>
            <a:off x="1076985" y="1095375"/>
            <a:ext cx="7068808" cy="538480"/>
          </a:xfrm>
          <a:prstGeom prst="rect">
            <a:avLst/>
          </a:prstGeom>
        </p:spPr>
        <p:txBody>
          <a:bodyPr lIns="0" tIns="0" rIns="0" bIns="0" rtlCol="0" anchor="t">
            <a:spAutoFit/>
          </a:bodyPr>
          <a:lstStyle/>
          <a:p>
            <a:pPr marL="0" lvl="0" indent="0" algn="l">
              <a:lnSpc>
                <a:spcPts val="4160"/>
              </a:lnSpc>
            </a:pPr>
            <a:r>
              <a:rPr lang="en-US" sz="4000" dirty="0">
                <a:solidFill>
                  <a:srgbClr val="38B6FF"/>
                </a:solidFill>
                <a:latin typeface="Anton"/>
                <a:ea typeface="Anton"/>
                <a:cs typeface="Anton"/>
                <a:sym typeface="Anton"/>
              </a:rPr>
              <a:t>PASSKEYS / MFA</a:t>
            </a:r>
          </a:p>
        </p:txBody>
      </p:sp>
      <p:sp>
        <p:nvSpPr>
          <p:cNvPr id="13" name="TextBox 12">
            <a:extLst>
              <a:ext uri="{FF2B5EF4-FFF2-40B4-BE49-F238E27FC236}">
                <a16:creationId xmlns:a16="http://schemas.microsoft.com/office/drawing/2014/main" id="{BFA8C0EC-8A82-9061-2391-78380AA5430A}"/>
              </a:ext>
            </a:extLst>
          </p:cNvPr>
          <p:cNvSpPr txBox="1"/>
          <p:nvPr/>
        </p:nvSpPr>
        <p:spPr>
          <a:xfrm>
            <a:off x="562635" y="5083599"/>
            <a:ext cx="7358688" cy="769441"/>
          </a:xfrm>
          <a:prstGeom prst="rect">
            <a:avLst/>
          </a:prstGeom>
          <a:solidFill>
            <a:schemeClr val="accent1">
              <a:lumMod val="75000"/>
            </a:schemeClr>
          </a:solidFill>
          <a:ln>
            <a:solidFill>
              <a:schemeClr val="tx1"/>
            </a:solidFill>
          </a:ln>
        </p:spPr>
        <p:txBody>
          <a:bodyPr wrap="square" rtlCol="0">
            <a:spAutoFit/>
          </a:bodyPr>
          <a:lstStyle/>
          <a:p>
            <a:pPr algn="ctr"/>
            <a:r>
              <a:rPr lang="en-US" sz="4400" b="1" dirty="0">
                <a:solidFill>
                  <a:schemeClr val="bg1"/>
                </a:solidFill>
                <a:latin typeface="DM Sans" pitchFamily="2" charset="0"/>
              </a:rPr>
              <a:t>SECURITY THEATRE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par>
                          <p:cTn id="7" fill="hold">
                            <p:stCondLst>
                              <p:cond delay="0"/>
                            </p:stCondLst>
                            <p:childTnLst>
                              <p:par>
                                <p:cTn id="8" presetID="24" presetClass="emph" presetSubtype="0" fill="hold" grpId="1" nodeType="afterEffect">
                                  <p:stCondLst>
                                    <p:cond delay="5000"/>
                                  </p:stCondLst>
                                  <p:childTnLst>
                                    <p:animClr clrSpc="hsl" dir="cw">
                                      <p:cBhvr override="childStyle">
                                        <p:cTn id="9" dur="500" fill="hold"/>
                                        <p:tgtEl>
                                          <p:spTgt spid="13"/>
                                        </p:tgtEl>
                                        <p:attrNameLst>
                                          <p:attrName>style.color</p:attrName>
                                        </p:attrNameLst>
                                      </p:cBhvr>
                                      <p:by>
                                        <p:hsl h="0" s="-12549" l="-25098"/>
                                      </p:by>
                                    </p:animClr>
                                    <p:animClr clrSpc="hsl" dir="cw">
                                      <p:cBhvr>
                                        <p:cTn id="10" dur="500" fill="hold"/>
                                        <p:tgtEl>
                                          <p:spTgt spid="13"/>
                                        </p:tgtEl>
                                        <p:attrNameLst>
                                          <p:attrName>fillcolor</p:attrName>
                                        </p:attrNameLst>
                                      </p:cBhvr>
                                      <p:by>
                                        <p:hsl h="0" s="-12549" l="-25098"/>
                                      </p:by>
                                    </p:animClr>
                                    <p:animClr clrSpc="hsl" dir="cw">
                                      <p:cBhvr>
                                        <p:cTn id="11" dur="500" fill="hold"/>
                                        <p:tgtEl>
                                          <p:spTgt spid="13"/>
                                        </p:tgtEl>
                                        <p:attrNameLst>
                                          <p:attrName>stroke.color</p:attrName>
                                        </p:attrNameLst>
                                      </p:cBhvr>
                                      <p:by>
                                        <p:hsl h="0" s="-12549" l="-25098"/>
                                      </p:by>
                                    </p:animClr>
                                    <p:set>
                                      <p:cBhvr>
                                        <p:cTn id="12" dur="500" fill="hold"/>
                                        <p:tgtEl>
                                          <p:spTgt spid="13"/>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Lst>
  </p:timing>
</p:sld>
</file>

<file path=ppt/slides/slide57.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7">
            <a:extLst>
              <a:ext uri="{FF2B5EF4-FFF2-40B4-BE49-F238E27FC236}">
                <a16:creationId xmlns:a16="http://schemas.microsoft.com/office/drawing/2014/main" id="{BA6B3839-EC1F-9164-E1BB-DAC93D0FC31B}"/>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a:solidFill>
                  <a:srgbClr val="FFFFFF"/>
                </a:solidFill>
                <a:latin typeface="Anton"/>
                <a:ea typeface="Anton"/>
                <a:cs typeface="Anton"/>
                <a:sym typeface="Anton"/>
              </a:rPr>
              <a:t>BONUS</a:t>
            </a:r>
          </a:p>
        </p:txBody>
      </p:sp>
      <p:sp>
        <p:nvSpPr>
          <p:cNvPr id="6" name="TextBox 7">
            <a:extLst>
              <a:ext uri="{FF2B5EF4-FFF2-40B4-BE49-F238E27FC236}">
                <a16:creationId xmlns:a16="http://schemas.microsoft.com/office/drawing/2014/main" id="{5D38D6DF-6638-7621-D658-78D5F7E5A5DD}"/>
              </a:ext>
            </a:extLst>
          </p:cNvPr>
          <p:cNvSpPr txBox="1"/>
          <p:nvPr/>
        </p:nvSpPr>
        <p:spPr>
          <a:xfrm>
            <a:off x="533400" y="406993"/>
            <a:ext cx="7772400" cy="538609"/>
          </a:xfrm>
          <a:prstGeom prst="rect">
            <a:avLst/>
          </a:prstGeom>
        </p:spPr>
        <p:txBody>
          <a:bodyPr wrap="square"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BONUS – Windows Hello for Business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a:extLst>
            <a:ext uri="{FF2B5EF4-FFF2-40B4-BE49-F238E27FC236}">
              <a16:creationId xmlns:a16="http://schemas.microsoft.com/office/drawing/2014/main" id="{015C8C6A-15C3-C361-DB1B-D6FCC46A6E57}"/>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488B3BC9-8043-2242-3892-0F8003505BA3}"/>
              </a:ext>
            </a:extLst>
          </p:cNvPr>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a:extLst>
              <a:ext uri="{FF2B5EF4-FFF2-40B4-BE49-F238E27FC236}">
                <a16:creationId xmlns:a16="http://schemas.microsoft.com/office/drawing/2014/main" id="{38CDEFBC-92D6-EFE1-E53B-D584F1EF6456}"/>
              </a:ext>
            </a:extLst>
          </p:cNvPr>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a:extLst>
              <a:ext uri="{FF2B5EF4-FFF2-40B4-BE49-F238E27FC236}">
                <a16:creationId xmlns:a16="http://schemas.microsoft.com/office/drawing/2014/main" id="{8F591952-B189-F64D-6BE7-8E1DAEC98DA3}"/>
              </a:ext>
            </a:extLst>
          </p:cNvPr>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7">
            <a:extLst>
              <a:ext uri="{FF2B5EF4-FFF2-40B4-BE49-F238E27FC236}">
                <a16:creationId xmlns:a16="http://schemas.microsoft.com/office/drawing/2014/main" id="{17644DDA-8B17-0BA9-AA41-6C6FB7765841}"/>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a:solidFill>
                  <a:srgbClr val="FFFFFF"/>
                </a:solidFill>
                <a:latin typeface="Anton"/>
                <a:ea typeface="Anton"/>
                <a:cs typeface="Anton"/>
                <a:sym typeface="Anton"/>
              </a:rPr>
              <a:t>BONUS</a:t>
            </a:r>
          </a:p>
        </p:txBody>
      </p:sp>
      <p:sp>
        <p:nvSpPr>
          <p:cNvPr id="6" name="TextBox 7">
            <a:extLst>
              <a:ext uri="{FF2B5EF4-FFF2-40B4-BE49-F238E27FC236}">
                <a16:creationId xmlns:a16="http://schemas.microsoft.com/office/drawing/2014/main" id="{4EB0CA74-6CDD-2795-D9D3-1917A1EF26FB}"/>
              </a:ext>
            </a:extLst>
          </p:cNvPr>
          <p:cNvSpPr txBox="1"/>
          <p:nvPr/>
        </p:nvSpPr>
        <p:spPr>
          <a:xfrm>
            <a:off x="533400" y="406993"/>
            <a:ext cx="7772400" cy="538609"/>
          </a:xfrm>
          <a:prstGeom prst="rect">
            <a:avLst/>
          </a:prstGeom>
        </p:spPr>
        <p:txBody>
          <a:bodyPr wrap="square" lIns="0" tIns="0" rIns="0" bIns="0" rtlCol="0" anchor="t">
            <a:spAutoFit/>
          </a:bodyPr>
          <a:lstStyle/>
          <a:p>
            <a:pPr marL="0" lvl="0" indent="0" algn="l">
              <a:lnSpc>
                <a:spcPts val="4160"/>
              </a:lnSpc>
            </a:pPr>
            <a:r>
              <a:rPr lang="en-US" sz="4000" dirty="0">
                <a:solidFill>
                  <a:srgbClr val="38B6FF"/>
                </a:solidFill>
                <a:latin typeface="Anton"/>
                <a:ea typeface="Anton"/>
                <a:cs typeface="Anton"/>
                <a:sym typeface="Anton"/>
              </a:rPr>
              <a:t>BONUS – </a:t>
            </a:r>
            <a:r>
              <a:rPr lang="en-US" sz="4000" dirty="0" err="1">
                <a:solidFill>
                  <a:srgbClr val="38B6FF"/>
                </a:solidFill>
                <a:latin typeface="Anton"/>
                <a:ea typeface="Anton"/>
                <a:cs typeface="Anton"/>
                <a:sym typeface="Anton"/>
              </a:rPr>
              <a:t>WHfB</a:t>
            </a:r>
            <a:r>
              <a:rPr lang="en-US" sz="4000" dirty="0">
                <a:solidFill>
                  <a:srgbClr val="38B6FF"/>
                </a:solidFill>
                <a:latin typeface="Anton"/>
                <a:ea typeface="Anton"/>
                <a:cs typeface="Anton"/>
                <a:sym typeface="Anton"/>
              </a:rPr>
              <a:t> On-Prem Deployment</a:t>
            </a:r>
          </a:p>
        </p:txBody>
      </p:sp>
    </p:spTree>
    <p:extLst>
      <p:ext uri="{BB962C8B-B14F-4D97-AF65-F5344CB8AC3E}">
        <p14:creationId xmlns:p14="http://schemas.microsoft.com/office/powerpoint/2010/main" val="120019920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p:cNvGrpSpPr/>
        <p:nvPr/>
      </p:nvGrpSpPr>
      <p:grpSpPr>
        <a:xfrm>
          <a:off x="0" y="0"/>
          <a:ext cx="0" cy="0"/>
          <a:chOff x="0" y="0"/>
          <a:chExt cx="0" cy="0"/>
        </a:xfrm>
      </p:grpSpPr>
      <p:sp>
        <p:nvSpPr>
          <p:cNvPr id="2" name="TextBox 7">
            <a:extLst>
              <a:ext uri="{FF2B5EF4-FFF2-40B4-BE49-F238E27FC236}">
                <a16:creationId xmlns:a16="http://schemas.microsoft.com/office/drawing/2014/main" id="{16E4568F-98E6-DF12-25C3-ED76352FAE34}"/>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a:solidFill>
                  <a:srgbClr val="FFFFFF"/>
                </a:solidFill>
                <a:latin typeface="Anton"/>
                <a:ea typeface="Anton"/>
                <a:cs typeface="Anton"/>
                <a:sym typeface="Anton"/>
              </a:rPr>
              <a:t>BONUS</a:t>
            </a:r>
          </a:p>
        </p:txBody>
      </p:sp>
      <p:sp>
        <p:nvSpPr>
          <p:cNvPr id="3" name="TextBox 7">
            <a:extLst>
              <a:ext uri="{FF2B5EF4-FFF2-40B4-BE49-F238E27FC236}">
                <a16:creationId xmlns:a16="http://schemas.microsoft.com/office/drawing/2014/main" id="{1198AD16-BBCD-DFB2-3B39-EDB924894C53}"/>
              </a:ext>
            </a:extLst>
          </p:cNvPr>
          <p:cNvSpPr txBox="1"/>
          <p:nvPr/>
        </p:nvSpPr>
        <p:spPr>
          <a:xfrm>
            <a:off x="533400" y="406993"/>
            <a:ext cx="7772400" cy="538609"/>
          </a:xfrm>
          <a:prstGeom prst="rect">
            <a:avLst/>
          </a:prstGeom>
        </p:spPr>
        <p:txBody>
          <a:bodyPr wrap="square" lIns="0" tIns="0" rIns="0" bIns="0" rtlCol="0" anchor="t">
            <a:spAutoFit/>
          </a:bodyPr>
          <a:lstStyle/>
          <a:p>
            <a:pPr marL="0" lvl="0" indent="0" algn="l">
              <a:lnSpc>
                <a:spcPts val="4160"/>
              </a:lnSpc>
            </a:pPr>
            <a:r>
              <a:rPr lang="en-US" sz="4000" dirty="0">
                <a:solidFill>
                  <a:srgbClr val="38B6FF"/>
                </a:solidFill>
                <a:latin typeface="Anton"/>
                <a:ea typeface="Anton"/>
                <a:cs typeface="Anton"/>
                <a:sym typeface="Anton"/>
              </a:rPr>
              <a:t>BONUS – </a:t>
            </a:r>
            <a:r>
              <a:rPr lang="en-US" sz="4000" dirty="0" err="1">
                <a:solidFill>
                  <a:srgbClr val="38B6FF"/>
                </a:solidFill>
                <a:latin typeface="Anton"/>
                <a:ea typeface="Anton"/>
                <a:cs typeface="Anton"/>
                <a:sym typeface="Anton"/>
              </a:rPr>
              <a:t>Crowdtrike</a:t>
            </a:r>
            <a:r>
              <a:rPr lang="en-US" sz="4000" dirty="0">
                <a:solidFill>
                  <a:srgbClr val="38B6FF"/>
                </a:solidFill>
                <a:latin typeface="Anton"/>
                <a:ea typeface="Anton"/>
                <a:cs typeface="Anton"/>
                <a:sym typeface="Anton"/>
              </a:rPr>
              <a:t> + AD Performance</a:t>
            </a:r>
          </a:p>
        </p:txBody>
      </p:sp>
      <p:sp>
        <p:nvSpPr>
          <p:cNvPr id="7" name="TextBox 8">
            <a:extLst>
              <a:ext uri="{FF2B5EF4-FFF2-40B4-BE49-F238E27FC236}">
                <a16:creationId xmlns:a16="http://schemas.microsoft.com/office/drawing/2014/main" id="{7BFDDA40-1FF8-0E7B-8C22-3F99482ECF25}"/>
              </a:ext>
            </a:extLst>
          </p:cNvPr>
          <p:cNvSpPr txBox="1"/>
          <p:nvPr/>
        </p:nvSpPr>
        <p:spPr>
          <a:xfrm>
            <a:off x="2788542" y="1567809"/>
            <a:ext cx="13213458" cy="6597383"/>
          </a:xfrm>
          <a:prstGeom prst="rect">
            <a:avLst/>
          </a:prstGeom>
        </p:spPr>
        <p:txBody>
          <a:bodyPr wrap="square" lIns="0" tIns="0" rIns="0" bIns="0" rtlCol="0" anchor="t">
            <a:spAutoFit/>
          </a:bodyPr>
          <a:lstStyle/>
          <a:p>
            <a:pPr marL="342900" indent="-342900" algn="l">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AD auth is designed to operate in the less than milliseconds range. </a:t>
            </a:r>
          </a:p>
          <a:p>
            <a:pPr marL="800100" lvl="1" indent="-342900">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Any impact compounds quickly</a:t>
            </a:r>
          </a:p>
          <a:p>
            <a:pPr marL="342900" indent="-342900" algn="l">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Asynchronous Thread Queues (ATQ) handles auth requests for LSASS</a:t>
            </a:r>
          </a:p>
          <a:p>
            <a:pPr marL="800100" lvl="1" indent="-342900">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Doesn’t always spike CPU/RAM</a:t>
            </a:r>
          </a:p>
          <a:p>
            <a:pPr marL="800100" lvl="1" indent="-342900">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Default: 4x CPU Core Count</a:t>
            </a:r>
          </a:p>
          <a:p>
            <a:pPr marL="342900" indent="-342900">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EDR (Falcon Identity) inspection of LSASS can pause auth during inspection.</a:t>
            </a:r>
          </a:p>
          <a:p>
            <a:pPr marL="800100" lvl="1" indent="-342900">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Adds latency</a:t>
            </a:r>
          </a:p>
          <a:p>
            <a:pPr marL="800100" lvl="1" indent="-342900">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Personally seen up to 40-70% impact. </a:t>
            </a:r>
          </a:p>
          <a:p>
            <a:pPr marL="800100" lvl="1" indent="-342900">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Caused outages. </a:t>
            </a:r>
          </a:p>
          <a:p>
            <a:pPr marL="342900" indent="-342900">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Other possible </a:t>
            </a:r>
            <a:r>
              <a:rPr lang="en-US" sz="2400" dirty="0" err="1">
                <a:solidFill>
                  <a:schemeClr val="bg1"/>
                </a:solidFill>
                <a:latin typeface="DM Sans" pitchFamily="2" charset="0"/>
                <a:ea typeface="DM Sans Bold"/>
                <a:cs typeface="DM Sans Bold"/>
                <a:sym typeface="DM Sans Bold"/>
              </a:rPr>
              <a:t>causesS</a:t>
            </a:r>
            <a:r>
              <a:rPr lang="en-US" sz="2400" dirty="0">
                <a:solidFill>
                  <a:schemeClr val="bg1"/>
                </a:solidFill>
                <a:latin typeface="DM Sans" pitchFamily="2" charset="0"/>
                <a:ea typeface="DM Sans Bold"/>
                <a:cs typeface="DM Sans Bold"/>
                <a:sym typeface="DM Sans Bold"/>
              </a:rPr>
              <a:t> </a:t>
            </a:r>
            <a:r>
              <a:rPr lang="en-US" sz="2400" dirty="0" err="1">
                <a:solidFill>
                  <a:schemeClr val="bg1"/>
                </a:solidFill>
                <a:latin typeface="Courier New" panose="02070309020205020404" pitchFamily="49" charset="0"/>
                <a:ea typeface="DM Sans Bold"/>
                <a:cs typeface="Courier New" panose="02070309020205020404" pitchFamily="49" charset="0"/>
                <a:sym typeface="DM Sans Bold"/>
              </a:rPr>
              <a:t>objectClass</a:t>
            </a:r>
            <a:r>
              <a:rPr lang="en-US" sz="2400" dirty="0">
                <a:solidFill>
                  <a:schemeClr val="bg1"/>
                </a:solidFill>
                <a:latin typeface="Courier New" panose="02070309020205020404" pitchFamily="49" charset="0"/>
                <a:ea typeface="DM Sans Bold"/>
                <a:cs typeface="Courier New" panose="02070309020205020404" pitchFamily="49" charset="0"/>
                <a:sym typeface="DM Sans Bold"/>
              </a:rPr>
              <a:t>=*)</a:t>
            </a:r>
          </a:p>
          <a:p>
            <a:pPr marL="800100" lvl="1" indent="-342900">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Improper exclusions of NTDS.DIT/SYSVOL</a:t>
            </a:r>
          </a:p>
          <a:p>
            <a:pPr marL="342900" indent="-342900">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Monitor ATQ </a:t>
            </a:r>
            <a:r>
              <a:rPr lang="en-US" sz="2400" dirty="0" err="1">
                <a:solidFill>
                  <a:schemeClr val="bg1"/>
                </a:solidFill>
                <a:latin typeface="DM Sans" pitchFamily="2" charset="0"/>
                <a:ea typeface="DM Sans Bold"/>
                <a:cs typeface="DM Sans Bold"/>
                <a:sym typeface="DM Sans Bold"/>
              </a:rPr>
              <a:t>Perfmons</a:t>
            </a:r>
            <a:r>
              <a:rPr lang="en-US" sz="2400" dirty="0">
                <a:solidFill>
                  <a:schemeClr val="bg1"/>
                </a:solidFill>
                <a:latin typeface="DM Sans" pitchFamily="2" charset="0"/>
                <a:ea typeface="DM Sans Bold"/>
                <a:cs typeface="DM Sans Bold"/>
                <a:sym typeface="DM Sans Bold"/>
              </a:rPr>
              <a:t> to track. </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p:cNvGrpSpPr/>
        <p:nvPr/>
      </p:nvGrpSpPr>
      <p:grpSpPr>
        <a:xfrm>
          <a:off x="0" y="0"/>
          <a:ext cx="0" cy="0"/>
          <a:chOff x="0" y="0"/>
          <a:chExt cx="0" cy="0"/>
        </a:xfrm>
      </p:grpSpPr>
      <p:sp>
        <p:nvSpPr>
          <p:cNvPr id="2" name="TextBox 7">
            <a:extLst>
              <a:ext uri="{FF2B5EF4-FFF2-40B4-BE49-F238E27FC236}">
                <a16:creationId xmlns:a16="http://schemas.microsoft.com/office/drawing/2014/main" id="{C9481E31-046A-E422-0CA6-50E405ABF4DA}"/>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a:solidFill>
                  <a:srgbClr val="FFFFFF"/>
                </a:solidFill>
                <a:latin typeface="Anton"/>
                <a:ea typeface="Anton"/>
                <a:cs typeface="Anton"/>
                <a:sym typeface="Anton"/>
              </a:rPr>
              <a:t>BONUS</a:t>
            </a:r>
          </a:p>
        </p:txBody>
      </p:sp>
      <p:sp>
        <p:nvSpPr>
          <p:cNvPr id="3" name="TextBox 7">
            <a:extLst>
              <a:ext uri="{FF2B5EF4-FFF2-40B4-BE49-F238E27FC236}">
                <a16:creationId xmlns:a16="http://schemas.microsoft.com/office/drawing/2014/main" id="{ADA8EBBF-A8B4-85AF-1C09-6AA4D1620A92}"/>
              </a:ext>
            </a:extLst>
          </p:cNvPr>
          <p:cNvSpPr txBox="1"/>
          <p:nvPr/>
        </p:nvSpPr>
        <p:spPr>
          <a:xfrm>
            <a:off x="533400" y="406993"/>
            <a:ext cx="7772400" cy="538609"/>
          </a:xfrm>
          <a:prstGeom prst="rect">
            <a:avLst/>
          </a:prstGeom>
        </p:spPr>
        <p:txBody>
          <a:bodyPr wrap="square"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BONUS – Custom Hybrid MFA</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a:extLst>
            <a:ext uri="{FF2B5EF4-FFF2-40B4-BE49-F238E27FC236}">
              <a16:creationId xmlns:a16="http://schemas.microsoft.com/office/drawing/2014/main" id="{29F2C2F4-D5CB-1C99-B767-3D1546B90652}"/>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C7B9541-3828-64BD-48EF-DF327F2DCD88}"/>
              </a:ext>
            </a:extLst>
          </p:cNvPr>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a:extLst>
              <a:ext uri="{FF2B5EF4-FFF2-40B4-BE49-F238E27FC236}">
                <a16:creationId xmlns:a16="http://schemas.microsoft.com/office/drawing/2014/main" id="{A59BB55C-61FA-FC18-CC51-B21C1296DD03}"/>
              </a:ext>
            </a:extLst>
          </p:cNvPr>
          <p:cNvSpPr/>
          <p:nvPr/>
        </p:nvSpPr>
        <p:spPr>
          <a:xfrm>
            <a:off x="10131262" y="2835798"/>
            <a:ext cx="7128038" cy="4615405"/>
          </a:xfrm>
          <a:custGeom>
            <a:avLst/>
            <a:gdLst/>
            <a:ahLst/>
            <a:cxnLst/>
            <a:rect l="l" t="t" r="r" b="b"/>
            <a:pathLst>
              <a:path w="7128038" h="4615405">
                <a:moveTo>
                  <a:pt x="0" y="0"/>
                </a:moveTo>
                <a:lnTo>
                  <a:pt x="7128038" y="0"/>
                </a:lnTo>
                <a:lnTo>
                  <a:pt x="7128038" y="4615404"/>
                </a:lnTo>
                <a:lnTo>
                  <a:pt x="0" y="4615404"/>
                </a:lnTo>
                <a:lnTo>
                  <a:pt x="0" y="0"/>
                </a:lnTo>
                <a:close/>
              </a:path>
            </a:pathLst>
          </a:custGeom>
          <a:blipFill>
            <a:blip r:embed="rId3"/>
            <a:stretch>
              <a:fillRect/>
            </a:stretch>
          </a:blipFill>
          <a:ln w="38100" cap="sq">
            <a:solidFill>
              <a:srgbClr val="38B6FF"/>
            </a:solidFill>
            <a:prstDash val="solid"/>
            <a:miter/>
          </a:ln>
        </p:spPr>
        <p:txBody>
          <a:bodyPr/>
          <a:lstStyle/>
          <a:p>
            <a:endParaRPr lang="en-US"/>
          </a:p>
        </p:txBody>
      </p:sp>
      <p:sp>
        <p:nvSpPr>
          <p:cNvPr id="4" name="TextBox 4">
            <a:extLst>
              <a:ext uri="{FF2B5EF4-FFF2-40B4-BE49-F238E27FC236}">
                <a16:creationId xmlns:a16="http://schemas.microsoft.com/office/drawing/2014/main" id="{B6D95C7C-6791-D9B1-E09B-41AA8CA0A7FE}"/>
              </a:ext>
            </a:extLst>
          </p:cNvPr>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a:extLst>
              <a:ext uri="{FF2B5EF4-FFF2-40B4-BE49-F238E27FC236}">
                <a16:creationId xmlns:a16="http://schemas.microsoft.com/office/drawing/2014/main" id="{FF7E94C9-883C-324A-0821-582516627619}"/>
              </a:ext>
            </a:extLst>
          </p:cNvPr>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a:extLst>
              <a:ext uri="{FF2B5EF4-FFF2-40B4-BE49-F238E27FC236}">
                <a16:creationId xmlns:a16="http://schemas.microsoft.com/office/drawing/2014/main" id="{E0485622-0175-A797-027A-995988A01BC0}"/>
              </a:ext>
            </a:extLst>
          </p:cNvPr>
          <p:cNvSpPr txBox="1"/>
          <p:nvPr/>
        </p:nvSpPr>
        <p:spPr>
          <a:xfrm>
            <a:off x="1076985" y="1095375"/>
            <a:ext cx="7068808"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SPEEDY PASSWORD HARDENING</a:t>
            </a:r>
          </a:p>
        </p:txBody>
      </p:sp>
      <p:sp>
        <p:nvSpPr>
          <p:cNvPr id="7" name="TextBox 7">
            <a:extLst>
              <a:ext uri="{FF2B5EF4-FFF2-40B4-BE49-F238E27FC236}">
                <a16:creationId xmlns:a16="http://schemas.microsoft.com/office/drawing/2014/main" id="{83CD9103-2A89-E29B-629F-C6978B7FC49E}"/>
              </a:ext>
            </a:extLst>
          </p:cNvPr>
          <p:cNvSpPr txBox="1"/>
          <p:nvPr/>
        </p:nvSpPr>
        <p:spPr>
          <a:xfrm>
            <a:off x="1028700" y="1637284"/>
            <a:ext cx="8333263" cy="7651325"/>
          </a:xfrm>
          <a:prstGeom prst="rect">
            <a:avLst/>
          </a:prstGeom>
        </p:spPr>
        <p:txBody>
          <a:bodyPr lIns="0" tIns="0" rIns="0" bIns="0" rtlCol="0" anchor="t">
            <a:spAutoFit/>
          </a:bodyPr>
          <a:lstStyle/>
          <a:p>
            <a:pPr marL="690876" lvl="1" indent="-345438" algn="l">
              <a:lnSpc>
                <a:spcPts val="5023"/>
              </a:lnSpc>
              <a:buFont typeface="Arial"/>
              <a:buChar char="•"/>
            </a:pPr>
            <a:r>
              <a:rPr lang="en-US" sz="3199" dirty="0">
                <a:solidFill>
                  <a:schemeClr val="bg1"/>
                </a:solidFill>
                <a:latin typeface="DM Sans"/>
                <a:ea typeface="DM Sans"/>
                <a:cs typeface="DM Sans"/>
                <a:sym typeface="DM Sans"/>
              </a:rPr>
              <a:t>Do - Use Fine-Grained Password Policies</a:t>
            </a:r>
          </a:p>
          <a:p>
            <a:pPr marL="690876" lvl="1" indent="-345438">
              <a:lnSpc>
                <a:spcPts val="5023"/>
              </a:lnSpc>
              <a:buFont typeface="Arial"/>
              <a:buChar char="•"/>
            </a:pPr>
            <a:r>
              <a:rPr lang="en-US" sz="3199" dirty="0">
                <a:solidFill>
                  <a:schemeClr val="bg1"/>
                </a:solidFill>
                <a:latin typeface="DM Sans"/>
                <a:ea typeface="DM Sans"/>
                <a:cs typeface="DM Sans"/>
                <a:sym typeface="DM Sans"/>
              </a:rPr>
              <a:t>Do - Change your lockout policy </a:t>
            </a:r>
          </a:p>
          <a:p>
            <a:pPr marL="1381751" lvl="2" indent="-460584">
              <a:lnSpc>
                <a:spcPts val="5023"/>
              </a:lnSpc>
              <a:buFont typeface="Arial"/>
              <a:buChar char="⚬"/>
            </a:pPr>
            <a:r>
              <a:rPr lang="en-US" sz="3199" dirty="0">
                <a:solidFill>
                  <a:schemeClr val="bg1"/>
                </a:solidFill>
                <a:latin typeface="DM Sans"/>
                <a:ea typeface="DM Sans"/>
                <a:cs typeface="DM Sans"/>
                <a:sym typeface="DM Sans"/>
              </a:rPr>
              <a:t>15 Rule</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Turn off Password Complexity</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Use 16+ Character Passwords </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Use Password Safes (not picky)</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Deploy a Password Filter Solution</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Use MFA (dispel the auditors)</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Look into </a:t>
            </a:r>
            <a:r>
              <a:rPr lang="en-US" sz="3199" dirty="0" err="1">
                <a:solidFill>
                  <a:schemeClr val="tx1">
                    <a:lumMod val="65000"/>
                    <a:lumOff val="35000"/>
                  </a:schemeClr>
                </a:solidFill>
                <a:latin typeface="DM Sans"/>
                <a:ea typeface="DM Sans"/>
                <a:cs typeface="DM Sans"/>
                <a:sym typeface="DM Sans"/>
              </a:rPr>
              <a:t>Passwordless</a:t>
            </a:r>
            <a:r>
              <a:rPr lang="en-US" sz="3199" dirty="0">
                <a:solidFill>
                  <a:schemeClr val="tx1">
                    <a:lumMod val="65000"/>
                    <a:lumOff val="35000"/>
                  </a:schemeClr>
                </a:solidFill>
                <a:latin typeface="DM Sans"/>
                <a:ea typeface="DM Sans"/>
                <a:cs typeface="DM Sans"/>
                <a:sym typeface="DM Sans"/>
              </a:rPr>
              <a:t> </a:t>
            </a:r>
          </a:p>
          <a:p>
            <a:pPr marL="1381751" lvl="2" indent="-460584"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(WH/</a:t>
            </a:r>
            <a:r>
              <a:rPr lang="en-US" sz="3199" dirty="0" err="1">
                <a:solidFill>
                  <a:schemeClr val="tx1">
                    <a:lumMod val="65000"/>
                    <a:lumOff val="35000"/>
                  </a:schemeClr>
                </a:solidFill>
                <a:latin typeface="DM Sans"/>
                <a:ea typeface="DM Sans"/>
                <a:cs typeface="DM Sans"/>
                <a:sym typeface="DM Sans"/>
              </a:rPr>
              <a:t>WHfB</a:t>
            </a:r>
            <a:r>
              <a:rPr lang="en-US" sz="3199" dirty="0">
                <a:solidFill>
                  <a:schemeClr val="tx1">
                    <a:lumMod val="65000"/>
                    <a:lumOff val="35000"/>
                  </a:schemeClr>
                </a:solidFill>
                <a:latin typeface="DM Sans"/>
                <a:ea typeface="DM Sans"/>
                <a:cs typeface="DM Sans"/>
                <a:sym typeface="DM Sans"/>
              </a:rPr>
              <a:t>)</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NOT - Force Password Expiration</a:t>
            </a:r>
          </a:p>
        </p:txBody>
      </p:sp>
    </p:spTree>
    <p:extLst>
      <p:ext uri="{BB962C8B-B14F-4D97-AF65-F5344CB8AC3E}">
        <p14:creationId xmlns:p14="http://schemas.microsoft.com/office/powerpoint/2010/main" val="45624745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a:extLst>
            <a:ext uri="{FF2B5EF4-FFF2-40B4-BE49-F238E27FC236}">
              <a16:creationId xmlns:a16="http://schemas.microsoft.com/office/drawing/2014/main" id="{41A51861-EF6F-D093-4CEB-FC2AE89CB07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4C55CBF-7296-E9CD-8EC2-D785BA55A6FD}"/>
              </a:ext>
            </a:extLst>
          </p:cNvPr>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a:extLst>
              <a:ext uri="{FF2B5EF4-FFF2-40B4-BE49-F238E27FC236}">
                <a16:creationId xmlns:a16="http://schemas.microsoft.com/office/drawing/2014/main" id="{3FA6CBA7-F6F2-B832-6A0A-2DAA2BA746E0}"/>
              </a:ext>
            </a:extLst>
          </p:cNvPr>
          <p:cNvSpPr/>
          <p:nvPr/>
        </p:nvSpPr>
        <p:spPr>
          <a:xfrm>
            <a:off x="10131262" y="2835798"/>
            <a:ext cx="7128038" cy="4615405"/>
          </a:xfrm>
          <a:custGeom>
            <a:avLst/>
            <a:gdLst/>
            <a:ahLst/>
            <a:cxnLst/>
            <a:rect l="l" t="t" r="r" b="b"/>
            <a:pathLst>
              <a:path w="7128038" h="4615405">
                <a:moveTo>
                  <a:pt x="0" y="0"/>
                </a:moveTo>
                <a:lnTo>
                  <a:pt x="7128038" y="0"/>
                </a:lnTo>
                <a:lnTo>
                  <a:pt x="7128038" y="4615404"/>
                </a:lnTo>
                <a:lnTo>
                  <a:pt x="0" y="4615404"/>
                </a:lnTo>
                <a:lnTo>
                  <a:pt x="0" y="0"/>
                </a:lnTo>
                <a:close/>
              </a:path>
            </a:pathLst>
          </a:custGeom>
          <a:blipFill>
            <a:blip r:embed="rId3"/>
            <a:stretch>
              <a:fillRect/>
            </a:stretch>
          </a:blipFill>
          <a:ln w="38100" cap="sq">
            <a:solidFill>
              <a:srgbClr val="38B6FF"/>
            </a:solidFill>
            <a:prstDash val="solid"/>
            <a:miter/>
          </a:ln>
        </p:spPr>
        <p:txBody>
          <a:bodyPr/>
          <a:lstStyle/>
          <a:p>
            <a:endParaRPr lang="en-US"/>
          </a:p>
        </p:txBody>
      </p:sp>
      <p:sp>
        <p:nvSpPr>
          <p:cNvPr id="4" name="TextBox 4">
            <a:extLst>
              <a:ext uri="{FF2B5EF4-FFF2-40B4-BE49-F238E27FC236}">
                <a16:creationId xmlns:a16="http://schemas.microsoft.com/office/drawing/2014/main" id="{6ECA2D33-CE03-99B2-C13D-75DFD5DA91B1}"/>
              </a:ext>
            </a:extLst>
          </p:cNvPr>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a:extLst>
              <a:ext uri="{FF2B5EF4-FFF2-40B4-BE49-F238E27FC236}">
                <a16:creationId xmlns:a16="http://schemas.microsoft.com/office/drawing/2014/main" id="{CD74CBF2-4B00-06DE-C3FF-A64C6A55462F}"/>
              </a:ext>
            </a:extLst>
          </p:cNvPr>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a:extLst>
              <a:ext uri="{FF2B5EF4-FFF2-40B4-BE49-F238E27FC236}">
                <a16:creationId xmlns:a16="http://schemas.microsoft.com/office/drawing/2014/main" id="{7048C368-E17A-1BB0-6708-798A966D9052}"/>
              </a:ext>
            </a:extLst>
          </p:cNvPr>
          <p:cNvSpPr txBox="1"/>
          <p:nvPr/>
        </p:nvSpPr>
        <p:spPr>
          <a:xfrm>
            <a:off x="1076985" y="1095375"/>
            <a:ext cx="7068808"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SPEEDY PASSWORD HARDENING</a:t>
            </a:r>
          </a:p>
        </p:txBody>
      </p:sp>
      <p:sp>
        <p:nvSpPr>
          <p:cNvPr id="7" name="TextBox 7">
            <a:extLst>
              <a:ext uri="{FF2B5EF4-FFF2-40B4-BE49-F238E27FC236}">
                <a16:creationId xmlns:a16="http://schemas.microsoft.com/office/drawing/2014/main" id="{2B8605E5-A041-BAA1-E56E-E32CACAF0A14}"/>
              </a:ext>
            </a:extLst>
          </p:cNvPr>
          <p:cNvSpPr txBox="1"/>
          <p:nvPr/>
        </p:nvSpPr>
        <p:spPr>
          <a:xfrm>
            <a:off x="1028700" y="1637284"/>
            <a:ext cx="8333263" cy="7651325"/>
          </a:xfrm>
          <a:prstGeom prst="rect">
            <a:avLst/>
          </a:prstGeom>
        </p:spPr>
        <p:txBody>
          <a:bodyPr lIns="0" tIns="0" rIns="0" bIns="0" rtlCol="0" anchor="t">
            <a:spAutoFit/>
          </a:bodyPr>
          <a:lstStyle/>
          <a:p>
            <a:pPr marL="690876" lvl="1" indent="-345438" algn="l">
              <a:lnSpc>
                <a:spcPts val="5023"/>
              </a:lnSpc>
              <a:buFont typeface="Arial"/>
              <a:buChar char="•"/>
            </a:pPr>
            <a:r>
              <a:rPr lang="en-US" sz="3199" dirty="0">
                <a:solidFill>
                  <a:schemeClr val="bg1"/>
                </a:solidFill>
                <a:latin typeface="DM Sans"/>
                <a:ea typeface="DM Sans"/>
                <a:cs typeface="DM Sans"/>
                <a:sym typeface="DM Sans"/>
              </a:rPr>
              <a:t>Do - Use Fine-Grained Password Policies</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Turn off Password Complexity</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Use 16+ Character Passwords </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Use Password Safes (not picky)</a:t>
            </a:r>
          </a:p>
          <a:p>
            <a:pPr marL="690876" lvl="1" indent="-345438" algn="l">
              <a:lnSpc>
                <a:spcPts val="5023"/>
              </a:lnSpc>
              <a:buFont typeface="Arial"/>
              <a:buChar char="•"/>
            </a:pPr>
            <a:r>
              <a:rPr lang="en-US" sz="3199" dirty="0">
                <a:solidFill>
                  <a:schemeClr val="bg1"/>
                </a:solidFill>
                <a:latin typeface="DM Sans"/>
                <a:ea typeface="DM Sans"/>
                <a:cs typeface="DM Sans"/>
                <a:sym typeface="DM Sans"/>
              </a:rPr>
              <a:t>Do - Change your lockout policy </a:t>
            </a:r>
          </a:p>
          <a:p>
            <a:pPr marL="1381751" lvl="2" indent="-460584" algn="l">
              <a:lnSpc>
                <a:spcPts val="5023"/>
              </a:lnSpc>
              <a:buFont typeface="Arial"/>
              <a:buChar char="⚬"/>
            </a:pPr>
            <a:r>
              <a:rPr lang="en-US" sz="3199" dirty="0">
                <a:solidFill>
                  <a:schemeClr val="bg1"/>
                </a:solidFill>
                <a:latin typeface="DM Sans"/>
                <a:ea typeface="DM Sans"/>
                <a:cs typeface="DM Sans"/>
                <a:sym typeface="DM Sans"/>
              </a:rPr>
              <a:t>15 Rule</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Deploy a Password Filter Solution</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Use MFA (dispel the auditors)</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Look into </a:t>
            </a:r>
            <a:r>
              <a:rPr lang="en-US" sz="3199" dirty="0" err="1">
                <a:solidFill>
                  <a:schemeClr val="tx1">
                    <a:lumMod val="65000"/>
                    <a:lumOff val="35000"/>
                  </a:schemeClr>
                </a:solidFill>
                <a:latin typeface="DM Sans"/>
                <a:ea typeface="DM Sans"/>
                <a:cs typeface="DM Sans"/>
                <a:sym typeface="DM Sans"/>
              </a:rPr>
              <a:t>Passwordless</a:t>
            </a:r>
            <a:r>
              <a:rPr lang="en-US" sz="3199" dirty="0">
                <a:solidFill>
                  <a:schemeClr val="tx1">
                    <a:lumMod val="65000"/>
                    <a:lumOff val="35000"/>
                  </a:schemeClr>
                </a:solidFill>
                <a:latin typeface="DM Sans"/>
                <a:ea typeface="DM Sans"/>
                <a:cs typeface="DM Sans"/>
                <a:sym typeface="DM Sans"/>
              </a:rPr>
              <a:t> </a:t>
            </a:r>
          </a:p>
          <a:p>
            <a:pPr marL="1381751" lvl="2" indent="-460584"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(WH/</a:t>
            </a:r>
            <a:r>
              <a:rPr lang="en-US" sz="3199" dirty="0" err="1">
                <a:solidFill>
                  <a:schemeClr val="tx1">
                    <a:lumMod val="65000"/>
                    <a:lumOff val="35000"/>
                  </a:schemeClr>
                </a:solidFill>
                <a:latin typeface="DM Sans"/>
                <a:ea typeface="DM Sans"/>
                <a:cs typeface="DM Sans"/>
                <a:sym typeface="DM Sans"/>
              </a:rPr>
              <a:t>WHfB</a:t>
            </a:r>
            <a:r>
              <a:rPr lang="en-US" sz="3199" dirty="0">
                <a:solidFill>
                  <a:schemeClr val="tx1">
                    <a:lumMod val="65000"/>
                    <a:lumOff val="35000"/>
                  </a:schemeClr>
                </a:solidFill>
                <a:latin typeface="DM Sans"/>
                <a:ea typeface="DM Sans"/>
                <a:cs typeface="DM Sans"/>
                <a:sym typeface="DM Sans"/>
              </a:rPr>
              <a:t>)</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NOT - Force Password Expiration</a:t>
            </a:r>
          </a:p>
        </p:txBody>
      </p:sp>
    </p:spTree>
    <p:extLst>
      <p:ext uri="{BB962C8B-B14F-4D97-AF65-F5344CB8AC3E}">
        <p14:creationId xmlns:p14="http://schemas.microsoft.com/office/powerpoint/2010/main" val="409603090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10131262" y="2835798"/>
            <a:ext cx="7128038" cy="4615405"/>
          </a:xfrm>
          <a:custGeom>
            <a:avLst/>
            <a:gdLst/>
            <a:ahLst/>
            <a:cxnLst/>
            <a:rect l="l" t="t" r="r" b="b"/>
            <a:pathLst>
              <a:path w="7128038" h="4615405">
                <a:moveTo>
                  <a:pt x="0" y="0"/>
                </a:moveTo>
                <a:lnTo>
                  <a:pt x="7128038" y="0"/>
                </a:lnTo>
                <a:lnTo>
                  <a:pt x="7128038" y="4615404"/>
                </a:lnTo>
                <a:lnTo>
                  <a:pt x="0" y="4615404"/>
                </a:lnTo>
                <a:lnTo>
                  <a:pt x="0" y="0"/>
                </a:lnTo>
                <a:close/>
              </a:path>
            </a:pathLst>
          </a:custGeom>
          <a:blipFill>
            <a:blip r:embed="rId3"/>
            <a:stretch>
              <a:fillRect/>
            </a:stretch>
          </a:blipFill>
          <a:ln w="38100" cap="sq">
            <a:solidFill>
              <a:srgbClr val="38B6FF"/>
            </a:solidFill>
            <a:prstDash val="solid"/>
            <a:miter/>
          </a:ln>
        </p:spPr>
        <p:txBody>
          <a:bodyPr/>
          <a:lstStyle/>
          <a:p>
            <a:endParaRPr lang="en-US"/>
          </a:p>
        </p:txBody>
      </p:sp>
      <p:sp>
        <p:nvSpPr>
          <p:cNvPr id="4" name="TextBox 4"/>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p:cNvSpPr txBox="1"/>
          <p:nvPr/>
        </p:nvSpPr>
        <p:spPr>
          <a:xfrm>
            <a:off x="1076985" y="1095375"/>
            <a:ext cx="7068808"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SPEEDY PASSWORD HARDENING</a:t>
            </a:r>
          </a:p>
        </p:txBody>
      </p:sp>
      <p:sp>
        <p:nvSpPr>
          <p:cNvPr id="7" name="TextBox 7"/>
          <p:cNvSpPr txBox="1"/>
          <p:nvPr/>
        </p:nvSpPr>
        <p:spPr>
          <a:xfrm>
            <a:off x="1028700" y="1637284"/>
            <a:ext cx="8333263" cy="602108"/>
          </a:xfrm>
          <a:prstGeom prst="rect">
            <a:avLst/>
          </a:prstGeom>
        </p:spPr>
        <p:txBody>
          <a:bodyPr lIns="0" tIns="0" rIns="0" bIns="0" rtlCol="0" anchor="t">
            <a:spAutoFit/>
          </a:bodyPr>
          <a:lstStyle/>
          <a:p>
            <a:pPr marL="690876" lvl="1" indent="-345438" algn="l">
              <a:lnSpc>
                <a:spcPts val="5023"/>
              </a:lnSpc>
              <a:buFont typeface="Arial"/>
              <a:buChar char="•"/>
            </a:pPr>
            <a:r>
              <a:rPr lang="en-US" sz="3199">
                <a:solidFill>
                  <a:srgbClr val="FFFFFF"/>
                </a:solidFill>
                <a:latin typeface="DM Sans"/>
                <a:ea typeface="DM Sans"/>
                <a:cs typeface="DM Sans"/>
                <a:sym typeface="DM Sans"/>
              </a:rPr>
              <a:t>Do - Use Fine-Grained Password Policies</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10131262" y="2835798"/>
            <a:ext cx="7128038" cy="4615405"/>
          </a:xfrm>
          <a:custGeom>
            <a:avLst/>
            <a:gdLst/>
            <a:ahLst/>
            <a:cxnLst/>
            <a:rect l="l" t="t" r="r" b="b"/>
            <a:pathLst>
              <a:path w="7128038" h="4615405">
                <a:moveTo>
                  <a:pt x="0" y="0"/>
                </a:moveTo>
                <a:lnTo>
                  <a:pt x="7128038" y="0"/>
                </a:lnTo>
                <a:lnTo>
                  <a:pt x="7128038" y="4615404"/>
                </a:lnTo>
                <a:lnTo>
                  <a:pt x="0" y="4615404"/>
                </a:lnTo>
                <a:lnTo>
                  <a:pt x="0" y="0"/>
                </a:lnTo>
                <a:close/>
              </a:path>
            </a:pathLst>
          </a:custGeom>
          <a:blipFill>
            <a:blip r:embed="rId3"/>
            <a:stretch>
              <a:fillRect/>
            </a:stretch>
          </a:blipFill>
          <a:ln w="38100" cap="sq">
            <a:solidFill>
              <a:srgbClr val="38B6FF"/>
            </a:solidFill>
            <a:prstDash val="solid"/>
            <a:miter/>
          </a:ln>
        </p:spPr>
        <p:txBody>
          <a:bodyPr/>
          <a:lstStyle/>
          <a:p>
            <a:endParaRPr lang="en-US"/>
          </a:p>
        </p:txBody>
      </p:sp>
      <p:sp>
        <p:nvSpPr>
          <p:cNvPr id="4" name="TextBox 4"/>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p:cNvSpPr txBox="1"/>
          <p:nvPr/>
        </p:nvSpPr>
        <p:spPr>
          <a:xfrm>
            <a:off x="1076985" y="1095375"/>
            <a:ext cx="7068808"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SPEEDY PASSWORD HARDENING</a:t>
            </a:r>
          </a:p>
        </p:txBody>
      </p:sp>
      <p:sp>
        <p:nvSpPr>
          <p:cNvPr id="7" name="TextBox 7"/>
          <p:cNvSpPr txBox="1"/>
          <p:nvPr/>
        </p:nvSpPr>
        <p:spPr>
          <a:xfrm>
            <a:off x="1028700" y="1637284"/>
            <a:ext cx="8333263" cy="2521716"/>
          </a:xfrm>
          <a:prstGeom prst="rect">
            <a:avLst/>
          </a:prstGeom>
        </p:spPr>
        <p:txBody>
          <a:bodyPr lIns="0" tIns="0" rIns="0" bIns="0" rtlCol="0" anchor="t">
            <a:spAutoFit/>
          </a:bodyPr>
          <a:lstStyle/>
          <a:p>
            <a:pPr marL="690876" lvl="1" indent="-345438" algn="l">
              <a:lnSpc>
                <a:spcPts val="5023"/>
              </a:lnSpc>
              <a:buFont typeface="Arial"/>
              <a:buChar char="•"/>
            </a:pPr>
            <a:r>
              <a:rPr lang="en-US" sz="3199" dirty="0">
                <a:solidFill>
                  <a:srgbClr val="737373"/>
                </a:solidFill>
                <a:latin typeface="DM Sans"/>
                <a:ea typeface="DM Sans"/>
                <a:cs typeface="DM Sans"/>
                <a:sym typeface="DM Sans"/>
              </a:rPr>
              <a:t>Do - Use Fine-Grained Password Policies</a:t>
            </a:r>
          </a:p>
          <a:p>
            <a:pPr marL="690876" lvl="1" indent="-345438">
              <a:lnSpc>
                <a:spcPts val="5023"/>
              </a:lnSpc>
              <a:buFont typeface="Arial"/>
              <a:buChar char="•"/>
            </a:pPr>
            <a:r>
              <a:rPr lang="en-US" sz="3199" dirty="0">
                <a:solidFill>
                  <a:srgbClr val="FFFFFF"/>
                </a:solidFill>
                <a:latin typeface="DM Sans"/>
                <a:ea typeface="DM Sans"/>
                <a:cs typeface="DM Sans"/>
                <a:sym typeface="DM Sans"/>
              </a:rPr>
              <a:t>Do - Change your lockout policy </a:t>
            </a:r>
          </a:p>
          <a:p>
            <a:pPr marL="1381751" lvl="2" indent="-460584">
              <a:lnSpc>
                <a:spcPts val="5023"/>
              </a:lnSpc>
              <a:buFont typeface="Arial"/>
              <a:buChar char="⚬"/>
            </a:pPr>
            <a:r>
              <a:rPr lang="en-US" sz="3199" dirty="0">
                <a:solidFill>
                  <a:srgbClr val="FFFFFF"/>
                </a:solidFill>
                <a:latin typeface="DM Sans"/>
                <a:ea typeface="DM Sans"/>
                <a:cs typeface="DM Sans"/>
                <a:sym typeface="DM Sans"/>
              </a:rPr>
              <a:t>15 Rule</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10131262" y="2835798"/>
            <a:ext cx="7128038" cy="4615405"/>
          </a:xfrm>
          <a:custGeom>
            <a:avLst/>
            <a:gdLst/>
            <a:ahLst/>
            <a:cxnLst/>
            <a:rect l="l" t="t" r="r" b="b"/>
            <a:pathLst>
              <a:path w="7128038" h="4615405">
                <a:moveTo>
                  <a:pt x="0" y="0"/>
                </a:moveTo>
                <a:lnTo>
                  <a:pt x="7128038" y="0"/>
                </a:lnTo>
                <a:lnTo>
                  <a:pt x="7128038" y="4615404"/>
                </a:lnTo>
                <a:lnTo>
                  <a:pt x="0" y="4615404"/>
                </a:lnTo>
                <a:lnTo>
                  <a:pt x="0" y="0"/>
                </a:lnTo>
                <a:close/>
              </a:path>
            </a:pathLst>
          </a:custGeom>
          <a:blipFill>
            <a:blip r:embed="rId3"/>
            <a:stretch>
              <a:fillRect/>
            </a:stretch>
          </a:blipFill>
          <a:ln w="38100" cap="sq">
            <a:solidFill>
              <a:srgbClr val="38B6FF"/>
            </a:solidFill>
            <a:prstDash val="solid"/>
            <a:miter/>
          </a:ln>
        </p:spPr>
        <p:txBody>
          <a:bodyPr/>
          <a:lstStyle/>
          <a:p>
            <a:endParaRPr lang="en-US"/>
          </a:p>
        </p:txBody>
      </p:sp>
      <p:sp>
        <p:nvSpPr>
          <p:cNvPr id="4" name="TextBox 4"/>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p:cNvSpPr txBox="1"/>
          <p:nvPr/>
        </p:nvSpPr>
        <p:spPr>
          <a:xfrm>
            <a:off x="1076985" y="1095375"/>
            <a:ext cx="7068808"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SPEEDY PASSWORD HARDENING</a:t>
            </a:r>
          </a:p>
        </p:txBody>
      </p:sp>
      <p:sp>
        <p:nvSpPr>
          <p:cNvPr id="7" name="TextBox 7"/>
          <p:cNvSpPr txBox="1"/>
          <p:nvPr/>
        </p:nvSpPr>
        <p:spPr>
          <a:xfrm>
            <a:off x="1028700" y="1637284"/>
            <a:ext cx="8333263" cy="3162917"/>
          </a:xfrm>
          <a:prstGeom prst="rect">
            <a:avLst/>
          </a:prstGeom>
        </p:spPr>
        <p:txBody>
          <a:bodyPr lIns="0" tIns="0" rIns="0" bIns="0" rtlCol="0" anchor="t">
            <a:spAutoFit/>
          </a:bodyPr>
          <a:lstStyle/>
          <a:p>
            <a:pPr marL="690876" lvl="1" indent="-345438">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Use Fine-Grained Password Policies</a:t>
            </a:r>
          </a:p>
          <a:p>
            <a:pPr marL="690876" lvl="1" indent="-345438">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Change your lockout policy </a:t>
            </a:r>
          </a:p>
          <a:p>
            <a:pPr marL="1381751" lvl="2" indent="-460584">
              <a:lnSpc>
                <a:spcPts val="5023"/>
              </a:lnSpc>
              <a:buFont typeface="Arial"/>
              <a:buChar char="⚬"/>
            </a:pPr>
            <a:r>
              <a:rPr lang="en-US" sz="3199" dirty="0">
                <a:solidFill>
                  <a:schemeClr val="tx1">
                    <a:lumMod val="65000"/>
                    <a:lumOff val="35000"/>
                  </a:schemeClr>
                </a:solidFill>
                <a:latin typeface="DM Sans"/>
                <a:ea typeface="DM Sans"/>
                <a:cs typeface="DM Sans"/>
                <a:sym typeface="DM Sans"/>
              </a:rPr>
              <a:t>15 Rule</a:t>
            </a:r>
          </a:p>
          <a:p>
            <a:pPr marL="690876" lvl="1" indent="-345438" algn="l">
              <a:lnSpc>
                <a:spcPts val="5023"/>
              </a:lnSpc>
              <a:buFont typeface="Arial"/>
              <a:buChar char="•"/>
            </a:pPr>
            <a:r>
              <a:rPr lang="en-US" sz="3199" dirty="0">
                <a:solidFill>
                  <a:srgbClr val="FFFFFF"/>
                </a:solidFill>
                <a:latin typeface="DM Sans"/>
                <a:ea typeface="DM Sans"/>
                <a:cs typeface="DM Sans"/>
                <a:sym typeface="DM Sans"/>
              </a:rPr>
              <a:t>Do - Turn off Password Complexity</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10131262" y="2835798"/>
            <a:ext cx="7128038" cy="4615405"/>
          </a:xfrm>
          <a:custGeom>
            <a:avLst/>
            <a:gdLst/>
            <a:ahLst/>
            <a:cxnLst/>
            <a:rect l="l" t="t" r="r" b="b"/>
            <a:pathLst>
              <a:path w="7128038" h="4615405">
                <a:moveTo>
                  <a:pt x="0" y="0"/>
                </a:moveTo>
                <a:lnTo>
                  <a:pt x="7128038" y="0"/>
                </a:lnTo>
                <a:lnTo>
                  <a:pt x="7128038" y="4615404"/>
                </a:lnTo>
                <a:lnTo>
                  <a:pt x="0" y="4615404"/>
                </a:lnTo>
                <a:lnTo>
                  <a:pt x="0" y="0"/>
                </a:lnTo>
                <a:close/>
              </a:path>
            </a:pathLst>
          </a:custGeom>
          <a:blipFill>
            <a:blip r:embed="rId3"/>
            <a:stretch>
              <a:fillRect/>
            </a:stretch>
          </a:blipFill>
          <a:ln w="38100" cap="sq">
            <a:solidFill>
              <a:srgbClr val="38B6FF"/>
            </a:solidFill>
            <a:prstDash val="solid"/>
            <a:miter/>
          </a:ln>
        </p:spPr>
        <p:txBody>
          <a:bodyPr/>
          <a:lstStyle/>
          <a:p>
            <a:endParaRPr lang="en-US"/>
          </a:p>
        </p:txBody>
      </p:sp>
      <p:sp>
        <p:nvSpPr>
          <p:cNvPr id="4" name="TextBox 4"/>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p:cNvSpPr txBox="1"/>
          <p:nvPr/>
        </p:nvSpPr>
        <p:spPr>
          <a:xfrm>
            <a:off x="1076985" y="1095375"/>
            <a:ext cx="7068808"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SPEEDY PASSWORD HARDENING</a:t>
            </a:r>
          </a:p>
        </p:txBody>
      </p:sp>
      <p:sp>
        <p:nvSpPr>
          <p:cNvPr id="7" name="TextBox 7"/>
          <p:cNvSpPr txBox="1"/>
          <p:nvPr/>
        </p:nvSpPr>
        <p:spPr>
          <a:xfrm>
            <a:off x="1028700" y="1637284"/>
            <a:ext cx="8333263" cy="3804118"/>
          </a:xfrm>
          <a:prstGeom prst="rect">
            <a:avLst/>
          </a:prstGeom>
        </p:spPr>
        <p:txBody>
          <a:bodyPr lIns="0" tIns="0" rIns="0" bIns="0" rtlCol="0" anchor="t">
            <a:spAutoFit/>
          </a:bodyPr>
          <a:lstStyle/>
          <a:p>
            <a:pPr marL="690876" lvl="1" indent="-345438">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Use Fine-Grained Password Policies</a:t>
            </a:r>
          </a:p>
          <a:p>
            <a:pPr marL="690876" lvl="1" indent="-345438">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Change your lockout policy </a:t>
            </a:r>
          </a:p>
          <a:p>
            <a:pPr marL="1381751" lvl="2" indent="-460584">
              <a:lnSpc>
                <a:spcPts val="5023"/>
              </a:lnSpc>
              <a:buFont typeface="Arial"/>
              <a:buChar char="⚬"/>
            </a:pPr>
            <a:r>
              <a:rPr lang="en-US" sz="3199" dirty="0">
                <a:solidFill>
                  <a:schemeClr val="tx1">
                    <a:lumMod val="65000"/>
                    <a:lumOff val="35000"/>
                  </a:schemeClr>
                </a:solidFill>
                <a:latin typeface="DM Sans"/>
                <a:ea typeface="DM Sans"/>
                <a:cs typeface="DM Sans"/>
                <a:sym typeface="DM Sans"/>
              </a:rPr>
              <a:t>15 Rule</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Turn off Password Complexity</a:t>
            </a:r>
          </a:p>
          <a:p>
            <a:pPr marL="690876" lvl="1" indent="-345438" algn="l">
              <a:lnSpc>
                <a:spcPts val="5023"/>
              </a:lnSpc>
              <a:buFont typeface="Arial"/>
              <a:buChar char="•"/>
            </a:pPr>
            <a:r>
              <a:rPr lang="en-US" sz="3199" dirty="0">
                <a:solidFill>
                  <a:srgbClr val="FFFFFF"/>
                </a:solidFill>
                <a:latin typeface="DM Sans"/>
                <a:ea typeface="DM Sans"/>
                <a:cs typeface="DM Sans"/>
                <a:sym typeface="DM Sans"/>
              </a:rPr>
              <a:t>Do - Use 16+ Character Passwords </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10131262" y="2835798"/>
            <a:ext cx="7128038" cy="4615405"/>
          </a:xfrm>
          <a:custGeom>
            <a:avLst/>
            <a:gdLst/>
            <a:ahLst/>
            <a:cxnLst/>
            <a:rect l="l" t="t" r="r" b="b"/>
            <a:pathLst>
              <a:path w="7128038" h="4615405">
                <a:moveTo>
                  <a:pt x="0" y="0"/>
                </a:moveTo>
                <a:lnTo>
                  <a:pt x="7128038" y="0"/>
                </a:lnTo>
                <a:lnTo>
                  <a:pt x="7128038" y="4615404"/>
                </a:lnTo>
                <a:lnTo>
                  <a:pt x="0" y="4615404"/>
                </a:lnTo>
                <a:lnTo>
                  <a:pt x="0" y="0"/>
                </a:lnTo>
                <a:close/>
              </a:path>
            </a:pathLst>
          </a:custGeom>
          <a:blipFill>
            <a:blip r:embed="rId3"/>
            <a:stretch>
              <a:fillRect/>
            </a:stretch>
          </a:blipFill>
          <a:ln w="38100" cap="sq">
            <a:solidFill>
              <a:srgbClr val="38B6FF"/>
            </a:solidFill>
            <a:prstDash val="solid"/>
            <a:miter/>
          </a:ln>
        </p:spPr>
        <p:txBody>
          <a:bodyPr/>
          <a:lstStyle/>
          <a:p>
            <a:endParaRPr lang="en-US"/>
          </a:p>
        </p:txBody>
      </p:sp>
      <p:sp>
        <p:nvSpPr>
          <p:cNvPr id="4" name="TextBox 4"/>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p:cNvSpPr txBox="1"/>
          <p:nvPr/>
        </p:nvSpPr>
        <p:spPr>
          <a:xfrm>
            <a:off x="1076985" y="1095375"/>
            <a:ext cx="7068808"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SPEEDY PASSWORD HARDENING</a:t>
            </a:r>
          </a:p>
        </p:txBody>
      </p:sp>
      <p:sp>
        <p:nvSpPr>
          <p:cNvPr id="7" name="TextBox 7"/>
          <p:cNvSpPr txBox="1"/>
          <p:nvPr/>
        </p:nvSpPr>
        <p:spPr>
          <a:xfrm>
            <a:off x="1028700" y="1637284"/>
            <a:ext cx="8333263" cy="5086521"/>
          </a:xfrm>
          <a:prstGeom prst="rect">
            <a:avLst/>
          </a:prstGeom>
        </p:spPr>
        <p:txBody>
          <a:bodyPr lIns="0" tIns="0" rIns="0" bIns="0" rtlCol="0" anchor="t">
            <a:spAutoFit/>
          </a:bodyPr>
          <a:lstStyle/>
          <a:p>
            <a:pPr marL="690876" lvl="1" indent="-345438">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Use Fine-Grained Password Policies</a:t>
            </a:r>
          </a:p>
          <a:p>
            <a:pPr marL="690876" lvl="1" indent="-345438">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Change your lockout policy </a:t>
            </a:r>
          </a:p>
          <a:p>
            <a:pPr marL="1381751" lvl="2" indent="-460584">
              <a:lnSpc>
                <a:spcPts val="5023"/>
              </a:lnSpc>
              <a:buFont typeface="Arial"/>
              <a:buChar char="⚬"/>
            </a:pPr>
            <a:r>
              <a:rPr lang="en-US" sz="3199" dirty="0">
                <a:solidFill>
                  <a:schemeClr val="tx1">
                    <a:lumMod val="65000"/>
                    <a:lumOff val="35000"/>
                  </a:schemeClr>
                </a:solidFill>
                <a:latin typeface="DM Sans"/>
                <a:ea typeface="DM Sans"/>
                <a:cs typeface="DM Sans"/>
                <a:sym typeface="DM Sans"/>
              </a:rPr>
              <a:t>15 Rule</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Turn off Password Complexity</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Use 16+ Character Passwords </a:t>
            </a:r>
          </a:p>
          <a:p>
            <a:pPr marL="690876" lvl="1" indent="-345438" algn="l">
              <a:lnSpc>
                <a:spcPts val="5023"/>
              </a:lnSpc>
              <a:buFont typeface="Arial"/>
              <a:buChar char="•"/>
            </a:pPr>
            <a:r>
              <a:rPr lang="en-US" sz="3199" dirty="0">
                <a:solidFill>
                  <a:srgbClr val="FFFFFF"/>
                </a:solidFill>
                <a:latin typeface="DM Sans"/>
                <a:ea typeface="DM Sans"/>
                <a:cs typeface="DM Sans"/>
                <a:sym typeface="DM Sans"/>
              </a:rPr>
              <a:t>Do - Use Password Safes (not picky)</a:t>
            </a:r>
          </a:p>
          <a:p>
            <a:pPr algn="l">
              <a:lnSpc>
                <a:spcPts val="5023"/>
              </a:lnSpc>
            </a:pPr>
            <a:endParaRPr lang="en-US" sz="3199" dirty="0">
              <a:solidFill>
                <a:srgbClr val="FFFFFF"/>
              </a:solidFill>
              <a:latin typeface="DM Sans"/>
              <a:ea typeface="DM Sans"/>
              <a:cs typeface="DM Sans"/>
              <a:sym typeface="DM Sans"/>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10131262" y="2835798"/>
            <a:ext cx="7128038" cy="4615405"/>
          </a:xfrm>
          <a:custGeom>
            <a:avLst/>
            <a:gdLst/>
            <a:ahLst/>
            <a:cxnLst/>
            <a:rect l="l" t="t" r="r" b="b"/>
            <a:pathLst>
              <a:path w="7128038" h="4615405">
                <a:moveTo>
                  <a:pt x="0" y="0"/>
                </a:moveTo>
                <a:lnTo>
                  <a:pt x="7128038" y="0"/>
                </a:lnTo>
                <a:lnTo>
                  <a:pt x="7128038" y="4615404"/>
                </a:lnTo>
                <a:lnTo>
                  <a:pt x="0" y="4615404"/>
                </a:lnTo>
                <a:lnTo>
                  <a:pt x="0" y="0"/>
                </a:lnTo>
                <a:close/>
              </a:path>
            </a:pathLst>
          </a:custGeom>
          <a:blipFill>
            <a:blip r:embed="rId3"/>
            <a:stretch>
              <a:fillRect/>
            </a:stretch>
          </a:blipFill>
          <a:ln w="38100" cap="sq">
            <a:solidFill>
              <a:srgbClr val="38B6FF"/>
            </a:solidFill>
            <a:prstDash val="solid"/>
            <a:miter/>
          </a:ln>
        </p:spPr>
        <p:txBody>
          <a:bodyPr/>
          <a:lstStyle/>
          <a:p>
            <a:endParaRPr lang="en-US"/>
          </a:p>
        </p:txBody>
      </p:sp>
      <p:sp>
        <p:nvSpPr>
          <p:cNvPr id="4" name="TextBox 4"/>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p:cNvSpPr txBox="1"/>
          <p:nvPr/>
        </p:nvSpPr>
        <p:spPr>
          <a:xfrm>
            <a:off x="1076985" y="1095375"/>
            <a:ext cx="7068808"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SPEEDY PASSWORD HARDENING</a:t>
            </a:r>
          </a:p>
        </p:txBody>
      </p:sp>
      <p:sp>
        <p:nvSpPr>
          <p:cNvPr id="7" name="TextBox 7"/>
          <p:cNvSpPr txBox="1"/>
          <p:nvPr/>
        </p:nvSpPr>
        <p:spPr>
          <a:xfrm>
            <a:off x="1028700" y="1637284"/>
            <a:ext cx="8333263" cy="6368923"/>
          </a:xfrm>
          <a:prstGeom prst="rect">
            <a:avLst/>
          </a:prstGeom>
        </p:spPr>
        <p:txBody>
          <a:bodyPr lIns="0" tIns="0" rIns="0" bIns="0" rtlCol="0" anchor="t">
            <a:spAutoFit/>
          </a:bodyPr>
          <a:lstStyle/>
          <a:p>
            <a:pPr marL="690876" lvl="1" indent="-345438">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Use Fine-Grained Password Policies</a:t>
            </a:r>
          </a:p>
          <a:p>
            <a:pPr marL="690876" lvl="1" indent="-345438">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Change your lockout policy </a:t>
            </a:r>
          </a:p>
          <a:p>
            <a:pPr marL="1381751" lvl="2" indent="-460584">
              <a:lnSpc>
                <a:spcPts val="5023"/>
              </a:lnSpc>
              <a:buFont typeface="Arial"/>
              <a:buChar char="⚬"/>
            </a:pPr>
            <a:r>
              <a:rPr lang="en-US" sz="3199" dirty="0">
                <a:solidFill>
                  <a:schemeClr val="tx1">
                    <a:lumMod val="65000"/>
                    <a:lumOff val="35000"/>
                  </a:schemeClr>
                </a:solidFill>
                <a:latin typeface="DM Sans"/>
                <a:ea typeface="DM Sans"/>
                <a:cs typeface="DM Sans"/>
                <a:sym typeface="DM Sans"/>
              </a:rPr>
              <a:t>15 Rule</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Turn off Password Complexity</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Use 16+ Character Passwords </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Use Password Safes (not picky)</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Change your lockout policy </a:t>
            </a:r>
          </a:p>
          <a:p>
            <a:pPr marL="1381751" lvl="2" indent="-460584"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15 Rule</a:t>
            </a:r>
          </a:p>
          <a:p>
            <a:pPr marL="690876" lvl="1" indent="-345438" algn="l">
              <a:lnSpc>
                <a:spcPts val="5023"/>
              </a:lnSpc>
              <a:buFont typeface="Arial"/>
              <a:buChar char="•"/>
            </a:pPr>
            <a:r>
              <a:rPr lang="en-US" sz="3199" dirty="0">
                <a:solidFill>
                  <a:srgbClr val="FFFFFF"/>
                </a:solidFill>
                <a:latin typeface="DM Sans"/>
                <a:ea typeface="DM Sans"/>
                <a:cs typeface="DM Sans"/>
                <a:sym typeface="DM Sans"/>
              </a:rPr>
              <a:t>Do - Deploy a Password Filter Solution</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10131262" y="2835798"/>
            <a:ext cx="7128038" cy="4615405"/>
          </a:xfrm>
          <a:custGeom>
            <a:avLst/>
            <a:gdLst/>
            <a:ahLst/>
            <a:cxnLst/>
            <a:rect l="l" t="t" r="r" b="b"/>
            <a:pathLst>
              <a:path w="7128038" h="4615405">
                <a:moveTo>
                  <a:pt x="0" y="0"/>
                </a:moveTo>
                <a:lnTo>
                  <a:pt x="7128038" y="0"/>
                </a:lnTo>
                <a:lnTo>
                  <a:pt x="7128038" y="4615404"/>
                </a:lnTo>
                <a:lnTo>
                  <a:pt x="0" y="4615404"/>
                </a:lnTo>
                <a:lnTo>
                  <a:pt x="0" y="0"/>
                </a:lnTo>
                <a:close/>
              </a:path>
            </a:pathLst>
          </a:custGeom>
          <a:blipFill>
            <a:blip r:embed="rId3"/>
            <a:stretch>
              <a:fillRect/>
            </a:stretch>
          </a:blipFill>
          <a:ln w="38100" cap="sq">
            <a:solidFill>
              <a:srgbClr val="38B6FF"/>
            </a:solidFill>
            <a:prstDash val="solid"/>
            <a:miter/>
          </a:ln>
        </p:spPr>
        <p:txBody>
          <a:bodyPr/>
          <a:lstStyle/>
          <a:p>
            <a:endParaRPr lang="en-US"/>
          </a:p>
        </p:txBody>
      </p:sp>
      <p:sp>
        <p:nvSpPr>
          <p:cNvPr id="4" name="TextBox 4"/>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p:cNvSpPr txBox="1"/>
          <p:nvPr/>
        </p:nvSpPr>
        <p:spPr>
          <a:xfrm>
            <a:off x="1076985" y="1095375"/>
            <a:ext cx="7068808"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SPEEDY PASSWORD HARDENING</a:t>
            </a:r>
          </a:p>
        </p:txBody>
      </p:sp>
      <p:sp>
        <p:nvSpPr>
          <p:cNvPr id="7" name="TextBox 7"/>
          <p:cNvSpPr txBox="1"/>
          <p:nvPr/>
        </p:nvSpPr>
        <p:spPr>
          <a:xfrm>
            <a:off x="1028700" y="1637284"/>
            <a:ext cx="8333263" cy="5727722"/>
          </a:xfrm>
          <a:prstGeom prst="rect">
            <a:avLst/>
          </a:prstGeom>
        </p:spPr>
        <p:txBody>
          <a:bodyPr lIns="0" tIns="0" rIns="0" bIns="0" rtlCol="0" anchor="t">
            <a:spAutoFit/>
          </a:bodyPr>
          <a:lstStyle/>
          <a:p>
            <a:pPr marL="690876" lvl="1" indent="-345438">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Use Fine-Grained Password Policies</a:t>
            </a:r>
          </a:p>
          <a:p>
            <a:pPr marL="690876" lvl="1" indent="-345438">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Change your lockout policy </a:t>
            </a:r>
          </a:p>
          <a:p>
            <a:pPr marL="1381751" lvl="2" indent="-460584">
              <a:lnSpc>
                <a:spcPts val="5023"/>
              </a:lnSpc>
              <a:buFont typeface="Arial"/>
              <a:buChar char="⚬"/>
            </a:pPr>
            <a:r>
              <a:rPr lang="en-US" sz="3199" dirty="0">
                <a:solidFill>
                  <a:schemeClr val="tx1">
                    <a:lumMod val="65000"/>
                    <a:lumOff val="35000"/>
                  </a:schemeClr>
                </a:solidFill>
                <a:latin typeface="DM Sans"/>
                <a:ea typeface="DM Sans"/>
                <a:cs typeface="DM Sans"/>
                <a:sym typeface="DM Sans"/>
              </a:rPr>
              <a:t>15 Rule</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Turn off Password Complexity</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Use 16+ Character Passwords </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Use Password Safes (not picky)</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Deploy a Password Filter Solution</a:t>
            </a:r>
          </a:p>
          <a:p>
            <a:pPr marL="690876" lvl="1" indent="-345438" algn="l">
              <a:lnSpc>
                <a:spcPts val="5023"/>
              </a:lnSpc>
              <a:buFont typeface="Arial"/>
              <a:buChar char="•"/>
            </a:pPr>
            <a:r>
              <a:rPr lang="en-US" sz="3199" dirty="0">
                <a:solidFill>
                  <a:srgbClr val="FFFFFF"/>
                </a:solidFill>
                <a:latin typeface="DM Sans"/>
                <a:ea typeface="DM Sans"/>
                <a:cs typeface="DM Sans"/>
                <a:sym typeface="DM Sans"/>
              </a:rPr>
              <a:t>Do - Use MFA (dispel the auditors)</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10131262" y="2835798"/>
            <a:ext cx="7128038" cy="4615405"/>
          </a:xfrm>
          <a:custGeom>
            <a:avLst/>
            <a:gdLst/>
            <a:ahLst/>
            <a:cxnLst/>
            <a:rect l="l" t="t" r="r" b="b"/>
            <a:pathLst>
              <a:path w="7128038" h="4615405">
                <a:moveTo>
                  <a:pt x="0" y="0"/>
                </a:moveTo>
                <a:lnTo>
                  <a:pt x="7128038" y="0"/>
                </a:lnTo>
                <a:lnTo>
                  <a:pt x="7128038" y="4615404"/>
                </a:lnTo>
                <a:lnTo>
                  <a:pt x="0" y="4615404"/>
                </a:lnTo>
                <a:lnTo>
                  <a:pt x="0" y="0"/>
                </a:lnTo>
                <a:close/>
              </a:path>
            </a:pathLst>
          </a:custGeom>
          <a:blipFill>
            <a:blip r:embed="rId3"/>
            <a:stretch>
              <a:fillRect/>
            </a:stretch>
          </a:blipFill>
          <a:ln w="38100" cap="sq">
            <a:solidFill>
              <a:srgbClr val="38B6FF"/>
            </a:solidFill>
            <a:prstDash val="solid"/>
            <a:miter/>
          </a:ln>
        </p:spPr>
        <p:txBody>
          <a:bodyPr/>
          <a:lstStyle/>
          <a:p>
            <a:endParaRPr lang="en-US"/>
          </a:p>
        </p:txBody>
      </p:sp>
      <p:sp>
        <p:nvSpPr>
          <p:cNvPr id="4" name="TextBox 4"/>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p:cNvSpPr txBox="1"/>
          <p:nvPr/>
        </p:nvSpPr>
        <p:spPr>
          <a:xfrm>
            <a:off x="1076985" y="1095375"/>
            <a:ext cx="7068808"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SPEEDY PASSWORD HARDENING</a:t>
            </a:r>
          </a:p>
        </p:txBody>
      </p:sp>
      <p:sp>
        <p:nvSpPr>
          <p:cNvPr id="7" name="TextBox 7"/>
          <p:cNvSpPr txBox="1"/>
          <p:nvPr/>
        </p:nvSpPr>
        <p:spPr>
          <a:xfrm>
            <a:off x="1028700" y="1637284"/>
            <a:ext cx="8333263" cy="7010124"/>
          </a:xfrm>
          <a:prstGeom prst="rect">
            <a:avLst/>
          </a:prstGeom>
        </p:spPr>
        <p:txBody>
          <a:bodyPr lIns="0" tIns="0" rIns="0" bIns="0" rtlCol="0" anchor="t">
            <a:spAutoFit/>
          </a:bodyPr>
          <a:lstStyle/>
          <a:p>
            <a:pPr marL="690876" lvl="1" indent="-345438">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Use Fine-Grained Password Policies</a:t>
            </a:r>
          </a:p>
          <a:p>
            <a:pPr marL="690876" lvl="1" indent="-345438">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Change your lockout policy </a:t>
            </a:r>
          </a:p>
          <a:p>
            <a:pPr marL="1381751" lvl="2" indent="-460584">
              <a:lnSpc>
                <a:spcPts val="5023"/>
              </a:lnSpc>
              <a:buFont typeface="Arial"/>
              <a:buChar char="⚬"/>
            </a:pPr>
            <a:r>
              <a:rPr lang="en-US" sz="3199" dirty="0">
                <a:solidFill>
                  <a:schemeClr val="tx1">
                    <a:lumMod val="65000"/>
                    <a:lumOff val="35000"/>
                  </a:schemeClr>
                </a:solidFill>
                <a:latin typeface="DM Sans"/>
                <a:ea typeface="DM Sans"/>
                <a:cs typeface="DM Sans"/>
                <a:sym typeface="DM Sans"/>
              </a:rPr>
              <a:t>15 Rule</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Turn off Password Complexity</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Use 16+ Character Passwords </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Use Password Safes (not picky)</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Deploy a Password Filter Solution</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Use MFA (dispel the auditors)</a:t>
            </a:r>
          </a:p>
          <a:p>
            <a:pPr marL="690876" lvl="1" indent="-345438" algn="l">
              <a:lnSpc>
                <a:spcPts val="5023"/>
              </a:lnSpc>
              <a:buFont typeface="Arial"/>
              <a:buChar char="•"/>
            </a:pPr>
            <a:r>
              <a:rPr lang="en-US" sz="3199" dirty="0">
                <a:solidFill>
                  <a:srgbClr val="FFFFFF"/>
                </a:solidFill>
                <a:latin typeface="DM Sans"/>
                <a:ea typeface="DM Sans"/>
                <a:cs typeface="DM Sans"/>
                <a:sym typeface="DM Sans"/>
              </a:rPr>
              <a:t>Do - Look into </a:t>
            </a:r>
            <a:r>
              <a:rPr lang="en-US" sz="3199" dirty="0" err="1">
                <a:solidFill>
                  <a:srgbClr val="FFFFFF"/>
                </a:solidFill>
                <a:latin typeface="DM Sans"/>
                <a:ea typeface="DM Sans"/>
                <a:cs typeface="DM Sans"/>
                <a:sym typeface="DM Sans"/>
              </a:rPr>
              <a:t>Passwordless</a:t>
            </a:r>
            <a:r>
              <a:rPr lang="en-US" sz="3199" dirty="0">
                <a:solidFill>
                  <a:srgbClr val="FFFFFF"/>
                </a:solidFill>
                <a:latin typeface="DM Sans"/>
                <a:ea typeface="DM Sans"/>
                <a:cs typeface="DM Sans"/>
                <a:sym typeface="DM Sans"/>
              </a:rPr>
              <a:t> </a:t>
            </a:r>
          </a:p>
          <a:p>
            <a:pPr marL="1381751" lvl="2" indent="-460584" algn="l">
              <a:lnSpc>
                <a:spcPts val="5023"/>
              </a:lnSpc>
              <a:buFont typeface="Arial"/>
              <a:buChar char="⚬"/>
            </a:pPr>
            <a:r>
              <a:rPr lang="en-US" sz="3199" dirty="0">
                <a:solidFill>
                  <a:srgbClr val="FFFFFF"/>
                </a:solidFill>
                <a:latin typeface="DM Sans"/>
                <a:ea typeface="DM Sans"/>
                <a:cs typeface="DM Sans"/>
                <a:sym typeface="DM Sans"/>
              </a:rPr>
              <a:t>Windows Hello for Business</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10131262" y="2835798"/>
            <a:ext cx="7128038" cy="4615405"/>
          </a:xfrm>
          <a:custGeom>
            <a:avLst/>
            <a:gdLst/>
            <a:ahLst/>
            <a:cxnLst/>
            <a:rect l="l" t="t" r="r" b="b"/>
            <a:pathLst>
              <a:path w="7128038" h="4615405">
                <a:moveTo>
                  <a:pt x="0" y="0"/>
                </a:moveTo>
                <a:lnTo>
                  <a:pt x="7128038" y="0"/>
                </a:lnTo>
                <a:lnTo>
                  <a:pt x="7128038" y="4615404"/>
                </a:lnTo>
                <a:lnTo>
                  <a:pt x="0" y="4615404"/>
                </a:lnTo>
                <a:lnTo>
                  <a:pt x="0" y="0"/>
                </a:lnTo>
                <a:close/>
              </a:path>
            </a:pathLst>
          </a:custGeom>
          <a:blipFill>
            <a:blip r:embed="rId3"/>
            <a:stretch>
              <a:fillRect/>
            </a:stretch>
          </a:blipFill>
          <a:ln w="38100" cap="sq">
            <a:solidFill>
              <a:srgbClr val="38B6FF"/>
            </a:solidFill>
            <a:prstDash val="solid"/>
            <a:miter/>
          </a:ln>
        </p:spPr>
        <p:txBody>
          <a:bodyPr/>
          <a:lstStyle/>
          <a:p>
            <a:endParaRPr lang="en-US"/>
          </a:p>
        </p:txBody>
      </p:sp>
      <p:sp>
        <p:nvSpPr>
          <p:cNvPr id="4" name="TextBox 4"/>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p:cNvSpPr txBox="1"/>
          <p:nvPr/>
        </p:nvSpPr>
        <p:spPr>
          <a:xfrm>
            <a:off x="1076985" y="1095375"/>
            <a:ext cx="7068808"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SPEEDY PASSWORD HARDENING</a:t>
            </a:r>
          </a:p>
        </p:txBody>
      </p:sp>
      <p:sp>
        <p:nvSpPr>
          <p:cNvPr id="7" name="TextBox 7"/>
          <p:cNvSpPr txBox="1"/>
          <p:nvPr/>
        </p:nvSpPr>
        <p:spPr>
          <a:xfrm>
            <a:off x="1028700" y="1637284"/>
            <a:ext cx="8333263" cy="7651325"/>
          </a:xfrm>
          <a:prstGeom prst="rect">
            <a:avLst/>
          </a:prstGeom>
        </p:spPr>
        <p:txBody>
          <a:bodyPr lIns="0" tIns="0" rIns="0" bIns="0" rtlCol="0" anchor="t">
            <a:spAutoFit/>
          </a:bodyPr>
          <a:lstStyle/>
          <a:p>
            <a:pPr marL="690876" lvl="1" indent="-345438">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Use Fine-Grained Password Policies</a:t>
            </a:r>
          </a:p>
          <a:p>
            <a:pPr marL="690876" lvl="1" indent="-345438">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Change your lockout policy </a:t>
            </a:r>
          </a:p>
          <a:p>
            <a:pPr marL="1381751" lvl="2" indent="-460584">
              <a:lnSpc>
                <a:spcPts val="5023"/>
              </a:lnSpc>
              <a:buFont typeface="Arial"/>
              <a:buChar char="⚬"/>
            </a:pPr>
            <a:r>
              <a:rPr lang="en-US" sz="3199" dirty="0">
                <a:solidFill>
                  <a:schemeClr val="tx1">
                    <a:lumMod val="65000"/>
                    <a:lumOff val="35000"/>
                  </a:schemeClr>
                </a:solidFill>
                <a:latin typeface="DM Sans"/>
                <a:ea typeface="DM Sans"/>
                <a:cs typeface="DM Sans"/>
                <a:sym typeface="DM Sans"/>
              </a:rPr>
              <a:t>15 Rule</a:t>
            </a:r>
          </a:p>
          <a:p>
            <a:pPr marL="690876" lvl="1" indent="-345438" algn="l">
              <a:lnSpc>
                <a:spcPts val="5023"/>
              </a:lnSpc>
              <a:buFont typeface="Arial"/>
              <a:buChar char="•"/>
            </a:pPr>
            <a:r>
              <a:rPr lang="en-US" sz="3199" dirty="0">
                <a:solidFill>
                  <a:srgbClr val="737373"/>
                </a:solidFill>
                <a:latin typeface="DM Sans"/>
                <a:ea typeface="DM Sans"/>
                <a:cs typeface="DM Sans"/>
                <a:sym typeface="DM Sans"/>
              </a:rPr>
              <a:t>Do - Turn off Password Complexity</a:t>
            </a:r>
          </a:p>
          <a:p>
            <a:pPr marL="690876" lvl="1" indent="-345438" algn="l">
              <a:lnSpc>
                <a:spcPts val="5023"/>
              </a:lnSpc>
              <a:buFont typeface="Arial"/>
              <a:buChar char="•"/>
            </a:pPr>
            <a:r>
              <a:rPr lang="en-US" sz="3199" dirty="0">
                <a:solidFill>
                  <a:srgbClr val="737373"/>
                </a:solidFill>
                <a:latin typeface="DM Sans"/>
                <a:ea typeface="DM Sans"/>
                <a:cs typeface="DM Sans"/>
                <a:sym typeface="DM Sans"/>
              </a:rPr>
              <a:t>Do - Use 16+ Character Passwords </a:t>
            </a:r>
          </a:p>
          <a:p>
            <a:pPr marL="690876" lvl="1" indent="-345438" algn="l">
              <a:lnSpc>
                <a:spcPts val="5023"/>
              </a:lnSpc>
              <a:buFont typeface="Arial"/>
              <a:buChar char="•"/>
            </a:pPr>
            <a:r>
              <a:rPr lang="en-US" sz="3199" dirty="0">
                <a:solidFill>
                  <a:srgbClr val="737373"/>
                </a:solidFill>
                <a:latin typeface="DM Sans"/>
                <a:ea typeface="DM Sans"/>
                <a:cs typeface="DM Sans"/>
                <a:sym typeface="DM Sans"/>
              </a:rPr>
              <a:t>Do - Use Password Safes (not picky)</a:t>
            </a:r>
          </a:p>
          <a:p>
            <a:pPr marL="690876" lvl="1" indent="-345438" algn="l">
              <a:lnSpc>
                <a:spcPts val="5023"/>
              </a:lnSpc>
              <a:buFont typeface="Arial"/>
              <a:buChar char="•"/>
            </a:pPr>
            <a:r>
              <a:rPr lang="en-US" sz="3199" dirty="0">
                <a:solidFill>
                  <a:srgbClr val="737373"/>
                </a:solidFill>
                <a:latin typeface="DM Sans"/>
                <a:ea typeface="DM Sans"/>
                <a:cs typeface="DM Sans"/>
                <a:sym typeface="DM Sans"/>
              </a:rPr>
              <a:t>Do - Deploy a Password Filter Solution</a:t>
            </a:r>
          </a:p>
          <a:p>
            <a:pPr marL="690876" lvl="1" indent="-345438" algn="l">
              <a:lnSpc>
                <a:spcPts val="5023"/>
              </a:lnSpc>
              <a:buFont typeface="Arial"/>
              <a:buChar char="•"/>
            </a:pPr>
            <a:r>
              <a:rPr lang="en-US" sz="3199" dirty="0">
                <a:solidFill>
                  <a:srgbClr val="737373"/>
                </a:solidFill>
                <a:latin typeface="DM Sans"/>
                <a:ea typeface="DM Sans"/>
                <a:cs typeface="DM Sans"/>
                <a:sym typeface="DM Sans"/>
              </a:rPr>
              <a:t>Do - Use MFA (dispel the auditors)</a:t>
            </a:r>
          </a:p>
          <a:p>
            <a:pPr marL="690876" lvl="1" indent="-345438" algn="l">
              <a:lnSpc>
                <a:spcPts val="5023"/>
              </a:lnSpc>
              <a:buFont typeface="Arial"/>
              <a:buChar char="•"/>
            </a:pPr>
            <a:r>
              <a:rPr lang="en-US" sz="3199" dirty="0">
                <a:solidFill>
                  <a:srgbClr val="737373"/>
                </a:solidFill>
                <a:latin typeface="DM Sans"/>
                <a:ea typeface="DM Sans"/>
                <a:cs typeface="DM Sans"/>
                <a:sym typeface="DM Sans"/>
              </a:rPr>
              <a:t>Do - Look into </a:t>
            </a:r>
            <a:r>
              <a:rPr lang="en-US" sz="3199" dirty="0" err="1">
                <a:solidFill>
                  <a:srgbClr val="737373"/>
                </a:solidFill>
                <a:latin typeface="DM Sans"/>
                <a:ea typeface="DM Sans"/>
                <a:cs typeface="DM Sans"/>
                <a:sym typeface="DM Sans"/>
              </a:rPr>
              <a:t>Passwordless</a:t>
            </a:r>
            <a:r>
              <a:rPr lang="en-US" sz="3199" dirty="0">
                <a:solidFill>
                  <a:srgbClr val="737373"/>
                </a:solidFill>
                <a:latin typeface="DM Sans"/>
                <a:ea typeface="DM Sans"/>
                <a:cs typeface="DM Sans"/>
                <a:sym typeface="DM Sans"/>
              </a:rPr>
              <a:t> </a:t>
            </a:r>
          </a:p>
          <a:p>
            <a:pPr marL="1381751" lvl="2" indent="-460584" algn="l">
              <a:lnSpc>
                <a:spcPts val="5023"/>
              </a:lnSpc>
              <a:buFont typeface="Arial"/>
              <a:buChar char="⚬"/>
            </a:pPr>
            <a:r>
              <a:rPr lang="en-US" sz="3199" dirty="0">
                <a:solidFill>
                  <a:srgbClr val="737373"/>
                </a:solidFill>
                <a:latin typeface="DM Sans"/>
                <a:ea typeface="DM Sans"/>
                <a:cs typeface="DM Sans"/>
                <a:sym typeface="DM Sans"/>
              </a:rPr>
              <a:t>(WH/</a:t>
            </a:r>
            <a:r>
              <a:rPr lang="en-US" sz="3199" dirty="0" err="1">
                <a:solidFill>
                  <a:srgbClr val="737373"/>
                </a:solidFill>
                <a:latin typeface="DM Sans"/>
                <a:ea typeface="DM Sans"/>
                <a:cs typeface="DM Sans"/>
                <a:sym typeface="DM Sans"/>
              </a:rPr>
              <a:t>WHfB</a:t>
            </a:r>
            <a:r>
              <a:rPr lang="en-US" sz="3199" dirty="0">
                <a:solidFill>
                  <a:srgbClr val="737373"/>
                </a:solidFill>
                <a:latin typeface="DM Sans"/>
                <a:ea typeface="DM Sans"/>
                <a:cs typeface="DM Sans"/>
                <a:sym typeface="DM Sans"/>
              </a:rPr>
              <a:t>)</a:t>
            </a:r>
          </a:p>
          <a:p>
            <a:pPr marL="690876" lvl="1" indent="-345438" algn="l">
              <a:lnSpc>
                <a:spcPts val="5023"/>
              </a:lnSpc>
              <a:buFont typeface="Arial"/>
              <a:buChar char="•"/>
            </a:pPr>
            <a:r>
              <a:rPr lang="en-US" sz="3199" dirty="0">
                <a:solidFill>
                  <a:srgbClr val="FFFFFF"/>
                </a:solidFill>
                <a:latin typeface="DM Sans"/>
                <a:ea typeface="DM Sans"/>
                <a:cs typeface="DM Sans"/>
                <a:sym typeface="DM Sans"/>
              </a:rPr>
              <a:t>DO NOT - Force Password Expiration</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666" b="-666"/>
            </a:stretch>
          </a:blipFill>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AutoShape 4"/>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grpSp>
        <p:nvGrpSpPr>
          <p:cNvPr id="6" name="Group 6"/>
          <p:cNvGrpSpPr/>
          <p:nvPr/>
        </p:nvGrpSpPr>
        <p:grpSpPr>
          <a:xfrm>
            <a:off x="4211384" y="2415066"/>
            <a:ext cx="9865232" cy="5456868"/>
            <a:chOff x="0" y="0"/>
            <a:chExt cx="13153642" cy="7275824"/>
          </a:xfrm>
        </p:grpSpPr>
        <p:sp>
          <p:nvSpPr>
            <p:cNvPr id="7" name="TextBox 7"/>
            <p:cNvSpPr txBox="1"/>
            <p:nvPr/>
          </p:nvSpPr>
          <p:spPr>
            <a:xfrm>
              <a:off x="0" y="123825"/>
              <a:ext cx="13153642" cy="4564162"/>
            </a:xfrm>
            <a:prstGeom prst="rect">
              <a:avLst/>
            </a:prstGeom>
          </p:spPr>
          <p:txBody>
            <a:bodyPr lIns="0" tIns="0" rIns="0" bIns="0" rtlCol="0" anchor="t">
              <a:spAutoFit/>
            </a:bodyPr>
            <a:lstStyle/>
            <a:p>
              <a:pPr marL="0" lvl="0" indent="0" algn="ctr">
                <a:lnSpc>
                  <a:spcPts val="8839"/>
                </a:lnSpc>
              </a:pPr>
              <a:r>
                <a:rPr lang="en-US" sz="8499">
                  <a:solidFill>
                    <a:srgbClr val="FFFFFF"/>
                  </a:solidFill>
                  <a:latin typeface="Anton"/>
                  <a:ea typeface="Anton"/>
                  <a:cs typeface="Anton"/>
                  <a:sym typeface="Anton"/>
                </a:rPr>
                <a:t>THE GHOST OF INCOMPLETE ACCESS CONTROLS</a:t>
              </a:r>
            </a:p>
          </p:txBody>
        </p:sp>
        <p:sp>
          <p:nvSpPr>
            <p:cNvPr id="8" name="TextBox 8"/>
            <p:cNvSpPr txBox="1"/>
            <p:nvPr/>
          </p:nvSpPr>
          <p:spPr>
            <a:xfrm>
              <a:off x="0" y="5200517"/>
              <a:ext cx="13153642" cy="2075308"/>
            </a:xfrm>
            <a:prstGeom prst="rect">
              <a:avLst/>
            </a:prstGeom>
          </p:spPr>
          <p:txBody>
            <a:bodyPr lIns="0" tIns="0" rIns="0" bIns="0" rtlCol="0" anchor="t">
              <a:spAutoFit/>
            </a:bodyPr>
            <a:lstStyle/>
            <a:p>
              <a:pPr algn="ctr">
                <a:lnSpc>
                  <a:spcPts val="5928"/>
                </a:lnSpc>
              </a:pPr>
              <a:r>
                <a:rPr lang="en-US" sz="5700">
                  <a:solidFill>
                    <a:srgbClr val="38B6FF"/>
                  </a:solidFill>
                  <a:latin typeface="DM Sans"/>
                  <a:ea typeface="DM Sans"/>
                  <a:cs typeface="DM Sans"/>
                  <a:sym typeface="DM Sans"/>
                </a:rPr>
                <a:t>Hardening Accounts </a:t>
              </a:r>
            </a:p>
            <a:p>
              <a:pPr marL="0" lvl="0" indent="0" algn="ctr">
                <a:lnSpc>
                  <a:spcPts val="5928"/>
                </a:lnSpc>
              </a:pPr>
              <a:r>
                <a:rPr lang="en-US" sz="5700">
                  <a:solidFill>
                    <a:srgbClr val="38B6FF"/>
                  </a:solidFill>
                  <a:latin typeface="DM Sans"/>
                  <a:ea typeface="DM Sans"/>
                  <a:cs typeface="DM Sans"/>
                  <a:sym typeface="DM Sans"/>
                </a:rPr>
                <a:t>&amp; Access</a:t>
              </a:r>
            </a:p>
          </p:txBody>
        </p:sp>
      </p:gr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76985" y="1095375"/>
            <a:ext cx="8248510"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WHY I’M NOT TALKING A LOT ABOUT TIERING</a:t>
            </a:r>
          </a:p>
        </p:txBody>
      </p:sp>
      <p:sp>
        <p:nvSpPr>
          <p:cNvPr id="6" name="TextBox 6"/>
          <p:cNvSpPr txBox="1"/>
          <p:nvPr/>
        </p:nvSpPr>
        <p:spPr>
          <a:xfrm>
            <a:off x="1076985" y="1853232"/>
            <a:ext cx="6057741" cy="2702560"/>
          </a:xfrm>
          <a:prstGeom prst="rect">
            <a:avLst/>
          </a:prstGeom>
        </p:spPr>
        <p:txBody>
          <a:bodyPr lIns="0" tIns="0" rIns="0" bIns="0" rtlCol="0" anchor="t">
            <a:spAutoFit/>
          </a:bodyPr>
          <a:lstStyle/>
          <a:p>
            <a:pPr marL="669286" lvl="1" indent="-334643" algn="l">
              <a:lnSpc>
                <a:spcPts val="4339"/>
              </a:lnSpc>
              <a:buFont typeface="Arial"/>
              <a:buChar char="•"/>
            </a:pPr>
            <a:r>
              <a:rPr lang="en-US" sz="3099">
                <a:solidFill>
                  <a:srgbClr val="FFFFFF"/>
                </a:solidFill>
                <a:latin typeface="DM Sans"/>
                <a:ea typeface="DM Sans"/>
                <a:cs typeface="DM Sans"/>
                <a:sym typeface="DM Sans"/>
              </a:rPr>
              <a:t>Tiering = Good</a:t>
            </a:r>
          </a:p>
          <a:p>
            <a:pPr marL="669286" lvl="1" indent="-334643" algn="l">
              <a:lnSpc>
                <a:spcPts val="4339"/>
              </a:lnSpc>
              <a:buFont typeface="Arial"/>
              <a:buChar char="•"/>
            </a:pPr>
            <a:r>
              <a:rPr lang="en-US" sz="3099">
                <a:solidFill>
                  <a:srgbClr val="FFFFFF"/>
                </a:solidFill>
                <a:latin typeface="DM Sans"/>
                <a:ea typeface="DM Sans"/>
                <a:cs typeface="DM Sans"/>
                <a:sym typeface="DM Sans"/>
              </a:rPr>
              <a:t>Everyone talks about it</a:t>
            </a:r>
          </a:p>
          <a:p>
            <a:pPr marL="669286" lvl="1" indent="-334643" algn="l">
              <a:lnSpc>
                <a:spcPts val="4339"/>
              </a:lnSpc>
              <a:buFont typeface="Arial"/>
              <a:buChar char="•"/>
            </a:pPr>
            <a:r>
              <a:rPr lang="en-US" sz="3099">
                <a:solidFill>
                  <a:srgbClr val="FFFFFF"/>
                </a:solidFill>
                <a:latin typeface="DM Sans"/>
                <a:ea typeface="DM Sans"/>
                <a:cs typeface="DM Sans"/>
                <a:sym typeface="DM Sans"/>
              </a:rPr>
              <a:t>No one finishes it</a:t>
            </a:r>
          </a:p>
          <a:p>
            <a:pPr marL="669286" lvl="1" indent="-334643" algn="l">
              <a:lnSpc>
                <a:spcPts val="4339"/>
              </a:lnSpc>
              <a:buFont typeface="Arial"/>
              <a:buChar char="•"/>
            </a:pPr>
            <a:r>
              <a:rPr lang="en-US" sz="3099">
                <a:solidFill>
                  <a:srgbClr val="FFFFFF"/>
                </a:solidFill>
                <a:latin typeface="DM Sans"/>
                <a:ea typeface="DM Sans"/>
                <a:cs typeface="DM Sans"/>
                <a:sym typeface="DM Sans"/>
              </a:rPr>
              <a:t>Environments still vulnerable. </a:t>
            </a:r>
          </a:p>
          <a:p>
            <a:pPr algn="l">
              <a:lnSpc>
                <a:spcPts val="4339"/>
              </a:lnSpc>
              <a:spcBef>
                <a:spcPct val="0"/>
              </a:spcBef>
            </a:pPr>
            <a:endParaRPr lang="en-US" sz="3099">
              <a:solidFill>
                <a:srgbClr val="FFFFFF"/>
              </a:solidFill>
              <a:latin typeface="DM Sans"/>
              <a:ea typeface="DM Sans"/>
              <a:cs typeface="DM Sans"/>
              <a:sym typeface="DM Sans"/>
            </a:endParaRPr>
          </a:p>
        </p:txBody>
      </p:sp>
      <p:sp>
        <p:nvSpPr>
          <p:cNvPr id="7" name="TextBox 7"/>
          <p:cNvSpPr txBox="1"/>
          <p:nvPr/>
        </p:nvSpPr>
        <p:spPr>
          <a:xfrm>
            <a:off x="1128603" y="4908518"/>
            <a:ext cx="8248510"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MY ADVICE ON TIERING</a:t>
            </a:r>
          </a:p>
        </p:txBody>
      </p:sp>
      <p:sp>
        <p:nvSpPr>
          <p:cNvPr id="8" name="TextBox 8"/>
          <p:cNvSpPr txBox="1"/>
          <p:nvPr/>
        </p:nvSpPr>
        <p:spPr>
          <a:xfrm>
            <a:off x="1128603" y="5581331"/>
            <a:ext cx="7078663" cy="2997835"/>
          </a:xfrm>
          <a:prstGeom prst="rect">
            <a:avLst/>
          </a:prstGeom>
        </p:spPr>
        <p:txBody>
          <a:bodyPr lIns="0" tIns="0" rIns="0" bIns="0" rtlCol="0" anchor="t">
            <a:spAutoFit/>
          </a:bodyPr>
          <a:lstStyle/>
          <a:p>
            <a:pPr marL="669286" lvl="1" indent="-334643" algn="l">
              <a:lnSpc>
                <a:spcPts val="4339"/>
              </a:lnSpc>
              <a:buFont typeface="Arial"/>
              <a:buChar char="•"/>
            </a:pPr>
            <a:r>
              <a:rPr lang="en-US" sz="3099">
                <a:solidFill>
                  <a:srgbClr val="FFFFFF"/>
                </a:solidFill>
                <a:latin typeface="DM Sans"/>
                <a:ea typeface="DM Sans"/>
                <a:cs typeface="DM Sans"/>
                <a:sym typeface="DM Sans"/>
              </a:rPr>
              <a:t>Start with Tier 0 First</a:t>
            </a:r>
          </a:p>
          <a:p>
            <a:pPr marL="669286" lvl="1" indent="-334643" algn="l">
              <a:lnSpc>
                <a:spcPts val="4339"/>
              </a:lnSpc>
              <a:buFont typeface="Arial"/>
              <a:buChar char="•"/>
            </a:pPr>
            <a:r>
              <a:rPr lang="en-US" sz="3099">
                <a:solidFill>
                  <a:srgbClr val="FFFFFF"/>
                </a:solidFill>
                <a:latin typeface="DM Sans"/>
                <a:ea typeface="DM Sans"/>
                <a:cs typeface="DM Sans"/>
                <a:sym typeface="DM Sans"/>
              </a:rPr>
              <a:t>Identify Tier 0 Accounts + Systems</a:t>
            </a:r>
          </a:p>
          <a:p>
            <a:pPr marL="1036320" lvl="2" indent="-345440" algn="l">
              <a:lnSpc>
                <a:spcPts val="3359"/>
              </a:lnSpc>
              <a:buFont typeface="Arial"/>
              <a:buChar char="⚬"/>
            </a:pPr>
            <a:r>
              <a:rPr lang="en-US" sz="2400">
                <a:solidFill>
                  <a:srgbClr val="FFFFFF"/>
                </a:solidFill>
                <a:latin typeface="DM Sans"/>
                <a:ea typeface="DM Sans"/>
                <a:cs typeface="DM Sans"/>
                <a:sym typeface="DM Sans"/>
              </a:rPr>
              <a:t>Domain/Identity Level Administrator Rights</a:t>
            </a:r>
          </a:p>
          <a:p>
            <a:pPr marL="1036320" lvl="2" indent="-345440" algn="l">
              <a:lnSpc>
                <a:spcPts val="3359"/>
              </a:lnSpc>
              <a:buFont typeface="Arial"/>
              <a:buChar char="⚬"/>
            </a:pPr>
            <a:r>
              <a:rPr lang="en-US" sz="2400">
                <a:solidFill>
                  <a:srgbClr val="FFFFFF"/>
                </a:solidFill>
                <a:latin typeface="DM Sans"/>
                <a:ea typeface="DM Sans"/>
                <a:cs typeface="DM Sans"/>
                <a:sym typeface="DM Sans"/>
              </a:rPr>
              <a:t>Environment-wide Administrative Rights</a:t>
            </a:r>
          </a:p>
          <a:p>
            <a:pPr marL="669286" lvl="1" indent="-334643" algn="l">
              <a:lnSpc>
                <a:spcPts val="4339"/>
              </a:lnSpc>
              <a:buFont typeface="Arial"/>
              <a:buChar char="•"/>
            </a:pPr>
            <a:r>
              <a:rPr lang="en-US" sz="3099">
                <a:solidFill>
                  <a:srgbClr val="FFFFFF"/>
                </a:solidFill>
                <a:latin typeface="DM Sans"/>
                <a:ea typeface="DM Sans"/>
                <a:cs typeface="DM Sans"/>
                <a:sym typeface="DM Sans"/>
              </a:rPr>
              <a:t>Dedicated T0 Accounts</a:t>
            </a:r>
          </a:p>
          <a:p>
            <a:pPr marL="669286" lvl="1" indent="-334643" algn="l">
              <a:lnSpc>
                <a:spcPts val="4339"/>
              </a:lnSpc>
              <a:spcBef>
                <a:spcPct val="0"/>
              </a:spcBef>
              <a:buFont typeface="Arial"/>
              <a:buChar char="•"/>
            </a:pPr>
            <a:r>
              <a:rPr lang="en-US" sz="3099">
                <a:solidFill>
                  <a:srgbClr val="FFFFFF"/>
                </a:solidFill>
                <a:latin typeface="DM Sans"/>
                <a:ea typeface="DM Sans"/>
                <a:cs typeface="DM Sans"/>
                <a:sym typeface="DM Sans"/>
              </a:rPr>
              <a:t>Identify Tier 0 Dependencies</a:t>
            </a:r>
          </a:p>
        </p:txBody>
      </p:sp>
      <p:grpSp>
        <p:nvGrpSpPr>
          <p:cNvPr id="9" name="Group 9"/>
          <p:cNvGrpSpPr/>
          <p:nvPr/>
        </p:nvGrpSpPr>
        <p:grpSpPr>
          <a:xfrm>
            <a:off x="11016259" y="2047724"/>
            <a:ext cx="6368876" cy="6193393"/>
            <a:chOff x="0" y="0"/>
            <a:chExt cx="8491835" cy="8257857"/>
          </a:xfrm>
        </p:grpSpPr>
        <p:sp>
          <p:nvSpPr>
            <p:cNvPr id="10" name="Freeform 10"/>
            <p:cNvSpPr/>
            <p:nvPr/>
          </p:nvSpPr>
          <p:spPr>
            <a:xfrm>
              <a:off x="0" y="0"/>
              <a:ext cx="8491835" cy="8257857"/>
            </a:xfrm>
            <a:custGeom>
              <a:avLst/>
              <a:gdLst/>
              <a:ahLst/>
              <a:cxnLst/>
              <a:rect l="l" t="t" r="r" b="b"/>
              <a:pathLst>
                <a:path w="8491835" h="8257857">
                  <a:moveTo>
                    <a:pt x="0" y="0"/>
                  </a:moveTo>
                  <a:lnTo>
                    <a:pt x="8491835" y="0"/>
                  </a:lnTo>
                  <a:lnTo>
                    <a:pt x="8491835" y="8257857"/>
                  </a:lnTo>
                  <a:lnTo>
                    <a:pt x="0" y="8257857"/>
                  </a:lnTo>
                  <a:lnTo>
                    <a:pt x="0" y="0"/>
                  </a:lnTo>
                  <a:close/>
                </a:path>
              </a:pathLst>
            </a:custGeom>
            <a:blipFill>
              <a:blip r:embed="rId3"/>
              <a:stretch>
                <a:fillRect r="-74091"/>
              </a:stretch>
            </a:blipFill>
            <a:ln w="38100" cap="sq">
              <a:solidFill>
                <a:srgbClr val="2F7BD1"/>
              </a:solidFill>
              <a:prstDash val="solid"/>
              <a:miter/>
            </a:ln>
          </p:spPr>
          <p:txBody>
            <a:bodyPr/>
            <a:lstStyle/>
            <a:p>
              <a:endParaRPr lang="en-US"/>
            </a:p>
          </p:txBody>
        </p:sp>
        <p:sp>
          <p:nvSpPr>
            <p:cNvPr id="11" name="TextBox 11"/>
            <p:cNvSpPr txBox="1"/>
            <p:nvPr/>
          </p:nvSpPr>
          <p:spPr>
            <a:xfrm>
              <a:off x="608202" y="1499887"/>
              <a:ext cx="5324991" cy="412031"/>
            </a:xfrm>
            <a:prstGeom prst="rect">
              <a:avLst/>
            </a:prstGeom>
          </p:spPr>
          <p:txBody>
            <a:bodyPr lIns="0" tIns="0" rIns="0" bIns="0" rtlCol="0" anchor="t">
              <a:spAutoFit/>
            </a:bodyPr>
            <a:lstStyle/>
            <a:p>
              <a:pPr algn="l">
                <a:lnSpc>
                  <a:spcPts val="2288"/>
                </a:lnSpc>
                <a:spcBef>
                  <a:spcPct val="0"/>
                </a:spcBef>
              </a:pPr>
              <a:r>
                <a:rPr lang="en-US" sz="2200" b="1">
                  <a:latin typeface="DM Sans Bold"/>
                  <a:ea typeface="DM Sans Bold"/>
                  <a:cs typeface="DM Sans Bold"/>
                  <a:sym typeface="DM Sans Bold"/>
                </a:rPr>
                <a:t>Identity / Cloud Admin</a:t>
              </a:r>
            </a:p>
          </p:txBody>
        </p:sp>
        <p:sp>
          <p:nvSpPr>
            <p:cNvPr id="12" name="TextBox 12"/>
            <p:cNvSpPr txBox="1"/>
            <p:nvPr/>
          </p:nvSpPr>
          <p:spPr>
            <a:xfrm>
              <a:off x="608202" y="4304311"/>
              <a:ext cx="5324991" cy="412031"/>
            </a:xfrm>
            <a:prstGeom prst="rect">
              <a:avLst/>
            </a:prstGeom>
          </p:spPr>
          <p:txBody>
            <a:bodyPr lIns="0" tIns="0" rIns="0" bIns="0" rtlCol="0" anchor="t">
              <a:spAutoFit/>
            </a:bodyPr>
            <a:lstStyle/>
            <a:p>
              <a:pPr algn="l">
                <a:lnSpc>
                  <a:spcPts val="2288"/>
                </a:lnSpc>
                <a:spcBef>
                  <a:spcPct val="0"/>
                </a:spcBef>
              </a:pPr>
              <a:r>
                <a:rPr lang="en-US" sz="2200" b="1">
                  <a:latin typeface="DM Sans Bold"/>
                  <a:ea typeface="DM Sans Bold"/>
                  <a:cs typeface="DM Sans Bold"/>
                  <a:sym typeface="DM Sans Bold"/>
                </a:rPr>
                <a:t>Service/Application Admin</a:t>
              </a:r>
            </a:p>
          </p:txBody>
        </p:sp>
        <p:sp>
          <p:nvSpPr>
            <p:cNvPr id="13" name="TextBox 13"/>
            <p:cNvSpPr txBox="1"/>
            <p:nvPr/>
          </p:nvSpPr>
          <p:spPr>
            <a:xfrm>
              <a:off x="608202" y="6961291"/>
              <a:ext cx="5324991" cy="412031"/>
            </a:xfrm>
            <a:prstGeom prst="rect">
              <a:avLst/>
            </a:prstGeom>
          </p:spPr>
          <p:txBody>
            <a:bodyPr lIns="0" tIns="0" rIns="0" bIns="0" rtlCol="0" anchor="t">
              <a:spAutoFit/>
            </a:bodyPr>
            <a:lstStyle/>
            <a:p>
              <a:pPr algn="l">
                <a:lnSpc>
                  <a:spcPts val="2288"/>
                </a:lnSpc>
                <a:spcBef>
                  <a:spcPct val="0"/>
                </a:spcBef>
              </a:pPr>
              <a:r>
                <a:rPr lang="en-US" sz="2200" b="1">
                  <a:latin typeface="DM Sans Bold"/>
                  <a:ea typeface="DM Sans Bold"/>
                  <a:cs typeface="DM Sans Bold"/>
                  <a:sym typeface="DM Sans Bold"/>
                </a:rPr>
                <a:t>Endpoint Admin</a:t>
              </a:r>
            </a:p>
          </p:txBody>
        </p:sp>
      </p:gr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1907543" y="2700066"/>
            <a:ext cx="5383837" cy="4886868"/>
          </a:xfrm>
          <a:custGeom>
            <a:avLst/>
            <a:gdLst/>
            <a:ahLst/>
            <a:cxnLst/>
            <a:rect l="l" t="t" r="r" b="b"/>
            <a:pathLst>
              <a:path w="5383837" h="4886868">
                <a:moveTo>
                  <a:pt x="0" y="0"/>
                </a:moveTo>
                <a:lnTo>
                  <a:pt x="5383837" y="0"/>
                </a:lnTo>
                <a:lnTo>
                  <a:pt x="5383837" y="4886868"/>
                </a:lnTo>
                <a:lnTo>
                  <a:pt x="0" y="4886868"/>
                </a:lnTo>
                <a:lnTo>
                  <a:pt x="0" y="0"/>
                </a:lnTo>
                <a:close/>
              </a:path>
            </a:pathLst>
          </a:custGeom>
          <a:blipFill>
            <a:blip r:embed="rId3"/>
            <a:stretch>
              <a:fillRect/>
            </a:stretch>
          </a:blipFill>
          <a:ln w="38100" cap="sq">
            <a:solidFill>
              <a:srgbClr val="2F7BD1"/>
            </a:solidFill>
            <a:prstDash val="solid"/>
            <a:miter/>
          </a:ln>
        </p:spPr>
        <p:txBody>
          <a:bodyPr/>
          <a:lstStyle/>
          <a:p>
            <a:endParaRPr lang="en-US"/>
          </a:p>
        </p:txBody>
      </p:sp>
      <p:sp>
        <p:nvSpPr>
          <p:cNvPr id="4" name="TextBox 4"/>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p:cNvSpPr txBox="1"/>
          <p:nvPr/>
        </p:nvSpPr>
        <p:spPr>
          <a:xfrm>
            <a:off x="9202837" y="790455"/>
            <a:ext cx="7068808"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GETTING STARTED WITH TIERING</a:t>
            </a:r>
          </a:p>
        </p:txBody>
      </p:sp>
      <p:sp>
        <p:nvSpPr>
          <p:cNvPr id="7" name="TextBox 7"/>
          <p:cNvSpPr txBox="1"/>
          <p:nvPr/>
        </p:nvSpPr>
        <p:spPr>
          <a:xfrm>
            <a:off x="9202837" y="2021431"/>
            <a:ext cx="8056463" cy="4698146"/>
          </a:xfrm>
          <a:prstGeom prst="rect">
            <a:avLst/>
          </a:prstGeom>
        </p:spPr>
        <p:txBody>
          <a:bodyPr lIns="0" tIns="0" rIns="0" bIns="0" rtlCol="0" anchor="t">
            <a:spAutoFit/>
          </a:bodyPr>
          <a:lstStyle/>
          <a:p>
            <a:pPr marL="518160" lvl="1" indent="-259080">
              <a:lnSpc>
                <a:spcPts val="3359"/>
              </a:lnSpc>
              <a:buFont typeface="Arial"/>
              <a:buChar char="•"/>
            </a:pPr>
            <a:r>
              <a:rPr lang="en-US" sz="2400" dirty="0">
                <a:solidFill>
                  <a:srgbClr val="FFFFFF"/>
                </a:solidFill>
                <a:latin typeface="DM Sans"/>
                <a:ea typeface="DM Sans"/>
                <a:cs typeface="DM Sans"/>
                <a:sym typeface="DM Sans"/>
              </a:rPr>
              <a:t>Deploy Secure Jump Hosts/PAWs (Yep!)</a:t>
            </a:r>
          </a:p>
          <a:p>
            <a:pPr marL="1036320" lvl="2" indent="-345440">
              <a:lnSpc>
                <a:spcPts val="3359"/>
              </a:lnSpc>
              <a:buFont typeface="Arial"/>
              <a:buChar char="⚬"/>
            </a:pPr>
            <a:r>
              <a:rPr lang="en-US" sz="2400" dirty="0">
                <a:solidFill>
                  <a:srgbClr val="767676"/>
                </a:solidFill>
                <a:latin typeface="DM Sans"/>
                <a:ea typeface="DM Sans"/>
                <a:cs typeface="DM Sans"/>
                <a:sym typeface="DM Sans"/>
              </a:rPr>
              <a:t>PAWS = Dedicated workstation for T0</a:t>
            </a:r>
          </a:p>
          <a:p>
            <a:pPr marL="1295406" lvl="3" indent="-323852">
              <a:lnSpc>
                <a:spcPts val="2800"/>
              </a:lnSpc>
              <a:buFont typeface="Arial"/>
              <a:buChar char="￭"/>
            </a:pPr>
            <a:r>
              <a:rPr lang="en-US" sz="2000" dirty="0">
                <a:solidFill>
                  <a:srgbClr val="767676"/>
                </a:solidFill>
                <a:latin typeface="DM Sans"/>
                <a:ea typeface="DM Sans"/>
                <a:cs typeface="DM Sans"/>
                <a:sym typeface="DM Sans"/>
              </a:rPr>
              <a:t>Massive Project if correct</a:t>
            </a:r>
          </a:p>
          <a:p>
            <a:pPr marL="1036320" lvl="2" indent="-345440">
              <a:lnSpc>
                <a:spcPts val="3359"/>
              </a:lnSpc>
              <a:buFont typeface="Arial"/>
              <a:buChar char="⚬"/>
            </a:pPr>
            <a:r>
              <a:rPr lang="en-US" sz="2400" dirty="0">
                <a:solidFill>
                  <a:srgbClr val="767676"/>
                </a:solidFill>
                <a:latin typeface="DM Sans"/>
                <a:ea typeface="DM Sans"/>
                <a:cs typeface="DM Sans"/>
                <a:sym typeface="DM Sans"/>
              </a:rPr>
              <a:t>SJH =  System for managing T0</a:t>
            </a:r>
          </a:p>
          <a:p>
            <a:pPr marL="1036320" lvl="2" indent="-345440">
              <a:lnSpc>
                <a:spcPts val="3359"/>
              </a:lnSpc>
              <a:buFont typeface="Arial"/>
              <a:buChar char="⚬"/>
            </a:pPr>
            <a:r>
              <a:rPr lang="en-US" sz="2400" dirty="0">
                <a:solidFill>
                  <a:srgbClr val="767676"/>
                </a:solidFill>
                <a:latin typeface="DM Sans"/>
                <a:ea typeface="DM Sans"/>
                <a:cs typeface="DM Sans"/>
                <a:sym typeface="DM Sans"/>
              </a:rPr>
              <a:t>Start somewhere.</a:t>
            </a:r>
          </a:p>
          <a:p>
            <a:pPr marL="518160" lvl="1" indent="-259080">
              <a:lnSpc>
                <a:spcPts val="3359"/>
              </a:lnSpc>
              <a:buFont typeface="Arial"/>
              <a:buChar char="•"/>
            </a:pPr>
            <a:r>
              <a:rPr lang="en-US" sz="2400" dirty="0">
                <a:solidFill>
                  <a:srgbClr val="FFFFFF"/>
                </a:solidFill>
                <a:latin typeface="DM Sans"/>
                <a:ea typeface="DM Sans"/>
                <a:cs typeface="DM Sans"/>
                <a:sym typeface="DM Sans"/>
              </a:rPr>
              <a:t>T0 Admins in Protected Users group</a:t>
            </a:r>
          </a:p>
          <a:p>
            <a:pPr marL="1036320" lvl="2" indent="-345440">
              <a:lnSpc>
                <a:spcPts val="3359"/>
              </a:lnSpc>
              <a:buFont typeface="Arial"/>
              <a:buChar char="⚬"/>
            </a:pPr>
            <a:r>
              <a:rPr lang="en-US" sz="2400" dirty="0">
                <a:solidFill>
                  <a:srgbClr val="767676"/>
                </a:solidFill>
                <a:latin typeface="DM Sans"/>
                <a:ea typeface="DM Sans"/>
                <a:cs typeface="DM Sans"/>
                <a:sym typeface="DM Sans"/>
              </a:rPr>
              <a:t>Lots of security. Some risk.</a:t>
            </a:r>
          </a:p>
          <a:p>
            <a:pPr marL="1036320" lvl="2" indent="-345440">
              <a:lnSpc>
                <a:spcPts val="3359"/>
              </a:lnSpc>
              <a:buFont typeface="Arial"/>
              <a:buChar char="⚬"/>
            </a:pPr>
            <a:r>
              <a:rPr lang="en-US" sz="2400" dirty="0">
                <a:solidFill>
                  <a:srgbClr val="767676"/>
                </a:solidFill>
                <a:latin typeface="DM Sans"/>
                <a:ea typeface="DM Sans"/>
                <a:cs typeface="DM Sans"/>
                <a:sym typeface="DM Sans"/>
              </a:rPr>
              <a:t>Roll out slowly. </a:t>
            </a:r>
          </a:p>
          <a:p>
            <a:pPr marL="1036320" lvl="2" indent="-345440">
              <a:lnSpc>
                <a:spcPts val="3359"/>
              </a:lnSpc>
              <a:buFont typeface="Arial"/>
              <a:buChar char="⚬"/>
            </a:pPr>
            <a:r>
              <a:rPr lang="en-US" sz="2400" dirty="0">
                <a:solidFill>
                  <a:srgbClr val="767676"/>
                </a:solidFill>
                <a:latin typeface="DM Sans"/>
                <a:ea typeface="DM Sans"/>
                <a:cs typeface="DM Sans"/>
                <a:sym typeface="DM Sans"/>
              </a:rPr>
              <a:t>No SID-500, Computers, or Services</a:t>
            </a:r>
          </a:p>
          <a:p>
            <a:pPr marL="518160" lvl="1" indent="-259080" algn="l">
              <a:lnSpc>
                <a:spcPts val="3359"/>
              </a:lnSpc>
              <a:buFont typeface="Arial"/>
              <a:buChar char="•"/>
            </a:pPr>
            <a:r>
              <a:rPr lang="en-US" sz="2400" dirty="0">
                <a:solidFill>
                  <a:srgbClr val="FFFFFF"/>
                </a:solidFill>
                <a:latin typeface="DM Sans"/>
                <a:ea typeface="DM Sans"/>
                <a:cs typeface="DM Sans"/>
                <a:sym typeface="DM Sans"/>
              </a:rPr>
              <a:t>Dedicated Tier 0 / Control Plane Admins</a:t>
            </a:r>
          </a:p>
          <a:p>
            <a:pPr marL="1036320" lvl="2" indent="-345440" algn="l">
              <a:lnSpc>
                <a:spcPts val="3359"/>
              </a:lnSpc>
              <a:buFont typeface="Arial"/>
              <a:buChar char="⚬"/>
            </a:pPr>
            <a:r>
              <a:rPr lang="en-US" sz="2400" dirty="0">
                <a:solidFill>
                  <a:srgbClr val="767676"/>
                </a:solidFill>
                <a:latin typeface="DM Sans"/>
                <a:ea typeface="DM Sans"/>
                <a:cs typeface="DM Sans"/>
                <a:sym typeface="DM Sans"/>
              </a:rPr>
              <a:t>No email. No Web. Just Admin stuff. </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1028700" y="1028700"/>
            <a:ext cx="8237067" cy="3840533"/>
          </a:xfrm>
          <a:custGeom>
            <a:avLst/>
            <a:gdLst/>
            <a:ahLst/>
            <a:cxnLst/>
            <a:rect l="l" t="t" r="r" b="b"/>
            <a:pathLst>
              <a:path w="8237067" h="3840533">
                <a:moveTo>
                  <a:pt x="0" y="0"/>
                </a:moveTo>
                <a:lnTo>
                  <a:pt x="8237067" y="0"/>
                </a:lnTo>
                <a:lnTo>
                  <a:pt x="8237067" y="3840533"/>
                </a:lnTo>
                <a:lnTo>
                  <a:pt x="0" y="3840533"/>
                </a:lnTo>
                <a:lnTo>
                  <a:pt x="0" y="0"/>
                </a:lnTo>
                <a:close/>
              </a:path>
            </a:pathLst>
          </a:custGeom>
          <a:blipFill>
            <a:blip r:embed="rId3"/>
            <a:stretch>
              <a:fillRect/>
            </a:stretch>
          </a:blipFill>
          <a:ln w="19050">
            <a:solidFill>
              <a:srgbClr val="38B6FF"/>
            </a:solidFill>
          </a:ln>
        </p:spPr>
        <p:txBody>
          <a:bodyPr/>
          <a:lstStyle/>
          <a:p>
            <a:endParaRPr lang="en-US"/>
          </a:p>
        </p:txBody>
      </p:sp>
      <p:sp>
        <p:nvSpPr>
          <p:cNvPr id="4" name="Freeform 4"/>
          <p:cNvSpPr/>
          <p:nvPr/>
        </p:nvSpPr>
        <p:spPr>
          <a:xfrm>
            <a:off x="1028700" y="5358461"/>
            <a:ext cx="8237067" cy="3639899"/>
          </a:xfrm>
          <a:custGeom>
            <a:avLst/>
            <a:gdLst/>
            <a:ahLst/>
            <a:cxnLst/>
            <a:rect l="l" t="t" r="r" b="b"/>
            <a:pathLst>
              <a:path w="8237067" h="3639899">
                <a:moveTo>
                  <a:pt x="0" y="0"/>
                </a:moveTo>
                <a:lnTo>
                  <a:pt x="8237067" y="0"/>
                </a:lnTo>
                <a:lnTo>
                  <a:pt x="8237067" y="3639900"/>
                </a:lnTo>
                <a:lnTo>
                  <a:pt x="0" y="3639900"/>
                </a:lnTo>
                <a:lnTo>
                  <a:pt x="0" y="0"/>
                </a:lnTo>
                <a:close/>
              </a:path>
            </a:pathLst>
          </a:custGeom>
          <a:blipFill>
            <a:blip r:embed="rId4"/>
            <a:stretch>
              <a:fillRect b="-9189"/>
            </a:stretch>
          </a:blipFill>
          <a:ln w="19050">
            <a:solidFill>
              <a:srgbClr val="38B6FF"/>
            </a:solidFill>
          </a:ln>
        </p:spPr>
        <p:txBody>
          <a:bodyPr/>
          <a:lstStyle/>
          <a:p>
            <a:endParaRPr lang="en-US"/>
          </a:p>
        </p:txBody>
      </p:sp>
      <p:sp>
        <p:nvSpPr>
          <p:cNvPr id="5" name="TextBox 5"/>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6" name="TextBox 6"/>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7" name="TextBox 7"/>
          <p:cNvSpPr txBox="1"/>
          <p:nvPr/>
        </p:nvSpPr>
        <p:spPr>
          <a:xfrm>
            <a:off x="10382539" y="1095375"/>
            <a:ext cx="6033728"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FINDING TIER 0</a:t>
            </a:r>
          </a:p>
        </p:txBody>
      </p:sp>
      <p:sp>
        <p:nvSpPr>
          <p:cNvPr id="8" name="TextBox 8"/>
          <p:cNvSpPr txBox="1"/>
          <p:nvPr/>
        </p:nvSpPr>
        <p:spPr>
          <a:xfrm>
            <a:off x="9879199" y="2397683"/>
            <a:ext cx="7718893" cy="5434485"/>
          </a:xfrm>
          <a:prstGeom prst="rect">
            <a:avLst/>
          </a:prstGeom>
        </p:spPr>
        <p:txBody>
          <a:bodyPr lIns="0" tIns="0" rIns="0" bIns="0" rtlCol="0" anchor="t">
            <a:spAutoFit/>
          </a:bodyPr>
          <a:lstStyle/>
          <a:p>
            <a:pPr marL="603205" lvl="1" indent="-301602" algn="l">
              <a:lnSpc>
                <a:spcPts val="3911"/>
              </a:lnSpc>
              <a:buFont typeface="Arial"/>
              <a:buChar char="•"/>
            </a:pPr>
            <a:r>
              <a:rPr lang="en-US" sz="2793">
                <a:solidFill>
                  <a:srgbClr val="FFFFFF"/>
                </a:solidFill>
                <a:latin typeface="DM Sans"/>
                <a:ea typeface="DM Sans"/>
                <a:cs typeface="DM Sans"/>
                <a:sym typeface="DM Sans"/>
              </a:rPr>
              <a:t>Tier 0 Dependency and attack mapping</a:t>
            </a:r>
          </a:p>
          <a:p>
            <a:pPr marL="603205" lvl="1" indent="-301602" algn="l">
              <a:lnSpc>
                <a:spcPts val="3911"/>
              </a:lnSpc>
              <a:buFont typeface="Arial"/>
              <a:buChar char="•"/>
            </a:pPr>
            <a:r>
              <a:rPr lang="en-US" sz="2793">
                <a:solidFill>
                  <a:srgbClr val="FFFFFF"/>
                </a:solidFill>
                <a:latin typeface="DM Sans"/>
                <a:ea typeface="DM Sans"/>
                <a:cs typeface="DM Sans"/>
                <a:sym typeface="DM Sans"/>
              </a:rPr>
              <a:t>Semperis Forest Druid</a:t>
            </a:r>
          </a:p>
          <a:p>
            <a:pPr marL="1206409" lvl="2" indent="-402136" algn="l">
              <a:lnSpc>
                <a:spcPts val="3911"/>
              </a:lnSpc>
              <a:buFont typeface="Arial"/>
              <a:buChar char="⚬"/>
            </a:pPr>
            <a:r>
              <a:rPr lang="en-US" sz="2793">
                <a:solidFill>
                  <a:srgbClr val="FFFFFF"/>
                </a:solidFill>
                <a:latin typeface="DM Sans"/>
                <a:ea typeface="DM Sans"/>
                <a:cs typeface="DM Sans"/>
                <a:sym typeface="DM Sans"/>
              </a:rPr>
              <a:t>Free - Requires email.</a:t>
            </a:r>
          </a:p>
          <a:p>
            <a:pPr marL="1206409" lvl="2" indent="-402136" algn="l">
              <a:lnSpc>
                <a:spcPts val="3911"/>
              </a:lnSpc>
              <a:buFont typeface="Arial"/>
              <a:buChar char="⚬"/>
            </a:pPr>
            <a:r>
              <a:rPr lang="en-US" sz="2793">
                <a:solidFill>
                  <a:srgbClr val="FFFFFF"/>
                </a:solidFill>
                <a:latin typeface="DM Sans"/>
                <a:ea typeface="DM Sans"/>
                <a:cs typeface="DM Sans"/>
                <a:sym typeface="DM Sans"/>
              </a:rPr>
              <a:t>Maps Tier 0 users, groups, etc. </a:t>
            </a:r>
          </a:p>
          <a:p>
            <a:pPr marL="1206409" lvl="2" indent="-402136" algn="l">
              <a:lnSpc>
                <a:spcPts val="3911"/>
              </a:lnSpc>
              <a:buFont typeface="Arial"/>
              <a:buChar char="⚬"/>
            </a:pPr>
            <a:r>
              <a:rPr lang="en-US" sz="2793">
                <a:solidFill>
                  <a:srgbClr val="FFFFFF"/>
                </a:solidFill>
                <a:latin typeface="DM Sans"/>
                <a:ea typeface="DM Sans"/>
                <a:cs typeface="DM Sans"/>
                <a:sym typeface="DM Sans"/>
              </a:rPr>
              <a:t>Kind of clunky. </a:t>
            </a:r>
          </a:p>
          <a:p>
            <a:pPr algn="l">
              <a:lnSpc>
                <a:spcPts val="3911"/>
              </a:lnSpc>
            </a:pPr>
            <a:endParaRPr lang="en-US" sz="2793">
              <a:solidFill>
                <a:srgbClr val="FFFFFF"/>
              </a:solidFill>
              <a:latin typeface="DM Sans"/>
              <a:ea typeface="DM Sans"/>
              <a:cs typeface="DM Sans"/>
              <a:sym typeface="DM Sans"/>
            </a:endParaRPr>
          </a:p>
          <a:p>
            <a:pPr marL="603205" lvl="1" indent="-301602" algn="l">
              <a:lnSpc>
                <a:spcPts val="3911"/>
              </a:lnSpc>
              <a:buFont typeface="Arial"/>
              <a:buChar char="•"/>
            </a:pPr>
            <a:r>
              <a:rPr lang="en-US" sz="2793">
                <a:solidFill>
                  <a:srgbClr val="FFFFFF"/>
                </a:solidFill>
                <a:latin typeface="DM Sans"/>
                <a:ea typeface="DM Sans"/>
                <a:cs typeface="DM Sans"/>
                <a:sym typeface="DM Sans"/>
              </a:rPr>
              <a:t>SpectreOps Bloodhound CE</a:t>
            </a:r>
          </a:p>
          <a:p>
            <a:pPr marL="1206409" lvl="2" indent="-402136" algn="l">
              <a:lnSpc>
                <a:spcPts val="3911"/>
              </a:lnSpc>
              <a:buFont typeface="Arial"/>
              <a:buChar char="⚬"/>
            </a:pPr>
            <a:r>
              <a:rPr lang="en-US" sz="2793">
                <a:solidFill>
                  <a:srgbClr val="FFFFFF"/>
                </a:solidFill>
                <a:latin typeface="DM Sans"/>
                <a:ea typeface="DM Sans"/>
                <a:cs typeface="DM Sans"/>
                <a:sym typeface="DM Sans"/>
              </a:rPr>
              <a:t>WILL TRIP EDR</a:t>
            </a:r>
          </a:p>
          <a:p>
            <a:pPr marL="1206409" lvl="2" indent="-402136" algn="l">
              <a:lnSpc>
                <a:spcPts val="3911"/>
              </a:lnSpc>
              <a:buFont typeface="Arial"/>
              <a:buChar char="⚬"/>
            </a:pPr>
            <a:r>
              <a:rPr lang="en-US" sz="2793">
                <a:solidFill>
                  <a:srgbClr val="FFFFFF"/>
                </a:solidFill>
                <a:latin typeface="DM Sans"/>
                <a:ea typeface="DM Sans"/>
                <a:cs typeface="DM Sans"/>
                <a:sym typeface="DM Sans"/>
              </a:rPr>
              <a:t>The standard T0 Attack Mapping Tool</a:t>
            </a:r>
          </a:p>
          <a:p>
            <a:pPr marL="1206409" lvl="2" indent="-402136" algn="l">
              <a:lnSpc>
                <a:spcPts val="3911"/>
              </a:lnSpc>
              <a:buFont typeface="Arial"/>
              <a:buChar char="⚬"/>
            </a:pPr>
            <a:r>
              <a:rPr lang="en-US" sz="2793">
                <a:solidFill>
                  <a:srgbClr val="FFFFFF"/>
                </a:solidFill>
                <a:latin typeface="DM Sans"/>
                <a:ea typeface="DM Sans"/>
                <a:cs typeface="DM Sans"/>
                <a:sym typeface="DM Sans"/>
              </a:rPr>
              <a:t>CE = Community Edition = Free</a:t>
            </a:r>
          </a:p>
          <a:p>
            <a:pPr marL="1206409" lvl="2" indent="-402136" algn="l">
              <a:lnSpc>
                <a:spcPts val="3911"/>
              </a:lnSpc>
              <a:buFont typeface="Arial"/>
              <a:buChar char="⚬"/>
            </a:pPr>
            <a:r>
              <a:rPr lang="en-US" sz="2793">
                <a:solidFill>
                  <a:srgbClr val="FFFFFF"/>
                </a:solidFill>
                <a:latin typeface="DM Sans"/>
                <a:ea typeface="DM Sans"/>
                <a:cs typeface="DM Sans"/>
                <a:sym typeface="DM Sans"/>
              </a:rPr>
              <a:t>Paid version available</a:t>
            </a:r>
          </a:p>
        </p:txBody>
      </p:sp>
      <p:sp>
        <p:nvSpPr>
          <p:cNvPr id="9" name="TextBox 9"/>
          <p:cNvSpPr txBox="1"/>
          <p:nvPr/>
        </p:nvSpPr>
        <p:spPr>
          <a:xfrm>
            <a:off x="1283916" y="1154889"/>
            <a:ext cx="2816860" cy="314678"/>
          </a:xfrm>
          <a:prstGeom prst="rect">
            <a:avLst/>
          </a:prstGeom>
        </p:spPr>
        <p:txBody>
          <a:bodyPr lIns="0" tIns="0" rIns="0" bIns="0" rtlCol="0" anchor="t">
            <a:spAutoFit/>
          </a:bodyPr>
          <a:lstStyle/>
          <a:p>
            <a:pPr algn="ctr">
              <a:lnSpc>
                <a:spcPts val="2605"/>
              </a:lnSpc>
              <a:spcBef>
                <a:spcPct val="0"/>
              </a:spcBef>
            </a:pPr>
            <a:r>
              <a:rPr lang="en-US" sz="1861" b="1">
                <a:solidFill>
                  <a:srgbClr val="FFFFFF"/>
                </a:solidFill>
                <a:latin typeface="DM Sans Bold"/>
                <a:ea typeface="DM Sans Bold"/>
                <a:cs typeface="DM Sans Bold"/>
                <a:sym typeface="DM Sans Bold"/>
              </a:rPr>
              <a:t>SEMPERIS FOREST DRUID</a:t>
            </a:r>
          </a:p>
        </p:txBody>
      </p:sp>
      <p:sp>
        <p:nvSpPr>
          <p:cNvPr id="10" name="TextBox 10"/>
          <p:cNvSpPr txBox="1"/>
          <p:nvPr/>
        </p:nvSpPr>
        <p:spPr>
          <a:xfrm>
            <a:off x="1268698" y="5669711"/>
            <a:ext cx="2027237" cy="314678"/>
          </a:xfrm>
          <a:prstGeom prst="rect">
            <a:avLst/>
          </a:prstGeom>
        </p:spPr>
        <p:txBody>
          <a:bodyPr lIns="0" tIns="0" rIns="0" bIns="0" rtlCol="0" anchor="t">
            <a:spAutoFit/>
          </a:bodyPr>
          <a:lstStyle/>
          <a:p>
            <a:pPr algn="ctr">
              <a:lnSpc>
                <a:spcPts val="2605"/>
              </a:lnSpc>
              <a:spcBef>
                <a:spcPct val="0"/>
              </a:spcBef>
            </a:pPr>
            <a:r>
              <a:rPr lang="en-US" sz="1861" b="1">
                <a:solidFill>
                  <a:srgbClr val="FFFFFF"/>
                </a:solidFill>
                <a:latin typeface="DM Sans Bold"/>
                <a:ea typeface="DM Sans Bold"/>
                <a:cs typeface="DM Sans Bold"/>
                <a:sym typeface="DM Sans Bold"/>
              </a:rPr>
              <a:t>BLOODHOUND CE</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a:extLst>
            <a:ext uri="{FF2B5EF4-FFF2-40B4-BE49-F238E27FC236}">
              <a16:creationId xmlns:a16="http://schemas.microsoft.com/office/drawing/2014/main" id="{23B4A9B0-F7C2-A875-C950-49ADB32EB529}"/>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18DE920A-A69A-75FF-C026-9CCB80DC9BBD}"/>
              </a:ext>
            </a:extLst>
          </p:cNvPr>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a:extLst>
              <a:ext uri="{FF2B5EF4-FFF2-40B4-BE49-F238E27FC236}">
                <a16:creationId xmlns:a16="http://schemas.microsoft.com/office/drawing/2014/main" id="{223CE3D3-190E-3AAE-17E3-B6816271D74F}"/>
              </a:ext>
            </a:extLst>
          </p:cNvPr>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a:extLst>
              <a:ext uri="{FF2B5EF4-FFF2-40B4-BE49-F238E27FC236}">
                <a16:creationId xmlns:a16="http://schemas.microsoft.com/office/drawing/2014/main" id="{A4843E62-0834-9BF5-E4B7-8D66C9563E82}"/>
              </a:ext>
            </a:extLst>
          </p:cNvPr>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7">
            <a:extLst>
              <a:ext uri="{FF2B5EF4-FFF2-40B4-BE49-F238E27FC236}">
                <a16:creationId xmlns:a16="http://schemas.microsoft.com/office/drawing/2014/main" id="{A12B9EF6-2873-2F5D-D06C-D66E3BB93852}"/>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a:solidFill>
                  <a:srgbClr val="FFFFFF"/>
                </a:solidFill>
                <a:latin typeface="Anton"/>
                <a:ea typeface="Anton"/>
                <a:cs typeface="Anton"/>
                <a:sym typeface="Anton"/>
              </a:rPr>
              <a:t>BONUS</a:t>
            </a:r>
          </a:p>
        </p:txBody>
      </p:sp>
      <p:sp>
        <p:nvSpPr>
          <p:cNvPr id="7" name="TextBox 7">
            <a:extLst>
              <a:ext uri="{FF2B5EF4-FFF2-40B4-BE49-F238E27FC236}">
                <a16:creationId xmlns:a16="http://schemas.microsoft.com/office/drawing/2014/main" id="{E77858AA-CD9A-C704-B166-FCDBE76E9038}"/>
              </a:ext>
            </a:extLst>
          </p:cNvPr>
          <p:cNvSpPr txBox="1"/>
          <p:nvPr/>
        </p:nvSpPr>
        <p:spPr>
          <a:xfrm>
            <a:off x="533400" y="406993"/>
            <a:ext cx="7772400" cy="538609"/>
          </a:xfrm>
          <a:prstGeom prst="rect">
            <a:avLst/>
          </a:prstGeom>
        </p:spPr>
        <p:txBody>
          <a:bodyPr wrap="square" lIns="0" tIns="0" rIns="0" bIns="0" rtlCol="0" anchor="t">
            <a:spAutoFit/>
          </a:bodyPr>
          <a:lstStyle/>
          <a:p>
            <a:pPr marL="0" lvl="0" indent="0" algn="l">
              <a:lnSpc>
                <a:spcPts val="4160"/>
              </a:lnSpc>
            </a:pPr>
            <a:r>
              <a:rPr lang="en-US" sz="4000" dirty="0">
                <a:solidFill>
                  <a:srgbClr val="38B6FF"/>
                </a:solidFill>
                <a:latin typeface="Anton"/>
                <a:ea typeface="Anton"/>
                <a:cs typeface="Anton"/>
                <a:sym typeface="Anton"/>
              </a:rPr>
              <a:t>BONUS – More on Tiering</a:t>
            </a:r>
          </a:p>
        </p:txBody>
      </p:sp>
      <p:sp>
        <p:nvSpPr>
          <p:cNvPr id="8" name="TextBox 7">
            <a:extLst>
              <a:ext uri="{FF2B5EF4-FFF2-40B4-BE49-F238E27FC236}">
                <a16:creationId xmlns:a16="http://schemas.microsoft.com/office/drawing/2014/main" id="{B25EA5DB-8C92-B410-E7ED-507E2CC0C2E5}"/>
              </a:ext>
            </a:extLst>
          </p:cNvPr>
          <p:cNvSpPr txBox="1"/>
          <p:nvPr/>
        </p:nvSpPr>
        <p:spPr>
          <a:xfrm>
            <a:off x="391368" y="1112571"/>
            <a:ext cx="8056463" cy="2595006"/>
          </a:xfrm>
          <a:prstGeom prst="rect">
            <a:avLst/>
          </a:prstGeom>
        </p:spPr>
        <p:txBody>
          <a:bodyPr lIns="0" tIns="0" rIns="0" bIns="0" rtlCol="0" anchor="t">
            <a:spAutoFit/>
          </a:bodyPr>
          <a:lstStyle/>
          <a:p>
            <a:pPr marL="518160" lvl="1" indent="-259080" algn="l">
              <a:lnSpc>
                <a:spcPts val="3359"/>
              </a:lnSpc>
              <a:buFont typeface="Arial"/>
              <a:buChar char="•"/>
            </a:pPr>
            <a:r>
              <a:rPr lang="en-US" sz="2400" dirty="0">
                <a:solidFill>
                  <a:srgbClr val="FFFFFF"/>
                </a:solidFill>
                <a:latin typeface="DM Sans"/>
                <a:ea typeface="DM Sans"/>
                <a:cs typeface="DM Sans"/>
                <a:sym typeface="DM Sans"/>
              </a:rPr>
              <a:t>Find Tier 0 Dependencies</a:t>
            </a:r>
          </a:p>
          <a:p>
            <a:pPr marL="1036320" lvl="2" indent="-345440" algn="l">
              <a:lnSpc>
                <a:spcPts val="3359"/>
              </a:lnSpc>
              <a:buFont typeface="Arial"/>
              <a:buChar char="⚬"/>
            </a:pPr>
            <a:r>
              <a:rPr lang="en-US" sz="2400" dirty="0">
                <a:solidFill>
                  <a:srgbClr val="FFFFFF"/>
                </a:solidFill>
                <a:latin typeface="DM Sans"/>
                <a:ea typeface="DM Sans"/>
                <a:cs typeface="DM Sans"/>
                <a:sym typeface="DM Sans"/>
              </a:rPr>
              <a:t>Remove dependencies. Remove system and admin access not in Tier 0</a:t>
            </a:r>
          </a:p>
          <a:p>
            <a:pPr marL="518160" lvl="1" indent="-259080" algn="l">
              <a:lnSpc>
                <a:spcPts val="3359"/>
              </a:lnSpc>
              <a:buFont typeface="Arial"/>
              <a:buChar char="•"/>
            </a:pPr>
            <a:r>
              <a:rPr lang="en-US" sz="2400" dirty="0">
                <a:solidFill>
                  <a:srgbClr val="FFFFFF"/>
                </a:solidFill>
                <a:latin typeface="DM Sans"/>
                <a:ea typeface="DM Sans"/>
                <a:cs typeface="DM Sans"/>
                <a:sym typeface="DM Sans"/>
              </a:rPr>
              <a:t>T0 Password Policy</a:t>
            </a:r>
          </a:p>
          <a:p>
            <a:pPr marL="1036320" lvl="2" indent="-345440" algn="l">
              <a:lnSpc>
                <a:spcPts val="3359"/>
              </a:lnSpc>
              <a:buFont typeface="Arial"/>
              <a:buChar char="⚬"/>
            </a:pPr>
            <a:r>
              <a:rPr lang="en-US" sz="2400" dirty="0">
                <a:solidFill>
                  <a:srgbClr val="FFFFFF"/>
                </a:solidFill>
                <a:latin typeface="DM Sans"/>
                <a:ea typeface="DM Sans"/>
                <a:cs typeface="DM Sans"/>
                <a:sym typeface="DM Sans"/>
              </a:rPr>
              <a:t>Complexity + Length + MFA (if possible) </a:t>
            </a:r>
          </a:p>
          <a:p>
            <a:pPr marL="1036320" lvl="2" indent="-345440" algn="l">
              <a:lnSpc>
                <a:spcPts val="3359"/>
              </a:lnSpc>
              <a:buFont typeface="Arial"/>
              <a:buChar char="⚬"/>
            </a:pPr>
            <a:r>
              <a:rPr lang="en-US" sz="2400" dirty="0">
                <a:solidFill>
                  <a:srgbClr val="FFFFFF"/>
                </a:solidFill>
                <a:latin typeface="DM Sans"/>
                <a:ea typeface="DM Sans"/>
                <a:cs typeface="DM Sans"/>
                <a:sym typeface="DM Sans"/>
              </a:rPr>
              <a:t>180 day password age</a:t>
            </a:r>
          </a:p>
        </p:txBody>
      </p:sp>
    </p:spTree>
    <p:extLst>
      <p:ext uri="{BB962C8B-B14F-4D97-AF65-F5344CB8AC3E}">
        <p14:creationId xmlns:p14="http://schemas.microsoft.com/office/powerpoint/2010/main" val="264866522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76985" y="490220"/>
            <a:ext cx="7068808" cy="538480"/>
          </a:xfrm>
          <a:prstGeom prst="rect">
            <a:avLst/>
          </a:prstGeom>
        </p:spPr>
        <p:txBody>
          <a:bodyPr lIns="0" tIns="0" rIns="0" bIns="0" rtlCol="0" anchor="t">
            <a:spAutoFit/>
          </a:bodyPr>
          <a:lstStyle/>
          <a:p>
            <a:pPr marL="0" lvl="0" indent="0" algn="l">
              <a:lnSpc>
                <a:spcPts val="4160"/>
              </a:lnSpc>
            </a:pPr>
            <a:r>
              <a:rPr lang="en-US" sz="4000" dirty="0">
                <a:solidFill>
                  <a:srgbClr val="38B6FF"/>
                </a:solidFill>
                <a:latin typeface="Anton"/>
                <a:ea typeface="Anton"/>
                <a:cs typeface="Anton"/>
                <a:sym typeface="Anton"/>
              </a:rPr>
              <a:t>AUDIT ACCESS AND ACLS</a:t>
            </a:r>
          </a:p>
        </p:txBody>
      </p:sp>
      <p:sp>
        <p:nvSpPr>
          <p:cNvPr id="6" name="TextBox 6"/>
          <p:cNvSpPr txBox="1"/>
          <p:nvPr/>
        </p:nvSpPr>
        <p:spPr>
          <a:xfrm>
            <a:off x="1076985" y="1096065"/>
            <a:ext cx="9155086" cy="481330"/>
          </a:xfrm>
          <a:prstGeom prst="rect">
            <a:avLst/>
          </a:prstGeom>
        </p:spPr>
        <p:txBody>
          <a:bodyPr lIns="0" tIns="0" rIns="0" bIns="0" rtlCol="0" anchor="t">
            <a:spAutoFit/>
          </a:bodyPr>
          <a:lstStyle/>
          <a:p>
            <a:pPr algn="l">
              <a:lnSpc>
                <a:spcPts val="3919"/>
              </a:lnSpc>
              <a:spcBef>
                <a:spcPct val="0"/>
              </a:spcBef>
            </a:pPr>
            <a:r>
              <a:rPr lang="en-US" sz="2799">
                <a:solidFill>
                  <a:srgbClr val="FFFFFF"/>
                </a:solidFill>
                <a:latin typeface="DM Sans"/>
                <a:ea typeface="DM Sans"/>
                <a:cs typeface="DM Sans"/>
                <a:sym typeface="DM Sans"/>
              </a:rPr>
              <a:t>Most organizations have no idea how bad it is.</a:t>
            </a:r>
          </a:p>
        </p:txBody>
      </p:sp>
      <p:sp>
        <p:nvSpPr>
          <p:cNvPr id="7" name="TextBox 7"/>
          <p:cNvSpPr txBox="1"/>
          <p:nvPr/>
        </p:nvSpPr>
        <p:spPr>
          <a:xfrm>
            <a:off x="1076985" y="1852041"/>
            <a:ext cx="7068808" cy="480695"/>
          </a:xfrm>
          <a:prstGeom prst="rect">
            <a:avLst/>
          </a:prstGeom>
        </p:spPr>
        <p:txBody>
          <a:bodyPr lIns="0" tIns="0" rIns="0" bIns="0" rtlCol="0" anchor="t">
            <a:spAutoFit/>
          </a:bodyPr>
          <a:lstStyle/>
          <a:p>
            <a:pPr marL="0" lvl="0" indent="0" algn="l">
              <a:lnSpc>
                <a:spcPts val="3640"/>
              </a:lnSpc>
            </a:pPr>
            <a:r>
              <a:rPr lang="en-US" sz="3500" b="1">
                <a:solidFill>
                  <a:srgbClr val="FFFFFF"/>
                </a:solidFill>
                <a:latin typeface="DM Sans Bold"/>
                <a:ea typeface="DM Sans Bold"/>
                <a:cs typeface="DM Sans Bold"/>
                <a:sym typeface="DM Sans Bold"/>
              </a:rPr>
              <a:t>Places to Start</a:t>
            </a:r>
          </a:p>
        </p:txBody>
      </p:sp>
      <p:sp>
        <p:nvSpPr>
          <p:cNvPr id="8" name="TextBox 8"/>
          <p:cNvSpPr txBox="1"/>
          <p:nvPr/>
        </p:nvSpPr>
        <p:spPr>
          <a:xfrm>
            <a:off x="1076985" y="2370836"/>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a:solidFill>
                  <a:srgbClr val="FFFFFF"/>
                </a:solidFill>
                <a:latin typeface="DM Sans"/>
                <a:ea typeface="DM Sans"/>
                <a:cs typeface="DM Sans"/>
                <a:sym typeface="DM Sans"/>
              </a:rPr>
              <a:t>Domain Root</a:t>
            </a:r>
          </a:p>
        </p:txBody>
      </p:sp>
      <p:sp>
        <p:nvSpPr>
          <p:cNvPr id="9" name="TextBox 9"/>
          <p:cNvSpPr txBox="1"/>
          <p:nvPr/>
        </p:nvSpPr>
        <p:spPr>
          <a:xfrm>
            <a:off x="1076985" y="2818257"/>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a:solidFill>
                  <a:srgbClr val="FFFFFF"/>
                </a:solidFill>
                <a:latin typeface="DM Sans"/>
                <a:ea typeface="DM Sans"/>
                <a:cs typeface="DM Sans"/>
                <a:sym typeface="DM Sans"/>
              </a:rPr>
              <a:t>Domain Controllers</a:t>
            </a:r>
          </a:p>
        </p:txBody>
      </p:sp>
      <p:sp>
        <p:nvSpPr>
          <p:cNvPr id="10" name="TextBox 10"/>
          <p:cNvSpPr txBox="1"/>
          <p:nvPr/>
        </p:nvSpPr>
        <p:spPr>
          <a:xfrm>
            <a:off x="1076985" y="3237103"/>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dirty="0">
                <a:solidFill>
                  <a:srgbClr val="FFFFFF"/>
                </a:solidFill>
                <a:latin typeface="DM Sans"/>
                <a:ea typeface="DM Sans"/>
                <a:cs typeface="DM Sans"/>
                <a:sym typeface="DM Sans"/>
              </a:rPr>
              <a:t>Privileged Users OUs</a:t>
            </a:r>
          </a:p>
        </p:txBody>
      </p:sp>
      <p:sp>
        <p:nvSpPr>
          <p:cNvPr id="11" name="TextBox 11"/>
          <p:cNvSpPr txBox="1"/>
          <p:nvPr/>
        </p:nvSpPr>
        <p:spPr>
          <a:xfrm>
            <a:off x="1076985" y="3655949"/>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a:solidFill>
                  <a:srgbClr val="FFFFFF"/>
                </a:solidFill>
                <a:latin typeface="DM Sans"/>
                <a:ea typeface="DM Sans"/>
                <a:cs typeface="DM Sans"/>
                <a:sym typeface="DM Sans"/>
              </a:rPr>
              <a:t>Service Accounts OUs</a:t>
            </a:r>
          </a:p>
        </p:txBody>
      </p:sp>
      <p:sp>
        <p:nvSpPr>
          <p:cNvPr id="12" name="TextBox 12"/>
          <p:cNvSpPr txBox="1"/>
          <p:nvPr/>
        </p:nvSpPr>
        <p:spPr>
          <a:xfrm>
            <a:off x="1076985" y="4074795"/>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dirty="0">
                <a:solidFill>
                  <a:srgbClr val="FFFFFF"/>
                </a:solidFill>
                <a:latin typeface="DM Sans"/>
                <a:ea typeface="DM Sans"/>
                <a:cs typeface="DM Sans"/>
                <a:sym typeface="DM Sans"/>
              </a:rPr>
              <a:t>Executive Users OUs</a:t>
            </a:r>
          </a:p>
        </p:txBody>
      </p:sp>
      <p:sp>
        <p:nvSpPr>
          <p:cNvPr id="13" name="TextBox 13"/>
          <p:cNvSpPr txBox="1"/>
          <p:nvPr/>
        </p:nvSpPr>
        <p:spPr>
          <a:xfrm>
            <a:off x="1076985" y="4493641"/>
            <a:ext cx="8067015" cy="649859"/>
          </a:xfrm>
          <a:prstGeom prst="rect">
            <a:avLst/>
          </a:prstGeom>
        </p:spPr>
        <p:txBody>
          <a:bodyPr lIns="0" tIns="0" rIns="0" bIns="0" rtlCol="0" anchor="t">
            <a:spAutoFit/>
          </a:bodyPr>
          <a:lstStyle/>
          <a:p>
            <a:pPr marL="604519" lvl="1" indent="-302260" algn="l">
              <a:lnSpc>
                <a:spcPts val="2911"/>
              </a:lnSpc>
              <a:buFont typeface="Arial"/>
              <a:buChar char="•"/>
            </a:pPr>
            <a:r>
              <a:rPr lang="en-US" sz="2799" dirty="0">
                <a:solidFill>
                  <a:srgbClr val="FFFFFF"/>
                </a:solidFill>
                <a:latin typeface="DM Sans"/>
                <a:ea typeface="DM Sans"/>
                <a:cs typeface="DM Sans"/>
                <a:sym typeface="DM Sans"/>
              </a:rPr>
              <a:t>AdminSDHolder</a:t>
            </a:r>
          </a:p>
          <a:p>
            <a:pPr algn="l">
              <a:lnSpc>
                <a:spcPts val="2184"/>
              </a:lnSpc>
            </a:pPr>
            <a:r>
              <a:rPr lang="en-US" sz="2100" dirty="0">
                <a:solidFill>
                  <a:srgbClr val="FFFFFF"/>
                </a:solidFill>
                <a:latin typeface="DM Sans"/>
                <a:ea typeface="DM Sans"/>
                <a:cs typeface="DM Sans"/>
                <a:sym typeface="DM Sans"/>
              </a:rPr>
              <a:t>        Domain Root \ System \ AdminSDHolder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1000" fill="hold"/>
                                        <p:tgtEl>
                                          <p:spTgt spid="12">
                                            <p:txEl>
                                              <p:pRg st="0" end="0"/>
                                            </p:txEl>
                                          </p:spTgt>
                                        </p:tgtEl>
                                        <p:attrNameLst>
                                          <p:attrName>style.color</p:attrName>
                                        </p:attrNameLst>
                                      </p:cBhvr>
                                      <p:to>
                                        <a:srgbClr val="F0E61E"/>
                                      </p:to>
                                    </p:animClr>
                                    <p:animClr clrSpc="rgb" dir="cw">
                                      <p:cBhvr>
                                        <p:cTn id="7" dur="1000" fill="hold"/>
                                        <p:tgtEl>
                                          <p:spTgt spid="12">
                                            <p:txEl>
                                              <p:pRg st="0" end="0"/>
                                            </p:txEl>
                                          </p:spTgt>
                                        </p:tgtEl>
                                        <p:attrNameLst>
                                          <p:attrName>fillcolor</p:attrName>
                                        </p:attrNameLst>
                                      </p:cBhvr>
                                      <p:to>
                                        <a:srgbClr val="F0E61E"/>
                                      </p:to>
                                    </p:animClr>
                                    <p:set>
                                      <p:cBhvr>
                                        <p:cTn id="8" dur="1000" fill="hold"/>
                                        <p:tgtEl>
                                          <p:spTgt spid="12">
                                            <p:txEl>
                                              <p:pRg st="0" end="0"/>
                                            </p:txEl>
                                          </p:spTgt>
                                        </p:tgtEl>
                                        <p:attrNameLst>
                                          <p:attrName>fill.type</p:attrName>
                                        </p:attrNameLst>
                                      </p:cBhvr>
                                      <p:to>
                                        <p:strVal val="solid"/>
                                      </p:to>
                                    </p:set>
                                    <p:set>
                                      <p:cBhvr>
                                        <p:cTn id="9" dur="1000" fill="hold"/>
                                        <p:tgtEl>
                                          <p:spTgt spid="12">
                                            <p:txEl>
                                              <p:pRg st="0" end="0"/>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a:extLst>
            <a:ext uri="{FF2B5EF4-FFF2-40B4-BE49-F238E27FC236}">
              <a16:creationId xmlns:a16="http://schemas.microsoft.com/office/drawing/2014/main" id="{2C5E27F7-0ECB-6C0A-5713-AF359FE03BE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8BBB629B-A62F-A130-602B-77E0F9F4DAC6}"/>
              </a:ext>
            </a:extLst>
          </p:cNvPr>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a:extLst>
              <a:ext uri="{FF2B5EF4-FFF2-40B4-BE49-F238E27FC236}">
                <a16:creationId xmlns:a16="http://schemas.microsoft.com/office/drawing/2014/main" id="{A799554E-694A-376F-772E-2C3E4553B3C2}"/>
              </a:ext>
            </a:extLst>
          </p:cNvPr>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a:extLst>
              <a:ext uri="{FF2B5EF4-FFF2-40B4-BE49-F238E27FC236}">
                <a16:creationId xmlns:a16="http://schemas.microsoft.com/office/drawing/2014/main" id="{1834F428-C5F6-5F51-417E-3FD766B99926}"/>
              </a:ext>
            </a:extLst>
          </p:cNvPr>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a:extLst>
              <a:ext uri="{FF2B5EF4-FFF2-40B4-BE49-F238E27FC236}">
                <a16:creationId xmlns:a16="http://schemas.microsoft.com/office/drawing/2014/main" id="{6C0DDFC7-494E-E26E-BDF0-3E947DD1E658}"/>
              </a:ext>
            </a:extLst>
          </p:cNvPr>
          <p:cNvSpPr txBox="1"/>
          <p:nvPr/>
        </p:nvSpPr>
        <p:spPr>
          <a:xfrm>
            <a:off x="1076985" y="490220"/>
            <a:ext cx="7068808"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AUDIT ACCESS AND ACLS</a:t>
            </a:r>
          </a:p>
        </p:txBody>
      </p:sp>
      <p:sp>
        <p:nvSpPr>
          <p:cNvPr id="6" name="TextBox 6">
            <a:extLst>
              <a:ext uri="{FF2B5EF4-FFF2-40B4-BE49-F238E27FC236}">
                <a16:creationId xmlns:a16="http://schemas.microsoft.com/office/drawing/2014/main" id="{50244B3D-88DC-C39A-4C39-3C484C2F4714}"/>
              </a:ext>
            </a:extLst>
          </p:cNvPr>
          <p:cNvSpPr txBox="1"/>
          <p:nvPr/>
        </p:nvSpPr>
        <p:spPr>
          <a:xfrm>
            <a:off x="1076985" y="1096065"/>
            <a:ext cx="9155086" cy="481330"/>
          </a:xfrm>
          <a:prstGeom prst="rect">
            <a:avLst/>
          </a:prstGeom>
        </p:spPr>
        <p:txBody>
          <a:bodyPr lIns="0" tIns="0" rIns="0" bIns="0" rtlCol="0" anchor="t">
            <a:spAutoFit/>
          </a:bodyPr>
          <a:lstStyle/>
          <a:p>
            <a:pPr algn="l">
              <a:lnSpc>
                <a:spcPts val="3919"/>
              </a:lnSpc>
              <a:spcBef>
                <a:spcPct val="0"/>
              </a:spcBef>
            </a:pPr>
            <a:r>
              <a:rPr lang="en-US" sz="2799">
                <a:solidFill>
                  <a:srgbClr val="FFFFFF"/>
                </a:solidFill>
                <a:latin typeface="DM Sans"/>
                <a:ea typeface="DM Sans"/>
                <a:cs typeface="DM Sans"/>
                <a:sym typeface="DM Sans"/>
              </a:rPr>
              <a:t>Most organizations have no idea how bad it is.</a:t>
            </a:r>
          </a:p>
        </p:txBody>
      </p:sp>
      <p:sp>
        <p:nvSpPr>
          <p:cNvPr id="7" name="TextBox 7">
            <a:extLst>
              <a:ext uri="{FF2B5EF4-FFF2-40B4-BE49-F238E27FC236}">
                <a16:creationId xmlns:a16="http://schemas.microsoft.com/office/drawing/2014/main" id="{C83238E3-1015-AD74-9775-324A0AA6E5BA}"/>
              </a:ext>
            </a:extLst>
          </p:cNvPr>
          <p:cNvSpPr txBox="1"/>
          <p:nvPr/>
        </p:nvSpPr>
        <p:spPr>
          <a:xfrm>
            <a:off x="1076985" y="1852041"/>
            <a:ext cx="7068808" cy="480695"/>
          </a:xfrm>
          <a:prstGeom prst="rect">
            <a:avLst/>
          </a:prstGeom>
        </p:spPr>
        <p:txBody>
          <a:bodyPr lIns="0" tIns="0" rIns="0" bIns="0" rtlCol="0" anchor="t">
            <a:spAutoFit/>
          </a:bodyPr>
          <a:lstStyle/>
          <a:p>
            <a:pPr marL="0" lvl="0" indent="0" algn="l">
              <a:lnSpc>
                <a:spcPts val="3640"/>
              </a:lnSpc>
            </a:pPr>
            <a:r>
              <a:rPr lang="en-US" sz="3500" b="1">
                <a:solidFill>
                  <a:srgbClr val="767676"/>
                </a:solidFill>
                <a:latin typeface="DM Sans Bold"/>
                <a:ea typeface="DM Sans Bold"/>
                <a:cs typeface="DM Sans Bold"/>
                <a:sym typeface="DM Sans Bold"/>
              </a:rPr>
              <a:t>Places to Start</a:t>
            </a:r>
          </a:p>
        </p:txBody>
      </p:sp>
      <p:sp>
        <p:nvSpPr>
          <p:cNvPr id="8" name="TextBox 8">
            <a:extLst>
              <a:ext uri="{FF2B5EF4-FFF2-40B4-BE49-F238E27FC236}">
                <a16:creationId xmlns:a16="http://schemas.microsoft.com/office/drawing/2014/main" id="{4AB170FA-742F-1DB1-CA62-9FA0C5BB3A40}"/>
              </a:ext>
            </a:extLst>
          </p:cNvPr>
          <p:cNvSpPr txBox="1"/>
          <p:nvPr/>
        </p:nvSpPr>
        <p:spPr>
          <a:xfrm>
            <a:off x="1076985" y="2370836"/>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a:solidFill>
                  <a:srgbClr val="767676"/>
                </a:solidFill>
                <a:latin typeface="DM Sans"/>
                <a:ea typeface="DM Sans"/>
                <a:cs typeface="DM Sans"/>
                <a:sym typeface="DM Sans"/>
              </a:rPr>
              <a:t>Domain Root</a:t>
            </a:r>
          </a:p>
        </p:txBody>
      </p:sp>
      <p:sp>
        <p:nvSpPr>
          <p:cNvPr id="9" name="TextBox 9">
            <a:extLst>
              <a:ext uri="{FF2B5EF4-FFF2-40B4-BE49-F238E27FC236}">
                <a16:creationId xmlns:a16="http://schemas.microsoft.com/office/drawing/2014/main" id="{CDD1C57C-B256-C75C-08BE-C86B57221796}"/>
              </a:ext>
            </a:extLst>
          </p:cNvPr>
          <p:cNvSpPr txBox="1"/>
          <p:nvPr/>
        </p:nvSpPr>
        <p:spPr>
          <a:xfrm>
            <a:off x="1076985" y="2818257"/>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a:solidFill>
                  <a:srgbClr val="767676"/>
                </a:solidFill>
                <a:latin typeface="DM Sans"/>
                <a:ea typeface="DM Sans"/>
                <a:cs typeface="DM Sans"/>
                <a:sym typeface="DM Sans"/>
              </a:rPr>
              <a:t>Domain Controllers</a:t>
            </a:r>
          </a:p>
        </p:txBody>
      </p:sp>
      <p:sp>
        <p:nvSpPr>
          <p:cNvPr id="10" name="TextBox 10">
            <a:extLst>
              <a:ext uri="{FF2B5EF4-FFF2-40B4-BE49-F238E27FC236}">
                <a16:creationId xmlns:a16="http://schemas.microsoft.com/office/drawing/2014/main" id="{F0D28A33-323E-C226-EEC0-AB5F7FFA91A8}"/>
              </a:ext>
            </a:extLst>
          </p:cNvPr>
          <p:cNvSpPr txBox="1"/>
          <p:nvPr/>
        </p:nvSpPr>
        <p:spPr>
          <a:xfrm>
            <a:off x="1076985" y="3237103"/>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a:solidFill>
                  <a:srgbClr val="767676"/>
                </a:solidFill>
                <a:latin typeface="DM Sans"/>
                <a:ea typeface="DM Sans"/>
                <a:cs typeface="DM Sans"/>
                <a:sym typeface="DM Sans"/>
              </a:rPr>
              <a:t>Privileged Users OUs</a:t>
            </a:r>
          </a:p>
        </p:txBody>
      </p:sp>
      <p:sp>
        <p:nvSpPr>
          <p:cNvPr id="11" name="TextBox 11">
            <a:extLst>
              <a:ext uri="{FF2B5EF4-FFF2-40B4-BE49-F238E27FC236}">
                <a16:creationId xmlns:a16="http://schemas.microsoft.com/office/drawing/2014/main" id="{6C0CB2AD-E550-1580-9870-3187F3C0C251}"/>
              </a:ext>
            </a:extLst>
          </p:cNvPr>
          <p:cNvSpPr txBox="1"/>
          <p:nvPr/>
        </p:nvSpPr>
        <p:spPr>
          <a:xfrm>
            <a:off x="1076985" y="3655949"/>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a:solidFill>
                  <a:srgbClr val="767676"/>
                </a:solidFill>
                <a:latin typeface="DM Sans"/>
                <a:ea typeface="DM Sans"/>
                <a:cs typeface="DM Sans"/>
                <a:sym typeface="DM Sans"/>
              </a:rPr>
              <a:t>Service Accounts OUs</a:t>
            </a:r>
          </a:p>
        </p:txBody>
      </p:sp>
      <p:sp>
        <p:nvSpPr>
          <p:cNvPr id="12" name="TextBox 12">
            <a:extLst>
              <a:ext uri="{FF2B5EF4-FFF2-40B4-BE49-F238E27FC236}">
                <a16:creationId xmlns:a16="http://schemas.microsoft.com/office/drawing/2014/main" id="{FD60C624-657C-2733-7CE6-627D1D45F716}"/>
              </a:ext>
            </a:extLst>
          </p:cNvPr>
          <p:cNvSpPr txBox="1"/>
          <p:nvPr/>
        </p:nvSpPr>
        <p:spPr>
          <a:xfrm>
            <a:off x="1076985" y="4074795"/>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dirty="0">
                <a:solidFill>
                  <a:srgbClr val="767676"/>
                </a:solidFill>
                <a:latin typeface="DM Sans"/>
                <a:ea typeface="DM Sans"/>
                <a:cs typeface="DM Sans"/>
                <a:sym typeface="DM Sans"/>
              </a:rPr>
              <a:t>Executive Users OUs</a:t>
            </a:r>
          </a:p>
        </p:txBody>
      </p:sp>
      <p:sp>
        <p:nvSpPr>
          <p:cNvPr id="13" name="TextBox 13">
            <a:extLst>
              <a:ext uri="{FF2B5EF4-FFF2-40B4-BE49-F238E27FC236}">
                <a16:creationId xmlns:a16="http://schemas.microsoft.com/office/drawing/2014/main" id="{50BF8FDF-EB7C-E072-4B85-7EE1355BA024}"/>
              </a:ext>
            </a:extLst>
          </p:cNvPr>
          <p:cNvSpPr txBox="1"/>
          <p:nvPr/>
        </p:nvSpPr>
        <p:spPr>
          <a:xfrm>
            <a:off x="1076985" y="4493641"/>
            <a:ext cx="8067015" cy="660437"/>
          </a:xfrm>
          <a:prstGeom prst="rect">
            <a:avLst/>
          </a:prstGeom>
        </p:spPr>
        <p:txBody>
          <a:bodyPr lIns="0" tIns="0" rIns="0" bIns="0" rtlCol="0" anchor="t">
            <a:spAutoFit/>
          </a:bodyPr>
          <a:lstStyle/>
          <a:p>
            <a:pPr marL="604519" lvl="1" indent="-302260" algn="l">
              <a:lnSpc>
                <a:spcPts val="2911"/>
              </a:lnSpc>
              <a:buFont typeface="Arial"/>
              <a:buChar char="•"/>
            </a:pPr>
            <a:r>
              <a:rPr lang="en-US" sz="2799" dirty="0">
                <a:solidFill>
                  <a:srgbClr val="767676"/>
                </a:solidFill>
                <a:latin typeface="DM Sans"/>
                <a:ea typeface="DM Sans"/>
                <a:cs typeface="DM Sans"/>
                <a:sym typeface="DM Sans"/>
              </a:rPr>
              <a:t>AdminSDHolder</a:t>
            </a:r>
          </a:p>
          <a:p>
            <a:pPr algn="l">
              <a:lnSpc>
                <a:spcPts val="2184"/>
              </a:lnSpc>
            </a:pPr>
            <a:r>
              <a:rPr lang="en-US" sz="2100" dirty="0">
                <a:solidFill>
                  <a:srgbClr val="767676"/>
                </a:solidFill>
                <a:latin typeface="DM Sans"/>
                <a:ea typeface="DM Sans"/>
                <a:cs typeface="DM Sans"/>
                <a:sym typeface="DM Sans"/>
              </a:rPr>
              <a:t>        Domain Root \ System \ AdminSDHolder</a:t>
            </a:r>
          </a:p>
        </p:txBody>
      </p:sp>
      <p:sp>
        <p:nvSpPr>
          <p:cNvPr id="14" name="TextBox 14">
            <a:extLst>
              <a:ext uri="{FF2B5EF4-FFF2-40B4-BE49-F238E27FC236}">
                <a16:creationId xmlns:a16="http://schemas.microsoft.com/office/drawing/2014/main" id="{DA19448E-9618-33FD-331D-F967C8A4D0AA}"/>
              </a:ext>
            </a:extLst>
          </p:cNvPr>
          <p:cNvSpPr txBox="1"/>
          <p:nvPr/>
        </p:nvSpPr>
        <p:spPr>
          <a:xfrm>
            <a:off x="1076985" y="6057900"/>
            <a:ext cx="7068808" cy="480695"/>
          </a:xfrm>
          <a:prstGeom prst="rect">
            <a:avLst/>
          </a:prstGeom>
        </p:spPr>
        <p:txBody>
          <a:bodyPr lIns="0" tIns="0" rIns="0" bIns="0" rtlCol="0" anchor="t">
            <a:spAutoFit/>
          </a:bodyPr>
          <a:lstStyle/>
          <a:p>
            <a:pPr marL="0" lvl="0" indent="0" algn="l">
              <a:lnSpc>
                <a:spcPts val="3640"/>
              </a:lnSpc>
            </a:pPr>
            <a:r>
              <a:rPr lang="en-US" sz="3500" b="1" dirty="0">
                <a:solidFill>
                  <a:srgbClr val="FFFFFF"/>
                </a:solidFill>
                <a:latin typeface="DM Sans Bold"/>
                <a:ea typeface="DM Sans Bold"/>
                <a:cs typeface="DM Sans Bold"/>
                <a:sym typeface="DM Sans Bold"/>
              </a:rPr>
              <a:t>Risky Permissions</a:t>
            </a:r>
          </a:p>
        </p:txBody>
      </p:sp>
      <p:sp>
        <p:nvSpPr>
          <p:cNvPr id="15" name="TextBox 15">
            <a:extLst>
              <a:ext uri="{FF2B5EF4-FFF2-40B4-BE49-F238E27FC236}">
                <a16:creationId xmlns:a16="http://schemas.microsoft.com/office/drawing/2014/main" id="{AB4C3399-73FB-40F3-BFD0-67159D50B825}"/>
              </a:ext>
            </a:extLst>
          </p:cNvPr>
          <p:cNvSpPr txBox="1"/>
          <p:nvPr/>
        </p:nvSpPr>
        <p:spPr>
          <a:xfrm>
            <a:off x="1076985" y="6576695"/>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a:solidFill>
                  <a:srgbClr val="FFFFFF"/>
                </a:solidFill>
                <a:latin typeface="DM Sans"/>
                <a:ea typeface="DM Sans"/>
                <a:cs typeface="DM Sans"/>
                <a:sym typeface="DM Sans"/>
              </a:rPr>
              <a:t>Full Control (Generic All)</a:t>
            </a:r>
          </a:p>
        </p:txBody>
      </p:sp>
      <p:sp>
        <p:nvSpPr>
          <p:cNvPr id="16" name="TextBox 16">
            <a:extLst>
              <a:ext uri="{FF2B5EF4-FFF2-40B4-BE49-F238E27FC236}">
                <a16:creationId xmlns:a16="http://schemas.microsoft.com/office/drawing/2014/main" id="{5F64A6EA-141B-4982-5D93-CE421C8568D8}"/>
              </a:ext>
            </a:extLst>
          </p:cNvPr>
          <p:cNvSpPr txBox="1"/>
          <p:nvPr/>
        </p:nvSpPr>
        <p:spPr>
          <a:xfrm>
            <a:off x="1076985" y="7062216"/>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a:solidFill>
                  <a:srgbClr val="FFFFFF"/>
                </a:solidFill>
                <a:latin typeface="DM Sans"/>
                <a:ea typeface="DM Sans"/>
                <a:cs typeface="DM Sans"/>
                <a:sym typeface="DM Sans"/>
              </a:rPr>
              <a:t>Control Access (CA)</a:t>
            </a:r>
          </a:p>
        </p:txBody>
      </p:sp>
      <p:sp>
        <p:nvSpPr>
          <p:cNvPr id="17" name="TextBox 17">
            <a:extLst>
              <a:ext uri="{FF2B5EF4-FFF2-40B4-BE49-F238E27FC236}">
                <a16:creationId xmlns:a16="http://schemas.microsoft.com/office/drawing/2014/main" id="{86162A23-B10A-35BF-7821-985D11A310F3}"/>
              </a:ext>
            </a:extLst>
          </p:cNvPr>
          <p:cNvSpPr txBox="1"/>
          <p:nvPr/>
        </p:nvSpPr>
        <p:spPr>
          <a:xfrm>
            <a:off x="1076985" y="7442962"/>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a:solidFill>
                  <a:srgbClr val="FFFFFF"/>
                </a:solidFill>
                <a:latin typeface="DM Sans"/>
                <a:ea typeface="DM Sans"/>
                <a:cs typeface="DM Sans"/>
                <a:sym typeface="DM Sans"/>
              </a:rPr>
              <a:t>Owner / Change Owner</a:t>
            </a:r>
          </a:p>
        </p:txBody>
      </p:sp>
      <p:sp>
        <p:nvSpPr>
          <p:cNvPr id="18" name="TextBox 18">
            <a:extLst>
              <a:ext uri="{FF2B5EF4-FFF2-40B4-BE49-F238E27FC236}">
                <a16:creationId xmlns:a16="http://schemas.microsoft.com/office/drawing/2014/main" id="{8B600412-AC97-8D53-0CEF-35CD09B126B9}"/>
              </a:ext>
            </a:extLst>
          </p:cNvPr>
          <p:cNvSpPr txBox="1"/>
          <p:nvPr/>
        </p:nvSpPr>
        <p:spPr>
          <a:xfrm>
            <a:off x="1076985" y="7861808"/>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a:solidFill>
                  <a:srgbClr val="FFFFFF"/>
                </a:solidFill>
                <a:latin typeface="DM Sans"/>
                <a:ea typeface="DM Sans"/>
                <a:cs typeface="DM Sans"/>
                <a:sym typeface="DM Sans"/>
              </a:rPr>
              <a:t>Reset Password</a:t>
            </a:r>
          </a:p>
        </p:txBody>
      </p:sp>
    </p:spTree>
    <p:extLst>
      <p:ext uri="{BB962C8B-B14F-4D97-AF65-F5344CB8AC3E}">
        <p14:creationId xmlns:p14="http://schemas.microsoft.com/office/powerpoint/2010/main" val="61955030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a:extLst>
            <a:ext uri="{FF2B5EF4-FFF2-40B4-BE49-F238E27FC236}">
              <a16:creationId xmlns:a16="http://schemas.microsoft.com/office/drawing/2014/main" id="{C5B9D44F-1BDC-726B-37B0-5193DE994B3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7347A29-358E-347F-34FE-2A4024814065}"/>
              </a:ext>
            </a:extLst>
          </p:cNvPr>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a:extLst>
              <a:ext uri="{FF2B5EF4-FFF2-40B4-BE49-F238E27FC236}">
                <a16:creationId xmlns:a16="http://schemas.microsoft.com/office/drawing/2014/main" id="{CE44C1B5-03FE-6F24-2B45-F6C81E4BBA7A}"/>
              </a:ext>
            </a:extLst>
          </p:cNvPr>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a:extLst>
              <a:ext uri="{FF2B5EF4-FFF2-40B4-BE49-F238E27FC236}">
                <a16:creationId xmlns:a16="http://schemas.microsoft.com/office/drawing/2014/main" id="{4B608405-D6CB-D987-8031-9FE4BE0254AE}"/>
              </a:ext>
            </a:extLst>
          </p:cNvPr>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a:extLst>
              <a:ext uri="{FF2B5EF4-FFF2-40B4-BE49-F238E27FC236}">
                <a16:creationId xmlns:a16="http://schemas.microsoft.com/office/drawing/2014/main" id="{5B45EA74-5C90-39D4-8D0B-B889A1AA112B}"/>
              </a:ext>
            </a:extLst>
          </p:cNvPr>
          <p:cNvSpPr txBox="1"/>
          <p:nvPr/>
        </p:nvSpPr>
        <p:spPr>
          <a:xfrm>
            <a:off x="1076985" y="490220"/>
            <a:ext cx="7068808"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AUDIT ACCESS AND ACLS</a:t>
            </a:r>
          </a:p>
        </p:txBody>
      </p:sp>
      <p:sp>
        <p:nvSpPr>
          <p:cNvPr id="6" name="TextBox 6">
            <a:extLst>
              <a:ext uri="{FF2B5EF4-FFF2-40B4-BE49-F238E27FC236}">
                <a16:creationId xmlns:a16="http://schemas.microsoft.com/office/drawing/2014/main" id="{4B6464A3-40B9-A963-2F30-3259EB6B598A}"/>
              </a:ext>
            </a:extLst>
          </p:cNvPr>
          <p:cNvSpPr txBox="1"/>
          <p:nvPr/>
        </p:nvSpPr>
        <p:spPr>
          <a:xfrm>
            <a:off x="1076985" y="1096065"/>
            <a:ext cx="9155086" cy="481330"/>
          </a:xfrm>
          <a:prstGeom prst="rect">
            <a:avLst/>
          </a:prstGeom>
        </p:spPr>
        <p:txBody>
          <a:bodyPr lIns="0" tIns="0" rIns="0" bIns="0" rtlCol="0" anchor="t">
            <a:spAutoFit/>
          </a:bodyPr>
          <a:lstStyle/>
          <a:p>
            <a:pPr algn="l">
              <a:lnSpc>
                <a:spcPts val="3919"/>
              </a:lnSpc>
              <a:spcBef>
                <a:spcPct val="0"/>
              </a:spcBef>
            </a:pPr>
            <a:r>
              <a:rPr lang="en-US" sz="2799">
                <a:solidFill>
                  <a:srgbClr val="FFFFFF"/>
                </a:solidFill>
                <a:latin typeface="DM Sans"/>
                <a:ea typeface="DM Sans"/>
                <a:cs typeface="DM Sans"/>
                <a:sym typeface="DM Sans"/>
              </a:rPr>
              <a:t>Most organizations have no idea how bad it is.</a:t>
            </a:r>
          </a:p>
        </p:txBody>
      </p:sp>
      <p:sp>
        <p:nvSpPr>
          <p:cNvPr id="7" name="TextBox 7">
            <a:extLst>
              <a:ext uri="{FF2B5EF4-FFF2-40B4-BE49-F238E27FC236}">
                <a16:creationId xmlns:a16="http://schemas.microsoft.com/office/drawing/2014/main" id="{4F6891E1-0D66-3251-29CD-A9A3236F9A58}"/>
              </a:ext>
            </a:extLst>
          </p:cNvPr>
          <p:cNvSpPr txBox="1"/>
          <p:nvPr/>
        </p:nvSpPr>
        <p:spPr>
          <a:xfrm>
            <a:off x="1076985" y="1852041"/>
            <a:ext cx="7068808" cy="480695"/>
          </a:xfrm>
          <a:prstGeom prst="rect">
            <a:avLst/>
          </a:prstGeom>
        </p:spPr>
        <p:txBody>
          <a:bodyPr lIns="0" tIns="0" rIns="0" bIns="0" rtlCol="0" anchor="t">
            <a:spAutoFit/>
          </a:bodyPr>
          <a:lstStyle/>
          <a:p>
            <a:pPr marL="0" lvl="0" indent="0" algn="l">
              <a:lnSpc>
                <a:spcPts val="3640"/>
              </a:lnSpc>
            </a:pPr>
            <a:r>
              <a:rPr lang="en-US" sz="3500" b="1">
                <a:solidFill>
                  <a:srgbClr val="767676"/>
                </a:solidFill>
                <a:latin typeface="DM Sans Bold"/>
                <a:ea typeface="DM Sans Bold"/>
                <a:cs typeface="DM Sans Bold"/>
                <a:sym typeface="DM Sans Bold"/>
              </a:rPr>
              <a:t>Places to Start</a:t>
            </a:r>
          </a:p>
        </p:txBody>
      </p:sp>
      <p:sp>
        <p:nvSpPr>
          <p:cNvPr id="8" name="TextBox 8">
            <a:extLst>
              <a:ext uri="{FF2B5EF4-FFF2-40B4-BE49-F238E27FC236}">
                <a16:creationId xmlns:a16="http://schemas.microsoft.com/office/drawing/2014/main" id="{71D3D2E1-0E3D-902A-458F-6242BCC5B7AA}"/>
              </a:ext>
            </a:extLst>
          </p:cNvPr>
          <p:cNvSpPr txBox="1"/>
          <p:nvPr/>
        </p:nvSpPr>
        <p:spPr>
          <a:xfrm>
            <a:off x="1076985" y="2370836"/>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a:solidFill>
                  <a:srgbClr val="767676"/>
                </a:solidFill>
                <a:latin typeface="DM Sans"/>
                <a:ea typeface="DM Sans"/>
                <a:cs typeface="DM Sans"/>
                <a:sym typeface="DM Sans"/>
              </a:rPr>
              <a:t>Domain Root</a:t>
            </a:r>
          </a:p>
        </p:txBody>
      </p:sp>
      <p:sp>
        <p:nvSpPr>
          <p:cNvPr id="9" name="TextBox 9">
            <a:extLst>
              <a:ext uri="{FF2B5EF4-FFF2-40B4-BE49-F238E27FC236}">
                <a16:creationId xmlns:a16="http://schemas.microsoft.com/office/drawing/2014/main" id="{0EFBC4AE-AB3D-30CF-05DA-C9C432C47854}"/>
              </a:ext>
            </a:extLst>
          </p:cNvPr>
          <p:cNvSpPr txBox="1"/>
          <p:nvPr/>
        </p:nvSpPr>
        <p:spPr>
          <a:xfrm>
            <a:off x="1076985" y="2818257"/>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a:solidFill>
                  <a:srgbClr val="767676"/>
                </a:solidFill>
                <a:latin typeface="DM Sans"/>
                <a:ea typeface="DM Sans"/>
                <a:cs typeface="DM Sans"/>
                <a:sym typeface="DM Sans"/>
              </a:rPr>
              <a:t>Domain Controllers</a:t>
            </a:r>
          </a:p>
        </p:txBody>
      </p:sp>
      <p:sp>
        <p:nvSpPr>
          <p:cNvPr id="10" name="TextBox 10">
            <a:extLst>
              <a:ext uri="{FF2B5EF4-FFF2-40B4-BE49-F238E27FC236}">
                <a16:creationId xmlns:a16="http://schemas.microsoft.com/office/drawing/2014/main" id="{12DF9854-EB8A-ED26-C578-F1AE3F4DD482}"/>
              </a:ext>
            </a:extLst>
          </p:cNvPr>
          <p:cNvSpPr txBox="1"/>
          <p:nvPr/>
        </p:nvSpPr>
        <p:spPr>
          <a:xfrm>
            <a:off x="1076985" y="3237103"/>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dirty="0">
                <a:solidFill>
                  <a:srgbClr val="767676"/>
                </a:solidFill>
                <a:latin typeface="DM Sans"/>
                <a:ea typeface="DM Sans"/>
                <a:cs typeface="DM Sans"/>
                <a:sym typeface="DM Sans"/>
              </a:rPr>
              <a:t>Privileged Users OUs</a:t>
            </a:r>
          </a:p>
        </p:txBody>
      </p:sp>
      <p:sp>
        <p:nvSpPr>
          <p:cNvPr id="11" name="TextBox 11">
            <a:extLst>
              <a:ext uri="{FF2B5EF4-FFF2-40B4-BE49-F238E27FC236}">
                <a16:creationId xmlns:a16="http://schemas.microsoft.com/office/drawing/2014/main" id="{586925FD-A86B-724F-D613-EDBDEA5A9E0A}"/>
              </a:ext>
            </a:extLst>
          </p:cNvPr>
          <p:cNvSpPr txBox="1"/>
          <p:nvPr/>
        </p:nvSpPr>
        <p:spPr>
          <a:xfrm>
            <a:off x="1076985" y="3655949"/>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a:solidFill>
                  <a:srgbClr val="767676"/>
                </a:solidFill>
                <a:latin typeface="DM Sans"/>
                <a:ea typeface="DM Sans"/>
                <a:cs typeface="DM Sans"/>
                <a:sym typeface="DM Sans"/>
              </a:rPr>
              <a:t>Service Accounts OUs</a:t>
            </a:r>
          </a:p>
        </p:txBody>
      </p:sp>
      <p:sp>
        <p:nvSpPr>
          <p:cNvPr id="12" name="TextBox 12">
            <a:extLst>
              <a:ext uri="{FF2B5EF4-FFF2-40B4-BE49-F238E27FC236}">
                <a16:creationId xmlns:a16="http://schemas.microsoft.com/office/drawing/2014/main" id="{85F990CF-8DA5-814E-4697-F37DC8200EF1}"/>
              </a:ext>
            </a:extLst>
          </p:cNvPr>
          <p:cNvSpPr txBox="1"/>
          <p:nvPr/>
        </p:nvSpPr>
        <p:spPr>
          <a:xfrm>
            <a:off x="1076985" y="4074795"/>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dirty="0">
                <a:solidFill>
                  <a:srgbClr val="767676"/>
                </a:solidFill>
                <a:latin typeface="DM Sans"/>
                <a:ea typeface="DM Sans"/>
                <a:cs typeface="DM Sans"/>
                <a:sym typeface="DM Sans"/>
              </a:rPr>
              <a:t>Executive Users OUs</a:t>
            </a:r>
          </a:p>
        </p:txBody>
      </p:sp>
      <p:sp>
        <p:nvSpPr>
          <p:cNvPr id="13" name="TextBox 13">
            <a:extLst>
              <a:ext uri="{FF2B5EF4-FFF2-40B4-BE49-F238E27FC236}">
                <a16:creationId xmlns:a16="http://schemas.microsoft.com/office/drawing/2014/main" id="{5989F24B-E1E9-2DBB-F2F6-94F17D5906BA}"/>
              </a:ext>
            </a:extLst>
          </p:cNvPr>
          <p:cNvSpPr txBox="1"/>
          <p:nvPr/>
        </p:nvSpPr>
        <p:spPr>
          <a:xfrm>
            <a:off x="1076985" y="4493641"/>
            <a:ext cx="6866865" cy="660437"/>
          </a:xfrm>
          <a:prstGeom prst="rect">
            <a:avLst/>
          </a:prstGeom>
        </p:spPr>
        <p:txBody>
          <a:bodyPr wrap="square" lIns="0" tIns="0" rIns="0" bIns="0" rtlCol="0" anchor="t">
            <a:spAutoFit/>
          </a:bodyPr>
          <a:lstStyle/>
          <a:p>
            <a:pPr marL="604519" lvl="1" indent="-302260" algn="l">
              <a:lnSpc>
                <a:spcPts val="2911"/>
              </a:lnSpc>
              <a:buFont typeface="Arial"/>
              <a:buChar char="•"/>
            </a:pPr>
            <a:r>
              <a:rPr lang="en-US" sz="2799" dirty="0">
                <a:solidFill>
                  <a:srgbClr val="767676"/>
                </a:solidFill>
                <a:latin typeface="DM Sans"/>
                <a:ea typeface="DM Sans"/>
                <a:cs typeface="DM Sans"/>
                <a:sym typeface="DM Sans"/>
              </a:rPr>
              <a:t>AdminSDHolder</a:t>
            </a:r>
          </a:p>
          <a:p>
            <a:pPr algn="l">
              <a:lnSpc>
                <a:spcPts val="2184"/>
              </a:lnSpc>
            </a:pPr>
            <a:r>
              <a:rPr lang="en-US" sz="2100" dirty="0">
                <a:solidFill>
                  <a:srgbClr val="767676"/>
                </a:solidFill>
                <a:latin typeface="DM Sans"/>
                <a:ea typeface="DM Sans"/>
                <a:cs typeface="DM Sans"/>
                <a:sym typeface="DM Sans"/>
              </a:rPr>
              <a:t>        Domain Root \ System \ AdminSDHolder</a:t>
            </a:r>
          </a:p>
        </p:txBody>
      </p:sp>
      <p:sp>
        <p:nvSpPr>
          <p:cNvPr id="14" name="TextBox 14">
            <a:extLst>
              <a:ext uri="{FF2B5EF4-FFF2-40B4-BE49-F238E27FC236}">
                <a16:creationId xmlns:a16="http://schemas.microsoft.com/office/drawing/2014/main" id="{8AB34379-DB88-BD37-423B-36F73725C98E}"/>
              </a:ext>
            </a:extLst>
          </p:cNvPr>
          <p:cNvSpPr txBox="1"/>
          <p:nvPr/>
        </p:nvSpPr>
        <p:spPr>
          <a:xfrm>
            <a:off x="1076985" y="6057900"/>
            <a:ext cx="7068808" cy="480695"/>
          </a:xfrm>
          <a:prstGeom prst="rect">
            <a:avLst/>
          </a:prstGeom>
        </p:spPr>
        <p:txBody>
          <a:bodyPr lIns="0" tIns="0" rIns="0" bIns="0" rtlCol="0" anchor="t">
            <a:spAutoFit/>
          </a:bodyPr>
          <a:lstStyle/>
          <a:p>
            <a:pPr marL="0" lvl="0" indent="0" algn="l">
              <a:lnSpc>
                <a:spcPts val="3640"/>
              </a:lnSpc>
            </a:pPr>
            <a:r>
              <a:rPr lang="en-US" sz="3500" b="1">
                <a:solidFill>
                  <a:srgbClr val="767676"/>
                </a:solidFill>
                <a:latin typeface="DM Sans Bold"/>
                <a:ea typeface="DM Sans Bold"/>
                <a:cs typeface="DM Sans Bold"/>
                <a:sym typeface="DM Sans Bold"/>
              </a:rPr>
              <a:t>Risky Permissions</a:t>
            </a:r>
          </a:p>
        </p:txBody>
      </p:sp>
      <p:sp>
        <p:nvSpPr>
          <p:cNvPr id="15" name="TextBox 15">
            <a:extLst>
              <a:ext uri="{FF2B5EF4-FFF2-40B4-BE49-F238E27FC236}">
                <a16:creationId xmlns:a16="http://schemas.microsoft.com/office/drawing/2014/main" id="{12B29360-FF5F-CC67-F924-42196BBBF035}"/>
              </a:ext>
            </a:extLst>
          </p:cNvPr>
          <p:cNvSpPr txBox="1"/>
          <p:nvPr/>
        </p:nvSpPr>
        <p:spPr>
          <a:xfrm>
            <a:off x="1076985" y="6576695"/>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dirty="0">
                <a:solidFill>
                  <a:srgbClr val="767676"/>
                </a:solidFill>
                <a:latin typeface="DM Sans"/>
                <a:ea typeface="DM Sans"/>
                <a:cs typeface="DM Sans"/>
                <a:sym typeface="DM Sans"/>
              </a:rPr>
              <a:t>Full Control (Generic All)</a:t>
            </a:r>
          </a:p>
        </p:txBody>
      </p:sp>
      <p:sp>
        <p:nvSpPr>
          <p:cNvPr id="16" name="TextBox 16">
            <a:extLst>
              <a:ext uri="{FF2B5EF4-FFF2-40B4-BE49-F238E27FC236}">
                <a16:creationId xmlns:a16="http://schemas.microsoft.com/office/drawing/2014/main" id="{215A3882-4188-BB59-4515-FBDCF21E207C}"/>
              </a:ext>
            </a:extLst>
          </p:cNvPr>
          <p:cNvSpPr txBox="1"/>
          <p:nvPr/>
        </p:nvSpPr>
        <p:spPr>
          <a:xfrm>
            <a:off x="1076985" y="7062216"/>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a:solidFill>
                  <a:srgbClr val="767676"/>
                </a:solidFill>
                <a:latin typeface="DM Sans"/>
                <a:ea typeface="DM Sans"/>
                <a:cs typeface="DM Sans"/>
                <a:sym typeface="DM Sans"/>
              </a:rPr>
              <a:t>Control Access (CA)</a:t>
            </a:r>
          </a:p>
        </p:txBody>
      </p:sp>
      <p:sp>
        <p:nvSpPr>
          <p:cNvPr id="17" name="TextBox 17">
            <a:extLst>
              <a:ext uri="{FF2B5EF4-FFF2-40B4-BE49-F238E27FC236}">
                <a16:creationId xmlns:a16="http://schemas.microsoft.com/office/drawing/2014/main" id="{279B2517-9CBD-68C4-D27D-B398605C3117}"/>
              </a:ext>
            </a:extLst>
          </p:cNvPr>
          <p:cNvSpPr txBox="1"/>
          <p:nvPr/>
        </p:nvSpPr>
        <p:spPr>
          <a:xfrm>
            <a:off x="1076985" y="7442962"/>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a:solidFill>
                  <a:srgbClr val="767676"/>
                </a:solidFill>
                <a:latin typeface="DM Sans"/>
                <a:ea typeface="DM Sans"/>
                <a:cs typeface="DM Sans"/>
                <a:sym typeface="DM Sans"/>
              </a:rPr>
              <a:t>Owner / Change Owner</a:t>
            </a:r>
          </a:p>
        </p:txBody>
      </p:sp>
      <p:sp>
        <p:nvSpPr>
          <p:cNvPr id="18" name="TextBox 18">
            <a:extLst>
              <a:ext uri="{FF2B5EF4-FFF2-40B4-BE49-F238E27FC236}">
                <a16:creationId xmlns:a16="http://schemas.microsoft.com/office/drawing/2014/main" id="{AE701E35-7246-FC9E-1710-BE99BB17D43D}"/>
              </a:ext>
            </a:extLst>
          </p:cNvPr>
          <p:cNvSpPr txBox="1"/>
          <p:nvPr/>
        </p:nvSpPr>
        <p:spPr>
          <a:xfrm>
            <a:off x="1076985" y="7861808"/>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a:solidFill>
                  <a:srgbClr val="767676"/>
                </a:solidFill>
                <a:latin typeface="DM Sans"/>
                <a:ea typeface="DM Sans"/>
                <a:cs typeface="DM Sans"/>
                <a:sym typeface="DM Sans"/>
              </a:rPr>
              <a:t>Reset Password</a:t>
            </a:r>
          </a:p>
        </p:txBody>
      </p:sp>
      <p:sp>
        <p:nvSpPr>
          <p:cNvPr id="19" name="TextBox 19">
            <a:extLst>
              <a:ext uri="{FF2B5EF4-FFF2-40B4-BE49-F238E27FC236}">
                <a16:creationId xmlns:a16="http://schemas.microsoft.com/office/drawing/2014/main" id="{45D259B8-0E27-B369-8143-3691248645E7}"/>
              </a:ext>
            </a:extLst>
          </p:cNvPr>
          <p:cNvSpPr txBox="1"/>
          <p:nvPr/>
        </p:nvSpPr>
        <p:spPr>
          <a:xfrm>
            <a:off x="9422344" y="1852041"/>
            <a:ext cx="7068808" cy="480695"/>
          </a:xfrm>
          <a:prstGeom prst="rect">
            <a:avLst/>
          </a:prstGeom>
        </p:spPr>
        <p:txBody>
          <a:bodyPr lIns="0" tIns="0" rIns="0" bIns="0" rtlCol="0" anchor="t">
            <a:spAutoFit/>
          </a:bodyPr>
          <a:lstStyle/>
          <a:p>
            <a:pPr marL="0" lvl="0" indent="0" algn="l">
              <a:lnSpc>
                <a:spcPts val="3640"/>
              </a:lnSpc>
            </a:pPr>
            <a:r>
              <a:rPr lang="en-US" sz="3500" b="1">
                <a:solidFill>
                  <a:srgbClr val="FFFFFF"/>
                </a:solidFill>
                <a:latin typeface="DM Sans Bold"/>
                <a:ea typeface="DM Sans Bold"/>
                <a:cs typeface="DM Sans Bold"/>
                <a:sym typeface="DM Sans Bold"/>
              </a:rPr>
              <a:t>Accounts with Too Much</a:t>
            </a:r>
          </a:p>
        </p:txBody>
      </p:sp>
      <p:sp>
        <p:nvSpPr>
          <p:cNvPr id="20" name="TextBox 20">
            <a:extLst>
              <a:ext uri="{FF2B5EF4-FFF2-40B4-BE49-F238E27FC236}">
                <a16:creationId xmlns:a16="http://schemas.microsoft.com/office/drawing/2014/main" id="{4080049A-605A-098A-3038-835666C32F72}"/>
              </a:ext>
            </a:extLst>
          </p:cNvPr>
          <p:cNvSpPr txBox="1"/>
          <p:nvPr/>
        </p:nvSpPr>
        <p:spPr>
          <a:xfrm>
            <a:off x="9422344" y="2370836"/>
            <a:ext cx="7068808" cy="2209546"/>
          </a:xfrm>
          <a:prstGeom prst="rect">
            <a:avLst/>
          </a:prstGeom>
        </p:spPr>
        <p:txBody>
          <a:bodyPr lIns="0" tIns="0" rIns="0" bIns="0" rtlCol="0" anchor="t">
            <a:spAutoFit/>
          </a:bodyPr>
          <a:lstStyle/>
          <a:p>
            <a:pPr marL="604519" lvl="1" indent="-302260" algn="l">
              <a:lnSpc>
                <a:spcPts val="2911"/>
              </a:lnSpc>
              <a:buFont typeface="Arial"/>
              <a:buChar char="•"/>
            </a:pPr>
            <a:r>
              <a:rPr lang="en-US" sz="2799" dirty="0">
                <a:solidFill>
                  <a:srgbClr val="FFFFFF"/>
                </a:solidFill>
                <a:latin typeface="DM Sans"/>
                <a:ea typeface="DM Sans"/>
                <a:cs typeface="DM Sans"/>
                <a:sym typeface="DM Sans"/>
              </a:rPr>
              <a:t>Domain Users</a:t>
            </a:r>
          </a:p>
          <a:p>
            <a:pPr marL="604519" lvl="1" indent="-302260" algn="l">
              <a:lnSpc>
                <a:spcPts val="2911"/>
              </a:lnSpc>
              <a:buFont typeface="Arial"/>
              <a:buChar char="•"/>
            </a:pPr>
            <a:r>
              <a:rPr lang="en-US" sz="2799" dirty="0">
                <a:solidFill>
                  <a:srgbClr val="FFFFFF"/>
                </a:solidFill>
                <a:latin typeface="DM Sans"/>
                <a:ea typeface="DM Sans"/>
                <a:cs typeface="DM Sans"/>
                <a:sym typeface="DM Sans"/>
              </a:rPr>
              <a:t>Authenticated Users</a:t>
            </a:r>
          </a:p>
          <a:p>
            <a:pPr marL="604519" lvl="1" indent="-302260" algn="l">
              <a:lnSpc>
                <a:spcPts val="2911"/>
              </a:lnSpc>
              <a:buFont typeface="Arial"/>
              <a:buChar char="•"/>
            </a:pPr>
            <a:r>
              <a:rPr lang="en-US" sz="2799" dirty="0">
                <a:solidFill>
                  <a:srgbClr val="FFFFFF"/>
                </a:solidFill>
                <a:latin typeface="DM Sans"/>
                <a:ea typeface="DM Sans"/>
                <a:cs typeface="DM Sans"/>
                <a:sym typeface="DM Sans"/>
              </a:rPr>
              <a:t>Anonymous Users</a:t>
            </a:r>
          </a:p>
          <a:p>
            <a:pPr marL="604519" lvl="1" indent="-302260" algn="l">
              <a:lnSpc>
                <a:spcPts val="2911"/>
              </a:lnSpc>
              <a:buFont typeface="Arial"/>
              <a:buChar char="•"/>
            </a:pPr>
            <a:r>
              <a:rPr lang="en-US" sz="2799" dirty="0">
                <a:solidFill>
                  <a:srgbClr val="FFFFFF"/>
                </a:solidFill>
                <a:latin typeface="DM Sans"/>
                <a:ea typeface="DM Sans"/>
                <a:cs typeface="DM Sans"/>
                <a:sym typeface="DM Sans"/>
              </a:rPr>
              <a:t>Everyone</a:t>
            </a:r>
          </a:p>
          <a:p>
            <a:pPr marL="604519" lvl="1" indent="-302260" algn="l">
              <a:lnSpc>
                <a:spcPts val="2911"/>
              </a:lnSpc>
              <a:buFont typeface="Arial"/>
              <a:buChar char="•"/>
            </a:pPr>
            <a:r>
              <a:rPr lang="en-US" sz="2799" dirty="0">
                <a:solidFill>
                  <a:srgbClr val="FFFFFF"/>
                </a:solidFill>
                <a:latin typeface="DM Sans"/>
                <a:ea typeface="DM Sans"/>
                <a:cs typeface="DM Sans"/>
                <a:sym typeface="DM Sans"/>
              </a:rPr>
              <a:t>Domain Computers</a:t>
            </a:r>
          </a:p>
          <a:p>
            <a:pPr marL="604519" lvl="1" indent="-302260" algn="l">
              <a:lnSpc>
                <a:spcPts val="2911"/>
              </a:lnSpc>
              <a:buFont typeface="Arial"/>
              <a:buChar char="•"/>
            </a:pPr>
            <a:r>
              <a:rPr lang="en-US" sz="2799" dirty="0">
                <a:solidFill>
                  <a:srgbClr val="FFFFFF"/>
                </a:solidFill>
                <a:latin typeface="DM Sans"/>
                <a:ea typeface="DM Sans"/>
                <a:cs typeface="DM Sans"/>
                <a:sym typeface="DM Sans"/>
              </a:rPr>
              <a:t>Pre-Windows 2000 Group</a:t>
            </a:r>
          </a:p>
        </p:txBody>
      </p:sp>
    </p:spTree>
    <p:extLst>
      <p:ext uri="{BB962C8B-B14F-4D97-AF65-F5344CB8AC3E}">
        <p14:creationId xmlns:p14="http://schemas.microsoft.com/office/powerpoint/2010/main" val="3920836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1000" fill="hold"/>
                                        <p:tgtEl>
                                          <p:spTgt spid="20">
                                            <p:txEl>
                                              <p:pRg st="3" end="3"/>
                                            </p:txEl>
                                          </p:spTgt>
                                        </p:tgtEl>
                                        <p:attrNameLst>
                                          <p:attrName>style.color</p:attrName>
                                        </p:attrNameLst>
                                      </p:cBhvr>
                                      <p:to>
                                        <a:srgbClr val="F0E61E"/>
                                      </p:to>
                                    </p:animClr>
                                  </p:childTnLst>
                                </p:cTn>
                              </p:par>
                              <p:par>
                                <p:cTn id="7" presetID="19" presetClass="emph" presetSubtype="0" fill="hold" nodeType="withEffect">
                                  <p:stCondLst>
                                    <p:cond delay="0"/>
                                  </p:stCondLst>
                                  <p:childTnLst>
                                    <p:animClr clrSpc="rgb" dir="cw">
                                      <p:cBhvr override="childStyle">
                                        <p:cTn id="8" dur="1000" fill="hold"/>
                                        <p:tgtEl>
                                          <p:spTgt spid="20">
                                            <p:txEl>
                                              <p:pRg st="5" end="5"/>
                                            </p:txEl>
                                          </p:spTgt>
                                        </p:tgtEl>
                                        <p:attrNameLst>
                                          <p:attrName>style.color</p:attrName>
                                        </p:attrNameLst>
                                      </p:cBhvr>
                                      <p:to>
                                        <a:srgbClr val="F0E61E"/>
                                      </p:to>
                                    </p:animClr>
                                    <p:animClr clrSpc="rgb" dir="cw">
                                      <p:cBhvr>
                                        <p:cTn id="9" dur="1000" fill="hold"/>
                                        <p:tgtEl>
                                          <p:spTgt spid="20">
                                            <p:txEl>
                                              <p:pRg st="5" end="5"/>
                                            </p:txEl>
                                          </p:spTgt>
                                        </p:tgtEl>
                                        <p:attrNameLst>
                                          <p:attrName>fillcolor</p:attrName>
                                        </p:attrNameLst>
                                      </p:cBhvr>
                                      <p:to>
                                        <a:srgbClr val="F0E61E"/>
                                      </p:to>
                                    </p:animClr>
                                    <p:set>
                                      <p:cBhvr>
                                        <p:cTn id="10" dur="1000" fill="hold"/>
                                        <p:tgtEl>
                                          <p:spTgt spid="20">
                                            <p:txEl>
                                              <p:pRg st="5" end="5"/>
                                            </p:txEl>
                                          </p:spTgt>
                                        </p:tgtEl>
                                        <p:attrNameLst>
                                          <p:attrName>fill.type</p:attrName>
                                        </p:attrNameLst>
                                      </p:cBhvr>
                                      <p:to>
                                        <p:strVal val="solid"/>
                                      </p:to>
                                    </p:set>
                                    <p:set>
                                      <p:cBhvr>
                                        <p:cTn id="11" dur="1000" fill="hold"/>
                                        <p:tgtEl>
                                          <p:spTgt spid="20">
                                            <p:txEl>
                                              <p:pRg st="5" end="5"/>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10698977" y="1028700"/>
            <a:ext cx="6536987" cy="3461635"/>
          </a:xfrm>
          <a:custGeom>
            <a:avLst/>
            <a:gdLst/>
            <a:ahLst/>
            <a:cxnLst/>
            <a:rect l="l" t="t" r="r" b="b"/>
            <a:pathLst>
              <a:path w="6536987" h="3461635">
                <a:moveTo>
                  <a:pt x="0" y="0"/>
                </a:moveTo>
                <a:lnTo>
                  <a:pt x="6536986" y="0"/>
                </a:lnTo>
                <a:lnTo>
                  <a:pt x="6536986" y="3461635"/>
                </a:lnTo>
                <a:lnTo>
                  <a:pt x="0" y="3461635"/>
                </a:lnTo>
                <a:lnTo>
                  <a:pt x="0" y="0"/>
                </a:lnTo>
                <a:close/>
              </a:path>
            </a:pathLst>
          </a:custGeom>
          <a:blipFill>
            <a:blip r:embed="rId3"/>
            <a:stretch>
              <a:fillRect l="-1644" r="-30318"/>
            </a:stretch>
          </a:blipFill>
          <a:ln w="38100" cap="sq">
            <a:solidFill>
              <a:srgbClr val="2F7BD1"/>
            </a:solidFill>
            <a:prstDash val="solid"/>
            <a:miter/>
          </a:ln>
        </p:spPr>
        <p:txBody>
          <a:bodyPr/>
          <a:lstStyle/>
          <a:p>
            <a:endParaRPr lang="en-US"/>
          </a:p>
        </p:txBody>
      </p:sp>
      <p:sp>
        <p:nvSpPr>
          <p:cNvPr id="4" name="Freeform 4"/>
          <p:cNvSpPr/>
          <p:nvPr/>
        </p:nvSpPr>
        <p:spPr>
          <a:xfrm>
            <a:off x="9425143" y="5322013"/>
            <a:ext cx="7834157" cy="3479287"/>
          </a:xfrm>
          <a:custGeom>
            <a:avLst/>
            <a:gdLst/>
            <a:ahLst/>
            <a:cxnLst/>
            <a:rect l="l" t="t" r="r" b="b"/>
            <a:pathLst>
              <a:path w="7834157" h="3479287">
                <a:moveTo>
                  <a:pt x="0" y="0"/>
                </a:moveTo>
                <a:lnTo>
                  <a:pt x="7834157" y="0"/>
                </a:lnTo>
                <a:lnTo>
                  <a:pt x="7834157" y="3479287"/>
                </a:lnTo>
                <a:lnTo>
                  <a:pt x="0" y="3479287"/>
                </a:lnTo>
                <a:lnTo>
                  <a:pt x="0" y="0"/>
                </a:lnTo>
                <a:close/>
              </a:path>
            </a:pathLst>
          </a:custGeom>
          <a:blipFill>
            <a:blip r:embed="rId4"/>
            <a:stretch>
              <a:fillRect/>
            </a:stretch>
          </a:blipFill>
          <a:ln w="38100" cap="sq">
            <a:solidFill>
              <a:srgbClr val="2F7BD1"/>
            </a:solidFill>
            <a:prstDash val="solid"/>
            <a:miter/>
          </a:ln>
        </p:spPr>
        <p:txBody>
          <a:bodyPr/>
          <a:lstStyle/>
          <a:p>
            <a:endParaRPr lang="en-US"/>
          </a:p>
        </p:txBody>
      </p:sp>
      <p:sp>
        <p:nvSpPr>
          <p:cNvPr id="5" name="TextBox 5"/>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6" name="TextBox 6"/>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7" name="TextBox 7"/>
          <p:cNvSpPr txBox="1"/>
          <p:nvPr/>
        </p:nvSpPr>
        <p:spPr>
          <a:xfrm>
            <a:off x="1076985" y="490220"/>
            <a:ext cx="7068808"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AUDIT ACCESS AND ACLS</a:t>
            </a:r>
          </a:p>
        </p:txBody>
      </p:sp>
      <p:sp>
        <p:nvSpPr>
          <p:cNvPr id="8" name="TextBox 8"/>
          <p:cNvSpPr txBox="1"/>
          <p:nvPr/>
        </p:nvSpPr>
        <p:spPr>
          <a:xfrm>
            <a:off x="1382796" y="1441343"/>
            <a:ext cx="4630758" cy="480695"/>
          </a:xfrm>
          <a:prstGeom prst="rect">
            <a:avLst/>
          </a:prstGeom>
        </p:spPr>
        <p:txBody>
          <a:bodyPr lIns="0" tIns="0" rIns="0" bIns="0" rtlCol="0" anchor="t">
            <a:spAutoFit/>
          </a:bodyPr>
          <a:lstStyle/>
          <a:p>
            <a:pPr marL="0" lvl="0" indent="0" algn="l">
              <a:lnSpc>
                <a:spcPts val="3640"/>
              </a:lnSpc>
            </a:pPr>
            <a:r>
              <a:rPr lang="en-US" sz="3500" b="1">
                <a:solidFill>
                  <a:srgbClr val="FFFFFF"/>
                </a:solidFill>
                <a:latin typeface="DM Sans Bold"/>
                <a:ea typeface="DM Sans Bold"/>
                <a:cs typeface="DM Sans Bold"/>
                <a:sym typeface="DM Sans Bold"/>
              </a:rPr>
              <a:t>Helpful Tools</a:t>
            </a:r>
          </a:p>
        </p:txBody>
      </p:sp>
      <p:sp>
        <p:nvSpPr>
          <p:cNvPr id="9" name="TextBox 9"/>
          <p:cNvSpPr txBox="1"/>
          <p:nvPr/>
        </p:nvSpPr>
        <p:spPr>
          <a:xfrm>
            <a:off x="1382796" y="1960138"/>
            <a:ext cx="5089381" cy="380746"/>
          </a:xfrm>
          <a:prstGeom prst="rect">
            <a:avLst/>
          </a:prstGeom>
        </p:spPr>
        <p:txBody>
          <a:bodyPr lIns="0" tIns="0" rIns="0" bIns="0" rtlCol="0" anchor="t">
            <a:spAutoFit/>
          </a:bodyPr>
          <a:lstStyle/>
          <a:p>
            <a:pPr marL="0" lvl="0" indent="0" algn="l">
              <a:lnSpc>
                <a:spcPts val="2912"/>
              </a:lnSpc>
            </a:pPr>
            <a:r>
              <a:rPr lang="en-US" sz="2800" b="1">
                <a:solidFill>
                  <a:srgbClr val="FF3131"/>
                </a:solidFill>
                <a:latin typeface="DM Sans Bold"/>
                <a:ea typeface="DM Sans Bold"/>
                <a:cs typeface="DM Sans Bold"/>
                <a:sym typeface="DM Sans Bold"/>
              </a:rPr>
              <a:t>THESE MAY TRIP EDR/AV</a:t>
            </a:r>
          </a:p>
        </p:txBody>
      </p:sp>
      <p:sp>
        <p:nvSpPr>
          <p:cNvPr id="10" name="TextBox 10"/>
          <p:cNvSpPr txBox="1"/>
          <p:nvPr/>
        </p:nvSpPr>
        <p:spPr>
          <a:xfrm>
            <a:off x="1076984" y="2331360"/>
            <a:ext cx="5704815" cy="506485"/>
          </a:xfrm>
          <a:prstGeom prst="rect">
            <a:avLst/>
          </a:prstGeom>
        </p:spPr>
        <p:txBody>
          <a:bodyPr wrap="square" lIns="0" tIns="0" rIns="0" bIns="0" rtlCol="0" anchor="t">
            <a:spAutoFit/>
          </a:bodyPr>
          <a:lstStyle/>
          <a:p>
            <a:pPr marL="604518" lvl="1" indent="-302259" algn="l">
              <a:lnSpc>
                <a:spcPts val="4199"/>
              </a:lnSpc>
              <a:buFont typeface="Arial"/>
              <a:buChar char="•"/>
            </a:pPr>
            <a:r>
              <a:rPr lang="en-US" sz="2799" err="1">
                <a:solidFill>
                  <a:srgbClr val="FFFFFF"/>
                </a:solidFill>
                <a:latin typeface="DM Sans"/>
                <a:ea typeface="DM Sans"/>
                <a:cs typeface="DM Sans"/>
                <a:sym typeface="DM Sans"/>
              </a:rPr>
              <a:t>ADDeleginator</a:t>
            </a:r>
            <a:r>
              <a:rPr lang="en-US" sz="2799">
                <a:solidFill>
                  <a:srgbClr val="FFFFFF"/>
                </a:solidFill>
                <a:latin typeface="DM Sans"/>
                <a:ea typeface="DM Sans"/>
                <a:cs typeface="DM Sans"/>
                <a:sym typeface="DM Sans"/>
              </a:rPr>
              <a:t> + </a:t>
            </a:r>
            <a:r>
              <a:rPr lang="en-US" sz="2799" err="1">
                <a:solidFill>
                  <a:srgbClr val="FFFFFF"/>
                </a:solidFill>
                <a:latin typeface="DM Sans"/>
                <a:ea typeface="DM Sans"/>
                <a:cs typeface="DM Sans"/>
                <a:sym typeface="DM Sans"/>
              </a:rPr>
              <a:t>ADDeleg</a:t>
            </a:r>
            <a:endParaRPr lang="en-US" sz="2799">
              <a:solidFill>
                <a:srgbClr val="FFFFFF"/>
              </a:solidFill>
              <a:latin typeface="DM Sans"/>
              <a:ea typeface="DM Sans"/>
              <a:cs typeface="DM Sans"/>
              <a:sym typeface="DM Sans"/>
            </a:endParaRPr>
          </a:p>
        </p:txBody>
      </p:sp>
      <p:sp>
        <p:nvSpPr>
          <p:cNvPr id="11" name="TextBox 11"/>
          <p:cNvSpPr txBox="1"/>
          <p:nvPr/>
        </p:nvSpPr>
        <p:spPr>
          <a:xfrm>
            <a:off x="1076985" y="4278630"/>
            <a:ext cx="4936569" cy="506485"/>
          </a:xfrm>
          <a:prstGeom prst="rect">
            <a:avLst/>
          </a:prstGeom>
        </p:spPr>
        <p:txBody>
          <a:bodyPr wrap="square" lIns="0" tIns="0" rIns="0" bIns="0" rtlCol="0" anchor="t">
            <a:spAutoFit/>
          </a:bodyPr>
          <a:lstStyle/>
          <a:p>
            <a:pPr marL="604518" lvl="1" indent="-302259" algn="l">
              <a:lnSpc>
                <a:spcPts val="4199"/>
              </a:lnSpc>
              <a:buFont typeface="Arial"/>
              <a:buChar char="•"/>
            </a:pPr>
            <a:r>
              <a:rPr lang="en-US" sz="2799">
                <a:solidFill>
                  <a:srgbClr val="FFFFFF"/>
                </a:solidFill>
                <a:latin typeface="DM Sans"/>
                <a:ea typeface="DM Sans"/>
                <a:cs typeface="DM Sans"/>
                <a:sym typeface="DM Sans"/>
              </a:rPr>
              <a:t>AD ACL Scanner</a:t>
            </a:r>
          </a:p>
        </p:txBody>
      </p:sp>
      <p:sp>
        <p:nvSpPr>
          <p:cNvPr id="12" name="TextBox 12"/>
          <p:cNvSpPr txBox="1"/>
          <p:nvPr/>
        </p:nvSpPr>
        <p:spPr>
          <a:xfrm>
            <a:off x="1349268" y="2837845"/>
            <a:ext cx="6094156" cy="361830"/>
          </a:xfrm>
          <a:prstGeom prst="rect">
            <a:avLst/>
          </a:prstGeom>
        </p:spPr>
        <p:txBody>
          <a:bodyPr wrap="square" lIns="0" tIns="0" rIns="0" bIns="0" rtlCol="0" anchor="t">
            <a:spAutoFit/>
          </a:bodyPr>
          <a:lstStyle/>
          <a:p>
            <a:pPr algn="ctr">
              <a:lnSpc>
                <a:spcPts val="3000"/>
              </a:lnSpc>
              <a:spcBef>
                <a:spcPct val="0"/>
              </a:spcBef>
            </a:pPr>
            <a:r>
              <a:rPr lang="en-US" sz="2000">
                <a:solidFill>
                  <a:srgbClr val="737373"/>
                </a:solidFill>
                <a:latin typeface="DM Sans"/>
                <a:ea typeface="DM Sans"/>
                <a:cs typeface="DM Sans"/>
                <a:sym typeface="DM Sans"/>
              </a:rPr>
              <a:t>https://github.com/techspence/ADeleginator</a:t>
            </a:r>
          </a:p>
        </p:txBody>
      </p:sp>
      <p:sp>
        <p:nvSpPr>
          <p:cNvPr id="13" name="TextBox 13"/>
          <p:cNvSpPr txBox="1"/>
          <p:nvPr/>
        </p:nvSpPr>
        <p:spPr>
          <a:xfrm>
            <a:off x="1678244" y="4813941"/>
            <a:ext cx="5528815" cy="371475"/>
          </a:xfrm>
          <a:prstGeom prst="rect">
            <a:avLst/>
          </a:prstGeom>
        </p:spPr>
        <p:txBody>
          <a:bodyPr wrap="square" lIns="0" tIns="0" rIns="0" bIns="0" rtlCol="0" anchor="t">
            <a:spAutoFit/>
          </a:bodyPr>
          <a:lstStyle/>
          <a:p>
            <a:pPr algn="l">
              <a:lnSpc>
                <a:spcPts val="3000"/>
              </a:lnSpc>
              <a:spcBef>
                <a:spcPct val="0"/>
              </a:spcBef>
            </a:pPr>
            <a:r>
              <a:rPr lang="en-US" sz="2000">
                <a:solidFill>
                  <a:srgbClr val="737373"/>
                </a:solidFill>
                <a:latin typeface="DM Sans"/>
                <a:ea typeface="DM Sans"/>
                <a:cs typeface="DM Sans"/>
                <a:sym typeface="DM Sans"/>
              </a:rPr>
              <a:t>https://github.com/canix1/ADACLScanner</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6739334" y="4972177"/>
            <a:ext cx="4809331" cy="742696"/>
          </a:xfrm>
          <a:prstGeom prst="rect">
            <a:avLst/>
          </a:prstGeom>
        </p:spPr>
        <p:txBody>
          <a:bodyPr lIns="0" tIns="0" rIns="0" bIns="0" rtlCol="0" anchor="t">
            <a:spAutoFit/>
          </a:bodyPr>
          <a:lstStyle/>
          <a:p>
            <a:pPr algn="ctr">
              <a:lnSpc>
                <a:spcPts val="2911"/>
              </a:lnSpc>
            </a:pPr>
            <a:r>
              <a:rPr lang="en-US" sz="2799">
                <a:solidFill>
                  <a:srgbClr val="FFFFFF"/>
                </a:solidFill>
                <a:latin typeface="DM Sans"/>
                <a:ea typeface="DM Sans"/>
                <a:cs typeface="DM Sans"/>
                <a:sym typeface="DM Sans"/>
              </a:rPr>
              <a:t>Adalanche</a:t>
            </a:r>
          </a:p>
          <a:p>
            <a:pPr algn="ctr">
              <a:lnSpc>
                <a:spcPts val="2911"/>
              </a:lnSpc>
              <a:spcBef>
                <a:spcPct val="0"/>
              </a:spcBef>
            </a:pPr>
            <a:r>
              <a:rPr lang="en-US" sz="2799">
                <a:solidFill>
                  <a:srgbClr val="FFFFFF"/>
                </a:solidFill>
                <a:latin typeface="DM Sans"/>
                <a:ea typeface="DM Sans"/>
                <a:cs typeface="DM Sans"/>
                <a:sym typeface="DM Sans"/>
              </a:rPr>
              <a:t>List known high risk accesses</a:t>
            </a:r>
          </a:p>
        </p:txBody>
      </p:sp>
      <p:sp>
        <p:nvSpPr>
          <p:cNvPr id="6" name="TextBox 7">
            <a:extLst>
              <a:ext uri="{FF2B5EF4-FFF2-40B4-BE49-F238E27FC236}">
                <a16:creationId xmlns:a16="http://schemas.microsoft.com/office/drawing/2014/main" id="{2EE04EFB-A0B4-8B70-A8FD-BBC7D7CE0867}"/>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a:solidFill>
                  <a:srgbClr val="FFFFFF"/>
                </a:solidFill>
                <a:latin typeface="Anton"/>
                <a:ea typeface="Anton"/>
                <a:cs typeface="Anton"/>
                <a:sym typeface="Anton"/>
              </a:rPr>
              <a:t>BONUS</a:t>
            </a:r>
          </a:p>
        </p:txBody>
      </p:sp>
      <p:sp>
        <p:nvSpPr>
          <p:cNvPr id="7" name="TextBox 7">
            <a:extLst>
              <a:ext uri="{FF2B5EF4-FFF2-40B4-BE49-F238E27FC236}">
                <a16:creationId xmlns:a16="http://schemas.microsoft.com/office/drawing/2014/main" id="{7D0CBCED-3384-8040-347B-CE4731F880EB}"/>
              </a:ext>
            </a:extLst>
          </p:cNvPr>
          <p:cNvSpPr txBox="1"/>
          <p:nvPr/>
        </p:nvSpPr>
        <p:spPr>
          <a:xfrm>
            <a:off x="533400" y="406993"/>
            <a:ext cx="7772400" cy="538609"/>
          </a:xfrm>
          <a:prstGeom prst="rect">
            <a:avLst/>
          </a:prstGeom>
        </p:spPr>
        <p:txBody>
          <a:bodyPr wrap="square"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BONUS – More ACL Auditing Guidance</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10071040" y="2077408"/>
            <a:ext cx="7188260" cy="5750608"/>
          </a:xfrm>
          <a:custGeom>
            <a:avLst/>
            <a:gdLst/>
            <a:ahLst/>
            <a:cxnLst/>
            <a:rect l="l" t="t" r="r" b="b"/>
            <a:pathLst>
              <a:path w="7188260" h="5750608">
                <a:moveTo>
                  <a:pt x="0" y="0"/>
                </a:moveTo>
                <a:lnTo>
                  <a:pt x="7188260" y="0"/>
                </a:lnTo>
                <a:lnTo>
                  <a:pt x="7188260" y="5750607"/>
                </a:lnTo>
                <a:lnTo>
                  <a:pt x="0" y="5750607"/>
                </a:lnTo>
                <a:lnTo>
                  <a:pt x="0" y="0"/>
                </a:lnTo>
                <a:close/>
              </a:path>
            </a:pathLst>
          </a:custGeom>
          <a:blipFill>
            <a:blip r:embed="rId3"/>
            <a:stretch>
              <a:fillRect/>
            </a:stretch>
          </a:blipFill>
          <a:ln w="38100" cap="sq">
            <a:solidFill>
              <a:srgbClr val="2F7BD1"/>
            </a:solidFill>
            <a:prstDash val="solid"/>
            <a:miter/>
          </a:ln>
        </p:spPr>
        <p:txBody>
          <a:bodyPr/>
          <a:lstStyle/>
          <a:p>
            <a:endParaRPr lang="en-US"/>
          </a:p>
        </p:txBody>
      </p:sp>
      <p:sp>
        <p:nvSpPr>
          <p:cNvPr id="4" name="TextBox 4"/>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p:cNvSpPr txBox="1"/>
          <p:nvPr/>
        </p:nvSpPr>
        <p:spPr>
          <a:xfrm>
            <a:off x="1076985" y="1095375"/>
            <a:ext cx="7068808"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SERVICE ACCOUNT HARDENING</a:t>
            </a:r>
          </a:p>
        </p:txBody>
      </p:sp>
      <p:sp>
        <p:nvSpPr>
          <p:cNvPr id="7" name="TextBox 7"/>
          <p:cNvSpPr txBox="1"/>
          <p:nvPr/>
        </p:nvSpPr>
        <p:spPr>
          <a:xfrm>
            <a:off x="1028700" y="2793711"/>
            <a:ext cx="8466267" cy="2159000"/>
          </a:xfrm>
          <a:prstGeom prst="rect">
            <a:avLst/>
          </a:prstGeom>
        </p:spPr>
        <p:txBody>
          <a:bodyPr lIns="0" tIns="0" rIns="0" bIns="0" rtlCol="0" anchor="t">
            <a:spAutoFit/>
          </a:bodyPr>
          <a:lstStyle/>
          <a:p>
            <a:pPr marL="604518" lvl="1" indent="-302259" algn="l">
              <a:lnSpc>
                <a:spcPts val="3919"/>
              </a:lnSpc>
              <a:buFont typeface="Arial"/>
              <a:buChar char="•"/>
            </a:pPr>
            <a:r>
              <a:rPr lang="en-US" sz="2799">
                <a:solidFill>
                  <a:srgbClr val="FFFFFF"/>
                </a:solidFill>
                <a:latin typeface="DM Sans"/>
                <a:ea typeface="DM Sans"/>
                <a:cs typeface="DM Sans"/>
                <a:sym typeface="DM Sans"/>
              </a:rPr>
              <a:t>Any account that runs a service </a:t>
            </a:r>
            <a:r>
              <a:rPr lang="en-US" sz="2799" b="1" u="sng">
                <a:solidFill>
                  <a:srgbClr val="FFFFFF"/>
                </a:solidFill>
                <a:latin typeface="DM Sans Bold"/>
                <a:ea typeface="DM Sans Bold"/>
                <a:cs typeface="DM Sans Bold"/>
                <a:sym typeface="DM Sans Bold"/>
              </a:rPr>
              <a:t>OR </a:t>
            </a:r>
            <a:r>
              <a:rPr lang="en-US" sz="2799">
                <a:solidFill>
                  <a:srgbClr val="FFFFFF"/>
                </a:solidFill>
                <a:latin typeface="DM Sans"/>
                <a:ea typeface="DM Sans"/>
                <a:cs typeface="DM Sans"/>
                <a:sym typeface="DM Sans"/>
              </a:rPr>
              <a:t>has a SPN</a:t>
            </a:r>
          </a:p>
          <a:p>
            <a:pPr marL="604518" lvl="1" indent="-302259" algn="l">
              <a:lnSpc>
                <a:spcPts val="3919"/>
              </a:lnSpc>
              <a:buFont typeface="Arial"/>
              <a:buChar char="•"/>
            </a:pPr>
            <a:r>
              <a:rPr lang="en-US" sz="2799">
                <a:solidFill>
                  <a:srgbClr val="FFFFFF"/>
                </a:solidFill>
                <a:latin typeface="DM Sans"/>
                <a:ea typeface="DM Sans"/>
                <a:cs typeface="DM Sans"/>
                <a:sym typeface="DM Sans"/>
              </a:rPr>
              <a:t>SPN = Service Principal Name</a:t>
            </a:r>
          </a:p>
          <a:p>
            <a:pPr marL="863604" lvl="2" indent="-287868" algn="l">
              <a:lnSpc>
                <a:spcPts val="2800"/>
              </a:lnSpc>
              <a:buFont typeface="Arial"/>
              <a:buChar char="⚬"/>
            </a:pPr>
            <a:r>
              <a:rPr lang="en-US" sz="2000">
                <a:solidFill>
                  <a:srgbClr val="FFFFFF"/>
                </a:solidFill>
                <a:latin typeface="DM Sans"/>
                <a:ea typeface="DM Sans"/>
                <a:cs typeface="DM Sans"/>
                <a:sym typeface="DM Sans"/>
              </a:rPr>
              <a:t>Method Kerberos uses to find services</a:t>
            </a:r>
          </a:p>
          <a:p>
            <a:pPr marL="863604" lvl="2" indent="-287868" algn="l">
              <a:lnSpc>
                <a:spcPts val="2800"/>
              </a:lnSpc>
              <a:buFont typeface="Arial"/>
              <a:buChar char="⚬"/>
            </a:pPr>
            <a:r>
              <a:rPr lang="en-US" sz="2000">
                <a:solidFill>
                  <a:srgbClr val="737373"/>
                </a:solidFill>
                <a:latin typeface="DM Sans"/>
                <a:ea typeface="DM Sans"/>
                <a:cs typeface="DM Sans"/>
                <a:sym typeface="DM Sans"/>
              </a:rPr>
              <a:t>Ex. MSSQLSvc/SQLDB01:1433</a:t>
            </a:r>
          </a:p>
          <a:p>
            <a:pPr algn="l">
              <a:lnSpc>
                <a:spcPts val="3779"/>
              </a:lnSpc>
              <a:spcBef>
                <a:spcPct val="0"/>
              </a:spcBef>
            </a:pPr>
            <a:endParaRPr lang="en-US" sz="2000">
              <a:solidFill>
                <a:srgbClr val="737373"/>
              </a:solidFill>
              <a:latin typeface="DM Sans"/>
              <a:ea typeface="DM Sans"/>
              <a:cs typeface="DM Sans"/>
              <a:sym typeface="DM Sans"/>
            </a:endParaRPr>
          </a:p>
        </p:txBody>
      </p:sp>
      <p:sp>
        <p:nvSpPr>
          <p:cNvPr id="8" name="TextBox 8"/>
          <p:cNvSpPr txBox="1"/>
          <p:nvPr/>
        </p:nvSpPr>
        <p:spPr>
          <a:xfrm>
            <a:off x="1076985" y="2370166"/>
            <a:ext cx="7068808" cy="480695"/>
          </a:xfrm>
          <a:prstGeom prst="rect">
            <a:avLst/>
          </a:prstGeom>
        </p:spPr>
        <p:txBody>
          <a:bodyPr lIns="0" tIns="0" rIns="0" bIns="0" rtlCol="0" anchor="t">
            <a:spAutoFit/>
          </a:bodyPr>
          <a:lstStyle/>
          <a:p>
            <a:pPr marL="0" lvl="0" indent="0" algn="l">
              <a:lnSpc>
                <a:spcPts val="3640"/>
              </a:lnSpc>
            </a:pPr>
            <a:r>
              <a:rPr lang="en-US" sz="3500" b="1">
                <a:solidFill>
                  <a:srgbClr val="FFFFFF"/>
                </a:solidFill>
                <a:latin typeface="DM Sans Bold"/>
                <a:ea typeface="DM Sans Bold"/>
                <a:cs typeface="DM Sans Bold"/>
                <a:sym typeface="DM Sans Bold"/>
              </a:rPr>
              <a:t>What is a service account?</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76985" y="1095375"/>
            <a:ext cx="7068808"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SERVICE ACCOUNT HARDENING</a:t>
            </a:r>
          </a:p>
        </p:txBody>
      </p:sp>
      <p:sp>
        <p:nvSpPr>
          <p:cNvPr id="6" name="TextBox 6"/>
          <p:cNvSpPr txBox="1"/>
          <p:nvPr/>
        </p:nvSpPr>
        <p:spPr>
          <a:xfrm>
            <a:off x="1028700" y="2793711"/>
            <a:ext cx="8466267" cy="1806575"/>
          </a:xfrm>
          <a:prstGeom prst="rect">
            <a:avLst/>
          </a:prstGeom>
        </p:spPr>
        <p:txBody>
          <a:bodyPr lIns="0" tIns="0" rIns="0" bIns="0" rtlCol="0" anchor="t">
            <a:spAutoFit/>
          </a:bodyPr>
          <a:lstStyle/>
          <a:p>
            <a:pPr marL="604518" lvl="1" indent="-302259" algn="l">
              <a:lnSpc>
                <a:spcPts val="3919"/>
              </a:lnSpc>
              <a:buFont typeface="Arial"/>
              <a:buChar char="•"/>
            </a:pPr>
            <a:r>
              <a:rPr lang="en-US" sz="2799" dirty="0">
                <a:solidFill>
                  <a:srgbClr val="737373"/>
                </a:solidFill>
                <a:latin typeface="DM Sans"/>
                <a:ea typeface="DM Sans"/>
                <a:cs typeface="DM Sans"/>
                <a:sym typeface="DM Sans"/>
              </a:rPr>
              <a:t>Any account that runs a service </a:t>
            </a:r>
            <a:r>
              <a:rPr lang="en-US" sz="2799" b="1" u="sng" dirty="0">
                <a:solidFill>
                  <a:srgbClr val="737373"/>
                </a:solidFill>
                <a:latin typeface="DM Sans Bold"/>
                <a:ea typeface="DM Sans Bold"/>
                <a:cs typeface="DM Sans Bold"/>
                <a:sym typeface="DM Sans Bold"/>
              </a:rPr>
              <a:t>OR </a:t>
            </a:r>
            <a:r>
              <a:rPr lang="en-US" sz="2799" dirty="0">
                <a:solidFill>
                  <a:srgbClr val="737373"/>
                </a:solidFill>
                <a:latin typeface="DM Sans"/>
                <a:ea typeface="DM Sans"/>
                <a:cs typeface="DM Sans"/>
                <a:sym typeface="DM Sans"/>
              </a:rPr>
              <a:t>has a SPN</a:t>
            </a:r>
          </a:p>
          <a:p>
            <a:pPr marL="604518" lvl="1" indent="-302259" algn="l">
              <a:lnSpc>
                <a:spcPts val="3919"/>
              </a:lnSpc>
              <a:buFont typeface="Arial"/>
              <a:buChar char="•"/>
            </a:pPr>
            <a:r>
              <a:rPr lang="en-US" sz="2799" dirty="0">
                <a:solidFill>
                  <a:srgbClr val="737373"/>
                </a:solidFill>
                <a:latin typeface="DM Sans"/>
                <a:ea typeface="DM Sans"/>
                <a:cs typeface="DM Sans"/>
                <a:sym typeface="DM Sans"/>
              </a:rPr>
              <a:t>SPN = Service Principal Name</a:t>
            </a:r>
          </a:p>
          <a:p>
            <a:pPr marL="863604" lvl="2" indent="-287868" algn="l">
              <a:lnSpc>
                <a:spcPts val="2800"/>
              </a:lnSpc>
              <a:buFont typeface="Arial"/>
              <a:buChar char="⚬"/>
            </a:pPr>
            <a:r>
              <a:rPr lang="en-US" sz="2000" dirty="0">
                <a:solidFill>
                  <a:srgbClr val="737373"/>
                </a:solidFill>
                <a:latin typeface="DM Sans"/>
                <a:ea typeface="DM Sans"/>
                <a:cs typeface="DM Sans"/>
                <a:sym typeface="DM Sans"/>
              </a:rPr>
              <a:t>Method Kerberos uses to find services</a:t>
            </a:r>
          </a:p>
          <a:p>
            <a:pPr algn="l">
              <a:lnSpc>
                <a:spcPts val="3779"/>
              </a:lnSpc>
              <a:spcBef>
                <a:spcPct val="0"/>
              </a:spcBef>
            </a:pPr>
            <a:endParaRPr lang="en-US" sz="2000" dirty="0">
              <a:solidFill>
                <a:srgbClr val="737373"/>
              </a:solidFill>
              <a:latin typeface="DM Sans"/>
              <a:ea typeface="DM Sans"/>
              <a:cs typeface="DM Sans"/>
              <a:sym typeface="DM Sans"/>
            </a:endParaRPr>
          </a:p>
        </p:txBody>
      </p:sp>
      <p:sp>
        <p:nvSpPr>
          <p:cNvPr id="7" name="TextBox 7"/>
          <p:cNvSpPr txBox="1"/>
          <p:nvPr/>
        </p:nvSpPr>
        <p:spPr>
          <a:xfrm>
            <a:off x="1076985" y="2370166"/>
            <a:ext cx="7068808" cy="480695"/>
          </a:xfrm>
          <a:prstGeom prst="rect">
            <a:avLst/>
          </a:prstGeom>
        </p:spPr>
        <p:txBody>
          <a:bodyPr lIns="0" tIns="0" rIns="0" bIns="0" rtlCol="0" anchor="t">
            <a:spAutoFit/>
          </a:bodyPr>
          <a:lstStyle/>
          <a:p>
            <a:pPr marL="0" lvl="0" indent="0" algn="l">
              <a:lnSpc>
                <a:spcPts val="3640"/>
              </a:lnSpc>
            </a:pPr>
            <a:r>
              <a:rPr lang="en-US" sz="3500" b="1">
                <a:solidFill>
                  <a:srgbClr val="737373"/>
                </a:solidFill>
                <a:latin typeface="DM Sans Bold"/>
                <a:ea typeface="DM Sans Bold"/>
                <a:cs typeface="DM Sans Bold"/>
                <a:sym typeface="DM Sans Bold"/>
              </a:rPr>
              <a:t>What is a service account?</a:t>
            </a:r>
          </a:p>
        </p:txBody>
      </p:sp>
      <p:sp>
        <p:nvSpPr>
          <p:cNvPr id="8" name="TextBox 8"/>
          <p:cNvSpPr txBox="1"/>
          <p:nvPr/>
        </p:nvSpPr>
        <p:spPr>
          <a:xfrm>
            <a:off x="1076985" y="5624195"/>
            <a:ext cx="8420635" cy="3377314"/>
          </a:xfrm>
          <a:prstGeom prst="rect">
            <a:avLst/>
          </a:prstGeom>
        </p:spPr>
        <p:txBody>
          <a:bodyPr lIns="0" tIns="0" rIns="0" bIns="0" rtlCol="0" anchor="t">
            <a:spAutoFit/>
          </a:bodyPr>
          <a:lstStyle/>
          <a:p>
            <a:pPr marL="601260" lvl="1" indent="-300630" algn="l">
              <a:lnSpc>
                <a:spcPts val="3898"/>
              </a:lnSpc>
              <a:buFont typeface="Arial"/>
              <a:buChar char="•"/>
            </a:pPr>
            <a:r>
              <a:rPr lang="en-US" sz="2784" dirty="0">
                <a:solidFill>
                  <a:srgbClr val="FFFFFF"/>
                </a:solidFill>
                <a:latin typeface="DM Sans"/>
                <a:ea typeface="DM Sans"/>
                <a:cs typeface="DM Sans"/>
                <a:sym typeface="DM Sans"/>
              </a:rPr>
              <a:t>Identify Service Accounts </a:t>
            </a:r>
            <a:r>
              <a:rPr lang="en-US" sz="2784" dirty="0">
                <a:solidFill>
                  <a:srgbClr val="737373"/>
                </a:solidFill>
                <a:latin typeface="DM Sans"/>
                <a:ea typeface="DM Sans"/>
                <a:cs typeface="DM Sans"/>
                <a:sym typeface="DM Sans"/>
              </a:rPr>
              <a:t>(see notes)</a:t>
            </a:r>
          </a:p>
          <a:p>
            <a:pPr marL="601260" lvl="1" indent="-300630" algn="l">
              <a:lnSpc>
                <a:spcPts val="3898"/>
              </a:lnSpc>
              <a:buFont typeface="Arial"/>
              <a:buChar char="•"/>
            </a:pPr>
            <a:r>
              <a:rPr lang="en-US" sz="2784" dirty="0">
                <a:solidFill>
                  <a:srgbClr val="FFFFFF"/>
                </a:solidFill>
                <a:latin typeface="DM Sans"/>
                <a:ea typeface="DM Sans"/>
                <a:cs typeface="DM Sans"/>
                <a:sym typeface="DM Sans"/>
              </a:rPr>
              <a:t>Replace old Service Account Passwords</a:t>
            </a:r>
          </a:p>
          <a:p>
            <a:pPr marL="601260" lvl="1" indent="-300630" algn="l">
              <a:lnSpc>
                <a:spcPts val="3898"/>
              </a:lnSpc>
              <a:buFont typeface="Arial"/>
              <a:buChar char="•"/>
            </a:pPr>
            <a:r>
              <a:rPr lang="en-US" sz="2784" dirty="0">
                <a:solidFill>
                  <a:srgbClr val="FFFFFF"/>
                </a:solidFill>
                <a:latin typeface="DM Sans"/>
                <a:ea typeface="DM Sans"/>
                <a:cs typeface="DM Sans"/>
                <a:sym typeface="DM Sans"/>
              </a:rPr>
              <a:t>Audit + Remediate Account SPNs. </a:t>
            </a:r>
          </a:p>
          <a:p>
            <a:pPr marL="601260" lvl="1" indent="-300630" algn="l">
              <a:lnSpc>
                <a:spcPts val="3898"/>
              </a:lnSpc>
              <a:buFont typeface="Arial"/>
              <a:buChar char="•"/>
            </a:pPr>
            <a:r>
              <a:rPr lang="en-US" sz="2784" dirty="0">
                <a:solidFill>
                  <a:srgbClr val="FFFFFF"/>
                </a:solidFill>
                <a:latin typeface="DM Sans"/>
                <a:ea typeface="DM Sans"/>
                <a:cs typeface="DM Sans"/>
                <a:sym typeface="DM Sans"/>
              </a:rPr>
              <a:t>Audit Access and Log On As Service Right</a:t>
            </a:r>
          </a:p>
          <a:p>
            <a:pPr marL="601260" lvl="1" indent="-300630" algn="l">
              <a:lnSpc>
                <a:spcPts val="3898"/>
              </a:lnSpc>
              <a:buFont typeface="Arial"/>
              <a:buChar char="•"/>
            </a:pPr>
            <a:r>
              <a:rPr lang="en-US" sz="2784" dirty="0">
                <a:solidFill>
                  <a:srgbClr val="FFFFFF"/>
                </a:solidFill>
                <a:latin typeface="DM Sans"/>
                <a:ea typeface="DM Sans"/>
                <a:cs typeface="DM Sans"/>
                <a:sym typeface="DM Sans"/>
              </a:rPr>
              <a:t>Use MSAs</a:t>
            </a:r>
          </a:p>
          <a:p>
            <a:pPr algn="l">
              <a:lnSpc>
                <a:spcPts val="3898"/>
              </a:lnSpc>
            </a:pPr>
            <a:endParaRPr lang="en-US" sz="2784" dirty="0">
              <a:solidFill>
                <a:srgbClr val="FFFFFF"/>
              </a:solidFill>
              <a:latin typeface="DM Sans"/>
              <a:ea typeface="DM Sans"/>
              <a:cs typeface="DM Sans"/>
              <a:sym typeface="DM Sans"/>
            </a:endParaRPr>
          </a:p>
          <a:p>
            <a:pPr algn="l">
              <a:lnSpc>
                <a:spcPts val="3898"/>
              </a:lnSpc>
              <a:spcBef>
                <a:spcPct val="0"/>
              </a:spcBef>
            </a:pPr>
            <a:r>
              <a:rPr lang="en-US" sz="2784" b="1" dirty="0">
                <a:solidFill>
                  <a:srgbClr val="FFFFFF"/>
                </a:solidFill>
                <a:latin typeface="DM Sans Bold"/>
                <a:ea typeface="DM Sans Bold"/>
                <a:cs typeface="DM Sans Bold"/>
                <a:sym typeface="DM Sans Bold"/>
              </a:rPr>
              <a:t>All reduce </a:t>
            </a:r>
            <a:r>
              <a:rPr lang="en-US" sz="2784" b="1" dirty="0" err="1">
                <a:solidFill>
                  <a:srgbClr val="FFFFFF"/>
                </a:solidFill>
                <a:latin typeface="DM Sans Bold"/>
                <a:ea typeface="DM Sans Bold"/>
                <a:cs typeface="DM Sans Bold"/>
                <a:sym typeface="DM Sans Bold"/>
              </a:rPr>
              <a:t>Kerberosting</a:t>
            </a:r>
            <a:r>
              <a:rPr lang="en-US" sz="2784" b="1" dirty="0">
                <a:solidFill>
                  <a:srgbClr val="FFFFFF"/>
                </a:solidFill>
                <a:latin typeface="DM Sans Bold"/>
                <a:ea typeface="DM Sans Bold"/>
                <a:cs typeface="DM Sans Bold"/>
                <a:sym typeface="DM Sans Bold"/>
              </a:rPr>
              <a:t> Risks</a:t>
            </a:r>
          </a:p>
        </p:txBody>
      </p:sp>
      <p:sp>
        <p:nvSpPr>
          <p:cNvPr id="9" name="TextBox 9"/>
          <p:cNvSpPr txBox="1"/>
          <p:nvPr/>
        </p:nvSpPr>
        <p:spPr>
          <a:xfrm>
            <a:off x="1125269" y="5191125"/>
            <a:ext cx="7068808" cy="480695"/>
          </a:xfrm>
          <a:prstGeom prst="rect">
            <a:avLst/>
          </a:prstGeom>
        </p:spPr>
        <p:txBody>
          <a:bodyPr lIns="0" tIns="0" rIns="0" bIns="0" rtlCol="0" anchor="t">
            <a:spAutoFit/>
          </a:bodyPr>
          <a:lstStyle/>
          <a:p>
            <a:pPr marL="0" lvl="0" indent="0" algn="l">
              <a:lnSpc>
                <a:spcPts val="3640"/>
              </a:lnSpc>
            </a:pPr>
            <a:r>
              <a:rPr lang="en-US" sz="3500" b="1" dirty="0">
                <a:solidFill>
                  <a:srgbClr val="FFFFFF"/>
                </a:solidFill>
                <a:latin typeface="DM Sans Bold"/>
                <a:ea typeface="DM Sans Bold"/>
                <a:cs typeface="DM Sans Bold"/>
                <a:sym typeface="DM Sans Bold"/>
              </a:rPr>
              <a:t>What do we do?</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7">
            <a:extLst>
              <a:ext uri="{FF2B5EF4-FFF2-40B4-BE49-F238E27FC236}">
                <a16:creationId xmlns:a16="http://schemas.microsoft.com/office/drawing/2014/main" id="{527547F7-11D8-FC17-AE4F-F06E47CAA9C7}"/>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dirty="0">
                <a:solidFill>
                  <a:srgbClr val="FFFFFF"/>
                </a:solidFill>
                <a:latin typeface="Anton"/>
                <a:ea typeface="Anton"/>
                <a:cs typeface="Anton"/>
                <a:sym typeface="Anton"/>
              </a:rPr>
              <a:t>BONUS</a:t>
            </a:r>
          </a:p>
        </p:txBody>
      </p:sp>
      <p:sp>
        <p:nvSpPr>
          <p:cNvPr id="7" name="TextBox 7">
            <a:extLst>
              <a:ext uri="{FF2B5EF4-FFF2-40B4-BE49-F238E27FC236}">
                <a16:creationId xmlns:a16="http://schemas.microsoft.com/office/drawing/2014/main" id="{D199DD98-58D3-B454-48C3-51BD516FF9AB}"/>
              </a:ext>
            </a:extLst>
          </p:cNvPr>
          <p:cNvSpPr txBox="1"/>
          <p:nvPr/>
        </p:nvSpPr>
        <p:spPr>
          <a:xfrm>
            <a:off x="533400" y="406993"/>
            <a:ext cx="7772400" cy="538609"/>
          </a:xfrm>
          <a:prstGeom prst="rect">
            <a:avLst/>
          </a:prstGeom>
        </p:spPr>
        <p:txBody>
          <a:bodyPr wrap="square"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BONUS – Identifying Service Accounts</a:t>
            </a:r>
          </a:p>
        </p:txBody>
      </p:sp>
      <p:sp>
        <p:nvSpPr>
          <p:cNvPr id="9" name="TextBox 8">
            <a:extLst>
              <a:ext uri="{FF2B5EF4-FFF2-40B4-BE49-F238E27FC236}">
                <a16:creationId xmlns:a16="http://schemas.microsoft.com/office/drawing/2014/main" id="{62A2EB21-B935-2F19-9CCF-860F65DA082A}"/>
              </a:ext>
            </a:extLst>
          </p:cNvPr>
          <p:cNvSpPr txBox="1"/>
          <p:nvPr/>
        </p:nvSpPr>
        <p:spPr>
          <a:xfrm>
            <a:off x="1076985" y="1112571"/>
            <a:ext cx="16061088" cy="7709803"/>
          </a:xfrm>
          <a:prstGeom prst="rect">
            <a:avLst/>
          </a:prstGeom>
        </p:spPr>
        <p:txBody>
          <a:bodyPr wrap="square" lIns="0" tIns="0" rIns="0" bIns="0" rtlCol="0" anchor="t">
            <a:spAutoFit/>
          </a:bodyPr>
          <a:lstStyle/>
          <a:p>
            <a:pPr marL="601260" lvl="1" indent="-300630">
              <a:lnSpc>
                <a:spcPct val="150000"/>
              </a:lnSpc>
              <a:buFont typeface="Arial"/>
              <a:buChar char="•"/>
            </a:pPr>
            <a:r>
              <a:rPr lang="en-US" sz="2400" dirty="0">
                <a:solidFill>
                  <a:srgbClr val="FFFFFF"/>
                </a:solidFill>
                <a:latin typeface="DM Sans"/>
                <a:ea typeface="DM Sans"/>
                <a:cs typeface="DM Sans"/>
                <a:sym typeface="DM Sans"/>
              </a:rPr>
              <a:t>Name begins/ends with </a:t>
            </a:r>
            <a:r>
              <a:rPr lang="en-US" sz="2400" dirty="0" err="1">
                <a:solidFill>
                  <a:srgbClr val="FFFFFF"/>
                </a:solidFill>
                <a:latin typeface="DM Sans"/>
                <a:ea typeface="DM Sans"/>
                <a:cs typeface="DM Sans"/>
                <a:sym typeface="DM Sans"/>
              </a:rPr>
              <a:t>srv</a:t>
            </a:r>
            <a:r>
              <a:rPr lang="en-US" sz="2400" dirty="0">
                <a:solidFill>
                  <a:srgbClr val="FFFFFF"/>
                </a:solidFill>
                <a:latin typeface="DM Sans"/>
                <a:ea typeface="DM Sans"/>
                <a:cs typeface="DM Sans"/>
                <a:sym typeface="DM Sans"/>
              </a:rPr>
              <a:t>, serv, svc, service, etc. </a:t>
            </a:r>
            <a:br>
              <a:rPr lang="en-US" sz="2400" dirty="0">
                <a:solidFill>
                  <a:srgbClr val="FFFFFF"/>
                </a:solidFill>
                <a:latin typeface="DM Sans"/>
                <a:ea typeface="DM Sans"/>
                <a:cs typeface="DM Sans"/>
                <a:sym typeface="DM Sans"/>
              </a:rPr>
            </a:br>
            <a:r>
              <a:rPr lang="en-US" sz="2400" dirty="0">
                <a:solidFill>
                  <a:srgbClr val="FFFFFF"/>
                </a:solidFill>
                <a:latin typeface="Courier New" panose="02070309020205020404" pitchFamily="49" charset="0"/>
                <a:ea typeface="DM Sans"/>
                <a:cs typeface="Courier New" panose="02070309020205020404" pitchFamily="49" charset="0"/>
                <a:sym typeface="DM Sans"/>
              </a:rPr>
              <a:t>Get-</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ADUser</a:t>
            </a:r>
            <a:r>
              <a:rPr lang="en-US" sz="2400" dirty="0">
                <a:solidFill>
                  <a:srgbClr val="FFFFFF"/>
                </a:solidFill>
                <a:latin typeface="Courier New" panose="02070309020205020404" pitchFamily="49" charset="0"/>
                <a:ea typeface="DM Sans"/>
                <a:cs typeface="Courier New" panose="02070309020205020404" pitchFamily="49" charset="0"/>
                <a:sym typeface="DM Sans"/>
              </a:rPr>
              <a:t> –</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LDAPFilter</a:t>
            </a:r>
            <a:r>
              <a:rPr lang="en-US" sz="2400" dirty="0">
                <a:solidFill>
                  <a:srgbClr val="FFFFFF"/>
                </a:solidFill>
                <a:latin typeface="Courier New" panose="02070309020205020404" pitchFamily="49" charset="0"/>
                <a:ea typeface="DM Sans"/>
                <a:cs typeface="Courier New" panose="02070309020205020404" pitchFamily="49" charset="0"/>
                <a:sym typeface="DM Sans"/>
              </a:rPr>
              <a:t> “(|(</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samAccountName</a:t>
            </a:r>
            <a:r>
              <a:rPr lang="en-US" sz="2400" dirty="0">
                <a:solidFill>
                  <a:srgbClr val="FFFFFF"/>
                </a:solidFill>
                <a:latin typeface="Courier New" panose="02070309020205020404" pitchFamily="49" charset="0"/>
                <a:ea typeface="DM Sans"/>
                <a:cs typeface="Courier New" panose="02070309020205020404" pitchFamily="49" charset="0"/>
                <a:sym typeface="DM Sans"/>
              </a:rPr>
              <a:t>=</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srv</a:t>
            </a:r>
            <a:r>
              <a:rPr lang="en-US" sz="2400" dirty="0">
                <a:solidFill>
                  <a:srgbClr val="FFFFFF"/>
                </a:solidFill>
                <a:latin typeface="Courier New" panose="02070309020205020404" pitchFamily="49" charset="0"/>
                <a:ea typeface="DM Sans"/>
                <a:cs typeface="Courier New" panose="02070309020205020404" pitchFamily="49" charset="0"/>
                <a:sym typeface="DM Sans"/>
              </a:rPr>
              <a:t>*)(</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samAccountName</a:t>
            </a:r>
            <a:r>
              <a:rPr lang="en-US" sz="2400" dirty="0">
                <a:solidFill>
                  <a:srgbClr val="FFFFFF"/>
                </a:solidFill>
                <a:latin typeface="Courier New" panose="02070309020205020404" pitchFamily="49" charset="0"/>
                <a:ea typeface="DM Sans"/>
                <a:cs typeface="Courier New" panose="02070309020205020404" pitchFamily="49" charset="0"/>
                <a:sym typeface="DM Sans"/>
              </a:rPr>
              <a:t>=serv*)(</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samAccountName</a:t>
            </a:r>
            <a:r>
              <a:rPr lang="en-US" sz="2400" dirty="0">
                <a:solidFill>
                  <a:srgbClr val="FFFFFF"/>
                </a:solidFill>
                <a:latin typeface="Courier New" panose="02070309020205020404" pitchFamily="49" charset="0"/>
                <a:ea typeface="DM Sans"/>
                <a:cs typeface="Courier New" panose="02070309020205020404" pitchFamily="49" charset="0"/>
                <a:sym typeface="DM Sans"/>
              </a:rPr>
              <a:t>=svc*)(</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samAccountName</a:t>
            </a:r>
            <a:r>
              <a:rPr lang="en-US" sz="2400" dirty="0">
                <a:solidFill>
                  <a:srgbClr val="FFFFFF"/>
                </a:solidFill>
                <a:latin typeface="Courier New" panose="02070309020205020404" pitchFamily="49" charset="0"/>
                <a:ea typeface="DM Sans"/>
                <a:cs typeface="Courier New" panose="02070309020205020404" pitchFamily="49" charset="0"/>
                <a:sym typeface="DM Sans"/>
              </a:rPr>
              <a:t>=service*))”</a:t>
            </a:r>
          </a:p>
          <a:p>
            <a:pPr marL="601260" lvl="1" indent="-300630" algn="l">
              <a:lnSpc>
                <a:spcPct val="150000"/>
              </a:lnSpc>
              <a:buFont typeface="Arial"/>
              <a:buChar char="•"/>
            </a:pPr>
            <a:r>
              <a:rPr lang="en-US" sz="2400" dirty="0">
                <a:solidFill>
                  <a:srgbClr val="FFFFFF"/>
                </a:solidFill>
                <a:latin typeface="DM Sans"/>
                <a:ea typeface="DM Sans"/>
                <a:cs typeface="DM Sans"/>
                <a:sym typeface="DM Sans"/>
              </a:rPr>
              <a:t>Accounts in an OU titled “Service Accounts”</a:t>
            </a:r>
          </a:p>
          <a:p>
            <a:pPr marL="300630" lvl="1" algn="l">
              <a:lnSpc>
                <a:spcPct val="150000"/>
              </a:lnSpc>
            </a:pPr>
            <a:r>
              <a:rPr lang="en-US" sz="2400" dirty="0">
                <a:solidFill>
                  <a:srgbClr val="FFFFFF"/>
                </a:solidFill>
                <a:latin typeface="Courier New" panose="02070309020205020404" pitchFamily="49" charset="0"/>
                <a:ea typeface="DM Sans"/>
                <a:cs typeface="Courier New" panose="02070309020205020404" pitchFamily="49" charset="0"/>
                <a:sym typeface="DM Sans"/>
              </a:rPr>
              <a:t>Get-</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ADUser</a:t>
            </a:r>
            <a:r>
              <a:rPr lang="en-US" sz="2400" dirty="0">
                <a:solidFill>
                  <a:srgbClr val="FFFFFF"/>
                </a:solidFill>
                <a:latin typeface="Courier New" panose="02070309020205020404" pitchFamily="49" charset="0"/>
                <a:ea typeface="DM Sans"/>
                <a:cs typeface="Courier New" panose="02070309020205020404" pitchFamily="49" charset="0"/>
                <a:sym typeface="DM Sans"/>
              </a:rPr>
              <a:t> –Filter “</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distinguishedName</a:t>
            </a:r>
            <a:r>
              <a:rPr lang="en-US" sz="2400" dirty="0">
                <a:solidFill>
                  <a:srgbClr val="FFFFFF"/>
                </a:solidFill>
                <a:latin typeface="Courier New" panose="02070309020205020404" pitchFamily="49" charset="0"/>
                <a:ea typeface="DM Sans"/>
                <a:cs typeface="Courier New" panose="02070309020205020404" pitchFamily="49" charset="0"/>
                <a:sym typeface="DM Sans"/>
              </a:rPr>
              <a:t> –like “*OU=Service Accounts*”</a:t>
            </a:r>
          </a:p>
          <a:p>
            <a:pPr marL="601260" lvl="1" indent="-300630" algn="l">
              <a:lnSpc>
                <a:spcPct val="150000"/>
              </a:lnSpc>
              <a:buFont typeface="Arial"/>
              <a:buChar char="•"/>
            </a:pPr>
            <a:r>
              <a:rPr lang="en-US" sz="2400" dirty="0">
                <a:solidFill>
                  <a:srgbClr val="FFFFFF"/>
                </a:solidFill>
                <a:latin typeface="DM Sans"/>
                <a:ea typeface="DM Sans"/>
                <a:cs typeface="DM Sans"/>
                <a:sym typeface="DM Sans"/>
              </a:rPr>
              <a:t>Accounts with SPNs</a:t>
            </a:r>
          </a:p>
          <a:p>
            <a:pPr marL="300630" lvl="1" algn="l">
              <a:lnSpc>
                <a:spcPct val="150000"/>
              </a:lnSpc>
            </a:pPr>
            <a:r>
              <a:rPr lang="en-US" sz="2400" dirty="0">
                <a:solidFill>
                  <a:srgbClr val="FFFFFF"/>
                </a:solidFill>
                <a:latin typeface="Courier New" panose="02070309020205020404" pitchFamily="49" charset="0"/>
                <a:ea typeface="DM Sans"/>
                <a:cs typeface="Courier New" panose="02070309020205020404" pitchFamily="49" charset="0"/>
                <a:sym typeface="DM Sans"/>
              </a:rPr>
              <a:t>Get-</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ADUser</a:t>
            </a:r>
            <a:r>
              <a:rPr lang="en-US" sz="2400" dirty="0">
                <a:solidFill>
                  <a:srgbClr val="FFFFFF"/>
                </a:solidFill>
                <a:latin typeface="Courier New" panose="02070309020205020404" pitchFamily="49" charset="0"/>
                <a:ea typeface="DM Sans"/>
                <a:cs typeface="Courier New" panose="02070309020205020404" pitchFamily="49" charset="0"/>
                <a:sym typeface="DM Sans"/>
              </a:rPr>
              <a:t> –</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LDAPFilter</a:t>
            </a:r>
            <a:r>
              <a:rPr lang="en-US" sz="2400" dirty="0">
                <a:solidFill>
                  <a:srgbClr val="FFFFFF"/>
                </a:solidFill>
                <a:latin typeface="Courier New" panose="02070309020205020404" pitchFamily="49" charset="0"/>
                <a:ea typeface="DM Sans"/>
                <a:cs typeface="Courier New" panose="02070309020205020404" pitchFamily="49" charset="0"/>
                <a:sym typeface="DM Sans"/>
              </a:rPr>
              <a:t> “(</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servicePrincipalName</a:t>
            </a:r>
            <a:r>
              <a:rPr lang="en-US" sz="2400" dirty="0">
                <a:solidFill>
                  <a:srgbClr val="FFFFFF"/>
                </a:solidFill>
                <a:latin typeface="Courier New" panose="02070309020205020404" pitchFamily="49" charset="0"/>
                <a:ea typeface="DM Sans"/>
                <a:cs typeface="Courier New" panose="02070309020205020404" pitchFamily="49" charset="0"/>
                <a:sym typeface="DM Sans"/>
              </a:rPr>
              <a:t>=*)”</a:t>
            </a:r>
          </a:p>
          <a:p>
            <a:pPr marL="601260" lvl="1" indent="-300630" algn="l">
              <a:lnSpc>
                <a:spcPct val="150000"/>
              </a:lnSpc>
              <a:buFont typeface="Arial"/>
              <a:buChar char="•"/>
            </a:pPr>
            <a:r>
              <a:rPr lang="en-US" sz="2400" dirty="0">
                <a:solidFill>
                  <a:srgbClr val="FFFFFF"/>
                </a:solidFill>
                <a:latin typeface="DM Sans"/>
                <a:ea typeface="DM Sans"/>
                <a:cs typeface="DM Sans"/>
                <a:sym typeface="DM Sans"/>
              </a:rPr>
              <a:t>Accounts are members of groups delegated Logon As Service</a:t>
            </a:r>
          </a:p>
          <a:p>
            <a:pPr marL="1058460" lvl="2" indent="-300630">
              <a:lnSpc>
                <a:spcPct val="150000"/>
              </a:lnSpc>
              <a:buFont typeface="Arial"/>
              <a:buChar char="•"/>
            </a:pPr>
            <a:r>
              <a:rPr lang="en-US" sz="2400" dirty="0">
                <a:solidFill>
                  <a:srgbClr val="FFFFFF"/>
                </a:solidFill>
                <a:latin typeface="DM Sans"/>
                <a:ea typeface="DM Sans"/>
                <a:cs typeface="DM Sans"/>
                <a:sym typeface="DM Sans"/>
              </a:rPr>
              <a:t>No tricks here – This is harder to check…</a:t>
            </a:r>
          </a:p>
          <a:p>
            <a:pPr marL="601260" lvl="1" indent="-300630" algn="l">
              <a:lnSpc>
                <a:spcPct val="150000"/>
              </a:lnSpc>
              <a:buFont typeface="Arial"/>
              <a:buChar char="•"/>
            </a:pPr>
            <a:r>
              <a:rPr lang="en-US" sz="2400" dirty="0">
                <a:solidFill>
                  <a:srgbClr val="FFFFFF"/>
                </a:solidFill>
                <a:latin typeface="DM Sans"/>
                <a:ea typeface="DM Sans"/>
                <a:cs typeface="DM Sans"/>
                <a:sym typeface="DM Sans"/>
              </a:rPr>
              <a:t>Accounts configured to be trusted for delegation</a:t>
            </a:r>
          </a:p>
          <a:p>
            <a:pPr marL="300630" lvl="1" algn="l">
              <a:lnSpc>
                <a:spcPct val="150000"/>
              </a:lnSpc>
            </a:pPr>
            <a:r>
              <a:rPr lang="en-US" sz="2400" dirty="0">
                <a:solidFill>
                  <a:srgbClr val="FFFFFF"/>
                </a:solidFill>
                <a:latin typeface="Courier New" panose="02070309020205020404" pitchFamily="49" charset="0"/>
                <a:ea typeface="DM Sans"/>
                <a:cs typeface="Courier New" panose="02070309020205020404" pitchFamily="49" charset="0"/>
                <a:sym typeface="DM Sans"/>
              </a:rPr>
              <a:t>Get-</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ADUser</a:t>
            </a:r>
            <a:r>
              <a:rPr lang="en-US" sz="2400" dirty="0">
                <a:solidFill>
                  <a:srgbClr val="FFFFFF"/>
                </a:solidFill>
                <a:latin typeface="Courier New" panose="02070309020205020404" pitchFamily="49" charset="0"/>
                <a:ea typeface="DM Sans"/>
                <a:cs typeface="Courier New" panose="02070309020205020404" pitchFamily="49" charset="0"/>
                <a:sym typeface="DM Sans"/>
              </a:rPr>
              <a:t> –Filter “</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TrustedForDelegation</a:t>
            </a:r>
            <a:r>
              <a:rPr lang="en-US" sz="2400" dirty="0">
                <a:solidFill>
                  <a:srgbClr val="FFFFFF"/>
                </a:solidFill>
                <a:latin typeface="Courier New" panose="02070309020205020404" pitchFamily="49" charset="0"/>
                <a:ea typeface="DM Sans"/>
                <a:cs typeface="Courier New" panose="02070309020205020404" pitchFamily="49" charset="0"/>
                <a:sym typeface="DM Sans"/>
              </a:rPr>
              <a:t> –eq $true”</a:t>
            </a:r>
          </a:p>
          <a:p>
            <a:pPr marL="601260" lvl="1" indent="-300630" algn="l">
              <a:lnSpc>
                <a:spcPct val="150000"/>
              </a:lnSpc>
              <a:buFont typeface="Arial"/>
              <a:buChar char="•"/>
            </a:pPr>
            <a:r>
              <a:rPr lang="en-US" sz="2400" dirty="0">
                <a:solidFill>
                  <a:srgbClr val="FFFFFF"/>
                </a:solidFill>
                <a:latin typeface="DM Sans"/>
                <a:ea typeface="DM Sans"/>
                <a:cs typeface="DM Sans"/>
                <a:sym typeface="DM Sans"/>
              </a:rPr>
              <a:t>Accounts with Password Never Expires set. </a:t>
            </a:r>
          </a:p>
          <a:p>
            <a:pPr marL="300630" lvl="1" algn="l">
              <a:lnSpc>
                <a:spcPct val="150000"/>
              </a:lnSpc>
            </a:pPr>
            <a:r>
              <a:rPr lang="en-US" sz="2400" dirty="0">
                <a:solidFill>
                  <a:srgbClr val="FFFFFF"/>
                </a:solidFill>
                <a:latin typeface="Courier New" panose="02070309020205020404" pitchFamily="49" charset="0"/>
                <a:ea typeface="DM Sans"/>
                <a:cs typeface="Courier New" panose="02070309020205020404" pitchFamily="49" charset="0"/>
                <a:sym typeface="DM Sans"/>
              </a:rPr>
              <a:t>Get-</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ADUser</a:t>
            </a:r>
            <a:r>
              <a:rPr lang="en-US" sz="2400" dirty="0">
                <a:solidFill>
                  <a:srgbClr val="FFFFFF"/>
                </a:solidFill>
                <a:latin typeface="Courier New" panose="02070309020205020404" pitchFamily="49" charset="0"/>
                <a:ea typeface="DM Sans"/>
                <a:cs typeface="Courier New" panose="02070309020205020404" pitchFamily="49" charset="0"/>
                <a:sym typeface="DM Sans"/>
              </a:rPr>
              <a:t> –Filter “PasswordNeverExpires –eq $true”</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a:extLst>
            <a:ext uri="{FF2B5EF4-FFF2-40B4-BE49-F238E27FC236}">
              <a16:creationId xmlns:a16="http://schemas.microsoft.com/office/drawing/2014/main" id="{0B56B4BC-4548-A5CA-6D4B-823A3532FE5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4BA7034-615A-DFDF-65E1-D2CF794CFAC8}"/>
              </a:ext>
            </a:extLst>
          </p:cNvPr>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a:extLst>
              <a:ext uri="{FF2B5EF4-FFF2-40B4-BE49-F238E27FC236}">
                <a16:creationId xmlns:a16="http://schemas.microsoft.com/office/drawing/2014/main" id="{FE4557ED-798A-DE94-DA9F-F790CBC1BAEC}"/>
              </a:ext>
            </a:extLst>
          </p:cNvPr>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a:extLst>
              <a:ext uri="{FF2B5EF4-FFF2-40B4-BE49-F238E27FC236}">
                <a16:creationId xmlns:a16="http://schemas.microsoft.com/office/drawing/2014/main" id="{2DFA25F2-6612-4464-CCD8-1D8F68A0F6CD}"/>
              </a:ext>
            </a:extLst>
          </p:cNvPr>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7">
            <a:extLst>
              <a:ext uri="{FF2B5EF4-FFF2-40B4-BE49-F238E27FC236}">
                <a16:creationId xmlns:a16="http://schemas.microsoft.com/office/drawing/2014/main" id="{9C8DF197-DD50-021F-C785-F0F0DA17D348}"/>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dirty="0">
                <a:solidFill>
                  <a:srgbClr val="FFFFFF"/>
                </a:solidFill>
                <a:latin typeface="Anton"/>
                <a:ea typeface="Anton"/>
                <a:cs typeface="Anton"/>
                <a:sym typeface="Anton"/>
              </a:rPr>
              <a:t>BONUS</a:t>
            </a:r>
          </a:p>
        </p:txBody>
      </p:sp>
      <p:sp>
        <p:nvSpPr>
          <p:cNvPr id="7" name="TextBox 7">
            <a:extLst>
              <a:ext uri="{FF2B5EF4-FFF2-40B4-BE49-F238E27FC236}">
                <a16:creationId xmlns:a16="http://schemas.microsoft.com/office/drawing/2014/main" id="{283D1FE3-39AE-6C59-BE4F-86830A38D6B9}"/>
              </a:ext>
            </a:extLst>
          </p:cNvPr>
          <p:cNvSpPr txBox="1"/>
          <p:nvPr/>
        </p:nvSpPr>
        <p:spPr>
          <a:xfrm>
            <a:off x="533399" y="406993"/>
            <a:ext cx="9095509" cy="538609"/>
          </a:xfrm>
          <a:prstGeom prst="rect">
            <a:avLst/>
          </a:prstGeom>
        </p:spPr>
        <p:txBody>
          <a:bodyPr wrap="square" lIns="0" tIns="0" rIns="0" bIns="0" rtlCol="0" anchor="t">
            <a:spAutoFit/>
          </a:bodyPr>
          <a:lstStyle/>
          <a:p>
            <a:pPr marL="0" lvl="0" indent="0" algn="l">
              <a:lnSpc>
                <a:spcPts val="4160"/>
              </a:lnSpc>
            </a:pPr>
            <a:r>
              <a:rPr lang="en-US" sz="4000" dirty="0">
                <a:solidFill>
                  <a:srgbClr val="38B6FF"/>
                </a:solidFill>
                <a:latin typeface="Anton"/>
                <a:ea typeface="Anton"/>
                <a:cs typeface="Anton"/>
                <a:sym typeface="Anton"/>
              </a:rPr>
              <a:t>BONUS – Locating Service Account Usage</a:t>
            </a:r>
          </a:p>
        </p:txBody>
      </p:sp>
      <p:sp>
        <p:nvSpPr>
          <p:cNvPr id="9" name="TextBox 8">
            <a:extLst>
              <a:ext uri="{FF2B5EF4-FFF2-40B4-BE49-F238E27FC236}">
                <a16:creationId xmlns:a16="http://schemas.microsoft.com/office/drawing/2014/main" id="{84FFFD03-9253-6886-229C-A341EAA24818}"/>
              </a:ext>
            </a:extLst>
          </p:cNvPr>
          <p:cNvSpPr txBox="1"/>
          <p:nvPr/>
        </p:nvSpPr>
        <p:spPr>
          <a:xfrm>
            <a:off x="1076985" y="1112571"/>
            <a:ext cx="16061088" cy="5212389"/>
          </a:xfrm>
          <a:prstGeom prst="rect">
            <a:avLst/>
          </a:prstGeom>
        </p:spPr>
        <p:txBody>
          <a:bodyPr wrap="square" lIns="0" tIns="0" rIns="0" bIns="0" rtlCol="0" anchor="t">
            <a:spAutoFit/>
          </a:bodyPr>
          <a:lstStyle/>
          <a:p>
            <a:pPr marL="643530" lvl="1" indent="-342900">
              <a:lnSpc>
                <a:spcPct val="150000"/>
              </a:lnSpc>
              <a:buFont typeface="Arial" panose="020B0604020202020204" pitchFamily="34" charset="0"/>
              <a:buChar char="•"/>
            </a:pPr>
            <a:r>
              <a:rPr lang="en-US" sz="2800" dirty="0">
                <a:solidFill>
                  <a:srgbClr val="FFFFFF"/>
                </a:solidFill>
                <a:latin typeface="DM Sans"/>
                <a:ea typeface="DM Sans"/>
                <a:cs typeface="DM Sans"/>
                <a:sym typeface="DM Sans"/>
              </a:rPr>
              <a:t>Harder than identifying</a:t>
            </a:r>
          </a:p>
          <a:p>
            <a:pPr marL="643530" lvl="1" indent="-342900">
              <a:lnSpc>
                <a:spcPct val="150000"/>
              </a:lnSpc>
              <a:buFont typeface="Arial" panose="020B0604020202020204" pitchFamily="34" charset="0"/>
              <a:buChar char="•"/>
            </a:pPr>
            <a:r>
              <a:rPr lang="en-US" sz="2800" dirty="0">
                <a:solidFill>
                  <a:srgbClr val="FFFFFF"/>
                </a:solidFill>
                <a:latin typeface="DM Sans"/>
                <a:ea typeface="DM Sans"/>
                <a:cs typeface="DM Sans"/>
                <a:sym typeface="DM Sans"/>
              </a:rPr>
              <a:t>Involves reviewing logon events and narrowing it down. </a:t>
            </a:r>
          </a:p>
          <a:p>
            <a:pPr marL="643530" lvl="1" indent="-342900">
              <a:lnSpc>
                <a:spcPct val="150000"/>
              </a:lnSpc>
              <a:buFont typeface="Arial" panose="020B0604020202020204" pitchFamily="34" charset="0"/>
              <a:buChar char="•"/>
            </a:pPr>
            <a:r>
              <a:rPr lang="en-US" sz="2800" dirty="0">
                <a:solidFill>
                  <a:srgbClr val="FFFFFF"/>
                </a:solidFill>
                <a:latin typeface="DM Sans"/>
                <a:ea typeface="DM Sans"/>
                <a:cs typeface="DM Sans"/>
                <a:sym typeface="DM Sans"/>
              </a:rPr>
              <a:t>Example SIEM Query (may not work on all SIEMs)</a:t>
            </a:r>
          </a:p>
          <a:p>
            <a:pPr marL="300630" lvl="1">
              <a:lnSpc>
                <a:spcPct val="150000"/>
              </a:lnSpc>
            </a:pPr>
            <a:endParaRPr lang="en-US" sz="2400" dirty="0">
              <a:solidFill>
                <a:srgbClr val="FFFFFF"/>
              </a:solidFill>
              <a:latin typeface="DM Sans"/>
              <a:ea typeface="DM Sans"/>
              <a:cs typeface="DM Sans"/>
              <a:sym typeface="DM Sans"/>
            </a:endParaRPr>
          </a:p>
          <a:p>
            <a:pPr marL="757830" lvl="2">
              <a:lnSpc>
                <a:spcPct val="150000"/>
              </a:lnSpc>
            </a:pPr>
            <a:r>
              <a:rPr lang="en-US" sz="2400" dirty="0">
                <a:solidFill>
                  <a:srgbClr val="FFFFFF"/>
                </a:solidFill>
                <a:latin typeface="Courier New" panose="02070309020205020404" pitchFamily="49" charset="0"/>
                <a:ea typeface="DM Sans"/>
                <a:cs typeface="Courier New" panose="02070309020205020404" pitchFamily="49" charset="0"/>
                <a:sym typeface="DM Sans"/>
              </a:rPr>
              <a:t>index=</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wineventlog</a:t>
            </a:r>
            <a:r>
              <a:rPr lang="en-US" sz="2400" dirty="0">
                <a:solidFill>
                  <a:srgbClr val="FFFFFF"/>
                </a:solidFill>
                <a:latin typeface="Courier New" panose="02070309020205020404" pitchFamily="49" charset="0"/>
                <a:ea typeface="DM Sans"/>
                <a:cs typeface="Courier New" panose="02070309020205020404" pitchFamily="49" charset="0"/>
                <a:sym typeface="DM Sans"/>
              </a:rPr>
              <a:t> </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sourcetype</a:t>
            </a:r>
            <a:r>
              <a:rPr lang="en-US" sz="2400" dirty="0">
                <a:solidFill>
                  <a:srgbClr val="FFFFFF"/>
                </a:solidFill>
                <a:latin typeface="Courier New" panose="02070309020205020404" pitchFamily="49" charset="0"/>
                <a:ea typeface="DM Sans"/>
                <a:cs typeface="Courier New" panose="02070309020205020404" pitchFamily="49" charset="0"/>
                <a:sym typeface="DM Sans"/>
              </a:rPr>
              <a:t>=</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WinEventLog:Security</a:t>
            </a:r>
            <a:r>
              <a:rPr lang="en-US" sz="2400" dirty="0">
                <a:solidFill>
                  <a:srgbClr val="FFFFFF"/>
                </a:solidFill>
                <a:latin typeface="Courier New" panose="02070309020205020404" pitchFamily="49" charset="0"/>
                <a:ea typeface="DM Sans"/>
                <a:cs typeface="Courier New" panose="02070309020205020404" pitchFamily="49" charset="0"/>
                <a:sym typeface="DM Sans"/>
              </a:rPr>
              <a:t> </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EventCode</a:t>
            </a:r>
            <a:r>
              <a:rPr lang="en-US" sz="2400" dirty="0">
                <a:solidFill>
                  <a:srgbClr val="FFFFFF"/>
                </a:solidFill>
                <a:latin typeface="Courier New" panose="02070309020205020404" pitchFamily="49" charset="0"/>
                <a:ea typeface="DM Sans"/>
                <a:cs typeface="Courier New" panose="02070309020205020404" pitchFamily="49" charset="0"/>
                <a:sym typeface="DM Sans"/>
              </a:rPr>
              <a:t>=4769 </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Account_Name</a:t>
            </a:r>
            <a:r>
              <a:rPr lang="en-US" sz="2400" dirty="0">
                <a:solidFill>
                  <a:srgbClr val="FFFFFF"/>
                </a:solidFill>
                <a:latin typeface="Courier New" panose="02070309020205020404" pitchFamily="49" charset="0"/>
                <a:ea typeface="DM Sans"/>
                <a:cs typeface="Courier New" panose="02070309020205020404" pitchFamily="49" charset="0"/>
                <a:sym typeface="DM Sans"/>
              </a:rPr>
              <a:t>="*svc*"</a:t>
            </a:r>
          </a:p>
          <a:p>
            <a:pPr marL="757830" lvl="2">
              <a:lnSpc>
                <a:spcPct val="150000"/>
              </a:lnSpc>
            </a:pPr>
            <a:r>
              <a:rPr lang="en-US" sz="2400" dirty="0">
                <a:solidFill>
                  <a:srgbClr val="FFFFFF"/>
                </a:solidFill>
                <a:latin typeface="Courier New" panose="02070309020205020404" pitchFamily="49" charset="0"/>
                <a:ea typeface="DM Sans"/>
                <a:cs typeface="Courier New" panose="02070309020205020404" pitchFamily="49" charset="0"/>
                <a:sym typeface="DM Sans"/>
              </a:rPr>
              <a:t>| table _time, </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ComputerName</a:t>
            </a:r>
            <a:r>
              <a:rPr lang="en-US" sz="2400" dirty="0">
                <a:solidFill>
                  <a:srgbClr val="FFFFFF"/>
                </a:solidFill>
                <a:latin typeface="Courier New" panose="02070309020205020404" pitchFamily="49" charset="0"/>
                <a:ea typeface="DM Sans"/>
                <a:cs typeface="Courier New" panose="02070309020205020404" pitchFamily="49" charset="0"/>
                <a:sym typeface="DM Sans"/>
              </a:rPr>
              <a:t>, </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Account_Name</a:t>
            </a:r>
            <a:r>
              <a:rPr lang="en-US" sz="2400" dirty="0">
                <a:solidFill>
                  <a:srgbClr val="FFFFFF"/>
                </a:solidFill>
                <a:latin typeface="Courier New" panose="02070309020205020404" pitchFamily="49" charset="0"/>
                <a:ea typeface="DM Sans"/>
                <a:cs typeface="Courier New" panose="02070309020205020404" pitchFamily="49" charset="0"/>
                <a:sym typeface="DM Sans"/>
              </a:rPr>
              <a:t>, </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Service_Name</a:t>
            </a:r>
            <a:r>
              <a:rPr lang="en-US" sz="2400" dirty="0">
                <a:solidFill>
                  <a:srgbClr val="FFFFFF"/>
                </a:solidFill>
                <a:latin typeface="Courier New" panose="02070309020205020404" pitchFamily="49" charset="0"/>
                <a:ea typeface="DM Sans"/>
                <a:cs typeface="Courier New" panose="02070309020205020404" pitchFamily="49" charset="0"/>
                <a:sym typeface="DM Sans"/>
              </a:rPr>
              <a:t>, </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Ticket_Options</a:t>
            </a:r>
            <a:r>
              <a:rPr lang="en-US" sz="2400" dirty="0">
                <a:solidFill>
                  <a:srgbClr val="FFFFFF"/>
                </a:solidFill>
                <a:latin typeface="Courier New" panose="02070309020205020404" pitchFamily="49" charset="0"/>
                <a:ea typeface="DM Sans"/>
                <a:cs typeface="Courier New" panose="02070309020205020404" pitchFamily="49" charset="0"/>
                <a:sym typeface="DM Sans"/>
              </a:rPr>
              <a:t>, </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IpAddress</a:t>
            </a:r>
            <a:r>
              <a:rPr lang="en-US" sz="2400" dirty="0">
                <a:solidFill>
                  <a:srgbClr val="FFFFFF"/>
                </a:solidFill>
                <a:latin typeface="Courier New" panose="02070309020205020404" pitchFamily="49" charset="0"/>
                <a:ea typeface="DM Sans"/>
                <a:cs typeface="Courier New" panose="02070309020205020404" pitchFamily="49" charset="0"/>
                <a:sym typeface="DM Sans"/>
              </a:rPr>
              <a:t>, </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Process_Name</a:t>
            </a:r>
            <a:endParaRPr lang="en-US" sz="2400" dirty="0">
              <a:solidFill>
                <a:srgbClr val="FFFFFF"/>
              </a:solidFill>
              <a:latin typeface="Courier New" panose="02070309020205020404" pitchFamily="49" charset="0"/>
              <a:ea typeface="DM Sans"/>
              <a:cs typeface="Courier New" panose="02070309020205020404" pitchFamily="49" charset="0"/>
              <a:sym typeface="DM Sans"/>
            </a:endParaRPr>
          </a:p>
          <a:p>
            <a:pPr marL="300630" lvl="1">
              <a:lnSpc>
                <a:spcPct val="150000"/>
              </a:lnSpc>
            </a:pPr>
            <a:endParaRPr lang="en-US" sz="2400" dirty="0">
              <a:solidFill>
                <a:srgbClr val="FFFFFF"/>
              </a:solidFill>
              <a:latin typeface="DM Sans"/>
              <a:ea typeface="DM Sans"/>
              <a:cs typeface="DM Sans"/>
              <a:sym typeface="DM Sans"/>
            </a:endParaRPr>
          </a:p>
        </p:txBody>
      </p:sp>
    </p:spTree>
    <p:extLst>
      <p:ext uri="{BB962C8B-B14F-4D97-AF65-F5344CB8AC3E}">
        <p14:creationId xmlns:p14="http://schemas.microsoft.com/office/powerpoint/2010/main" val="171202666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a:extLst>
            <a:ext uri="{FF2B5EF4-FFF2-40B4-BE49-F238E27FC236}">
              <a16:creationId xmlns:a16="http://schemas.microsoft.com/office/drawing/2014/main" id="{44AC8FB8-BFF7-7ADE-B2D8-7D5ADF3FFCE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F1164F6E-0A13-1501-A064-E63B2A90AE86}"/>
              </a:ext>
            </a:extLst>
          </p:cNvPr>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a:extLst>
              <a:ext uri="{FF2B5EF4-FFF2-40B4-BE49-F238E27FC236}">
                <a16:creationId xmlns:a16="http://schemas.microsoft.com/office/drawing/2014/main" id="{B25B0CCE-78B0-ADCD-8144-46A6D05273BA}"/>
              </a:ext>
            </a:extLst>
          </p:cNvPr>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a:extLst>
              <a:ext uri="{FF2B5EF4-FFF2-40B4-BE49-F238E27FC236}">
                <a16:creationId xmlns:a16="http://schemas.microsoft.com/office/drawing/2014/main" id="{568B5F1C-7D35-E994-88AA-7F1FF6635B0E}"/>
              </a:ext>
            </a:extLst>
          </p:cNvPr>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7">
            <a:extLst>
              <a:ext uri="{FF2B5EF4-FFF2-40B4-BE49-F238E27FC236}">
                <a16:creationId xmlns:a16="http://schemas.microsoft.com/office/drawing/2014/main" id="{433293A8-6F6F-0F75-2D4A-4C3BA671779B}"/>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dirty="0">
                <a:solidFill>
                  <a:srgbClr val="FFFFFF"/>
                </a:solidFill>
                <a:latin typeface="Anton"/>
                <a:ea typeface="Anton"/>
                <a:cs typeface="Anton"/>
                <a:sym typeface="Anton"/>
              </a:rPr>
              <a:t>BONUS</a:t>
            </a:r>
          </a:p>
        </p:txBody>
      </p:sp>
      <p:sp>
        <p:nvSpPr>
          <p:cNvPr id="7" name="TextBox 7">
            <a:extLst>
              <a:ext uri="{FF2B5EF4-FFF2-40B4-BE49-F238E27FC236}">
                <a16:creationId xmlns:a16="http://schemas.microsoft.com/office/drawing/2014/main" id="{C29AAFA2-BDB8-0AC8-32FB-B3E91FA5F621}"/>
              </a:ext>
            </a:extLst>
          </p:cNvPr>
          <p:cNvSpPr txBox="1"/>
          <p:nvPr/>
        </p:nvSpPr>
        <p:spPr>
          <a:xfrm>
            <a:off x="533399" y="406993"/>
            <a:ext cx="10938165" cy="538609"/>
          </a:xfrm>
          <a:prstGeom prst="rect">
            <a:avLst/>
          </a:prstGeom>
        </p:spPr>
        <p:txBody>
          <a:bodyPr wrap="square" lIns="0" tIns="0" rIns="0" bIns="0" rtlCol="0" anchor="t">
            <a:spAutoFit/>
          </a:bodyPr>
          <a:lstStyle/>
          <a:p>
            <a:pPr marL="0" lvl="0" indent="0" algn="l">
              <a:lnSpc>
                <a:spcPts val="4160"/>
              </a:lnSpc>
            </a:pPr>
            <a:r>
              <a:rPr lang="en-US" sz="4000" dirty="0">
                <a:solidFill>
                  <a:srgbClr val="38B6FF"/>
                </a:solidFill>
                <a:latin typeface="Anton"/>
                <a:ea typeface="Anton"/>
                <a:cs typeface="Anton"/>
                <a:sym typeface="Anton"/>
              </a:rPr>
              <a:t>BONUS – Ongoing Tagging of Service Accounts</a:t>
            </a:r>
          </a:p>
        </p:txBody>
      </p:sp>
      <p:sp>
        <p:nvSpPr>
          <p:cNvPr id="9" name="TextBox 8">
            <a:extLst>
              <a:ext uri="{FF2B5EF4-FFF2-40B4-BE49-F238E27FC236}">
                <a16:creationId xmlns:a16="http://schemas.microsoft.com/office/drawing/2014/main" id="{1E234B69-BB12-DC74-4CF2-E3E93C28394A}"/>
              </a:ext>
            </a:extLst>
          </p:cNvPr>
          <p:cNvSpPr txBox="1"/>
          <p:nvPr/>
        </p:nvSpPr>
        <p:spPr>
          <a:xfrm>
            <a:off x="1076985" y="1112571"/>
            <a:ext cx="16061088" cy="7705379"/>
          </a:xfrm>
          <a:prstGeom prst="rect">
            <a:avLst/>
          </a:prstGeom>
        </p:spPr>
        <p:txBody>
          <a:bodyPr wrap="square" lIns="0" tIns="0" rIns="0" bIns="0" rtlCol="0" anchor="t">
            <a:spAutoFit/>
          </a:bodyPr>
          <a:lstStyle/>
          <a:p>
            <a:pPr marL="300630" lvl="1">
              <a:lnSpc>
                <a:spcPct val="150000"/>
              </a:lnSpc>
            </a:pPr>
            <a:r>
              <a:rPr lang="en-US" sz="2400" dirty="0">
                <a:solidFill>
                  <a:srgbClr val="FFFFFF"/>
                </a:solidFill>
                <a:latin typeface="DM Sans"/>
                <a:ea typeface="DM Sans"/>
                <a:cs typeface="DM Sans"/>
                <a:sym typeface="DM Sans"/>
              </a:rPr>
              <a:t>How do you keep track of them after finding them?</a:t>
            </a:r>
          </a:p>
          <a:p>
            <a:pPr marL="300630" lvl="1">
              <a:lnSpc>
                <a:spcPct val="150000"/>
              </a:lnSpc>
            </a:pPr>
            <a:r>
              <a:rPr lang="en-US" sz="2400" dirty="0">
                <a:solidFill>
                  <a:srgbClr val="FFFFFF"/>
                </a:solidFill>
                <a:latin typeface="DM Sans"/>
                <a:ea typeface="DM Sans"/>
                <a:cs typeface="Courier New" panose="02070309020205020404" pitchFamily="49" charset="0"/>
                <a:sym typeface="DM Sans"/>
              </a:rPr>
              <a:t>1. Create and develop a naming convention for all service accounts. </a:t>
            </a:r>
          </a:p>
          <a:p>
            <a:pPr marL="300630" lvl="1">
              <a:lnSpc>
                <a:spcPct val="150000"/>
              </a:lnSpc>
            </a:pPr>
            <a:r>
              <a:rPr lang="en-US" sz="2400" i="1" dirty="0">
                <a:solidFill>
                  <a:srgbClr val="FFFFFF"/>
                </a:solidFill>
                <a:latin typeface="DM Sans"/>
                <a:ea typeface="DM Sans"/>
                <a:cs typeface="Courier New" panose="02070309020205020404" pitchFamily="49" charset="0"/>
                <a:sym typeface="DM Sans"/>
              </a:rPr>
              <a:t>	</a:t>
            </a:r>
            <a:r>
              <a:rPr lang="en-US" sz="2400" i="1" dirty="0" err="1">
                <a:solidFill>
                  <a:srgbClr val="FFFFFF"/>
                </a:solidFill>
                <a:latin typeface="DM Sans"/>
                <a:ea typeface="DM Sans"/>
                <a:cs typeface="Courier New" panose="02070309020205020404" pitchFamily="49" charset="0"/>
                <a:sym typeface="DM Sans"/>
              </a:rPr>
              <a:t>srv_MyService</a:t>
            </a:r>
            <a:br>
              <a:rPr lang="en-US" sz="2400" i="1" dirty="0">
                <a:solidFill>
                  <a:srgbClr val="FFFFFF"/>
                </a:solidFill>
                <a:latin typeface="DM Sans"/>
                <a:ea typeface="DM Sans"/>
                <a:cs typeface="Courier New" panose="02070309020205020404" pitchFamily="49" charset="0"/>
                <a:sym typeface="DM Sans"/>
              </a:rPr>
            </a:br>
            <a:r>
              <a:rPr lang="en-US" sz="2400" i="1" dirty="0">
                <a:solidFill>
                  <a:srgbClr val="FFFFFF"/>
                </a:solidFill>
                <a:latin typeface="DM Sans"/>
                <a:ea typeface="DM Sans"/>
                <a:cs typeface="Courier New" panose="02070309020205020404" pitchFamily="49" charset="0"/>
                <a:sym typeface="DM Sans"/>
              </a:rPr>
              <a:t>	</a:t>
            </a:r>
            <a:r>
              <a:rPr lang="en-US" sz="2400" i="1" dirty="0" err="1">
                <a:solidFill>
                  <a:srgbClr val="FFFFFF"/>
                </a:solidFill>
                <a:latin typeface="DM Sans"/>
                <a:ea typeface="DM Sans"/>
                <a:cs typeface="Courier New" panose="02070309020205020404" pitchFamily="49" charset="0"/>
                <a:sym typeface="DM Sans"/>
              </a:rPr>
              <a:t>servMyService</a:t>
            </a:r>
            <a:endParaRPr lang="en-US" sz="2400" i="1" dirty="0">
              <a:solidFill>
                <a:srgbClr val="FFFFFF"/>
              </a:solidFill>
              <a:latin typeface="DM Sans"/>
              <a:ea typeface="DM Sans"/>
              <a:cs typeface="Courier New" panose="02070309020205020404" pitchFamily="49" charset="0"/>
              <a:sym typeface="DM Sans"/>
            </a:endParaRPr>
          </a:p>
          <a:p>
            <a:pPr marL="300630" lvl="1">
              <a:lnSpc>
                <a:spcPct val="150000"/>
              </a:lnSpc>
            </a:pPr>
            <a:r>
              <a:rPr lang="en-US" sz="2400" dirty="0">
                <a:solidFill>
                  <a:srgbClr val="FFFFFF"/>
                </a:solidFill>
                <a:latin typeface="DM Sans"/>
                <a:ea typeface="DM Sans"/>
                <a:cs typeface="Courier New" panose="02070309020205020404" pitchFamily="49" charset="0"/>
                <a:sym typeface="DM Sans"/>
              </a:rPr>
              <a:t>2. Have a dedicated Service Account OU for each tier of accounts. </a:t>
            </a:r>
            <a:endParaRPr lang="en-US" sz="2400" dirty="0">
              <a:solidFill>
                <a:srgbClr val="FFFFFF"/>
              </a:solidFill>
              <a:latin typeface="Courier New" panose="02070309020205020404" pitchFamily="49" charset="0"/>
              <a:ea typeface="DM Sans"/>
              <a:cs typeface="Courier New" panose="02070309020205020404" pitchFamily="49" charset="0"/>
              <a:sym typeface="DM Sans"/>
            </a:endParaRPr>
          </a:p>
          <a:p>
            <a:pPr marL="300630" lvl="1">
              <a:lnSpc>
                <a:spcPct val="150000"/>
              </a:lnSpc>
            </a:pPr>
            <a:r>
              <a:rPr lang="en-US" sz="2400" dirty="0">
                <a:solidFill>
                  <a:srgbClr val="FFFFFF"/>
                </a:solidFill>
                <a:latin typeface="DM Sans"/>
                <a:ea typeface="DM Sans"/>
                <a:cs typeface="DM Sans"/>
                <a:sym typeface="DM Sans"/>
              </a:rPr>
              <a:t>	OU=Service Accounts, OU=T0 Accounts, OU=Tier 0, OU=Privileged Admin, $</a:t>
            </a:r>
            <a:r>
              <a:rPr lang="en-US" sz="2400" dirty="0" err="1">
                <a:solidFill>
                  <a:srgbClr val="FFFFFF"/>
                </a:solidFill>
                <a:latin typeface="DM Sans"/>
                <a:ea typeface="DM Sans"/>
                <a:cs typeface="DM Sans"/>
                <a:sym typeface="DM Sans"/>
              </a:rPr>
              <a:t>DomainDN</a:t>
            </a:r>
            <a:endParaRPr lang="en-US" sz="2400" dirty="0">
              <a:solidFill>
                <a:srgbClr val="FFFFFF"/>
              </a:solidFill>
              <a:latin typeface="DM Sans"/>
              <a:ea typeface="DM Sans"/>
              <a:cs typeface="DM Sans"/>
              <a:sym typeface="DM Sans"/>
            </a:endParaRPr>
          </a:p>
          <a:p>
            <a:pPr marL="300630" lvl="1">
              <a:lnSpc>
                <a:spcPct val="150000"/>
              </a:lnSpc>
            </a:pPr>
            <a:endParaRPr lang="en-US" sz="2400" dirty="0">
              <a:solidFill>
                <a:srgbClr val="FFFFFF"/>
              </a:solidFill>
              <a:latin typeface="DM Sans"/>
              <a:ea typeface="DM Sans"/>
              <a:cs typeface="DM Sans"/>
              <a:sym typeface="DM Sans"/>
            </a:endParaRPr>
          </a:p>
          <a:p>
            <a:pPr marL="300630" lvl="1">
              <a:lnSpc>
                <a:spcPct val="150000"/>
              </a:lnSpc>
            </a:pPr>
            <a:r>
              <a:rPr lang="en-US" sz="2400" dirty="0">
                <a:solidFill>
                  <a:srgbClr val="FFFFFF"/>
                </a:solidFill>
                <a:latin typeface="DM Sans"/>
                <a:ea typeface="DM Sans"/>
                <a:cs typeface="DM Sans"/>
                <a:sym typeface="DM Sans"/>
              </a:rPr>
              <a:t>Attribute Identification of Service Accounts</a:t>
            </a:r>
          </a:p>
          <a:p>
            <a:pPr marL="643530" lvl="1" indent="-342900">
              <a:lnSpc>
                <a:spcPct val="150000"/>
              </a:lnSpc>
              <a:buFont typeface="Arial" panose="020B0604020202020204" pitchFamily="34" charset="0"/>
              <a:buChar char="•"/>
            </a:pPr>
            <a:r>
              <a:rPr lang="en-US" sz="2400" dirty="0">
                <a:solidFill>
                  <a:srgbClr val="FFFFFF"/>
                </a:solidFill>
                <a:latin typeface="DM Sans"/>
                <a:ea typeface="DM Sans"/>
                <a:cs typeface="DM Sans"/>
                <a:sym typeface="DM Sans"/>
              </a:rPr>
              <a:t>Choose an attribute that isn’t used and store this information.</a:t>
            </a:r>
          </a:p>
          <a:p>
            <a:pPr marL="643530" lvl="1" indent="-342900">
              <a:lnSpc>
                <a:spcPct val="150000"/>
              </a:lnSpc>
              <a:buFont typeface="Arial" panose="020B0604020202020204" pitchFamily="34" charset="0"/>
              <a:buChar char="•"/>
            </a:pPr>
            <a:r>
              <a:rPr lang="en-US" sz="2400" dirty="0">
                <a:solidFill>
                  <a:srgbClr val="FFFFFF"/>
                </a:solidFill>
                <a:latin typeface="DM Sans"/>
                <a:ea typeface="DM Sans"/>
                <a:cs typeface="DM Sans"/>
                <a:sym typeface="DM Sans"/>
              </a:rPr>
              <a:t>Avoid </a:t>
            </a:r>
            <a:r>
              <a:rPr lang="en-US" sz="2400" b="1" dirty="0" err="1">
                <a:solidFill>
                  <a:srgbClr val="FFFFFF"/>
                </a:solidFill>
                <a:latin typeface="DM Sans"/>
                <a:ea typeface="DM Sans"/>
                <a:cs typeface="DM Sans"/>
                <a:sym typeface="DM Sans"/>
              </a:rPr>
              <a:t>extensionAttributes</a:t>
            </a:r>
            <a:r>
              <a:rPr lang="en-US" sz="2400" dirty="0">
                <a:solidFill>
                  <a:srgbClr val="FFFFFF"/>
                </a:solidFill>
                <a:latin typeface="DM Sans"/>
                <a:ea typeface="DM Sans"/>
                <a:cs typeface="DM Sans"/>
                <a:sym typeface="DM Sans"/>
              </a:rPr>
              <a:t>. They’re overused</a:t>
            </a:r>
          </a:p>
          <a:p>
            <a:pPr marL="643530" lvl="1" indent="-342900">
              <a:lnSpc>
                <a:spcPct val="150000"/>
              </a:lnSpc>
              <a:buFont typeface="Arial" panose="020B0604020202020204" pitchFamily="34" charset="0"/>
              <a:buChar char="•"/>
            </a:pPr>
            <a:r>
              <a:rPr lang="en-US" sz="2400" dirty="0">
                <a:solidFill>
                  <a:srgbClr val="FFFFFF"/>
                </a:solidFill>
                <a:latin typeface="DM Sans"/>
                <a:ea typeface="DM Sans"/>
                <a:cs typeface="DM Sans"/>
                <a:sym typeface="DM Sans"/>
              </a:rPr>
              <a:t>Avoid attributes that otherwise have other uses. (e.g.; pager, organization, etc.)</a:t>
            </a:r>
          </a:p>
          <a:p>
            <a:pPr marL="643530" lvl="1" indent="-342900">
              <a:lnSpc>
                <a:spcPct val="150000"/>
              </a:lnSpc>
              <a:buFont typeface="Arial" panose="020B0604020202020204" pitchFamily="34" charset="0"/>
              <a:buChar char="•"/>
            </a:pPr>
            <a:r>
              <a:rPr lang="en-US" sz="2400" dirty="0">
                <a:solidFill>
                  <a:srgbClr val="FFFFFF"/>
                </a:solidFill>
                <a:latin typeface="DM Sans"/>
                <a:ea typeface="DM Sans"/>
                <a:cs typeface="DM Sans"/>
                <a:sym typeface="DM Sans"/>
              </a:rPr>
              <a:t>Recommended attributes</a:t>
            </a:r>
          </a:p>
          <a:p>
            <a:pPr marL="1100730" lvl="2" indent="-342900">
              <a:lnSpc>
                <a:spcPct val="150000"/>
              </a:lnSpc>
              <a:buFont typeface="Arial" panose="020B0604020202020204" pitchFamily="34" charset="0"/>
              <a:buChar char="•"/>
            </a:pPr>
            <a:r>
              <a:rPr lang="en-US" sz="2400" b="1" dirty="0" err="1">
                <a:solidFill>
                  <a:srgbClr val="FFFFFF"/>
                </a:solidFill>
                <a:latin typeface="DM Sans"/>
                <a:ea typeface="DM Sans"/>
                <a:cs typeface="DM Sans"/>
                <a:sym typeface="DM Sans"/>
              </a:rPr>
              <a:t>employeeType</a:t>
            </a:r>
            <a:r>
              <a:rPr lang="en-US" sz="2400" dirty="0">
                <a:solidFill>
                  <a:srgbClr val="FFFFFF"/>
                </a:solidFill>
                <a:latin typeface="DM Sans"/>
                <a:ea typeface="DM Sans"/>
                <a:cs typeface="DM Sans"/>
                <a:sym typeface="DM Sans"/>
              </a:rPr>
              <a:t> = Free text. Put </a:t>
            </a:r>
            <a:r>
              <a:rPr lang="en-US" sz="2400" i="1" dirty="0">
                <a:solidFill>
                  <a:srgbClr val="FFFFFF"/>
                </a:solidFill>
                <a:latin typeface="DM Sans"/>
                <a:ea typeface="DM Sans"/>
                <a:cs typeface="DM Sans"/>
                <a:sym typeface="DM Sans"/>
              </a:rPr>
              <a:t>Service Account </a:t>
            </a:r>
            <a:r>
              <a:rPr lang="en-US" sz="2400" dirty="0">
                <a:solidFill>
                  <a:srgbClr val="FFFFFF"/>
                </a:solidFill>
                <a:latin typeface="DM Sans"/>
                <a:ea typeface="DM Sans"/>
                <a:cs typeface="DM Sans"/>
                <a:sym typeface="DM Sans"/>
              </a:rPr>
              <a:t>in it for service accounts. </a:t>
            </a:r>
          </a:p>
          <a:p>
            <a:pPr marL="1100730" lvl="2" indent="-342900">
              <a:lnSpc>
                <a:spcPct val="150000"/>
              </a:lnSpc>
              <a:buFont typeface="Arial" panose="020B0604020202020204" pitchFamily="34" charset="0"/>
              <a:buChar char="•"/>
            </a:pPr>
            <a:r>
              <a:rPr lang="en-US" sz="2400" b="1" dirty="0">
                <a:solidFill>
                  <a:srgbClr val="FFFFFF"/>
                </a:solidFill>
                <a:latin typeface="DM Sans"/>
                <a:ea typeface="DM Sans"/>
                <a:cs typeface="DM Sans"/>
                <a:sym typeface="DM Sans"/>
              </a:rPr>
              <a:t>Flags</a:t>
            </a:r>
            <a:r>
              <a:rPr lang="en-US" sz="2400" dirty="0">
                <a:solidFill>
                  <a:srgbClr val="FFFFFF"/>
                </a:solidFill>
                <a:latin typeface="DM Sans"/>
                <a:ea typeface="DM Sans"/>
                <a:cs typeface="DM Sans"/>
                <a:sym typeface="DM Sans"/>
              </a:rPr>
              <a:t> = Integer value. Use a binary </a:t>
            </a:r>
            <a:r>
              <a:rPr lang="en-US" sz="2400" dirty="0" err="1">
                <a:solidFill>
                  <a:srgbClr val="FFFFFF"/>
                </a:solidFill>
                <a:latin typeface="DM Sans"/>
                <a:ea typeface="DM Sans"/>
                <a:cs typeface="DM Sans"/>
                <a:sym typeface="DM Sans"/>
              </a:rPr>
              <a:t>enum</a:t>
            </a:r>
            <a:r>
              <a:rPr lang="en-US" sz="2400" dirty="0">
                <a:solidFill>
                  <a:srgbClr val="FFFFFF"/>
                </a:solidFill>
                <a:latin typeface="DM Sans"/>
                <a:ea typeface="DM Sans"/>
                <a:cs typeface="DM Sans"/>
                <a:sym typeface="DM Sans"/>
              </a:rPr>
              <a:t> with each power of 2 representing an account type. </a:t>
            </a:r>
          </a:p>
        </p:txBody>
      </p:sp>
    </p:spTree>
    <p:extLst>
      <p:ext uri="{BB962C8B-B14F-4D97-AF65-F5344CB8AC3E}">
        <p14:creationId xmlns:p14="http://schemas.microsoft.com/office/powerpoint/2010/main" val="338009686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76985" y="1095375"/>
            <a:ext cx="7068808"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MANAGED SERVICE ACCOUNTS</a:t>
            </a:r>
          </a:p>
        </p:txBody>
      </p:sp>
      <p:sp>
        <p:nvSpPr>
          <p:cNvPr id="6" name="TextBox 6"/>
          <p:cNvSpPr txBox="1"/>
          <p:nvPr/>
        </p:nvSpPr>
        <p:spPr>
          <a:xfrm>
            <a:off x="1076985" y="1698019"/>
            <a:ext cx="8466267" cy="4596765"/>
          </a:xfrm>
          <a:prstGeom prst="rect">
            <a:avLst/>
          </a:prstGeom>
        </p:spPr>
        <p:txBody>
          <a:bodyPr lIns="0" tIns="0" rIns="0" bIns="0" rtlCol="0" anchor="t">
            <a:spAutoFit/>
          </a:bodyPr>
          <a:lstStyle/>
          <a:p>
            <a:pPr marL="518160" lvl="1" indent="-259080" algn="l">
              <a:lnSpc>
                <a:spcPts val="3359"/>
              </a:lnSpc>
              <a:buFont typeface="Arial"/>
              <a:buChar char="•"/>
            </a:pPr>
            <a:r>
              <a:rPr lang="en-US" sz="2400">
                <a:solidFill>
                  <a:srgbClr val="767676"/>
                </a:solidFill>
                <a:latin typeface="DM Sans"/>
                <a:ea typeface="DM Sans"/>
                <a:cs typeface="DM Sans"/>
                <a:sym typeface="DM Sans"/>
              </a:rPr>
              <a:t>sMSAs = Standalone MSAs</a:t>
            </a:r>
          </a:p>
          <a:p>
            <a:pPr marL="1036320" lvl="2" indent="-345440" algn="l">
              <a:lnSpc>
                <a:spcPts val="3359"/>
              </a:lnSpc>
              <a:buFont typeface="Arial"/>
              <a:buChar char="⚬"/>
            </a:pPr>
            <a:r>
              <a:rPr lang="en-US" sz="2400">
                <a:solidFill>
                  <a:srgbClr val="767676"/>
                </a:solidFill>
                <a:latin typeface="DM Sans"/>
                <a:ea typeface="DM Sans"/>
                <a:cs typeface="DM Sans"/>
                <a:sym typeface="DM Sans"/>
              </a:rPr>
              <a:t>Don’t use</a:t>
            </a:r>
          </a:p>
          <a:p>
            <a:pPr algn="l">
              <a:lnSpc>
                <a:spcPts val="3359"/>
              </a:lnSpc>
            </a:pPr>
            <a:endParaRPr lang="en-US" sz="2400">
              <a:solidFill>
                <a:srgbClr val="767676"/>
              </a:solidFill>
              <a:latin typeface="DM Sans"/>
              <a:ea typeface="DM Sans"/>
              <a:cs typeface="DM Sans"/>
              <a:sym typeface="DM Sans"/>
            </a:endParaRPr>
          </a:p>
          <a:p>
            <a:pPr marL="518160" lvl="1" indent="-259080" algn="l">
              <a:lnSpc>
                <a:spcPts val="3359"/>
              </a:lnSpc>
              <a:buFont typeface="Arial"/>
              <a:buChar char="•"/>
            </a:pPr>
            <a:r>
              <a:rPr lang="en-US" sz="2400">
                <a:solidFill>
                  <a:srgbClr val="FFFFFF"/>
                </a:solidFill>
                <a:latin typeface="DM Sans"/>
                <a:ea typeface="DM Sans"/>
                <a:cs typeface="DM Sans"/>
                <a:sym typeface="DM Sans"/>
              </a:rPr>
              <a:t>gMSAs = Group Managed Service Accounts</a:t>
            </a:r>
          </a:p>
          <a:p>
            <a:pPr marL="1036320" lvl="2" indent="-345440" algn="l">
              <a:lnSpc>
                <a:spcPts val="3359"/>
              </a:lnSpc>
              <a:buFont typeface="Arial"/>
              <a:buChar char="⚬"/>
            </a:pPr>
            <a:r>
              <a:rPr lang="en-US" sz="2400">
                <a:solidFill>
                  <a:srgbClr val="FFFFFF"/>
                </a:solidFill>
                <a:latin typeface="DM Sans"/>
                <a:ea typeface="DM Sans"/>
                <a:cs typeface="DM Sans"/>
                <a:sym typeface="DM Sans"/>
              </a:rPr>
              <a:t>Manage their own password + SPN</a:t>
            </a:r>
          </a:p>
          <a:p>
            <a:pPr marL="1036320" lvl="2" indent="-345440" algn="l">
              <a:lnSpc>
                <a:spcPts val="3359"/>
              </a:lnSpc>
              <a:buFont typeface="Arial"/>
              <a:buChar char="⚬"/>
            </a:pPr>
            <a:r>
              <a:rPr lang="en-US" sz="2400">
                <a:solidFill>
                  <a:srgbClr val="FFFFFF"/>
                </a:solidFill>
                <a:latin typeface="DM Sans"/>
                <a:ea typeface="DM Sans"/>
                <a:cs typeface="DM Sans"/>
                <a:sym typeface="DM Sans"/>
              </a:rPr>
              <a:t>Non-Interactive</a:t>
            </a:r>
          </a:p>
          <a:p>
            <a:pPr marL="1036320" lvl="2" indent="-345440" algn="l">
              <a:lnSpc>
                <a:spcPts val="3359"/>
              </a:lnSpc>
              <a:buFont typeface="Arial"/>
              <a:buChar char="⚬"/>
            </a:pPr>
            <a:r>
              <a:rPr lang="en-US" sz="2400">
                <a:solidFill>
                  <a:srgbClr val="FFFFFF"/>
                </a:solidFill>
                <a:latin typeface="DM Sans"/>
                <a:ea typeface="DM Sans"/>
                <a:cs typeface="DM Sans"/>
                <a:sym typeface="DM Sans"/>
              </a:rPr>
              <a:t>Multi-System</a:t>
            </a:r>
          </a:p>
          <a:p>
            <a:pPr marL="1036320" lvl="2" indent="-345440" algn="l">
              <a:lnSpc>
                <a:spcPts val="3359"/>
              </a:lnSpc>
              <a:buFont typeface="Arial"/>
              <a:buChar char="⚬"/>
            </a:pPr>
            <a:r>
              <a:rPr lang="en-US" sz="2400">
                <a:solidFill>
                  <a:srgbClr val="FFFFFF"/>
                </a:solidFill>
                <a:latin typeface="DM Sans"/>
                <a:ea typeface="DM Sans"/>
                <a:cs typeface="DM Sans"/>
                <a:sym typeface="DM Sans"/>
              </a:rPr>
              <a:t>Harder to Kerberost</a:t>
            </a:r>
          </a:p>
          <a:p>
            <a:pPr marL="1036320" lvl="2" indent="-345440" algn="l">
              <a:lnSpc>
                <a:spcPts val="3359"/>
              </a:lnSpc>
              <a:buFont typeface="Arial"/>
              <a:buChar char="⚬"/>
            </a:pPr>
            <a:r>
              <a:rPr lang="en-US" sz="2400">
                <a:solidFill>
                  <a:srgbClr val="FFFFFF"/>
                </a:solidFill>
                <a:latin typeface="DM Sans"/>
                <a:ea typeface="DM Sans"/>
                <a:cs typeface="DM Sans"/>
                <a:sym typeface="DM Sans"/>
              </a:rPr>
              <a:t>Windows Only</a:t>
            </a:r>
          </a:p>
          <a:p>
            <a:pPr algn="l">
              <a:lnSpc>
                <a:spcPts val="3359"/>
              </a:lnSpc>
            </a:pPr>
            <a:endParaRPr lang="en-US" sz="2400">
              <a:solidFill>
                <a:srgbClr val="FFFFFF"/>
              </a:solidFill>
              <a:latin typeface="DM Sans"/>
              <a:ea typeface="DM Sans"/>
              <a:cs typeface="DM Sans"/>
              <a:sym typeface="DM Sans"/>
            </a:endParaRPr>
          </a:p>
          <a:p>
            <a:pPr algn="l">
              <a:lnSpc>
                <a:spcPts val="3359"/>
              </a:lnSpc>
              <a:spcBef>
                <a:spcPct val="0"/>
              </a:spcBef>
            </a:pPr>
            <a:endParaRPr lang="en-US" sz="2400">
              <a:solidFill>
                <a:srgbClr val="FFFFFF"/>
              </a:solidFill>
              <a:latin typeface="DM Sans"/>
              <a:ea typeface="DM Sans"/>
              <a:cs typeface="DM Sans"/>
              <a:sym typeface="DM Sans"/>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76985" y="1095375"/>
            <a:ext cx="7068808"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MANAGED SERVICE ACCOUNTS</a:t>
            </a:r>
          </a:p>
        </p:txBody>
      </p:sp>
      <p:sp>
        <p:nvSpPr>
          <p:cNvPr id="6" name="TextBox 6"/>
          <p:cNvSpPr txBox="1"/>
          <p:nvPr/>
        </p:nvSpPr>
        <p:spPr>
          <a:xfrm>
            <a:off x="1076985" y="1698019"/>
            <a:ext cx="8466267" cy="7111365"/>
          </a:xfrm>
          <a:prstGeom prst="rect">
            <a:avLst/>
          </a:prstGeom>
        </p:spPr>
        <p:txBody>
          <a:bodyPr lIns="0" tIns="0" rIns="0" bIns="0" rtlCol="0" anchor="t">
            <a:spAutoFit/>
          </a:bodyPr>
          <a:lstStyle/>
          <a:p>
            <a:pPr marL="518160" lvl="1" indent="-259080" algn="l">
              <a:lnSpc>
                <a:spcPts val="3359"/>
              </a:lnSpc>
              <a:buFont typeface="Arial"/>
              <a:buChar char="•"/>
            </a:pPr>
            <a:r>
              <a:rPr lang="en-US" sz="2400">
                <a:solidFill>
                  <a:srgbClr val="737373"/>
                </a:solidFill>
                <a:latin typeface="DM Sans"/>
                <a:ea typeface="DM Sans"/>
                <a:cs typeface="DM Sans"/>
                <a:sym typeface="DM Sans"/>
              </a:rPr>
              <a:t>sMSAs = Standalone MSAs</a:t>
            </a:r>
          </a:p>
          <a:p>
            <a:pPr marL="1036320" lvl="2" indent="-345440" algn="l">
              <a:lnSpc>
                <a:spcPts val="3359"/>
              </a:lnSpc>
              <a:buFont typeface="Arial"/>
              <a:buChar char="⚬"/>
            </a:pPr>
            <a:r>
              <a:rPr lang="en-US" sz="2400">
                <a:solidFill>
                  <a:srgbClr val="737373"/>
                </a:solidFill>
                <a:latin typeface="DM Sans"/>
                <a:ea typeface="DM Sans"/>
                <a:cs typeface="DM Sans"/>
                <a:sym typeface="DM Sans"/>
              </a:rPr>
              <a:t>Don’t use</a:t>
            </a:r>
          </a:p>
          <a:p>
            <a:pPr algn="l">
              <a:lnSpc>
                <a:spcPts val="3359"/>
              </a:lnSpc>
            </a:pPr>
            <a:endParaRPr lang="en-US" sz="2400">
              <a:solidFill>
                <a:srgbClr val="737373"/>
              </a:solidFill>
              <a:latin typeface="DM Sans"/>
              <a:ea typeface="DM Sans"/>
              <a:cs typeface="DM Sans"/>
              <a:sym typeface="DM Sans"/>
            </a:endParaRPr>
          </a:p>
          <a:p>
            <a:pPr marL="518160" lvl="1" indent="-259080" algn="l">
              <a:lnSpc>
                <a:spcPts val="3359"/>
              </a:lnSpc>
              <a:buFont typeface="Arial"/>
              <a:buChar char="•"/>
            </a:pPr>
            <a:r>
              <a:rPr lang="en-US" sz="2400">
                <a:solidFill>
                  <a:srgbClr val="737373"/>
                </a:solidFill>
                <a:latin typeface="DM Sans"/>
                <a:ea typeface="DM Sans"/>
                <a:cs typeface="DM Sans"/>
                <a:sym typeface="DM Sans"/>
              </a:rPr>
              <a:t>gMSAs = Group Managed Service Accounts</a:t>
            </a:r>
          </a:p>
          <a:p>
            <a:pPr marL="1036320" lvl="2" indent="-345440" algn="l">
              <a:lnSpc>
                <a:spcPts val="3359"/>
              </a:lnSpc>
              <a:buFont typeface="Arial"/>
              <a:buChar char="⚬"/>
            </a:pPr>
            <a:r>
              <a:rPr lang="en-US" sz="2400">
                <a:solidFill>
                  <a:srgbClr val="737373"/>
                </a:solidFill>
                <a:latin typeface="DM Sans"/>
                <a:ea typeface="DM Sans"/>
                <a:cs typeface="DM Sans"/>
                <a:sym typeface="DM Sans"/>
              </a:rPr>
              <a:t>Manage their own password + SPN</a:t>
            </a:r>
          </a:p>
          <a:p>
            <a:pPr marL="1036320" lvl="2" indent="-345440" algn="l">
              <a:lnSpc>
                <a:spcPts val="3359"/>
              </a:lnSpc>
              <a:buFont typeface="Arial"/>
              <a:buChar char="⚬"/>
            </a:pPr>
            <a:r>
              <a:rPr lang="en-US" sz="2400">
                <a:solidFill>
                  <a:srgbClr val="737373"/>
                </a:solidFill>
                <a:latin typeface="DM Sans"/>
                <a:ea typeface="DM Sans"/>
                <a:cs typeface="DM Sans"/>
                <a:sym typeface="DM Sans"/>
              </a:rPr>
              <a:t>Non-Interactive</a:t>
            </a:r>
          </a:p>
          <a:p>
            <a:pPr marL="1036320" lvl="2" indent="-345440" algn="l">
              <a:lnSpc>
                <a:spcPts val="3359"/>
              </a:lnSpc>
              <a:buFont typeface="Arial"/>
              <a:buChar char="⚬"/>
            </a:pPr>
            <a:r>
              <a:rPr lang="en-US" sz="2400">
                <a:solidFill>
                  <a:srgbClr val="737373"/>
                </a:solidFill>
                <a:latin typeface="DM Sans"/>
                <a:ea typeface="DM Sans"/>
                <a:cs typeface="DM Sans"/>
                <a:sym typeface="DM Sans"/>
              </a:rPr>
              <a:t>Multi-System</a:t>
            </a:r>
          </a:p>
          <a:p>
            <a:pPr marL="1036320" lvl="2" indent="-345440" algn="l">
              <a:lnSpc>
                <a:spcPts val="3359"/>
              </a:lnSpc>
              <a:buFont typeface="Arial"/>
              <a:buChar char="⚬"/>
            </a:pPr>
            <a:r>
              <a:rPr lang="en-US" sz="2400">
                <a:solidFill>
                  <a:srgbClr val="737373"/>
                </a:solidFill>
                <a:latin typeface="DM Sans"/>
                <a:ea typeface="DM Sans"/>
                <a:cs typeface="DM Sans"/>
                <a:sym typeface="DM Sans"/>
              </a:rPr>
              <a:t>Harder to Kerberost</a:t>
            </a:r>
          </a:p>
          <a:p>
            <a:pPr marL="1036320" lvl="2" indent="-345440" algn="l">
              <a:lnSpc>
                <a:spcPts val="3359"/>
              </a:lnSpc>
              <a:buFont typeface="Arial"/>
              <a:buChar char="⚬"/>
            </a:pPr>
            <a:r>
              <a:rPr lang="en-US" sz="2400">
                <a:solidFill>
                  <a:srgbClr val="737373"/>
                </a:solidFill>
                <a:latin typeface="DM Sans"/>
                <a:ea typeface="DM Sans"/>
                <a:cs typeface="DM Sans"/>
                <a:sym typeface="DM Sans"/>
              </a:rPr>
              <a:t>Windows Only</a:t>
            </a:r>
          </a:p>
          <a:p>
            <a:pPr algn="l">
              <a:lnSpc>
                <a:spcPts val="3359"/>
              </a:lnSpc>
            </a:pPr>
            <a:endParaRPr lang="en-US" sz="2400">
              <a:solidFill>
                <a:srgbClr val="737373"/>
              </a:solidFill>
              <a:latin typeface="DM Sans"/>
              <a:ea typeface="DM Sans"/>
              <a:cs typeface="DM Sans"/>
              <a:sym typeface="DM Sans"/>
            </a:endParaRPr>
          </a:p>
          <a:p>
            <a:pPr marL="518160" lvl="1" indent="-259080" algn="l">
              <a:lnSpc>
                <a:spcPts val="3359"/>
              </a:lnSpc>
              <a:buFont typeface="Arial"/>
              <a:buChar char="•"/>
            </a:pPr>
            <a:r>
              <a:rPr lang="en-US" sz="2400">
                <a:solidFill>
                  <a:srgbClr val="FFFFFF"/>
                </a:solidFill>
                <a:latin typeface="DM Sans"/>
                <a:ea typeface="DM Sans"/>
                <a:cs typeface="DM Sans"/>
                <a:sym typeface="DM Sans"/>
              </a:rPr>
              <a:t>dMSAs = Delegated Managed Service Accounts</a:t>
            </a:r>
          </a:p>
          <a:p>
            <a:pPr marL="1036320" lvl="2" indent="-345440" algn="l">
              <a:lnSpc>
                <a:spcPts val="3359"/>
              </a:lnSpc>
              <a:buFont typeface="Arial"/>
              <a:buChar char="⚬"/>
            </a:pPr>
            <a:r>
              <a:rPr lang="en-US" sz="2400">
                <a:solidFill>
                  <a:srgbClr val="FFFFFF"/>
                </a:solidFill>
                <a:latin typeface="DM Sans"/>
                <a:ea typeface="DM Sans"/>
                <a:cs typeface="DM Sans"/>
                <a:sym typeface="DM Sans"/>
              </a:rPr>
              <a:t>New in 2025</a:t>
            </a:r>
          </a:p>
          <a:p>
            <a:pPr marL="1036320" lvl="2" indent="-345440" algn="l">
              <a:lnSpc>
                <a:spcPts val="3359"/>
              </a:lnSpc>
              <a:buFont typeface="Arial"/>
              <a:buChar char="⚬"/>
            </a:pPr>
            <a:r>
              <a:rPr lang="en-US" sz="2400">
                <a:solidFill>
                  <a:srgbClr val="FFFFFF"/>
                </a:solidFill>
                <a:latin typeface="DM Sans"/>
                <a:ea typeface="DM Sans"/>
                <a:cs typeface="DM Sans"/>
                <a:sym typeface="DM Sans"/>
              </a:rPr>
              <a:t>Link old Service Accounts with dMSA = gMSA for unsupported apps.</a:t>
            </a:r>
          </a:p>
          <a:p>
            <a:pPr marL="1036320" lvl="2" indent="-345440" algn="l">
              <a:lnSpc>
                <a:spcPts val="3359"/>
              </a:lnSpc>
              <a:buFont typeface="Arial"/>
              <a:buChar char="⚬"/>
            </a:pPr>
            <a:r>
              <a:rPr lang="en-US" sz="2400">
                <a:solidFill>
                  <a:srgbClr val="FFFFFF"/>
                </a:solidFill>
                <a:latin typeface="DM Sans"/>
                <a:ea typeface="DM Sans"/>
                <a:cs typeface="DM Sans"/>
                <a:sym typeface="DM Sans"/>
              </a:rPr>
              <a:t>BadSuccessor = :(</a:t>
            </a:r>
          </a:p>
          <a:p>
            <a:pPr marL="1036320" lvl="2" indent="-345440" algn="l">
              <a:lnSpc>
                <a:spcPts val="3359"/>
              </a:lnSpc>
              <a:buFont typeface="Arial"/>
              <a:buChar char="⚬"/>
            </a:pPr>
            <a:r>
              <a:rPr lang="en-US" sz="2400">
                <a:solidFill>
                  <a:srgbClr val="FFFFFF"/>
                </a:solidFill>
                <a:latin typeface="DM Sans"/>
                <a:ea typeface="DM Sans"/>
                <a:cs typeface="DM Sans"/>
                <a:sym typeface="DM Sans"/>
              </a:rPr>
              <a:t>Server 2025 = Kind of sketchy still</a:t>
            </a:r>
          </a:p>
          <a:p>
            <a:pPr algn="l">
              <a:lnSpc>
                <a:spcPts val="3359"/>
              </a:lnSpc>
              <a:spcBef>
                <a:spcPct val="0"/>
              </a:spcBef>
            </a:pPr>
            <a:endParaRPr lang="en-US" sz="2400">
              <a:solidFill>
                <a:srgbClr val="FFFFFF"/>
              </a:solidFill>
              <a:latin typeface="DM Sans"/>
              <a:ea typeface="DM Sans"/>
              <a:cs typeface="DM Sans"/>
              <a:sym typeface="DM Sans"/>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1076985" y="2157730"/>
            <a:ext cx="6553430" cy="5122497"/>
          </a:xfrm>
          <a:custGeom>
            <a:avLst/>
            <a:gdLst/>
            <a:ahLst/>
            <a:cxnLst/>
            <a:rect l="l" t="t" r="r" b="b"/>
            <a:pathLst>
              <a:path w="6553430" h="5122497">
                <a:moveTo>
                  <a:pt x="0" y="0"/>
                </a:moveTo>
                <a:lnTo>
                  <a:pt x="6553429" y="0"/>
                </a:lnTo>
                <a:lnTo>
                  <a:pt x="6553429" y="5122498"/>
                </a:lnTo>
                <a:lnTo>
                  <a:pt x="0" y="5122498"/>
                </a:lnTo>
                <a:lnTo>
                  <a:pt x="0" y="0"/>
                </a:lnTo>
                <a:close/>
              </a:path>
            </a:pathLst>
          </a:custGeom>
          <a:blipFill>
            <a:blip r:embed="rId3"/>
            <a:stretch>
              <a:fillRect/>
            </a:stretch>
          </a:blipFill>
          <a:ln w="38100" cap="sq">
            <a:solidFill>
              <a:srgbClr val="38B6FF"/>
            </a:solidFill>
            <a:prstDash val="solid"/>
            <a:miter/>
          </a:ln>
        </p:spPr>
        <p:txBody>
          <a:bodyPr/>
          <a:lstStyle/>
          <a:p>
            <a:endParaRPr lang="en-US"/>
          </a:p>
        </p:txBody>
      </p:sp>
      <p:sp>
        <p:nvSpPr>
          <p:cNvPr id="4" name="TextBox 4"/>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p:cNvSpPr txBox="1"/>
          <p:nvPr/>
        </p:nvSpPr>
        <p:spPr>
          <a:xfrm>
            <a:off x="9144000" y="1095375"/>
            <a:ext cx="7068808" cy="1062355"/>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LOCAL ADMINISTRATOR ACCOUNT HARDENING</a:t>
            </a:r>
          </a:p>
        </p:txBody>
      </p:sp>
      <p:sp>
        <p:nvSpPr>
          <p:cNvPr id="7" name="TextBox 7"/>
          <p:cNvSpPr txBox="1"/>
          <p:nvPr/>
        </p:nvSpPr>
        <p:spPr>
          <a:xfrm>
            <a:off x="9144000" y="2280271"/>
            <a:ext cx="8056463" cy="6692265"/>
          </a:xfrm>
          <a:prstGeom prst="rect">
            <a:avLst/>
          </a:prstGeom>
        </p:spPr>
        <p:txBody>
          <a:bodyPr lIns="0" tIns="0" rIns="0" bIns="0" rtlCol="0" anchor="t">
            <a:spAutoFit/>
          </a:bodyPr>
          <a:lstStyle/>
          <a:p>
            <a:pPr marL="518160" lvl="1" indent="-259080" algn="l">
              <a:lnSpc>
                <a:spcPts val="3359"/>
              </a:lnSpc>
              <a:buFont typeface="Arial"/>
              <a:buChar char="•"/>
            </a:pPr>
            <a:r>
              <a:rPr lang="en-US" sz="2400">
                <a:solidFill>
                  <a:srgbClr val="FFFFFF"/>
                </a:solidFill>
                <a:latin typeface="DM Sans"/>
                <a:ea typeface="DM Sans"/>
                <a:cs typeface="DM Sans"/>
                <a:sym typeface="DM Sans"/>
              </a:rPr>
              <a:t>LAPS = Local Administrator Password Solution</a:t>
            </a:r>
          </a:p>
          <a:p>
            <a:pPr marL="1036320" lvl="2" indent="-345440" algn="l">
              <a:lnSpc>
                <a:spcPts val="3359"/>
              </a:lnSpc>
              <a:buFont typeface="Arial"/>
              <a:buChar char="⚬"/>
            </a:pPr>
            <a:r>
              <a:rPr lang="en-US" sz="2400">
                <a:solidFill>
                  <a:srgbClr val="FFFFFF"/>
                </a:solidFill>
                <a:latin typeface="DM Sans"/>
                <a:ea typeface="DM Sans"/>
                <a:cs typeface="DM Sans"/>
                <a:sym typeface="DM Sans"/>
              </a:rPr>
              <a:t>Legacy = Okay</a:t>
            </a:r>
          </a:p>
          <a:p>
            <a:pPr marL="1036320" lvl="2" indent="-345440" algn="l">
              <a:lnSpc>
                <a:spcPts val="3359"/>
              </a:lnSpc>
              <a:buFont typeface="Arial"/>
              <a:buChar char="⚬"/>
            </a:pPr>
            <a:r>
              <a:rPr lang="en-US" sz="2400">
                <a:solidFill>
                  <a:srgbClr val="FFFFFF"/>
                </a:solidFill>
                <a:latin typeface="DM Sans"/>
                <a:ea typeface="DM Sans"/>
                <a:cs typeface="DM Sans"/>
                <a:sym typeface="DM Sans"/>
              </a:rPr>
              <a:t>Windows LAPS = Great! (W10/2016+)</a:t>
            </a:r>
          </a:p>
          <a:p>
            <a:pPr marL="1036320" lvl="2" indent="-345440" algn="l">
              <a:lnSpc>
                <a:spcPts val="3359"/>
              </a:lnSpc>
              <a:buFont typeface="Arial"/>
              <a:buChar char="⚬"/>
            </a:pPr>
            <a:r>
              <a:rPr lang="en-US" sz="2400">
                <a:solidFill>
                  <a:srgbClr val="FFFFFF"/>
                </a:solidFill>
                <a:latin typeface="DM Sans"/>
                <a:ea typeface="DM Sans"/>
                <a:cs typeface="DM Sans"/>
                <a:sym typeface="DM Sans"/>
              </a:rPr>
              <a:t>Requires Schema Update (not scary)</a:t>
            </a:r>
          </a:p>
          <a:p>
            <a:pPr marL="1036320" lvl="2" indent="-345440" algn="l">
              <a:lnSpc>
                <a:spcPts val="3359"/>
              </a:lnSpc>
              <a:buFont typeface="Arial"/>
              <a:buChar char="⚬"/>
            </a:pPr>
            <a:r>
              <a:rPr lang="en-US" sz="2400">
                <a:solidFill>
                  <a:srgbClr val="FFFFFF"/>
                </a:solidFill>
                <a:latin typeface="DM Sans"/>
                <a:ea typeface="DM Sans"/>
                <a:cs typeface="DM Sans"/>
                <a:sym typeface="DM Sans"/>
              </a:rPr>
              <a:t>ONLY the SID-500 Administrator</a:t>
            </a:r>
          </a:p>
          <a:p>
            <a:pPr algn="l">
              <a:lnSpc>
                <a:spcPts val="3359"/>
              </a:lnSpc>
            </a:pPr>
            <a:endParaRPr lang="en-US" sz="2400">
              <a:solidFill>
                <a:srgbClr val="FFFFFF"/>
              </a:solidFill>
              <a:latin typeface="DM Sans"/>
              <a:ea typeface="DM Sans"/>
              <a:cs typeface="DM Sans"/>
              <a:sym typeface="DM Sans"/>
            </a:endParaRPr>
          </a:p>
          <a:p>
            <a:pPr marL="518160" lvl="1" indent="-259080" algn="l">
              <a:lnSpc>
                <a:spcPts val="3359"/>
              </a:lnSpc>
              <a:buFont typeface="Arial"/>
              <a:buChar char="•"/>
            </a:pPr>
            <a:r>
              <a:rPr lang="en-US" sz="2400">
                <a:solidFill>
                  <a:srgbClr val="FFFFFF"/>
                </a:solidFill>
                <a:latin typeface="DM Sans"/>
                <a:ea typeface="DM Sans"/>
                <a:cs typeface="DM Sans"/>
                <a:sym typeface="DM Sans"/>
              </a:rPr>
              <a:t>Local Administrator Group Hardening</a:t>
            </a:r>
          </a:p>
          <a:p>
            <a:pPr marL="1036320" lvl="2" indent="-345440" algn="l">
              <a:lnSpc>
                <a:spcPts val="3359"/>
              </a:lnSpc>
              <a:buFont typeface="Arial"/>
              <a:buChar char="⚬"/>
            </a:pPr>
            <a:r>
              <a:rPr lang="en-US" sz="2400">
                <a:solidFill>
                  <a:srgbClr val="FFFFFF"/>
                </a:solidFill>
                <a:latin typeface="DM Sans"/>
                <a:ea typeface="DM Sans"/>
                <a:cs typeface="DM Sans"/>
                <a:sym typeface="DM Sans"/>
              </a:rPr>
              <a:t>Remove Domain Admins from Local Admins</a:t>
            </a:r>
          </a:p>
          <a:p>
            <a:pPr marL="1036320" lvl="2" indent="-345440" algn="l">
              <a:lnSpc>
                <a:spcPts val="3359"/>
              </a:lnSpc>
              <a:buFont typeface="Arial"/>
              <a:buChar char="⚬"/>
            </a:pPr>
            <a:r>
              <a:rPr lang="en-US" sz="2400">
                <a:solidFill>
                  <a:srgbClr val="FFFFFF"/>
                </a:solidFill>
                <a:latin typeface="DM Sans"/>
                <a:ea typeface="DM Sans"/>
                <a:cs typeface="DM Sans"/>
                <a:sym typeface="DM Sans"/>
              </a:rPr>
              <a:t>Create GPOs to Block Priv. Logons to Clients</a:t>
            </a:r>
          </a:p>
          <a:p>
            <a:pPr marL="1036320" lvl="2" indent="-345440" algn="l">
              <a:lnSpc>
                <a:spcPts val="3359"/>
              </a:lnSpc>
              <a:buFont typeface="Arial"/>
              <a:buChar char="⚬"/>
            </a:pPr>
            <a:r>
              <a:rPr lang="en-US" sz="2400">
                <a:solidFill>
                  <a:srgbClr val="FFFFFF"/>
                </a:solidFill>
                <a:latin typeface="DM Sans"/>
                <a:ea typeface="DM Sans"/>
                <a:cs typeface="DM Sans"/>
                <a:sym typeface="DM Sans"/>
              </a:rPr>
              <a:t>Remove users from Admins</a:t>
            </a:r>
          </a:p>
          <a:p>
            <a:pPr marL="1554480" lvl="3" indent="-388620" algn="l">
              <a:lnSpc>
                <a:spcPts val="3359"/>
              </a:lnSpc>
              <a:buFont typeface="Arial"/>
              <a:buChar char="￭"/>
            </a:pPr>
            <a:r>
              <a:rPr lang="en-US" sz="2400">
                <a:solidFill>
                  <a:srgbClr val="FFFFFF"/>
                </a:solidFill>
                <a:latin typeface="DM Sans"/>
                <a:ea typeface="DM Sans"/>
                <a:cs typeface="DM Sans"/>
                <a:sym typeface="DM Sans"/>
              </a:rPr>
              <a:t>Hard but worth it.</a:t>
            </a:r>
          </a:p>
          <a:p>
            <a:pPr algn="l">
              <a:lnSpc>
                <a:spcPts val="3359"/>
              </a:lnSpc>
            </a:pPr>
            <a:endParaRPr lang="en-US" sz="2400">
              <a:solidFill>
                <a:srgbClr val="FFFFFF"/>
              </a:solidFill>
              <a:latin typeface="DM Sans"/>
              <a:ea typeface="DM Sans"/>
              <a:cs typeface="DM Sans"/>
              <a:sym typeface="DM Sans"/>
            </a:endParaRPr>
          </a:p>
          <a:p>
            <a:pPr marL="518160" lvl="1" indent="-259080" algn="l">
              <a:lnSpc>
                <a:spcPts val="3359"/>
              </a:lnSpc>
              <a:buFont typeface="Arial"/>
              <a:buChar char="•"/>
            </a:pPr>
            <a:r>
              <a:rPr lang="en-US" sz="2400" err="1">
                <a:solidFill>
                  <a:srgbClr val="FFFFFF"/>
                </a:solidFill>
                <a:latin typeface="DM Sans"/>
                <a:ea typeface="DM Sans"/>
                <a:cs typeface="DM Sans"/>
                <a:sym typeface="DM Sans"/>
              </a:rPr>
              <a:t>Lithnet</a:t>
            </a:r>
            <a:r>
              <a:rPr lang="en-US" sz="2400">
                <a:solidFill>
                  <a:srgbClr val="FFFFFF"/>
                </a:solidFill>
                <a:latin typeface="DM Sans"/>
                <a:ea typeface="DM Sans"/>
                <a:cs typeface="DM Sans"/>
                <a:sym typeface="DM Sans"/>
              </a:rPr>
              <a:t> Access Manager + </a:t>
            </a:r>
            <a:r>
              <a:rPr lang="en-US" sz="2400" err="1">
                <a:solidFill>
                  <a:srgbClr val="FFFFFF"/>
                </a:solidFill>
                <a:latin typeface="DM Sans"/>
                <a:ea typeface="DM Sans"/>
                <a:cs typeface="DM Sans"/>
                <a:sym typeface="DM Sans"/>
              </a:rPr>
              <a:t>Lithnet</a:t>
            </a:r>
            <a:r>
              <a:rPr lang="en-US" sz="2400">
                <a:solidFill>
                  <a:srgbClr val="FFFFFF"/>
                </a:solidFill>
                <a:latin typeface="DM Sans"/>
                <a:ea typeface="DM Sans"/>
                <a:cs typeface="DM Sans"/>
                <a:sym typeface="DM Sans"/>
              </a:rPr>
              <a:t> </a:t>
            </a:r>
            <a:r>
              <a:rPr lang="en-US" sz="2400" err="1">
                <a:solidFill>
                  <a:srgbClr val="FFFFFF"/>
                </a:solidFill>
                <a:latin typeface="DM Sans"/>
                <a:ea typeface="DM Sans"/>
                <a:cs typeface="DM Sans"/>
                <a:sym typeface="DM Sans"/>
              </a:rPr>
              <a:t>RapidLAPS</a:t>
            </a:r>
            <a:endParaRPr lang="en-US" sz="2400">
              <a:solidFill>
                <a:srgbClr val="FFFFFF"/>
              </a:solidFill>
              <a:latin typeface="DM Sans"/>
              <a:ea typeface="DM Sans"/>
              <a:cs typeface="DM Sans"/>
              <a:sym typeface="DM Sans"/>
            </a:endParaRPr>
          </a:p>
          <a:p>
            <a:pPr marL="1036320" lvl="2" indent="-345440" algn="l">
              <a:lnSpc>
                <a:spcPts val="3359"/>
              </a:lnSpc>
              <a:buFont typeface="Arial"/>
              <a:buChar char="⚬"/>
            </a:pPr>
            <a:r>
              <a:rPr lang="en-US" sz="2400">
                <a:solidFill>
                  <a:srgbClr val="FFFFFF"/>
                </a:solidFill>
                <a:latin typeface="DM Sans"/>
                <a:ea typeface="DM Sans"/>
                <a:cs typeface="DM Sans"/>
                <a:sym typeface="DM Sans"/>
              </a:rPr>
              <a:t>Freemium (5 roles + 100 accounts)</a:t>
            </a:r>
          </a:p>
          <a:p>
            <a:pPr marL="1036320" lvl="2" indent="-345440" algn="l">
              <a:lnSpc>
                <a:spcPts val="3359"/>
              </a:lnSpc>
              <a:buFont typeface="Arial"/>
              <a:buChar char="⚬"/>
            </a:pPr>
            <a:r>
              <a:rPr lang="en-US" sz="2400">
                <a:solidFill>
                  <a:srgbClr val="FFFFFF"/>
                </a:solidFill>
                <a:latin typeface="DM Sans"/>
                <a:ea typeface="DM Sans"/>
                <a:cs typeface="DM Sans"/>
                <a:sym typeface="DM Sans"/>
              </a:rPr>
              <a:t>Include some features not in Microsoft’s offering</a:t>
            </a:r>
          </a:p>
          <a:p>
            <a:pPr algn="l">
              <a:lnSpc>
                <a:spcPts val="3359"/>
              </a:lnSpc>
              <a:spcBef>
                <a:spcPct val="0"/>
              </a:spcBef>
            </a:pPr>
            <a:endParaRPr lang="en-US" sz="2400">
              <a:solidFill>
                <a:srgbClr val="FFFFFF"/>
              </a:solidFill>
              <a:latin typeface="DM Sans"/>
              <a:ea typeface="DM Sans"/>
              <a:cs typeface="DM Sans"/>
              <a:sym typeface="DM Sans"/>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grpSp>
        <p:nvGrpSpPr>
          <p:cNvPr id="2" name="Group 2"/>
          <p:cNvGrpSpPr/>
          <p:nvPr/>
        </p:nvGrpSpPr>
        <p:grpSpPr>
          <a:xfrm>
            <a:off x="0" y="2280324"/>
            <a:ext cx="7859474" cy="5704859"/>
            <a:chOff x="0" y="0"/>
            <a:chExt cx="659068" cy="478390"/>
          </a:xfrm>
        </p:grpSpPr>
        <p:sp>
          <p:nvSpPr>
            <p:cNvPr id="3" name="Freeform 3"/>
            <p:cNvSpPr/>
            <p:nvPr/>
          </p:nvSpPr>
          <p:spPr>
            <a:xfrm>
              <a:off x="0" y="0"/>
              <a:ext cx="659068" cy="478390"/>
            </a:xfrm>
            <a:custGeom>
              <a:avLst/>
              <a:gdLst/>
              <a:ahLst/>
              <a:cxnLst/>
              <a:rect l="l" t="t" r="r" b="b"/>
              <a:pathLst>
                <a:path w="659068" h="478390">
                  <a:moveTo>
                    <a:pt x="0" y="0"/>
                  </a:moveTo>
                  <a:lnTo>
                    <a:pt x="659068" y="0"/>
                  </a:lnTo>
                  <a:lnTo>
                    <a:pt x="659068" y="478390"/>
                  </a:lnTo>
                  <a:lnTo>
                    <a:pt x="0" y="478390"/>
                  </a:lnTo>
                  <a:close/>
                </a:path>
              </a:pathLst>
            </a:custGeom>
            <a:blipFill>
              <a:blip r:embed="rId3"/>
              <a:stretch>
                <a:fillRect l="-14520" r="-14520"/>
              </a:stretch>
            </a:blipFill>
            <a:ln w="38100" cap="sq">
              <a:solidFill>
                <a:srgbClr val="2F7BD1"/>
              </a:solidFill>
              <a:prstDash val="solid"/>
              <a:miter/>
            </a:ln>
          </p:spPr>
          <p:txBody>
            <a:bodyPr/>
            <a:lstStyle/>
            <a:p>
              <a:endParaRPr lang="en-US"/>
            </a:p>
          </p:txBody>
        </p:sp>
      </p:grpSp>
      <p:sp>
        <p:nvSpPr>
          <p:cNvPr id="4" name="AutoShape 4"/>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5" name="Freeform 5"/>
          <p:cNvSpPr/>
          <p:nvPr/>
        </p:nvSpPr>
        <p:spPr>
          <a:xfrm>
            <a:off x="-369332" y="5532946"/>
            <a:ext cx="4445997" cy="2433187"/>
          </a:xfrm>
          <a:custGeom>
            <a:avLst/>
            <a:gdLst/>
            <a:ahLst/>
            <a:cxnLst/>
            <a:rect l="l" t="t" r="r" b="b"/>
            <a:pathLst>
              <a:path w="4445997" h="2433187">
                <a:moveTo>
                  <a:pt x="0" y="0"/>
                </a:moveTo>
                <a:lnTo>
                  <a:pt x="4445997" y="0"/>
                </a:lnTo>
                <a:lnTo>
                  <a:pt x="4445997" y="2433187"/>
                </a:lnTo>
                <a:lnTo>
                  <a:pt x="0" y="2433187"/>
                </a:lnTo>
                <a:lnTo>
                  <a:pt x="0" y="0"/>
                </a:lnTo>
                <a:close/>
              </a:path>
            </a:pathLst>
          </a:custGeom>
          <a:blipFill>
            <a:blip r:embed="rId4"/>
            <a:stretch>
              <a:fillRect l="-34671" b="-53797"/>
            </a:stretch>
          </a:blipFill>
        </p:spPr>
        <p:txBody>
          <a:bodyPr/>
          <a:lstStyle/>
          <a:p>
            <a:endParaRPr lang="en-US"/>
          </a:p>
        </p:txBody>
      </p:sp>
      <p:sp>
        <p:nvSpPr>
          <p:cNvPr id="6" name="TextBox 6"/>
          <p:cNvSpPr txBox="1"/>
          <p:nvPr/>
        </p:nvSpPr>
        <p:spPr>
          <a:xfrm>
            <a:off x="8271946" y="741807"/>
            <a:ext cx="9278888" cy="649986"/>
          </a:xfrm>
          <a:prstGeom prst="rect">
            <a:avLst/>
          </a:prstGeom>
        </p:spPr>
        <p:txBody>
          <a:bodyPr lIns="0" tIns="0" rIns="0" bIns="0" rtlCol="0" anchor="t">
            <a:spAutoFit/>
          </a:bodyPr>
          <a:lstStyle/>
          <a:p>
            <a:pPr marL="0" lvl="0" indent="0" algn="l">
              <a:lnSpc>
                <a:spcPts val="4992"/>
              </a:lnSpc>
            </a:pPr>
            <a:r>
              <a:rPr lang="en-US" sz="4800">
                <a:solidFill>
                  <a:srgbClr val="38B6FF"/>
                </a:solidFill>
                <a:latin typeface="Anton"/>
                <a:ea typeface="Anton"/>
                <a:cs typeface="Anton"/>
                <a:sym typeface="Anton"/>
              </a:rPr>
              <a:t>ACTION PLAN + IMPLEMENTATION</a:t>
            </a:r>
          </a:p>
        </p:txBody>
      </p:sp>
      <p:sp>
        <p:nvSpPr>
          <p:cNvPr id="7" name="TextBox 7"/>
          <p:cNvSpPr txBox="1"/>
          <p:nvPr/>
        </p:nvSpPr>
        <p:spPr>
          <a:xfrm>
            <a:off x="8271946" y="2887194"/>
            <a:ext cx="8987354" cy="4432432"/>
          </a:xfrm>
          <a:prstGeom prst="rect">
            <a:avLst/>
          </a:prstGeom>
        </p:spPr>
        <p:txBody>
          <a:bodyPr lIns="0" tIns="0" rIns="0" bIns="0" rtlCol="0" anchor="t">
            <a:spAutoFit/>
          </a:bodyPr>
          <a:lstStyle/>
          <a:p>
            <a:pPr marL="614455" lvl="1" indent="-307228" algn="l">
              <a:lnSpc>
                <a:spcPts val="4952"/>
              </a:lnSpc>
              <a:buAutoNum type="arabicPeriod"/>
            </a:pPr>
            <a:r>
              <a:rPr lang="en-US" sz="2846">
                <a:solidFill>
                  <a:srgbClr val="FFFFFF"/>
                </a:solidFill>
                <a:latin typeface="DM Sans"/>
                <a:ea typeface="DM Sans"/>
                <a:cs typeface="DM Sans"/>
                <a:sym typeface="DM Sans"/>
              </a:rPr>
              <a:t>Backups - Get them now. </a:t>
            </a:r>
          </a:p>
          <a:p>
            <a:pPr marL="614455" lvl="1" indent="-307228" algn="l">
              <a:lnSpc>
                <a:spcPts val="4952"/>
              </a:lnSpc>
              <a:buAutoNum type="arabicPeriod"/>
            </a:pPr>
            <a:r>
              <a:rPr lang="en-US" sz="2846">
                <a:solidFill>
                  <a:srgbClr val="FFFFFF"/>
                </a:solidFill>
                <a:latin typeface="DM Sans"/>
                <a:ea typeface="DM Sans"/>
                <a:cs typeface="DM Sans"/>
                <a:sym typeface="DM Sans"/>
              </a:rPr>
              <a:t>Baselines - Start with low impact</a:t>
            </a:r>
          </a:p>
          <a:p>
            <a:pPr marL="614455" lvl="1" indent="-307228" algn="l">
              <a:lnSpc>
                <a:spcPts val="4952"/>
              </a:lnSpc>
              <a:buAutoNum type="arabicPeriod"/>
            </a:pPr>
            <a:r>
              <a:rPr lang="en-US" sz="2846">
                <a:solidFill>
                  <a:srgbClr val="FFFFFF"/>
                </a:solidFill>
                <a:latin typeface="DM Sans"/>
                <a:ea typeface="DM Sans"/>
                <a:cs typeface="DM Sans"/>
                <a:sym typeface="DM Sans"/>
              </a:rPr>
              <a:t>Harden Tier 0 Admins </a:t>
            </a:r>
          </a:p>
          <a:p>
            <a:pPr marL="614455" lvl="1" indent="-307228" algn="l">
              <a:lnSpc>
                <a:spcPts val="4952"/>
              </a:lnSpc>
              <a:buAutoNum type="arabicPeriod"/>
            </a:pPr>
            <a:r>
              <a:rPr lang="en-US" sz="2846">
                <a:solidFill>
                  <a:srgbClr val="FFFFFF"/>
                </a:solidFill>
                <a:latin typeface="DM Sans"/>
                <a:ea typeface="DM Sans"/>
                <a:cs typeface="DM Sans"/>
                <a:sym typeface="DM Sans"/>
              </a:rPr>
              <a:t>Reset Old Passwords - 365 days+ </a:t>
            </a:r>
          </a:p>
          <a:p>
            <a:pPr marL="614455" lvl="1" indent="-307228" algn="l">
              <a:lnSpc>
                <a:spcPts val="4952"/>
              </a:lnSpc>
              <a:buAutoNum type="arabicPeriod"/>
            </a:pPr>
            <a:r>
              <a:rPr lang="en-US" sz="2846">
                <a:solidFill>
                  <a:srgbClr val="FFFFFF"/>
                </a:solidFill>
                <a:latin typeface="DM Sans"/>
                <a:ea typeface="DM Sans"/>
                <a:cs typeface="DM Sans"/>
                <a:sym typeface="DM Sans"/>
              </a:rPr>
              <a:t>Harden Users with SPNs - Fix or harden.</a:t>
            </a:r>
          </a:p>
          <a:p>
            <a:pPr marL="614455" lvl="1" indent="-307228" algn="l">
              <a:lnSpc>
                <a:spcPts val="4952"/>
              </a:lnSpc>
              <a:buAutoNum type="arabicPeriod"/>
            </a:pPr>
            <a:r>
              <a:rPr lang="en-US" sz="2846">
                <a:solidFill>
                  <a:srgbClr val="FFFFFF"/>
                </a:solidFill>
                <a:latin typeface="DM Sans"/>
                <a:ea typeface="DM Sans"/>
                <a:cs typeface="DM Sans"/>
                <a:sym typeface="DM Sans"/>
              </a:rPr>
              <a:t>Deploy LAPS</a:t>
            </a:r>
          </a:p>
          <a:p>
            <a:pPr marL="614455" lvl="1" indent="-307228" algn="l">
              <a:lnSpc>
                <a:spcPts val="4952"/>
              </a:lnSpc>
              <a:buAutoNum type="arabicPeriod"/>
            </a:pPr>
            <a:r>
              <a:rPr lang="en-US" sz="2846">
                <a:solidFill>
                  <a:srgbClr val="FFFFFF"/>
                </a:solidFill>
                <a:latin typeface="DM Sans"/>
                <a:ea typeface="DM Sans"/>
                <a:cs typeface="DM Sans"/>
                <a:sym typeface="DM Sans"/>
              </a:rPr>
              <a:t>Audit Policies + Start ACL Audits</a:t>
            </a:r>
          </a:p>
        </p:txBody>
      </p:sp>
      <p:sp>
        <p:nvSpPr>
          <p:cNvPr id="8" name="TextBox 8"/>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9" name="TextBox 9"/>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10" name="TextBox 10"/>
          <p:cNvSpPr txBox="1"/>
          <p:nvPr/>
        </p:nvSpPr>
        <p:spPr>
          <a:xfrm>
            <a:off x="8271946" y="1429893"/>
            <a:ext cx="8217052" cy="446025"/>
          </a:xfrm>
          <a:prstGeom prst="rect">
            <a:avLst/>
          </a:prstGeom>
        </p:spPr>
        <p:txBody>
          <a:bodyPr lIns="0" tIns="0" rIns="0" bIns="0" rtlCol="0" anchor="t">
            <a:spAutoFit/>
          </a:bodyPr>
          <a:lstStyle/>
          <a:p>
            <a:pPr marL="0" lvl="0" indent="0" algn="l">
              <a:lnSpc>
                <a:spcPts val="3328"/>
              </a:lnSpc>
            </a:pPr>
            <a:r>
              <a:rPr lang="en-US" sz="3200" strike="sngStrike">
                <a:solidFill>
                  <a:srgbClr val="FFFFFF"/>
                </a:solidFill>
                <a:latin typeface="DM Sans"/>
                <a:ea typeface="DM Sans"/>
                <a:cs typeface="DM Sans"/>
                <a:sym typeface="DM Sans"/>
              </a:rPr>
              <a:t>Dave Ramsey</a:t>
            </a:r>
            <a:r>
              <a:rPr lang="en-US" sz="3200">
                <a:solidFill>
                  <a:srgbClr val="FFFFFF"/>
                </a:solidFill>
                <a:latin typeface="DM Sans"/>
                <a:ea typeface="DM Sans"/>
                <a:cs typeface="DM Sans"/>
                <a:sym typeface="DM Sans"/>
              </a:rPr>
              <a:t> Scrooge McDuck Approach</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grpSp>
        <p:nvGrpSpPr>
          <p:cNvPr id="2" name="Group 2"/>
          <p:cNvGrpSpPr/>
          <p:nvPr/>
        </p:nvGrpSpPr>
        <p:grpSpPr>
          <a:xfrm>
            <a:off x="10428526" y="2280324"/>
            <a:ext cx="7859474" cy="5704859"/>
            <a:chOff x="0" y="0"/>
            <a:chExt cx="659068" cy="478390"/>
          </a:xfrm>
        </p:grpSpPr>
        <p:sp>
          <p:nvSpPr>
            <p:cNvPr id="3" name="Freeform 3"/>
            <p:cNvSpPr/>
            <p:nvPr/>
          </p:nvSpPr>
          <p:spPr>
            <a:xfrm>
              <a:off x="0" y="0"/>
              <a:ext cx="659068" cy="478390"/>
            </a:xfrm>
            <a:custGeom>
              <a:avLst/>
              <a:gdLst/>
              <a:ahLst/>
              <a:cxnLst/>
              <a:rect l="l" t="t" r="r" b="b"/>
              <a:pathLst>
                <a:path w="659068" h="478390">
                  <a:moveTo>
                    <a:pt x="0" y="0"/>
                  </a:moveTo>
                  <a:lnTo>
                    <a:pt x="659068" y="0"/>
                  </a:lnTo>
                  <a:lnTo>
                    <a:pt x="659068" y="478390"/>
                  </a:lnTo>
                  <a:lnTo>
                    <a:pt x="0" y="478390"/>
                  </a:lnTo>
                  <a:close/>
                </a:path>
              </a:pathLst>
            </a:custGeom>
            <a:blipFill>
              <a:blip r:embed="rId3"/>
              <a:stretch>
                <a:fillRect t="-2237" b="-2237"/>
              </a:stretch>
            </a:blipFill>
            <a:ln w="38100" cap="sq">
              <a:solidFill>
                <a:srgbClr val="2F7BD1"/>
              </a:solidFill>
              <a:prstDash val="solid"/>
              <a:miter/>
            </a:ln>
          </p:spPr>
          <p:txBody>
            <a:bodyPr/>
            <a:lstStyle/>
            <a:p>
              <a:endParaRPr lang="en-US"/>
            </a:p>
          </p:txBody>
        </p:sp>
      </p:grpSp>
      <p:sp>
        <p:nvSpPr>
          <p:cNvPr id="4" name="AutoShape 4"/>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5" name="TextBox 5"/>
          <p:cNvSpPr txBox="1"/>
          <p:nvPr/>
        </p:nvSpPr>
        <p:spPr>
          <a:xfrm>
            <a:off x="1028700" y="1104900"/>
            <a:ext cx="9278888" cy="649986"/>
          </a:xfrm>
          <a:prstGeom prst="rect">
            <a:avLst/>
          </a:prstGeom>
        </p:spPr>
        <p:txBody>
          <a:bodyPr lIns="0" tIns="0" rIns="0" bIns="0" rtlCol="0" anchor="t">
            <a:spAutoFit/>
          </a:bodyPr>
          <a:lstStyle/>
          <a:p>
            <a:pPr marL="0" lvl="0" indent="0" algn="l">
              <a:lnSpc>
                <a:spcPts val="4992"/>
              </a:lnSpc>
            </a:pPr>
            <a:r>
              <a:rPr lang="en-US" sz="4800">
                <a:solidFill>
                  <a:srgbClr val="38B6FF"/>
                </a:solidFill>
                <a:latin typeface="Anton"/>
                <a:ea typeface="Anton"/>
                <a:cs typeface="Anton"/>
                <a:sym typeface="Anton"/>
              </a:rPr>
              <a:t>NEXT STEPS</a:t>
            </a:r>
          </a:p>
        </p:txBody>
      </p:sp>
      <p:sp>
        <p:nvSpPr>
          <p:cNvPr id="6" name="TextBox 6"/>
          <p:cNvSpPr txBox="1"/>
          <p:nvPr/>
        </p:nvSpPr>
        <p:spPr>
          <a:xfrm>
            <a:off x="1028700" y="2423610"/>
            <a:ext cx="8987354" cy="6243720"/>
          </a:xfrm>
          <a:prstGeom prst="rect">
            <a:avLst/>
          </a:prstGeom>
        </p:spPr>
        <p:txBody>
          <a:bodyPr lIns="0" tIns="0" rIns="0" bIns="0" rtlCol="0" anchor="t">
            <a:spAutoFit/>
          </a:bodyPr>
          <a:lstStyle/>
          <a:p>
            <a:pPr marL="614455" lvl="1" indent="-307228" algn="l">
              <a:lnSpc>
                <a:spcPts val="4952"/>
              </a:lnSpc>
              <a:buFont typeface="Arial"/>
              <a:buChar char="•"/>
            </a:pPr>
            <a:r>
              <a:rPr lang="en-US" sz="2846">
                <a:solidFill>
                  <a:srgbClr val="FFFFFF"/>
                </a:solidFill>
                <a:latin typeface="DM Sans"/>
                <a:ea typeface="DM Sans"/>
                <a:cs typeface="DM Sans"/>
                <a:sym typeface="DM Sans"/>
              </a:rPr>
              <a:t>Run Purple Knight or Ping Castle + Do Fixes</a:t>
            </a:r>
          </a:p>
          <a:p>
            <a:pPr marL="614455" lvl="1" indent="-307228" algn="l">
              <a:lnSpc>
                <a:spcPts val="4952"/>
              </a:lnSpc>
              <a:buFont typeface="Arial"/>
              <a:buChar char="•"/>
            </a:pPr>
            <a:r>
              <a:rPr lang="en-US" sz="2846">
                <a:solidFill>
                  <a:srgbClr val="FFFFFF"/>
                </a:solidFill>
                <a:latin typeface="DM Sans"/>
                <a:ea typeface="DM Sans"/>
                <a:cs typeface="DM Sans"/>
                <a:sym typeface="DM Sans"/>
              </a:rPr>
              <a:t>If running AD CS, run Locksmith.</a:t>
            </a:r>
          </a:p>
          <a:p>
            <a:pPr marL="614455" lvl="1" indent="-307228" algn="l">
              <a:lnSpc>
                <a:spcPts val="4952"/>
              </a:lnSpc>
              <a:buFont typeface="Arial"/>
              <a:buChar char="•"/>
            </a:pPr>
            <a:r>
              <a:rPr lang="en-US" sz="2846">
                <a:solidFill>
                  <a:srgbClr val="FFFFFF"/>
                </a:solidFill>
                <a:latin typeface="DM Sans"/>
                <a:ea typeface="DM Sans"/>
                <a:cs typeface="DM Sans"/>
                <a:sym typeface="DM Sans"/>
              </a:rPr>
              <a:t>Automate SCAP Scans + Remediate.</a:t>
            </a:r>
          </a:p>
          <a:p>
            <a:pPr marL="614455" lvl="1" indent="-307228" algn="l">
              <a:lnSpc>
                <a:spcPts val="4952"/>
              </a:lnSpc>
              <a:buFont typeface="Arial"/>
              <a:buChar char="•"/>
            </a:pPr>
            <a:r>
              <a:rPr lang="en-US" sz="2846">
                <a:solidFill>
                  <a:srgbClr val="FFFFFF"/>
                </a:solidFill>
                <a:latin typeface="DM Sans"/>
                <a:ea typeface="DM Sans"/>
                <a:cs typeface="DM Sans"/>
                <a:sym typeface="DM Sans"/>
              </a:rPr>
              <a:t>Review Backups + Improve.</a:t>
            </a:r>
          </a:p>
          <a:p>
            <a:pPr marL="614455" lvl="1" indent="-307228" algn="l">
              <a:lnSpc>
                <a:spcPts val="4952"/>
              </a:lnSpc>
              <a:buFont typeface="Arial"/>
              <a:buChar char="•"/>
            </a:pPr>
            <a:r>
              <a:rPr lang="en-US" sz="2846">
                <a:solidFill>
                  <a:srgbClr val="FFFFFF"/>
                </a:solidFill>
                <a:latin typeface="DM Sans"/>
                <a:ea typeface="DM Sans"/>
                <a:cs typeface="DM Sans"/>
                <a:sym typeface="DM Sans"/>
              </a:rPr>
              <a:t>Bigger Projects</a:t>
            </a:r>
          </a:p>
          <a:p>
            <a:pPr marL="1228910" lvl="2" indent="-409637" algn="l">
              <a:lnSpc>
                <a:spcPts val="4952"/>
              </a:lnSpc>
              <a:buFont typeface="Arial"/>
              <a:buChar char="⚬"/>
            </a:pPr>
            <a:r>
              <a:rPr lang="en-US" sz="2846">
                <a:solidFill>
                  <a:srgbClr val="FFFFFF"/>
                </a:solidFill>
                <a:latin typeface="DM Sans"/>
                <a:ea typeface="DM Sans"/>
                <a:cs typeface="DM Sans"/>
                <a:sym typeface="DM Sans"/>
              </a:rPr>
              <a:t>More Tiering</a:t>
            </a:r>
          </a:p>
          <a:p>
            <a:pPr marL="1228910" lvl="2" indent="-409637" algn="l">
              <a:lnSpc>
                <a:spcPts val="4952"/>
              </a:lnSpc>
              <a:buFont typeface="Arial"/>
              <a:buChar char="⚬"/>
            </a:pPr>
            <a:r>
              <a:rPr lang="en-US" sz="2846">
                <a:solidFill>
                  <a:srgbClr val="FFFFFF"/>
                </a:solidFill>
                <a:latin typeface="DM Sans"/>
                <a:ea typeface="DM Sans"/>
                <a:cs typeface="DM Sans"/>
                <a:sym typeface="DM Sans"/>
              </a:rPr>
              <a:t>More Baseline Settings (Higher Impact)</a:t>
            </a:r>
          </a:p>
          <a:p>
            <a:pPr marL="1228910" lvl="2" indent="-409637" algn="l">
              <a:lnSpc>
                <a:spcPts val="4952"/>
              </a:lnSpc>
              <a:buFont typeface="Arial"/>
              <a:buChar char="⚬"/>
            </a:pPr>
            <a:r>
              <a:rPr lang="en-US" sz="2846">
                <a:solidFill>
                  <a:srgbClr val="FFFFFF"/>
                </a:solidFill>
                <a:latin typeface="DM Sans"/>
                <a:ea typeface="DM Sans"/>
                <a:cs typeface="DM Sans"/>
                <a:sym typeface="DM Sans"/>
              </a:rPr>
              <a:t>PAWs Project</a:t>
            </a:r>
          </a:p>
          <a:p>
            <a:pPr marL="1228910" lvl="2" indent="-409637" algn="l">
              <a:lnSpc>
                <a:spcPts val="4952"/>
              </a:lnSpc>
              <a:buFont typeface="Arial"/>
              <a:buChar char="⚬"/>
            </a:pPr>
            <a:r>
              <a:rPr lang="en-US" sz="2846">
                <a:solidFill>
                  <a:srgbClr val="FFFFFF"/>
                </a:solidFill>
                <a:latin typeface="DM Sans"/>
                <a:ea typeface="DM Sans"/>
                <a:cs typeface="DM Sans"/>
                <a:sym typeface="DM Sans"/>
              </a:rPr>
              <a:t>PAM Solutions (not Miser-friendly)</a:t>
            </a:r>
          </a:p>
          <a:p>
            <a:pPr marL="1228910" lvl="2" indent="-409637" algn="l">
              <a:lnSpc>
                <a:spcPts val="4952"/>
              </a:lnSpc>
              <a:buFont typeface="Arial"/>
              <a:buChar char="⚬"/>
            </a:pPr>
            <a:r>
              <a:rPr lang="en-US" sz="2846">
                <a:solidFill>
                  <a:srgbClr val="FFFFFF"/>
                </a:solidFill>
                <a:latin typeface="DM Sans"/>
                <a:ea typeface="DM Sans"/>
                <a:cs typeface="DM Sans"/>
                <a:sym typeface="DM Sans"/>
              </a:rPr>
              <a:t>...</a:t>
            </a:r>
          </a:p>
        </p:txBody>
      </p:sp>
      <p:sp>
        <p:nvSpPr>
          <p:cNvPr id="7" name="TextBox 7"/>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8" name="TextBox 8"/>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9" name="TextBox 9"/>
          <p:cNvSpPr txBox="1"/>
          <p:nvPr/>
        </p:nvSpPr>
        <p:spPr>
          <a:xfrm>
            <a:off x="1028700" y="1792986"/>
            <a:ext cx="8217052" cy="446025"/>
          </a:xfrm>
          <a:prstGeom prst="rect">
            <a:avLst/>
          </a:prstGeom>
        </p:spPr>
        <p:txBody>
          <a:bodyPr lIns="0" tIns="0" rIns="0" bIns="0" rtlCol="0" anchor="t">
            <a:spAutoFit/>
          </a:bodyPr>
          <a:lstStyle/>
          <a:p>
            <a:pPr marL="0" lvl="0" indent="0" algn="l">
              <a:lnSpc>
                <a:spcPts val="3328"/>
              </a:lnSpc>
            </a:pPr>
            <a:r>
              <a:rPr lang="en-US" sz="3200" b="1">
                <a:solidFill>
                  <a:srgbClr val="FFFFFF"/>
                </a:solidFill>
                <a:latin typeface="DM Sans Bold"/>
                <a:ea typeface="DM Sans Bold"/>
                <a:cs typeface="DM Sans Bold"/>
                <a:sym typeface="DM Sans Bold"/>
              </a:rPr>
              <a:t>Action Plan Done. Now what?</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grpSp>
        <p:nvGrpSpPr>
          <p:cNvPr id="3" name="Group 3"/>
          <p:cNvGrpSpPr/>
          <p:nvPr/>
        </p:nvGrpSpPr>
        <p:grpSpPr>
          <a:xfrm>
            <a:off x="7345567" y="4666137"/>
            <a:ext cx="4073573" cy="4186909"/>
            <a:chOff x="-1" y="-76200"/>
            <a:chExt cx="5431431" cy="5582545"/>
          </a:xfrm>
        </p:grpSpPr>
        <p:sp>
          <p:nvSpPr>
            <p:cNvPr id="4" name="Freeform 4"/>
            <p:cNvSpPr/>
            <p:nvPr/>
          </p:nvSpPr>
          <p:spPr>
            <a:xfrm>
              <a:off x="330189" y="738514"/>
              <a:ext cx="4786852" cy="4767831"/>
            </a:xfrm>
            <a:custGeom>
              <a:avLst/>
              <a:gdLst/>
              <a:ahLst/>
              <a:cxnLst/>
              <a:rect l="l" t="t" r="r" b="b"/>
              <a:pathLst>
                <a:path w="4786852" h="4767831">
                  <a:moveTo>
                    <a:pt x="0" y="0"/>
                  </a:moveTo>
                  <a:lnTo>
                    <a:pt x="4786852" y="0"/>
                  </a:lnTo>
                  <a:lnTo>
                    <a:pt x="4786852" y="4767831"/>
                  </a:lnTo>
                  <a:lnTo>
                    <a:pt x="0" y="4767831"/>
                  </a:lnTo>
                  <a:lnTo>
                    <a:pt x="0" y="0"/>
                  </a:lnTo>
                  <a:close/>
                </a:path>
              </a:pathLst>
            </a:custGeom>
            <a:blipFill>
              <a:blip r:embed="rId3"/>
              <a:stretch>
                <a:fillRect/>
              </a:stretch>
            </a:blipFill>
          </p:spPr>
          <p:txBody>
            <a:bodyPr/>
            <a:lstStyle/>
            <a:p>
              <a:endParaRPr lang="en-US"/>
            </a:p>
          </p:txBody>
        </p:sp>
        <p:sp>
          <p:nvSpPr>
            <p:cNvPr id="5" name="TextBox 5"/>
            <p:cNvSpPr txBox="1"/>
            <p:nvPr/>
          </p:nvSpPr>
          <p:spPr>
            <a:xfrm>
              <a:off x="-1" y="-76200"/>
              <a:ext cx="5431431" cy="994717"/>
            </a:xfrm>
            <a:prstGeom prst="rect">
              <a:avLst/>
            </a:prstGeom>
          </p:spPr>
          <p:txBody>
            <a:bodyPr wrap="square" lIns="0" tIns="0" rIns="0" bIns="0" rtlCol="0" anchor="t">
              <a:spAutoFit/>
            </a:bodyPr>
            <a:lstStyle/>
            <a:p>
              <a:pPr algn="ctr">
                <a:lnSpc>
                  <a:spcPts val="6089"/>
                </a:lnSpc>
                <a:spcBef>
                  <a:spcPct val="0"/>
                </a:spcBef>
              </a:pPr>
              <a:r>
                <a:rPr lang="en-US" sz="4349" b="1" dirty="0">
                  <a:solidFill>
                    <a:srgbClr val="FFFFFF"/>
                  </a:solidFill>
                  <a:latin typeface="DM Sans Bold"/>
                  <a:ea typeface="DM Sans Bold"/>
                  <a:cs typeface="DM Sans Bold"/>
                  <a:sym typeface="DM Sans Bold"/>
                </a:rPr>
                <a:t>QUESTIONS?</a:t>
              </a:r>
            </a:p>
          </p:txBody>
        </p:sp>
      </p:grpSp>
      <p:sp>
        <p:nvSpPr>
          <p:cNvPr id="8" name="TextBox 8"/>
          <p:cNvSpPr txBox="1"/>
          <p:nvPr/>
        </p:nvSpPr>
        <p:spPr>
          <a:xfrm>
            <a:off x="467667" y="1063065"/>
            <a:ext cx="6651330" cy="1485600"/>
          </a:xfrm>
          <a:prstGeom prst="rect">
            <a:avLst/>
          </a:prstGeom>
        </p:spPr>
        <p:txBody>
          <a:bodyPr wrap="square" lIns="0" tIns="0" rIns="0" bIns="0" rtlCol="0" anchor="t">
            <a:spAutoFit/>
          </a:bodyPr>
          <a:lstStyle/>
          <a:p>
            <a:pPr marL="518160" lvl="1" indent="-259080" algn="l">
              <a:lnSpc>
                <a:spcPct val="150000"/>
              </a:lnSpc>
              <a:buFont typeface="Arial"/>
              <a:buChar char="•"/>
            </a:pPr>
            <a:r>
              <a:rPr lang="en-US" sz="2400" dirty="0">
                <a:solidFill>
                  <a:srgbClr val="FFFFFF"/>
                </a:solidFill>
                <a:latin typeface="DM Sans"/>
                <a:ea typeface="DM Sans"/>
                <a:cs typeface="DM Sans"/>
                <a:sym typeface="DM Sans"/>
              </a:rPr>
              <a:t>Deck will be on </a:t>
            </a:r>
            <a:r>
              <a:rPr lang="en-US" sz="2400" dirty="0" err="1">
                <a:solidFill>
                  <a:srgbClr val="FFFFFF"/>
                </a:solidFill>
                <a:latin typeface="DM Sans"/>
                <a:ea typeface="DM Sans"/>
                <a:cs typeface="DM Sans"/>
                <a:sym typeface="DM Sans"/>
              </a:rPr>
              <a:t>Github</a:t>
            </a:r>
            <a:r>
              <a:rPr lang="en-US" sz="2400" dirty="0">
                <a:solidFill>
                  <a:srgbClr val="FFFFFF"/>
                </a:solidFill>
                <a:latin typeface="DM Sans"/>
                <a:ea typeface="DM Sans"/>
                <a:cs typeface="DM Sans"/>
                <a:sym typeface="DM Sans"/>
              </a:rPr>
              <a:t> soon</a:t>
            </a:r>
          </a:p>
          <a:p>
            <a:pPr marL="518160" lvl="1" indent="-259080" algn="l">
              <a:lnSpc>
                <a:spcPct val="150000"/>
              </a:lnSpc>
              <a:buFont typeface="Arial"/>
              <a:buChar char="•"/>
            </a:pPr>
            <a:r>
              <a:rPr lang="en-US" sz="2400" dirty="0">
                <a:solidFill>
                  <a:srgbClr val="FFFFFF"/>
                </a:solidFill>
                <a:latin typeface="DM Sans"/>
                <a:ea typeface="DM Sans"/>
                <a:cs typeface="DM Sans"/>
                <a:sym typeface="DM Sans"/>
              </a:rPr>
              <a:t>r/</a:t>
            </a:r>
            <a:r>
              <a:rPr lang="en-US" sz="2400" dirty="0" err="1">
                <a:solidFill>
                  <a:srgbClr val="FFFFFF"/>
                </a:solidFill>
                <a:latin typeface="DM Sans"/>
                <a:ea typeface="DM Sans"/>
                <a:cs typeface="DM Sans"/>
                <a:sym typeface="DM Sans"/>
              </a:rPr>
              <a:t>ActiveDirectory</a:t>
            </a:r>
            <a:r>
              <a:rPr lang="en-US" sz="2400" dirty="0">
                <a:solidFill>
                  <a:srgbClr val="FFFFFF"/>
                </a:solidFill>
                <a:latin typeface="DM Sans"/>
                <a:ea typeface="DM Sans"/>
                <a:cs typeface="DM Sans"/>
                <a:sym typeface="DM Sans"/>
              </a:rPr>
              <a:t> Wiki</a:t>
            </a:r>
          </a:p>
          <a:p>
            <a:pPr algn="l">
              <a:lnSpc>
                <a:spcPct val="150000"/>
              </a:lnSpc>
            </a:pPr>
            <a:r>
              <a:rPr lang="en-US" dirty="0">
                <a:solidFill>
                  <a:srgbClr val="737373"/>
                </a:solidFill>
                <a:latin typeface="DM Sans"/>
                <a:ea typeface="DM Sans"/>
                <a:cs typeface="DM Sans"/>
                <a:sym typeface="DM Sans"/>
              </a:rPr>
              <a:t>         https://www.reddit.com/r/ActiveDirectory/wiki</a:t>
            </a:r>
          </a:p>
        </p:txBody>
      </p:sp>
      <p:sp>
        <p:nvSpPr>
          <p:cNvPr id="9" name="TextBox 9"/>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10" name="TextBox 10"/>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11" name="TextBox 11"/>
          <p:cNvSpPr txBox="1"/>
          <p:nvPr/>
        </p:nvSpPr>
        <p:spPr>
          <a:xfrm>
            <a:off x="467667" y="696330"/>
            <a:ext cx="3989146" cy="429605"/>
          </a:xfrm>
          <a:prstGeom prst="rect">
            <a:avLst/>
          </a:prstGeom>
        </p:spPr>
        <p:txBody>
          <a:bodyPr wrap="square" lIns="0" tIns="0" rIns="0" bIns="0" rtlCol="0" anchor="t">
            <a:spAutoFit/>
          </a:bodyPr>
          <a:lstStyle/>
          <a:p>
            <a:pPr marL="0" lvl="0" indent="0" algn="l">
              <a:lnSpc>
                <a:spcPts val="3411"/>
              </a:lnSpc>
              <a:spcBef>
                <a:spcPct val="0"/>
              </a:spcBef>
            </a:pPr>
            <a:r>
              <a:rPr lang="en-US" sz="2800" b="1" dirty="0">
                <a:solidFill>
                  <a:srgbClr val="38B6FF"/>
                </a:solidFill>
                <a:latin typeface="DM Sans Bold"/>
                <a:ea typeface="DM Sans Bold"/>
                <a:cs typeface="DM Sans Bold"/>
                <a:sym typeface="DM Sans Bold"/>
              </a:rPr>
              <a:t>Resources + Links</a:t>
            </a:r>
          </a:p>
        </p:txBody>
      </p:sp>
      <p:sp>
        <p:nvSpPr>
          <p:cNvPr id="13" name="TextBox 13"/>
          <p:cNvSpPr txBox="1"/>
          <p:nvPr/>
        </p:nvSpPr>
        <p:spPr>
          <a:xfrm>
            <a:off x="467667" y="3226804"/>
            <a:ext cx="3989146" cy="429605"/>
          </a:xfrm>
          <a:prstGeom prst="rect">
            <a:avLst/>
          </a:prstGeom>
        </p:spPr>
        <p:txBody>
          <a:bodyPr wrap="square" lIns="0" tIns="0" rIns="0" bIns="0" rtlCol="0" anchor="t">
            <a:spAutoFit/>
          </a:bodyPr>
          <a:lstStyle/>
          <a:p>
            <a:pPr marL="0" lvl="0" indent="0" algn="l">
              <a:lnSpc>
                <a:spcPts val="3411"/>
              </a:lnSpc>
              <a:spcBef>
                <a:spcPct val="0"/>
              </a:spcBef>
            </a:pPr>
            <a:r>
              <a:rPr lang="en-US" sz="2800" b="1" dirty="0">
                <a:solidFill>
                  <a:srgbClr val="38B6FF"/>
                </a:solidFill>
                <a:latin typeface="DM Sans Bold"/>
                <a:ea typeface="DM Sans Bold"/>
                <a:cs typeface="DM Sans Bold"/>
                <a:sym typeface="DM Sans Bold"/>
              </a:rPr>
              <a:t>Connect</a:t>
            </a:r>
          </a:p>
        </p:txBody>
      </p:sp>
      <p:sp>
        <p:nvSpPr>
          <p:cNvPr id="14" name="TextBox 14"/>
          <p:cNvSpPr txBox="1"/>
          <p:nvPr/>
        </p:nvSpPr>
        <p:spPr>
          <a:xfrm>
            <a:off x="467667" y="3707839"/>
            <a:ext cx="6651330" cy="3824317"/>
          </a:xfrm>
          <a:prstGeom prst="rect">
            <a:avLst/>
          </a:prstGeom>
        </p:spPr>
        <p:txBody>
          <a:bodyPr wrap="square" lIns="0" tIns="0" rIns="0" bIns="0" rtlCol="0" anchor="t">
            <a:spAutoFit/>
          </a:bodyPr>
          <a:lstStyle/>
          <a:p>
            <a:pPr marL="517854" lvl="1" indent="-258927" algn="l">
              <a:lnSpc>
                <a:spcPct val="150000"/>
              </a:lnSpc>
              <a:buFont typeface="Arial"/>
              <a:buChar char="•"/>
            </a:pPr>
            <a:r>
              <a:rPr lang="en-US" sz="2398" dirty="0">
                <a:solidFill>
                  <a:srgbClr val="FFFFFF"/>
                </a:solidFill>
                <a:latin typeface="DM Sans"/>
                <a:ea typeface="DM Sans"/>
                <a:cs typeface="DM Sans"/>
                <a:sym typeface="DM Sans"/>
              </a:rPr>
              <a:t>Discord: </a:t>
            </a:r>
            <a:r>
              <a:rPr lang="en-US" sz="2398" b="1" dirty="0">
                <a:solidFill>
                  <a:srgbClr val="FFFFFF"/>
                </a:solidFill>
                <a:latin typeface="DM Sans"/>
                <a:ea typeface="DM Sans"/>
                <a:cs typeface="DM Sans"/>
                <a:sym typeface="DM Sans"/>
              </a:rPr>
              <a:t>@Poolmanjim</a:t>
            </a:r>
          </a:p>
          <a:p>
            <a:pPr marL="517854" lvl="1" indent="-258927" algn="l">
              <a:lnSpc>
                <a:spcPct val="150000"/>
              </a:lnSpc>
              <a:buFont typeface="Arial"/>
              <a:buChar char="•"/>
            </a:pPr>
            <a:r>
              <a:rPr lang="en-US" sz="2398" dirty="0">
                <a:solidFill>
                  <a:srgbClr val="FFFFFF"/>
                </a:solidFill>
                <a:latin typeface="DM Sans"/>
                <a:ea typeface="DM Sans"/>
                <a:cs typeface="DM Sans"/>
                <a:sym typeface="DM Sans"/>
              </a:rPr>
              <a:t>Reddit: </a:t>
            </a:r>
            <a:r>
              <a:rPr lang="en-US" sz="2398" b="1" dirty="0">
                <a:solidFill>
                  <a:srgbClr val="FFFFFF"/>
                </a:solidFill>
                <a:latin typeface="DM Sans"/>
                <a:ea typeface="DM Sans"/>
                <a:cs typeface="DM Sans"/>
                <a:sym typeface="DM Sans"/>
              </a:rPr>
              <a:t>u/</a:t>
            </a:r>
            <a:r>
              <a:rPr lang="en-US" sz="2398" b="1" dirty="0" err="1">
                <a:solidFill>
                  <a:srgbClr val="FFFFFF"/>
                </a:solidFill>
                <a:latin typeface="DM Sans"/>
                <a:ea typeface="DM Sans"/>
                <a:cs typeface="DM Sans"/>
                <a:sym typeface="DM Sans"/>
              </a:rPr>
              <a:t>Poolmanjim</a:t>
            </a:r>
            <a:endParaRPr lang="en-US" sz="2398" b="1" u="sng" dirty="0">
              <a:solidFill>
                <a:srgbClr val="0000FF"/>
              </a:solidFill>
              <a:latin typeface="DM Sans"/>
              <a:ea typeface="DM Sans"/>
              <a:cs typeface="DM Sans"/>
              <a:sym typeface="DM Sans"/>
            </a:endParaRPr>
          </a:p>
          <a:p>
            <a:pPr marL="517854" lvl="1" indent="-258927" algn="l">
              <a:lnSpc>
                <a:spcPct val="150000"/>
              </a:lnSpc>
              <a:buFont typeface="Arial"/>
              <a:buChar char="•"/>
            </a:pPr>
            <a:r>
              <a:rPr lang="en-US" sz="2398" dirty="0">
                <a:solidFill>
                  <a:srgbClr val="FFFFFF"/>
                </a:solidFill>
                <a:latin typeface="DM Sans"/>
                <a:ea typeface="DM Sans"/>
                <a:cs typeface="DM Sans"/>
                <a:sym typeface="DM Sans"/>
              </a:rPr>
              <a:t>LinkedIn: </a:t>
            </a:r>
            <a:r>
              <a:rPr lang="en-US" sz="2398" b="1" dirty="0">
                <a:solidFill>
                  <a:srgbClr val="FFFFFF"/>
                </a:solidFill>
                <a:latin typeface="DM Sans"/>
                <a:ea typeface="DM Sans"/>
                <a:cs typeface="DM Sans"/>
                <a:sym typeface="DM Sans"/>
              </a:rPr>
              <a:t>linkedin.com/in/</a:t>
            </a:r>
            <a:r>
              <a:rPr lang="en-US" sz="2398" b="1" dirty="0" err="1">
                <a:solidFill>
                  <a:srgbClr val="FFFFFF"/>
                </a:solidFill>
                <a:latin typeface="DM Sans"/>
                <a:ea typeface="DM Sans"/>
                <a:cs typeface="DM Sans"/>
                <a:sym typeface="DM Sans"/>
              </a:rPr>
              <a:t>thetylerjacobs</a:t>
            </a:r>
            <a:endParaRPr lang="en-US" sz="2398" b="1" dirty="0">
              <a:solidFill>
                <a:srgbClr val="FFFFFF"/>
              </a:solidFill>
              <a:latin typeface="DM Sans"/>
              <a:ea typeface="DM Sans"/>
              <a:cs typeface="DM Sans"/>
              <a:sym typeface="DM Sans"/>
            </a:endParaRPr>
          </a:p>
          <a:p>
            <a:pPr marL="517854" lvl="1" indent="-258927">
              <a:lnSpc>
                <a:spcPct val="150000"/>
              </a:lnSpc>
              <a:buFont typeface="Arial"/>
              <a:buChar char="•"/>
            </a:pPr>
            <a:r>
              <a:rPr lang="en-US" sz="2398" dirty="0">
                <a:solidFill>
                  <a:srgbClr val="FFFFFF"/>
                </a:solidFill>
                <a:latin typeface="DM Sans"/>
                <a:ea typeface="DM Sans"/>
                <a:cs typeface="DM Sans"/>
                <a:sym typeface="DM Sans"/>
              </a:rPr>
              <a:t>GitHub: </a:t>
            </a:r>
            <a:r>
              <a:rPr lang="en-US" sz="2398" b="1" dirty="0" err="1">
                <a:solidFill>
                  <a:srgbClr val="FFFFFF"/>
                </a:solidFill>
                <a:latin typeface="DM Sans"/>
                <a:ea typeface="DM Sans"/>
                <a:cs typeface="DM Sans"/>
                <a:sym typeface="DM Sans"/>
              </a:rPr>
              <a:t>github</a:t>
            </a:r>
            <a:r>
              <a:rPr lang="en-US" sz="2398" b="1" dirty="0">
                <a:solidFill>
                  <a:srgbClr val="FFFFFF"/>
                </a:solidFill>
                <a:latin typeface="DM Sans"/>
                <a:ea typeface="DM Sans"/>
                <a:cs typeface="DM Sans"/>
                <a:sym typeface="DM Sans"/>
              </a:rPr>
              <a:t>/</a:t>
            </a:r>
            <a:r>
              <a:rPr lang="en-US" sz="2398" b="1" dirty="0" err="1">
                <a:solidFill>
                  <a:srgbClr val="FFFFFF"/>
                </a:solidFill>
                <a:latin typeface="DM Sans"/>
                <a:ea typeface="DM Sans"/>
                <a:cs typeface="DM Sans"/>
                <a:sym typeface="DM Sans"/>
              </a:rPr>
              <a:t>activedirectorykc</a:t>
            </a:r>
            <a:endParaRPr lang="en-US" sz="2398" b="1" dirty="0">
              <a:solidFill>
                <a:srgbClr val="FFFFFF"/>
              </a:solidFill>
              <a:latin typeface="DM Sans"/>
              <a:ea typeface="DM Sans"/>
              <a:cs typeface="DM Sans"/>
              <a:sym typeface="DM Sans"/>
            </a:endParaRPr>
          </a:p>
          <a:p>
            <a:pPr marL="517854" lvl="1" indent="-258927" algn="l">
              <a:lnSpc>
                <a:spcPct val="150000"/>
              </a:lnSpc>
              <a:buFont typeface="Arial"/>
              <a:buChar char="•"/>
            </a:pPr>
            <a:r>
              <a:rPr lang="en-US" sz="2398" dirty="0">
                <a:solidFill>
                  <a:srgbClr val="FFFFFF"/>
                </a:solidFill>
                <a:latin typeface="DM Sans"/>
                <a:ea typeface="DM Sans"/>
                <a:cs typeface="DM Sans"/>
                <a:sym typeface="DM Sans"/>
              </a:rPr>
              <a:t>Website: </a:t>
            </a:r>
            <a:r>
              <a:rPr lang="en-US" sz="2398" b="1" dirty="0">
                <a:solidFill>
                  <a:srgbClr val="FFFFFF"/>
                </a:solidFill>
                <a:latin typeface="DM Sans"/>
                <a:ea typeface="DM Sans"/>
                <a:cs typeface="DM Sans"/>
                <a:sym typeface="DM Sans"/>
              </a:rPr>
              <a:t>activedirectorykc.net</a:t>
            </a:r>
          </a:p>
          <a:p>
            <a:pPr marL="258927" lvl="1" algn="l">
              <a:lnSpc>
                <a:spcPct val="150000"/>
              </a:lnSpc>
            </a:pPr>
            <a:endParaRPr lang="en-US" sz="2398" b="1" dirty="0">
              <a:solidFill>
                <a:srgbClr val="FFFFFF"/>
              </a:solidFill>
              <a:latin typeface="DM Sans"/>
              <a:ea typeface="DM Sans"/>
              <a:cs typeface="DM Sans"/>
              <a:sym typeface="DM Sans"/>
            </a:endParaRPr>
          </a:p>
          <a:p>
            <a:pPr marL="517854" lvl="1" indent="-258927" algn="l">
              <a:lnSpc>
                <a:spcPct val="150000"/>
              </a:lnSpc>
              <a:buFont typeface="Arial"/>
              <a:buChar char="•"/>
            </a:pPr>
            <a:r>
              <a:rPr lang="en-US" sz="2398" dirty="0">
                <a:solidFill>
                  <a:srgbClr val="FFFFFF"/>
                </a:solidFill>
                <a:latin typeface="DM Sans"/>
                <a:ea typeface="DM Sans"/>
                <a:cs typeface="DM Sans"/>
                <a:sym typeface="DM Sans"/>
              </a:rPr>
              <a:t>I’ll be over there - With some stickers</a:t>
            </a:r>
          </a:p>
        </p:txBody>
      </p:sp>
      <p:grpSp>
        <p:nvGrpSpPr>
          <p:cNvPr id="20" name="Group 19">
            <a:extLst>
              <a:ext uri="{FF2B5EF4-FFF2-40B4-BE49-F238E27FC236}">
                <a16:creationId xmlns:a16="http://schemas.microsoft.com/office/drawing/2014/main" id="{DDE93C57-BD4D-D9A9-B171-464855478410}"/>
              </a:ext>
            </a:extLst>
          </p:cNvPr>
          <p:cNvGrpSpPr/>
          <p:nvPr/>
        </p:nvGrpSpPr>
        <p:grpSpPr>
          <a:xfrm>
            <a:off x="6613885" y="728467"/>
            <a:ext cx="5679895" cy="3575872"/>
            <a:chOff x="12395656" y="521659"/>
            <a:chExt cx="5158892" cy="3247866"/>
          </a:xfrm>
        </p:grpSpPr>
        <p:sp>
          <p:nvSpPr>
            <p:cNvPr id="6" name="Freeform 6"/>
            <p:cNvSpPr/>
            <p:nvPr/>
          </p:nvSpPr>
          <p:spPr>
            <a:xfrm>
              <a:off x="13553221" y="521659"/>
              <a:ext cx="2713918" cy="2713918"/>
            </a:xfrm>
            <a:custGeom>
              <a:avLst/>
              <a:gdLst/>
              <a:ahLst/>
              <a:cxnLst/>
              <a:rect l="l" t="t" r="r" b="b"/>
              <a:pathLst>
                <a:path w="3042538" h="3042538">
                  <a:moveTo>
                    <a:pt x="0" y="0"/>
                  </a:moveTo>
                  <a:lnTo>
                    <a:pt x="3042538" y="0"/>
                  </a:lnTo>
                  <a:lnTo>
                    <a:pt x="3042538" y="3042538"/>
                  </a:lnTo>
                  <a:lnTo>
                    <a:pt x="0" y="3042538"/>
                  </a:lnTo>
                  <a:lnTo>
                    <a:pt x="0" y="0"/>
                  </a:lnTo>
                  <a:close/>
                </a:path>
              </a:pathLst>
            </a:custGeom>
            <a:blipFill>
              <a:blip r:embed="rId4"/>
              <a:stretch>
                <a:fillRect/>
              </a:stretch>
            </a:blipFill>
          </p:spPr>
          <p:txBody>
            <a:bodyPr/>
            <a:lstStyle/>
            <a:p>
              <a:endParaRPr lang="en-US"/>
            </a:p>
          </p:txBody>
        </p:sp>
        <p:sp>
          <p:nvSpPr>
            <p:cNvPr id="17" name="TextBox 17"/>
            <p:cNvSpPr txBox="1"/>
            <p:nvPr/>
          </p:nvSpPr>
          <p:spPr>
            <a:xfrm>
              <a:off x="12395656" y="3463094"/>
              <a:ext cx="5158892" cy="306431"/>
            </a:xfrm>
            <a:prstGeom prst="rect">
              <a:avLst/>
            </a:prstGeom>
          </p:spPr>
          <p:txBody>
            <a:bodyPr wrap="square" lIns="0" tIns="0" rIns="0" bIns="0" rtlCol="0" anchor="t">
              <a:spAutoFit/>
            </a:bodyPr>
            <a:lstStyle/>
            <a:p>
              <a:pPr algn="ctr">
                <a:lnSpc>
                  <a:spcPts val="2520"/>
                </a:lnSpc>
                <a:spcBef>
                  <a:spcPct val="0"/>
                </a:spcBef>
              </a:pPr>
              <a:r>
                <a:rPr lang="en-US" sz="1800" b="1" dirty="0">
                  <a:solidFill>
                    <a:srgbClr val="FFFFFF"/>
                  </a:solidFill>
                  <a:latin typeface="DM Sans Bold"/>
                  <a:ea typeface="DM Sans Bold"/>
                  <a:cs typeface="DM Sans Bold"/>
                  <a:sym typeface="DM Sans Bold"/>
                </a:rPr>
                <a:t>HTTPS://LINKEDIN.COM/IN/THETYLERJACOBS</a:t>
              </a:r>
            </a:p>
          </p:txBody>
        </p:sp>
      </p:grpSp>
      <p:grpSp>
        <p:nvGrpSpPr>
          <p:cNvPr id="21" name="Group 20">
            <a:extLst>
              <a:ext uri="{FF2B5EF4-FFF2-40B4-BE49-F238E27FC236}">
                <a16:creationId xmlns:a16="http://schemas.microsoft.com/office/drawing/2014/main" id="{D4FD4D9D-0D0A-A736-4539-0BF4E866B75A}"/>
              </a:ext>
            </a:extLst>
          </p:cNvPr>
          <p:cNvGrpSpPr/>
          <p:nvPr/>
        </p:nvGrpSpPr>
        <p:grpSpPr>
          <a:xfrm>
            <a:off x="12293780" y="5343222"/>
            <a:ext cx="5732992" cy="3722350"/>
            <a:chOff x="12581750" y="5788494"/>
            <a:chExt cx="4990941" cy="3240547"/>
          </a:xfrm>
        </p:grpSpPr>
        <p:sp>
          <p:nvSpPr>
            <p:cNvPr id="18" name="Freeform 18"/>
            <p:cNvSpPr/>
            <p:nvPr/>
          </p:nvSpPr>
          <p:spPr>
            <a:xfrm>
              <a:off x="13692572" y="5788494"/>
              <a:ext cx="2574567" cy="2574567"/>
            </a:xfrm>
            <a:custGeom>
              <a:avLst/>
              <a:gdLst/>
              <a:ahLst/>
              <a:cxnLst/>
              <a:rect l="l" t="t" r="r" b="b"/>
              <a:pathLst>
                <a:path w="3038255" h="3038255">
                  <a:moveTo>
                    <a:pt x="0" y="0"/>
                  </a:moveTo>
                  <a:lnTo>
                    <a:pt x="3038255" y="0"/>
                  </a:lnTo>
                  <a:lnTo>
                    <a:pt x="3038255" y="3038255"/>
                  </a:lnTo>
                  <a:lnTo>
                    <a:pt x="0" y="3038255"/>
                  </a:lnTo>
                  <a:lnTo>
                    <a:pt x="0" y="0"/>
                  </a:lnTo>
                  <a:close/>
                </a:path>
              </a:pathLst>
            </a:custGeom>
            <a:blipFill>
              <a:blip r:embed="rId5"/>
              <a:stretch>
                <a:fillRect/>
              </a:stretch>
            </a:blipFill>
          </p:spPr>
          <p:txBody>
            <a:bodyPr/>
            <a:lstStyle/>
            <a:p>
              <a:endParaRPr lang="en-US"/>
            </a:p>
          </p:txBody>
        </p:sp>
        <p:sp>
          <p:nvSpPr>
            <p:cNvPr id="19" name="TextBox 19"/>
            <p:cNvSpPr txBox="1"/>
            <p:nvPr/>
          </p:nvSpPr>
          <p:spPr>
            <a:xfrm>
              <a:off x="12581750" y="8722610"/>
              <a:ext cx="4990941" cy="306431"/>
            </a:xfrm>
            <a:prstGeom prst="rect">
              <a:avLst/>
            </a:prstGeom>
          </p:spPr>
          <p:txBody>
            <a:bodyPr wrap="square" lIns="0" tIns="0" rIns="0" bIns="0" rtlCol="0" anchor="t">
              <a:spAutoFit/>
            </a:bodyPr>
            <a:lstStyle/>
            <a:p>
              <a:pPr algn="ctr">
                <a:lnSpc>
                  <a:spcPts val="2520"/>
                </a:lnSpc>
                <a:spcBef>
                  <a:spcPct val="0"/>
                </a:spcBef>
              </a:pPr>
              <a:r>
                <a:rPr lang="en-US" sz="1800" b="1">
                  <a:solidFill>
                    <a:srgbClr val="FFFFFF"/>
                  </a:solidFill>
                  <a:latin typeface="DM Sans Bold"/>
                  <a:ea typeface="DM Sans Bold"/>
                  <a:cs typeface="DM Sans Bold"/>
                  <a:sym typeface="DM Sans Bold"/>
                </a:rPr>
                <a:t>HTTPS://GITHUB.COM/ACTIVEDIRECTORYKC</a:t>
              </a:r>
            </a:p>
          </p:txBody>
        </p:sp>
      </p:grpSp>
      <p:pic>
        <p:nvPicPr>
          <p:cNvPr id="1034" name="Picture 10">
            <a:extLst>
              <a:ext uri="{FF2B5EF4-FFF2-40B4-BE49-F238E27FC236}">
                <a16:creationId xmlns:a16="http://schemas.microsoft.com/office/drawing/2014/main" id="{CDF8CBB4-930C-ECB8-32C4-5CD90938558C}"/>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62948" y="3707839"/>
            <a:ext cx="541008" cy="541008"/>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a:extLst>
              <a:ext uri="{FF2B5EF4-FFF2-40B4-BE49-F238E27FC236}">
                <a16:creationId xmlns:a16="http://schemas.microsoft.com/office/drawing/2014/main" id="{A3370EEA-7D6F-4329-BA59-4B9F1D381FFC}"/>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25207" y="4255345"/>
            <a:ext cx="616489" cy="616489"/>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a:extLst>
              <a:ext uri="{FF2B5EF4-FFF2-40B4-BE49-F238E27FC236}">
                <a16:creationId xmlns:a16="http://schemas.microsoft.com/office/drawing/2014/main" id="{37E3A0AC-DFCC-1184-B8B0-2575967960A3}"/>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25207" y="4791833"/>
            <a:ext cx="623314" cy="623314"/>
          </a:xfrm>
          <a:prstGeom prst="rect">
            <a:avLst/>
          </a:prstGeom>
          <a:noFill/>
          <a:extLst>
            <a:ext uri="{909E8E84-426E-40DD-AFC4-6F175D3DCCD1}">
              <a14:hiddenFill xmlns:a14="http://schemas.microsoft.com/office/drawing/2010/main">
                <a:solidFill>
                  <a:srgbClr val="FFFFFF"/>
                </a:solidFill>
              </a14:hiddenFill>
            </a:ext>
          </a:extLst>
        </p:spPr>
      </p:pic>
      <p:pic>
        <p:nvPicPr>
          <p:cNvPr id="1056" name="Picture 32">
            <a:extLst>
              <a:ext uri="{FF2B5EF4-FFF2-40B4-BE49-F238E27FC236}">
                <a16:creationId xmlns:a16="http://schemas.microsoft.com/office/drawing/2014/main" id="{C91FF130-27DA-9DE2-DD86-CE74627B02DA}"/>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89917" y="5434541"/>
            <a:ext cx="487068" cy="487068"/>
          </a:xfrm>
          <a:prstGeom prst="rect">
            <a:avLst/>
          </a:prstGeom>
          <a:noFill/>
          <a:extLst>
            <a:ext uri="{909E8E84-426E-40DD-AFC4-6F175D3DCCD1}">
              <a14:hiddenFill xmlns:a14="http://schemas.microsoft.com/office/drawing/2010/main">
                <a:solidFill>
                  <a:srgbClr val="FFFFFF"/>
                </a:solidFill>
              </a14:hiddenFill>
            </a:ext>
          </a:extLst>
        </p:spPr>
      </p:pic>
      <p:pic>
        <p:nvPicPr>
          <p:cNvPr id="1058" name="Picture 34">
            <a:extLst>
              <a:ext uri="{FF2B5EF4-FFF2-40B4-BE49-F238E27FC236}">
                <a16:creationId xmlns:a16="http://schemas.microsoft.com/office/drawing/2014/main" id="{8045F96C-D911-5310-9439-D9D967491E3D}"/>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587992" y="6063086"/>
            <a:ext cx="290918" cy="29091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2368</TotalTime>
  <Words>25163</Words>
  <Application>Microsoft Office PowerPoint</Application>
  <PresentationFormat>Custom</PresentationFormat>
  <Paragraphs>2749</Paragraphs>
  <Slides>92</Slides>
  <Notes>92</Notes>
  <HiddenSlides>29</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92</vt:i4>
      </vt:variant>
    </vt:vector>
  </HeadingPairs>
  <TitlesOfParts>
    <vt:vector size="102" baseType="lpstr">
      <vt:lpstr>Calibri</vt:lpstr>
      <vt:lpstr>Anton</vt:lpstr>
      <vt:lpstr>Courier New</vt:lpstr>
      <vt:lpstr>Arial</vt:lpstr>
      <vt:lpstr>DM Sans Bold</vt:lpstr>
      <vt:lpstr>DM Sans Italics</vt:lpstr>
      <vt:lpstr>Arial Black</vt:lpstr>
      <vt:lpstr>DM Sans</vt:lpstr>
      <vt:lpstr>Canva Student Font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BSidesKC2026 - A Miser's Guide to Hardening Active Directory 2026-04</dc:title>
  <cp:lastModifiedBy>Tyler Jacobs</cp:lastModifiedBy>
  <cp:revision>4</cp:revision>
  <dcterms:created xsi:type="dcterms:W3CDTF">2006-08-16T00:00:00Z</dcterms:created>
  <dcterms:modified xsi:type="dcterms:W3CDTF">2026-04-24T02:54:04Z</dcterms:modified>
  <dc:identifier>DAHGUlBaNLw</dc:identifier>
</cp:coreProperties>
</file>